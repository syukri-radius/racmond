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is Helios·Ops — the hierarchical control and monitoring plane for the estate.</a:t>
            </a:r>
          </a:p>
          <a:p/>
          <a:p>
            <a:r>
              <a:t>The deck is the presentation companion to the live product at / and its operator manual at /guide. It has three jobs: first, explain the architecture and the handful of patterns that make it hold together; second, give operators a shift runbook they can follow; third, give integration teams the exact contract for feeding the platform from any stack.</a:t>
            </a:r>
          </a:p>
          <a:p/>
          <a:p>
            <a:r>
              <a:t>Framing line for the room: most monitoring tools stop at hosts, and most org charts stop at projects. Helios·Ops joins the two — one navigable tree from holding company to CPU gauge, with a two-second live truth.</a:t>
            </a:r>
          </a:p>
          <a:p/>
          <a:p>
            <a:r>
              <a:t>Suggested pacing: about 45 minutes including questions. If you have 30, present slides 1–6, 12–15, 18–22 and 24; the rest are reference. Tell the audience that every slide has detailed speaker notes and that the full text lives in the outline document.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tension, not the technology.</a:t>
            </a:r>
          </a:p>
          <a:p/>
          <a:p>
            <a:r>
              <a:t>Every large estate has two truths that never meet. The operational truth — CPU, memory, error rate, p99 — lives in Prometheus, Docker, Kubernetes or a framework agent. The organisational truth — which division owns the programme, which datacenter hosts it, which team is on call — lives in an org chart or a spreadsheet. When something breaks, humans spend the first ten minutes rebuilding the link between those two truths.</a:t>
            </a:r>
          </a:p>
          <a:p/>
          <a:p>
            <a:r>
              <a:t>Helios·Ops makes that link structural. One self-referencing tree holds every level. Containers are not just folders: they render their children as compound sub-flows, so the canvas itself is the org chart and the topology at the same time. The visual grammar is consistent at every depth.</a:t>
            </a:r>
          </a:p>
          <a:p/>
          <a:p>
            <a:r>
              <a:t>The second idea is separation of update paths. Structure changes rarely and triggers layout. Metrics change every two seconds and only repaint gauges and sparklines. That is what keeps a 456-node estate usable.</a:t>
            </a:r>
          </a:p>
          <a:p/>
          <a:p>
            <a:r>
              <a:t>The payoff is on the right: one screen, six audited actions, and an integration contract that eight different stacks already follow. If the audience remembers one sentence, make it this: one tree, one contract, one loop.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room the shape of the next 45 minutes so they know when to ask detail questions.</a:t>
            </a:r>
          </a:p>
          <a:p/>
          <a:p>
            <a:r>
              <a:t>Part 1 is the case and the vocabulary. If the audience is mixed — operators, engineers, managers — this is where everyone gets the same mental model. The key idea is the 14-type tree and the fact that containers render their own children.</a:t>
            </a:r>
          </a:p>
          <a:p/>
          <a:p>
            <a:r>
              <a:t>Part 2 is the architecture. We move from the system map down through the frontend, backend, data model, realtime loop and layout pipeline. This is the material for architecture review; if the room is purely operational, you can compress slides 7–11 and spend the time on Part 3 instead.</a:t>
            </a:r>
          </a:p>
          <a:p/>
          <a:p>
            <a:r>
              <a:t>Part 3 is the operator runbook: what the screen is made of, what a shift looks like, which controls exist, and what to do when something is wrong.</a:t>
            </a:r>
          </a:p>
          <a:p/>
          <a:p>
            <a:r>
              <a:t>Part 4 is for integrators. The three verbs — register, push, raise — plus the read-back options, then the eight stack recipes.</a:t>
            </a:r>
          </a:p>
          <a:p/>
          <a:p>
            <a:r>
              <a:t>Part 5 closes with acceptance criteria and the production roadmap. The glossary is appendix material; use it if the audience is new to the vocabulary.</a:t>
            </a:r>
          </a:p>
          <a:p/>
          <a:p>
            <a:r>
              <a:t>Housekeeping: the live dashboard is at /, the full manual with Mermaid sources at /guide, and this deck has a companion outline document with every speaker note in 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are not marketing estimates; they are the deterministic reference dataset and the shipped configuration.</a:t>
            </a:r>
          </a:p>
          <a:p/>
          <a:p>
            <a:r>
              <a:t>Fourteen node types, of which eleven are containers that can hold children. The three leaves are service, endpoint and resource. The reference estate has 456 nodes: one holding company, two divisions, four projects, five sub-projects, nine datacenters, and then the infrastructure under them — 12 servers, 19 containers, 22 pods, 9 namespaces, 41 service groups and sub-groups, 41 services, 91 endpoints and 159 resource gauges.</a:t>
            </a:r>
          </a:p>
          <a:p/>
          <a:p>
            <a:r>
              <a:t>The live plane updates every two seconds over server-sent events. Durable snapshots are written every ten seconds, sparkline samples every thirty seconds, and samples older than fifty minutes are pruned.</a:t>
            </a:r>
          </a:p>
          <a:p/>
          <a:p>
            <a:r>
              <a:t>Six runbooks: three read-only — snapshot, logs, scale — and three privileged — restart, drain, failover. Five tables hold the whole product: the node tree, the latest metric snapshot, rolling samples, the event stream and command-run audit.</a:t>
            </a:r>
          </a:p>
          <a:p/>
          <a:p>
            <a:r>
              <a:t>Eight integration recipes cover Laravel, Spring Boot, Node.js, Go, Rust, Python, PostgreSQL and MinIO. The last two are interesting because they need no application change: a database trigger or a bucket-notification bridge maps existing events into the ingest contract.</a:t>
            </a:r>
          </a:p>
          <a:p/>
          <a:p>
            <a:r>
              <a:t>Close this slide by naming the three audiences: operators get a screen, integrators get a contract, reviewers get an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deployment view. Read it left to right and top to bottom.</a:t>
            </a:r>
          </a:p>
          <a:p/>
          <a:p>
            <a:r>
              <a:t>The browser column is the whole client: one server component bootstraps with a full topology payload, then a client component takes over. The canvas renders recursively — each container draws its own card and then its children as a sub-flow. Cards are memoized, and all live state sits in a Zustand store split into slices. The layout engine is the only thing that computes positions.</a:t>
            </a:r>
          </a:p>
          <a:p/>
          <a:p>
            <a:r>
              <a:t>The server column shows the App Router's routes. The important one is getTopologyPayload: a single function that joins nodes, metrics, series, events and runs. Both the server component and GET /api/topology call it, so the first paint and any later refresh can never disagree. GET /api/stream is the SSE fan-out; the ingest routes are the only write path from outside; PATCH handles operator view state.</a:t>
            </a:r>
          </a:p>
          <a:p/>
          <a:p>
            <a:r>
              <a:t>The data column is five tables. ops_nodes is the tree; everything else hangs off it with cascading deletes. Five tables is deliberate — this is a control plane, not a data lake.</a:t>
            </a:r>
          </a:p>
          <a:p/>
          <a:p>
            <a:r>
              <a:t>The external strip at the bottom is the most important architectural constraint: external systems never touch Postgres. They call the ingest gateway, which validates, upserts, syncs the in-memory engine and broadcasts to every connected canvas within one tick.</a:t>
            </a:r>
          </a:p>
          <a:p/>
          <a:p>
            <a:r>
              <a:t>If someone asks “why not just write to the database?” — because the in-memory engine is the live truth between ticks, and a direct insert would be invisible until reload. The gateway keeps both in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slide for understanding the product. Everything else follows from the tree.</a:t>
            </a:r>
          </a:p>
          <a:p/>
          <a:p>
            <a:r>
              <a:t>Read the spine top to bottom. The holding company is the root. Divisions and projects follow the organisational shape. At the leaf of the org tree — a sub-project — we attach datacenters, and under a datacenter we attach both servers and Kubernetes namespaces. A server holds Docker containers; a namespace holds pods. Under every runtime — container or pod — sits a service group, then a service sub-group, then a service, then its endpoints. Servers, containers and pods also get three resource children: CPU, memory and disk.</a:t>
            </a:r>
          </a:p>
          <a:p/>
          <a:p>
            <a:r>
              <a:t>Two kinds of node. Eleven types are containers: they have a header and a child sub-flow, and they can be collapsed. Three are leaves: service, endpoint and resource. That distinction is not cosmetic — it drives the layout. Collapsed containers become fixed-size leaves, which is how a 456-node estate lays out quickly.</a:t>
            </a:r>
          </a:p>
          <a:p/>
          <a:p>
            <a:r>
              <a:t>The invariant in the amber box is enforced everywhere: seed order, ingest validation, API payloads. If you register a child before its parent, the gateway returns 400 by design. This sounds strict, but it means the renderer never has to guess.</a:t>
            </a:r>
          </a:p>
          <a:p/>
          <a:p>
            <a:r>
              <a:t>One more detail worth calling out: resource gauges mirror their host's metrics and are deliberately excluded from group rollups. They are a visual convenience, not a second measurement of the same signal.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frontend decisions explain why the canvas feels calm with hundreds of nodes.</a:t>
            </a:r>
          </a:p>
          <a:p/>
          <a:p>
            <a:r>
              <a:t>One: recursion with clamping. Every container is a component that renders a card and then its children, positioned relative to itself. Dragging is clamped to the interval from zero to parent-size minus self-size. That is the DOM equivalent of the extent-parent constraint you may know from canvas libraries. A child literally cannot be dragged outside its parent, so the visual hierarchy survives an energetic triage session.</a:t>
            </a:r>
          </a:p>
          <a:p/>
          <a:p>
            <a:r>
              <a:t>Two: subscriptions. Cards are memoized and subscribe to single keys in the store — the metric for that node, the node record for that node. Not the whole list, not the whole metrics map. When a two-second tick updates 456 snapshots, React repaints only the gauges and sparklines that changed. The layout pass does not run at all.</a:t>
            </a:r>
          </a:p>
          <a:p/>
          <a:p>
            <a:r>
              <a:t>Three: reversibility. Collapse flags and drag offsets are persisted per node, so the canvas a colleague arranged is the canvas you inherit. Navigator selection, search and subtree rollups read precomputed indexes rather than walking the tree on every keystroke.</a:t>
            </a:r>
          </a:p>
          <a:p/>
          <a:p>
            <a:r>
              <a:t>The viewport follows the same philosophy: wheel pans, control-wheel zooms to the cursor between six percent and 2.4 times, backdrop drag pans, Fit centres everything, Focus reveals and centres a node. On a wide hierarchy, first paint deliberately chooses a legible zoom instead of fitting the whole estate into an unreadable thumbnail.</a:t>
            </a:r>
          </a:p>
          <a:p/>
          <a:p>
            <a:r>
              <a:t>The bottom line is the vocabulary to use in a review: compound-graph sub-flows, slice-isolated store updates, memoized leaf subscriptions, structure-only relayout.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backend patterns, and one warning.</a:t>
            </a:r>
          </a:p>
          <a:p/>
          <a:p>
            <a:r>
              <a:t>The aggregation point is about consistency. There is exactly one function that assembles the topology payload. The React server component calls it for the first paint; the API route calls it for every client that boots without server rendering. Because both go through the same join, production can never show one number and the client another.</a:t>
            </a:r>
          </a:p>
          <a:p/>
          <a:p>
            <a:r>
              <a:t>The engine is about believability. Each monitored node has an operating point, and every two seconds the value mean-reverts toward it with small noise. Occasional spikes are damped. Every channel has a ceiling. That is why the demo screenshots look like a real estate instead of a random walk. Group nodes roll up with averages plus the worst child status, and resource gauge children are excluded so the same host is not counted twice.</a:t>
            </a:r>
          </a:p>
          <a:p/>
          <a:p>
            <a:r>
              <a:t>Actions with a receipt is about trust. Six runbooks produce output that streams line by line, persists with operator and exit code, and — for the risky three — actually changes topology: restart halves CPU and memory targets, drain sets maintenance, scale bumps replicas. A failure is recorded as a failure; nothing is silently swallowed.</a:t>
            </a:r>
          </a:p>
          <a:p/>
          <a:p>
            <a:r>
              <a:t>The amber panel is the most common review objection. A request is measured at several levels of the tree. If you sum, you compound. So the rule is: average per level.</a:t>
            </a:r>
          </a:p>
          <a:p/>
          <a:p>
            <a:r>
              <a:t>Status derivation is deliberately conservative: critical means page someone; degraded means watch it this shift. Offline is only used when the agent itself is silent.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tables is the entire durable model.</a:t>
            </a:r>
          </a:p>
          <a:p/>
          <a:p>
            <a:r>
              <a:t>ops_nodes is a self-referencing tree: one row per node, parent_id pointing back into the same table. It carries identity, the type, status, ownership metadata, the manual drag offset and the collapse flag. The two indexes are parent_id and type — exactly the two access patterns the navigator and layout need.</a:t>
            </a:r>
          </a:p>
          <a:p/>
          <a:p>
            <a:r>
              <a:t>ops_metrics is a one-to-one snapshot for each monitored node: current state, not history. It exists so the app can restart and show something sensible before the engine has ticked. It is where the ingest gateway writes incoming pushes.</a:t>
            </a:r>
          </a:p>
          <a:p/>
          <a:p>
            <a:r>
              <a:t>ops_metric_samples is the rolling history behind sparklines, with a fifty-minute window. Older rows are deleted. It is not a metrics archive — that is Prometheus's job. Note the composite index on node, metric and timestamp; it is what keeps sparkline loads cheap.</a:t>
            </a:r>
          </a:p>
          <a:p/>
          <a:p>
            <a:r>
              <a:t>ops_events is the alert and audit stream with severity, source, acknowledgement and an optional node link. ops_command_runs is the executor receipt: command, operator, status, exit code, full output, start and finish times.</a:t>
            </a:r>
          </a:p>
          <a:p/>
          <a:p>
            <a:r>
              <a:t>Everything cascades from ops_nodes, so deleting a subtree cannot leave orphans, and the reference dataset can be rebuilt from code with POST /api/admin/reseed.</a:t>
            </a:r>
          </a:p>
          <a:p/>
          <a:p>
            <a:r>
              <a:t>If someone asks about scale: this model is designed for hundreds to low thousands of nodes. Beyond that, the sample table and the full-snapshot payload are the first two things to change — time-series storage for samples, incremental topology deltas for the payload.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timing diagram is the heartbeat of the product.</a:t>
            </a:r>
          </a:p>
          <a:p/>
          <a:p>
            <a:r>
              <a:t>Bootstrap: the browser asks for the topology once. That request lands on the aggregation point, which ensures the dataset exists and selects from the five tables, then returns a payload with nodes ordered parents-first plus metrics, series, events and runs. The first paint is therefore complete — no spinner followed by a random shuffle.</a:t>
            </a:r>
          </a:p>
          <a:p/>
          <a:p>
            <a:r>
              <a:t>Then the client opens an EventSource against /api/stream. The server acknowledges with a hello message and immediately sends a full metrics snapshot, so a client that connects mid-tick is never stale.</a:t>
            </a:r>
          </a:p>
          <a:p/>
          <a:p>
            <a:r>
              <a:t>Inside the loop, the engine evolves operating points, applies mean reversion, rolls groups up with averages and derives status transitions. Persistence is throttled: snapshots every ten seconds, samples every thirty. The broadcast carries an array of metric updates plus any changed statuses.</a:t>
            </a:r>
          </a:p>
          <a:p/>
          <a:p>
            <a:r>
              <a:t>The browser applies that array into the Zustand store. Only gauge and sparkline components subscribe to those keys, so nothing re-runs layout. That is the whole trick behind a live 456-node canvas.</a:t>
            </a:r>
          </a:p>
          <a:p/>
          <a:p>
            <a:r>
              <a:t>Events and CLI lines travel the same channel, so an alert raised by an external system and a runbook line appear side by side in the dock. Keep-alive comments stop proxies from closing an idle connection; clients ignore empty data frames. If an SSE path buffers, the stream will look stuck on connecting — the guide has a troubleshooting row for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is the most expensive thing the client does, so it is deliberately isolated from the live plane.</a:t>
            </a:r>
          </a:p>
          <a:p/>
          <a:p>
            <a:r>
              <a:t>The pipeline: build indexes from a parents-first list; compute visible children after collapse and the resource-gauge toggle; build an ELK node for each visible node using leaf sizes, collapsed sizes and a header padding equal to the card's header height; hand that compound graph to ELK with the layered algorithm, include-children hierarchy handling and orthogonal edge routing; convert the result into boxes with absolute coordinates; render them recursively with relative offsets; finally, persist any manual drag as an override.</a:t>
            </a:r>
          </a:p>
          <a:p/>
          <a:p>
            <a:r>
              <a:t>Two details explain the performance. First, collapsed containers become fixed-size leaves — collapsing is not just a visual state, it shrinks the graph ELK has to solve. Second, resource gauges are hidden by default, which removes 159 nodes from the reference estate.</a:t>
            </a:r>
          </a:p>
          <a:p/>
          <a:p>
            <a:r>
              <a:t>The measured range is roughly 150 to 600 milliseconds, and the canvas HUD shows the last pass time so you never have to guess. The options panel lists the six settings that matter; the one worth memorising is padding-top equals header height, because that is what makes children sit inside the card instead of under its title.</a:t>
            </a:r>
          </a:p>
          <a:p/>
          <a:p>
            <a:r>
              <a:t>The right-hand panel is the rule operators should internalise: collapse, depth, direction, spacing and resize trigger a relayout. Metric ticks, status colours, selection, hover and pan do not. If layout ever feels slow, the answer is almost always the same: reduce depth, hide gauges, then fit.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 the room before showing any control.</a:t>
            </a:r>
          </a:p>
          <a:p/>
          <a:p>
            <a:r>
              <a:t>The top bar is the estate's vital signs plus the global controls: the LIVE pill and stream state on the right, the search box, then the control strip with expand-to — ORG, PROJ, DC, INFRA, GROUP, SVC, ALL — direction, spacing, relayout, fit and reseed. The stat tiles are totals by status plus average CPU and memory, throughput, p99 and error rate.</a:t>
            </a:r>
          </a:p>
          <a:p/>
          <a:p>
            <a:r>
              <a:t>The navigator on the left is the same tree as a list. It is how you get somewhere fast when the canvas is zoomed out. The status filter at its base dims everything outside the chosen severities — that is how an on-call engineer builds a view of only the thing they are being paged about.</a:t>
            </a:r>
          </a:p>
          <a:p/>
          <a:p>
            <a:r>
              <a:t>The canvas is the product. Containers are cards with a header and a nested sub-flow. A rose pulse means critical; an amber border means degraded; dimmed means filtered. Chips show runtime, protocol and ownership.</a:t>
            </a:r>
          </a:p>
          <a:p/>
          <a:p>
            <a:r>
              <a:t>The dock along the bottom has two tabs: live alert stream and CLI executor log. The unacknowledged count is deliberately visible at all times.</a:t>
            </a:r>
          </a:p>
          <a:p/>
          <a:p>
            <a:r>
              <a:t>The inspector on the right is the 30-second brief for whatever is selected: overview with gauges and sparklines, metrics with the full channel list, children with live per-child load, and the CLI tab for runbooks.</a:t>
            </a:r>
          </a:p>
          <a:p/>
          <a:p>
            <a:r>
              <a:t>If you are demoing, follow the path in the card: press ALL, then INFRA, click the amber pod, open the CLI tab. That single sequence shows depth control, focus and action without any narration.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loop to teach new operators, and the checklist to run in a handover.</a:t>
            </a:r>
          </a:p>
          <a:p/>
          <a:p>
            <a:r>
              <a:t>Step one is trust the pipe before you trust the picture. LIVE green, stream open, tick advancing, last tick measured in seconds. If the stream is closed you are looking at a photograph, not a control room.</a:t>
            </a:r>
          </a:p>
          <a:p/>
          <a:p>
            <a:r>
              <a:t>Step two is the estate glance: critical zero, degraded between zero and two, average CPU under seventy, p99 inside SLO, error rate under 0.4 percent. Those are the numbers that tell you whether this is a normal shift. If critical is non-zero, skip the tour and go to the rose node.</a:t>
            </a:r>
          </a:p>
          <a:p/>
          <a:p>
            <a:r>
              <a:t>Step three is triage on the canvas. Rose pulse first, amber second. Remember that dimmed nodes are filtered, not absent — a common source of “where did the service go?”. Note the chips before you click, because runtime and owner decide who you call.</a:t>
            </a:r>
          </a:p>
          <a:p/>
          <a:p>
            <a:r>
              <a:t>Step four is the inspector. Check that gauges and sparklines agree, that subtree health lists only known offenders, and that the updated label is fresh. A stale timestamp points at the collector, not the workload.</a:t>
            </a:r>
          </a:p>
          <a:p/>
          <a:p>
            <a:r>
              <a:t>Step five is action. Always snapshot before restart, scale before failover, drain before host work. Watch the run stream; do not fire and forget. If a privileged run fails, it failed closed — nothing changed, and the exit code is in the log.</a:t>
            </a:r>
          </a:p>
          <a:p/>
          <a:p>
            <a:r>
              <a:t>Step six is close-out. Every warning and critical gets acknowledged with a title that explains itself, because that title becomes the audit trail. The unacknowledged count must be zero at handover, or the open item needs a named owner.</a:t>
            </a:r>
          </a:p>
          <a:p/>
          <a:p>
            <a:r>
              <a:t>The severity panel is the honesty rule. Critical means page someone. Degraded means watch it this shift. Offline means the agent is silent — check the collector before blaming the application. Maintenance is intentional and excluded from rollups; never use it to hide a real incident.</a:t>
            </a:r>
          </a:p>
          <a:p/>
          <a:p>
            <a:r>
              <a:t>The definition of a good shift on the right is deliberately short enough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controls that decide what the canvas is showing, and they are the source of most confusion for new users.</a:t>
            </a:r>
          </a:p>
          <a:p/>
          <a:p>
            <a:r>
              <a:t>Expand-to is a lens. Choosing ORG collapses everything below the holding company; choosing INFRA materialises down to servers, containers and pods; ALL goes to endpoints and resource gauges. On a large estate, ALL produces a very wide drawing — that is expected, and the answer is usually INFRA or GROUP plus search, not more zooming.</a:t>
            </a:r>
          </a:p>
          <a:p/>
          <a:p>
            <a:r>
              <a:t>The resource-gauge checkbox materialises the 159 gauge children. They are off by default because the per-card three-gauge strip already shows the same numbers.</a:t>
            </a:r>
          </a:p>
          <a:p/>
          <a:p>
            <a:r>
              <a:t>Direction and spacing are presentation controls with a real cost: both trigger a relayout. Down is right for the org shape; right is better for long service chains that would otherwise become very tall.</a:t>
            </a:r>
          </a:p>
          <a:p/>
          <a:p>
            <a:r>
              <a:t>Auto-layout discards manual drag offsets. It is the correct response to a canvas that a previous shift arranged into a maze.</a:t>
            </a:r>
          </a:p>
          <a:p/>
          <a:p>
            <a:r>
              <a:t>Search matches name, id, kind, region and owner, and the navigator switches to a result list. The status filter is a dimming layer; it never removes nodes, so a filtered canvas still lets you find the thing you filtered out.</a:t>
            </a:r>
          </a:p>
          <a:p/>
          <a:p>
            <a:r>
              <a:t>Dragging is clamped to the parent, and double-click collapses a branch in place without moving the viewport. That combination is what keeps a shared view stable.</a:t>
            </a:r>
          </a:p>
          <a:p/>
          <a:p>
            <a:r>
              <a:t>Reseed is destructive: it wipes manual edits and rebuilds the reference dataset. In production this would be a controlled operation, not a button; treat it accordingly.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inspector is where triage becomes a decision, and each tab answers a different question.</a:t>
            </a:r>
          </a:p>
          <a:p/>
          <a:p>
            <a:r>
              <a:t>Overview answers “what is this and how is it doing?”. You get the header with identity, runtime, version, owner and SLA, the three gauges, a sparkline and subtree health. Read the header first: type and runtime tell you what “slow” means here, and the SLA is the number the endpoint chip will be judged against.</a:t>
            </a:r>
          </a:p>
          <a:p/>
          <a:p>
            <a:r>
              <a:t>Then read the freshness label. If it says the data is old while the stream claims to be live, you have found the problem — it is the collector, not the workload. This is the single most useful sentence in the slide.</a:t>
            </a:r>
          </a:p>
          <a:p/>
          <a:p>
            <a:r>
              <a:t>Then read subtree health. Group values are averages of children, so a green parent with a red child is still a red incident, and the child is where the work is.</a:t>
            </a:r>
          </a:p>
          <a:p/>
          <a:p>
            <a:r>
              <a:t>Metrics answers “what exactly is the evidence?”. Every channel is listed — CPU, memory, disk, network in and out, requests per second, p99 latency, error rate, uptime, replicas — together with the collector source. This is the tab to screenshot into an incident ticket.</a:t>
            </a:r>
          </a:p>
          <a:p/>
          <a:p>
            <a:r>
              <a:t>Children answers “which child is poisoning the rollup?”. Listing children with live CPU and RPS finds the bad replica immediately, and clicking through focuses it on the canvas.</a:t>
            </a:r>
          </a:p>
          <a:p/>
          <a:p>
            <a:r>
              <a:t>CLI answers “what can I safely do right now?”. Six runbooks, each labelled read-only or privileged, with output streaming into the dock and every run persisted with the operator and exit code.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runbooks cover the actions operators actually take, and the risk column is the important part.</a:t>
            </a:r>
          </a:p>
          <a:p/>
          <a:p>
            <a:r>
              <a:t>The read-only three are snapshot, logs and scale. Snapshot renders top, df and free against the node and writes the result into the run log. Logs tails the last two hundred lines. Scale bumps replicas by two — technically a change, but reversible and low risk.</a:t>
            </a:r>
          </a:p>
          <a:p/>
          <a:p>
            <a:r>
              <a:t>The privileged three are restart, drain and failover. Restart halves the CPU and memory operating points and clears the error rate, which is why the node visibly returns to healthy in the demo. Drain sets maintenance, which is sticky and excluded from rollups until someone resumes the node. Failover marks the node healthy after the traffic shift and raises an audit event in the CLI log.</a:t>
            </a:r>
          </a:p>
          <a:p/>
          <a:p>
            <a:r>
              <a:t>Every run — successful or not — writes a row into ops_command_runs with the node, the rendered command, the operator, the status, the exit code, the full output and the timestamps. Output streams into the dock line by line over the same SSE channel as the metrics.</a:t>
            </a:r>
          </a:p>
          <a:p/>
          <a:p>
            <a:r>
              <a:t>Fail-closed is a deliberate design choice: a privileged run may fail by design, with exit code one and a failed status, and the topology is left exactly as it was. An operator who sees a failure knows nothing happened — which is far better than a half-applied action.</a:t>
            </a:r>
          </a:p>
          <a:p/>
          <a:p>
            <a:r>
              <a:t>Always snapshot before restart, scale before failover, and drain before host maintenance. That ordering is the difference between a runbook and a gamble.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how the data plane behaves, and how to fix the failures you will actually see.</a:t>
            </a:r>
          </a:p>
          <a:p/>
          <a:p>
            <a:r>
              <a:t>On the data plane: the first request to the topology endpoint seeds the reference estate — 456 nodes, baseline metrics, forty-eight history points per channel and forty-six events. The database URL comes from the environment and the health endpoint is the one-line probe. Snapshots persist every ten seconds and samples every thirty, with pruning past fifty minutes. Drag offsets, collapse state and manual status overrides persist per node. Acknowledgement takes an id or all, and the unacknowledged count is effectively the shift's open work. Backups are a plain dump of the five tables; the reference data can always be regenerated.</a:t>
            </a:r>
          </a:p>
          <a:p/>
          <a:p>
            <a:r>
              <a:t>The commands in the code block are the three housekeeping calls worth memorising: health, acknowledge-all, reseed.</a:t>
            </a:r>
          </a:p>
          <a:p/>
          <a:p>
            <a:r>
              <a:t>On the right are the recurring failures. An empty canvas almost always means the topology request is failing — check the database URL, the health probe, then the logs. A stream stuck on connecting is proxy buffering, not a broken app.</a:t>
            </a:r>
          </a:p>
          <a:p/>
          <a:p>
            <a:r>
              <a:t>Metrics frozen with an open stream means the engine is not ticking; restart the app. A node that will not appear usually means a child was registered before its parent — the gateway returns 400 by design, and the fix is to register upward.</a:t>
            </a:r>
          </a:p>
          <a:p/>
          <a:p>
            <a:r>
              <a:t>Absurd RPS numbers come from an old build that summed recursively; one reseed fixes the stored data, and current rollups use averages.</a:t>
            </a:r>
          </a:p>
          <a:p/>
          <a:p>
            <a:r>
              <a:t>Layout taking seconds is a depth and gauge problem, not an algorithm problem: drop to GROUP, hide resource gauges, then fit.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Integration is deliberately small: three write verbs and one read path.</a:t>
            </a:r>
          </a:p>
          <a:p/>
          <a:p>
            <a:r>
              <a:t>Register the shape: one call per node, idempotent by id, safe to run at every boot. The gateway enforces the parents-first rule, so if the parent is unknown you get a 400 and the fix is to walk up the tree, not to invent a parent id.</a:t>
            </a:r>
          </a:p>
          <a:p/>
          <a:p>
            <a:r>
              <a:t>Push the signals: one snapshot per node per heartbeat. Fifteen to sixty seconds is the sensible cadence — fast enough for the canvas, slow enough not to matter. Values are clamped server-side, so a bad collector cannot poison the estate, and an unknown node id returns a 404 pointing back at the register endpoint.</a:t>
            </a:r>
          </a:p>
          <a:p/>
          <a:p>
            <a:r>
              <a:t>Raise what matters: deploys, exceptions, slow queries, audit notes. Severity info, warning or critical, and a critical event on a node also escalates that node's status on the canvas. Passing the node id makes the dock row clickable, which is the difference between an alert and a breadcrumb.</a:t>
            </a:r>
          </a:p>
          <a:p/>
          <a:p>
            <a:r>
              <a:t>Read the estate back: one snapshot at boot, or a stream. The stream carries metrics, events and CLI lines, and there is a small single-node metrics endpoint that is perfect for a smoke test after your first push.</a:t>
            </a:r>
          </a:p>
          <a:p/>
          <a:p>
            <a:r>
              <a:t>The reliability contract is not optional. Telemetry must never break business traffic. Four-second timeout, fire and forget, warn on failure, batch on a ticker, register once at boot. If you push on every user request you have built a traffic amplifier, not an agent.</a:t>
            </a:r>
          </a:p>
          <a:p/>
          <a:p>
            <a:r>
              <a:t>The red panel lists the three mistakes we have seen: writing to the database directly, pushing per request, and blocking a user request on a telemetry call.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integration modes, and the choice is almost always made by access rather than preference.</a:t>
            </a:r>
          </a:p>
          <a:p/>
          <a:p>
            <a:r>
              <a:t>Push is for systems you own. You embed a small reporter, register the topology at boot, heartbeat on a ticker, and raise events from the places that already know something happened — the deploy pipeline, the exception handler, the slow-query guard.</a:t>
            </a:r>
          </a:p>
          <a:p/>
          <a:p>
            <a:r>
              <a:t>Pull is for systems you cannot change. A collector polls Prometheus, Docker or the Kubernetes API and pushes normalised snapshots. If you already run Prometheus, this is usually a thin mapping job rather than a new agent.</a:t>
            </a:r>
          </a:p>
          <a:p/>
          <a:p>
            <a:r>
              <a:t>Watch is for things that do not have an API you can call: a database that can run a trigger, an object store that can send bucket notifications, a legacy job that only writes files. You translate an existing signal into events and a few synthetic metrics.</a:t>
            </a:r>
          </a:p>
          <a:p/>
          <a:p>
            <a:r>
              <a:t>All three converge on the same four steps, and that is the point: the canvas, the status rules and the runbooks do not care how the data arrived. A pushed pod and a polled pod look identical, because the contract is the boundary.</a:t>
            </a:r>
          </a:p>
          <a:p/>
          <a:p>
            <a:r>
              <a:t>The three questions on the bottom left are the actual decision procedure. Can you deploy code? Can you scrape metrics? Is there an event stream you already trust? The first yes decides the mode.</a:t>
            </a:r>
          </a:p>
          <a:p/>
          <a:p>
            <a:r>
              <a:t>The acceptance test on the right is the same one used at the end of the deck: a deploy appears in the dock and forces the node amber within two ticks. If that works, the integration is real.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three payloads and the four read endpoints — the entire integration surface.</a:t>
            </a:r>
          </a:p>
          <a:p/>
          <a:p>
            <a:r>
              <a:t>Register takes seven fields. id and name and type are mandatory; parentId is mandatory for anything that is not a root. The value of kind is free text but it is displayed, so use it for the runtime or the hypervisor. meta is a free JSON object: for a service put protocol, version and SLA; for an endpoint put method, path, slaMs and auth. The id convention — parent::child::leaf — makes debugging easy when someone reports a missing node.</a:t>
            </a:r>
          </a:p>
          <a:p/>
          <a:p>
            <a:r>
              <a:t>Push takes a node id plus numeric channels. Everything is clamped server-side, requestsPerSec is a per-interval rate rather than a lifetime counter, and errorRate is what drives status transitions. Send source so the collector chip is honest.</a:t>
            </a:r>
          </a:p>
          <a:p/>
          <a:p>
            <a:r>
              <a:t>Raise takes a title that is required and should read like a headline, a severity, a free-form source label, an optional node id and an optional detail. A critical event on a node also escalates that node on the canvas, which is how a deploy pipeline can mark a bad release without waiting for metrics to catch up.</a:t>
            </a:r>
          </a:p>
          <a:p/>
          <a:p>
            <a:r>
              <a:t>Reading back: the topology snapshot for boot or polling, the stream for live updates, the single-node metrics endpoint for a smoke test, and PATCH for view state. One warning: agents should not call PATCH in a loop — that endpoint belongs to operators, and it persists drag and collapse state.</a:t>
            </a:r>
          </a:p>
          <a:p/>
          <a:p>
            <a:r>
              <a:t>If the audience only remembers one line from this slide: title like a headline, ids like a path, parents before children.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sequence top to bottom; it is the reference implementation for every sample in the guide.</a:t>
            </a:r>
          </a:p>
          <a:p/>
          <a:p>
            <a:r>
              <a:t>The boot block runs once per process. The agent registers its parents, then itself, then its endpoints — in that order, because the gateway rejects a child whose parent is unknown. Each call returns 200 with an upsert, and the engine syncs the new node immediately, so the canvas shows it before the first heartbeat arrives.</a:t>
            </a:r>
          </a:p>
          <a:p/>
          <a:p>
            <a:r>
              <a:t>The loop block runs every fifteen to sixty seconds. One snapshot per node with the six channels that matter: cpu, memory, disk, requests per second, error rate and latency. The gateway upserts, broadcasts, and every connected canvas receives an SSE metrics frame with the derived status.</a:t>
            </a:r>
          </a:p>
          <a:p/>
          <a:p>
            <a:r>
              <a:t>The event block is not periodic — it fires when something happened. A deploy, an exception, a slow query. The event is inserted and broadcast, and if it is critical the node is escalated on the canvas immediately, before metrics catch up.</a:t>
            </a:r>
          </a:p>
          <a:p/>
          <a:p>
            <a:r>
              <a:t>The footer is the contract that makes this safe in production: a four-second timeout, fire and forget, log a warning on failure, and register once at boot. Telemetry is a passenger, never a dependency.</a:t>
            </a:r>
          </a:p>
          <a:p/>
          <a:p>
            <a:r>
              <a:t>One nuance for reviewers: metrics pushed by an agent and metrics generated by the simulation share the same store, so an agent's snapshot appears on the canvas exactly like a simulated one. That is deliberate — it lets you develop an integration against the demo estate.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translation table every integration team asks for.</a:t>
            </a:r>
          </a:p>
          <a:p/>
          <a:p>
            <a:r>
              <a:t>The left column is the real world — companies, business units, programmes, regions, hosts, workloads, bounded contexts, deployables and routes. The middle column is the node type you map them to, and the right column is what that node carries in its metadata and cards.</a:t>
            </a:r>
          </a:p>
          <a:p/>
          <a:p>
            <a:r>
              <a:t>Two rules keep the tree useful. Map to the closest existing type — the fourteen types are the schema, and inventing a fifteenth is a product change, not an integration detail. And preserve the containment order, because every screen assumes a child makes sense inside its parent.</a:t>
            </a:r>
          </a:p>
          <a:p/>
          <a:p>
            <a:r>
              <a:t>The status thresholds on the right are the second half of the contract: CPU above 92 is critical, above 79 degraded; error rate above 5 is critical, above 1.4 degraded; memory above 88 is degraded; uptime below 98.5 pages, below 99.9 draws attention. Groups take the worst child status, with maintenance excluded.</a:t>
            </a:r>
          </a:p>
          <a:p/>
          <a:p>
            <a:r>
              <a:t>The two invariants are the ones that cause real incidents when violated. Parents before children — otherwise registration fails with a 400 and the node never appears. Averages up, never sums — otherwise the same request gets counted at host, pod, service and endpoint and the numbers inflate with every level.</a:t>
            </a:r>
          </a:p>
          <a:p/>
          <a:p>
            <a:r>
              <a:t>The note at the bottom is the consequence for integrators: a green service under a degraded pod does not save the pod. If you want an aggregate that looks healthy, the leaves have to be healthy.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recipes, one contract. The code lives in the guide at /guide, with full copy-paste samples for each stack.</a:t>
            </a:r>
          </a:p>
          <a:p/>
          <a:p>
            <a:r>
              <a:t>Laravel: a config file, a reporter service, a minutely scheduled heartbeat and an exception hook. The interesting part is registering topology inside the heartbeat so a fresh environment self-registers on its first tick.</a:t>
            </a:r>
          </a:p>
          <a:p/>
          <a:p>
            <a:r>
              <a:t>Spring Boot: a non-blocking WebClient reporter, a scheduled heartbeat fed by Micrometer, and a controller advice that turns exceptions into warning events.</a:t>
            </a:r>
          </a:p>
          <a:p/>
          <a:p>
            <a:r>
              <a:t>Node.js: a small agent module with process stats, an interval heartbeat, and Express middleware that observes latency and forwards 5xx as events.</a:t>
            </a:r>
          </a:p>
          <a:p/>
          <a:p>
            <a:r>
              <a:t>Go: an internal package with a ticker goroutine and chi-style middleware. Telemetry errors are swallowed by design, which is the right default for a passenger dependency.</a:t>
            </a:r>
          </a:p>
          <a:p/>
          <a:p>
            <a:r>
              <a:t>Rust: typed reporter structs over reqwest and serde, host stats from sysinfo, a spawned heartbeat task.</a:t>
            </a:r>
          </a:p>
          <a:p/>
          <a:p>
            <a:r>
              <a:t>Python: one importable module that works for FastAPI, Flask and plain workers, with a middleware and a psutil loop.</a:t>
            </a:r>
          </a:p>
          <a:p/>
          <a:p>
            <a:r>
              <a:t>PostgreSQL is the interesting one because there is no application change: pg_cron plus pg_net pushes a minutely heartbeat, a trigger turns failed inserts into warning events, and a sidecar is the fallback when those extensions are unavailable.</a:t>
            </a:r>
          </a:p>
          <a:p/>
          <a:p>
            <a:r>
              <a:t>MinIO cannot speak the ingest API, so a thirty-line bridge receives bucket notifications and maps them to events plus a storage-node disk gauge.</a:t>
            </a:r>
          </a:p>
          <a:p/>
          <a:p>
            <a:r>
              <a:t>Whatever the stack, the smoke test on the bottom is the same: push one snapshot, then read it back from the single-node metrics endpoint. If that round-trips, the hard part is done.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acceptance test to run before you let anyone depend on the platform — and again after any significant change.</a:t>
            </a:r>
          </a:p>
          <a:p/>
          <a:p>
            <a:r>
              <a:t>Test one is structure: from holding company to CPU gauge, in one canvas, with every container rendering its children. If a level is missing, the problem is in the tree or in the sub-flow renderer, not in the metrics.</a:t>
            </a:r>
          </a:p>
          <a:p/>
          <a:p>
            <a:r>
              <a:t>Test two is live truth: a tick every two seconds, values moving, layout still. If the canvas jumps on every tick, someone has wired metrics into the layout input, and that is the regression to fix.</a:t>
            </a:r>
          </a:p>
          <a:p/>
          <a:p>
            <a:r>
              <a:t>Test three is action: run a snapshot, then a restart, and confirm two things — the output streams into the dock, and a row appears in the CLI executor log with an exit code and an operator. That is the audit trail.</a:t>
            </a:r>
          </a:p>
          <a:p/>
          <a:p>
            <a:r>
              <a:t>Test four is the acknowledgement loop: raise an event through the ingest API, watch it appear, acknowledge it, watch the count drop. That exercises ingest, broadcast and the ack path in one minute.</a:t>
            </a:r>
          </a:p>
          <a:p/>
          <a:p>
            <a:r>
              <a:t>Test five is integration: take any stack, register it, push one snapshot, raise one deploy. The node appears under its parent with fresh numbers, and the deploy shows up in the dock.</a:t>
            </a:r>
          </a:p>
          <a:p/>
          <a:p>
            <a:r>
              <a:t>The order matters, because each test depends on the previous one. If structure fails, do not debug the stream. If live truth fails, do not debug integrations.</a:t>
            </a:r>
          </a:p>
          <a:p/>
          <a:p>
            <a:r>
              <a:t>The bottom line is the promise: all five pass, the control room is trustworthy. Any one fails, and the layer it proves is the layer to fix first.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estate is complete, but production is six workstreams, not one switch.</a:t>
            </a:r>
          </a:p>
          <a:p/>
          <a:p>
            <a:r>
              <a:t>Access is first because the runbooks are real actions: SSO in front of the app, and a role split between viewers, operators and admins. Privileged runbooks should require a second approval, especially drain and failover.</a:t>
            </a:r>
          </a:p>
          <a:p/>
          <a:p>
            <a:r>
              <a:t>Collectors replace the simulator: Prometheus scrape, Docker events, Kubernetes metrics and one agent per stack. This is the longest pole, which is why it comes first in the sequence.</a:t>
            </a:r>
          </a:p>
          <a:p/>
          <a:p>
            <a:r>
              <a:t>Retention is the honest gap in the current design: samples belong in a time-series store, Postgres keeps the short window, and events are archived for audit.</a:t>
            </a:r>
          </a:p>
          <a:p/>
          <a:p>
            <a:r>
              <a:t>Scale is a should-have at the thousand-node mark: topology deltas instead of full snapshots, and a connection pooler in front of Postgres.</a:t>
            </a:r>
          </a:p>
          <a:p/>
          <a:p>
            <a:r>
              <a:t>Runbooks need to be wired to real automation, with fail-closed retained as the default. It is the property that lets an operator trust a failed run.</a:t>
            </a:r>
          </a:p>
          <a:p/>
          <a:p>
            <a:r>
              <a:t>Governance is last because it depends on the tree being correct: ownership metadata, alert routing by owner, and a monthly review of nodes nobody owns.</a:t>
            </a:r>
          </a:p>
          <a:p/>
          <a:p>
            <a:r>
              <a:t>The sequencing card explains the order: collectors first, governance last. And the exit criteria are deliberately operational rather than technical — two clean weeks of handover and a one-minute find-and-act target are better signals of readiness than a green test suite.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in order of how often they come up.</a:t>
            </a:r>
          </a:p>
          <a:p/>
          <a:p>
            <a:r>
              <a:t>One tree: every object is a node, containers are sub-flows, parents come before children. If someone understands only this, they can navigate the product.</a:t>
            </a:r>
          </a:p>
          <a:p/>
          <a:p>
            <a:r>
              <a:t>One contract: register, push, raise, read back, and never write to the database directly. This is what makes eight different stacks look identical on the canvas.</a:t>
            </a:r>
          </a:p>
          <a:p/>
          <a:p>
            <a:r>
              <a:t>One loop: live metrics repaint leaves, structure changes relayout. Two paths that never cross — that is the performance story and the reason the canvas stays readable.</a:t>
            </a:r>
          </a:p>
          <a:p/>
          <a:p>
            <a:r>
              <a:t>One action surface: six runbooks, three privileged, every run audited, and privileged runs can fail closed. This is the difference between a monitoring tool and an operations tool.</a:t>
            </a:r>
          </a:p>
          <a:p/>
          <a:p>
            <a:r>
              <a:t>One truth: averages roll up, sums never do. The number on a parent is the average of its children, which is why the estate does not inflate as you zoom out.</a:t>
            </a:r>
          </a:p>
          <a:p/>
          <a:p>
            <a:r>
              <a:t>The quote on the right is the design principle: a control room is not a dashboard you look at; it is a contract the estate keeps with the people who run it. That is why the invariants are strict and the runbooks are audited.</a:t>
            </a:r>
          </a:p>
          <a:p/>
          <a:p>
            <a:r>
              <a:t>For next steps, keep it to three concrete asks: book the acceptance test with one real stack, pick the first three collectors, agree the on-call owner map. Those three unblock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reference slide in Q&amp;A, and leave it up while people leave.</a:t>
            </a:r>
          </a:p>
          <a:p/>
          <a:p>
            <a:r>
              <a:t>The glossary is deliberately short: node, sub-flow, extent-parent, rollup, runbook, ingest gateway, SSE, relayout, snapshot and sample. Those ten terms cover every question that came up in the first three reviews.</a:t>
            </a:r>
          </a:p>
          <a:p/>
          <a:p>
            <a:r>
              <a:t>The three links are the practical next steps. The root path is the live control room. The guide is the operator and integrator manual — nine Mermaid diagrams with their sources, the administration runbook, and eight complete sample agents you can copy. The architecture anchor jumps straight to the part of the guide that matches slides five to eleven of this deck.</a:t>
            </a:r>
          </a:p>
          <a:p/>
          <a:p>
            <a:r>
              <a:t>Close by inviting the two useful kinds of follow-up: a pairing session with the first integration team, and a review of the collector plan. Those are the two things that move the project from demo to production.</a:t>
            </a:r>
          </a:p>
          <a:p/>
          <a:p>
            <a:r>
              <a:t>And if you need one closing line for the room: one tree, one contract, one loop — and an estate that can prove itself in five minutes.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Oval 2"/>
          <p:cNvSpPr/>
          <p:nvPr/>
        </p:nvSpPr>
        <p:spPr>
          <a:xfrm>
            <a:off x="6583680" y="-2011680"/>
            <a:ext cx="6766560" cy="6035040"/>
          </a:xfrm>
          <a:prstGeom prst="ellipse">
            <a:avLst/>
          </a:prstGeom>
          <a:solidFill>
            <a:srgbClr val="A78BFA">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377440" y="2834640"/>
            <a:ext cx="6217920" cy="5852160"/>
          </a:xfrm>
          <a:prstGeom prst="ellipse">
            <a:avLst/>
          </a:prstGeom>
          <a:solidFill>
            <a:srgbClr val="7DD3FC">
              <a:alpha val="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132320" y="4206240"/>
            <a:ext cx="5120640" cy="3291840"/>
          </a:xfrm>
          <a:prstGeom prst="ellipse">
            <a:avLst/>
          </a:prstGeom>
          <a:solidFill>
            <a:srgbClr val="34D399">
              <a:alpha val="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4572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144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3716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8288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2860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7432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004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1148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5720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0292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4864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9436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4008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8580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3152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7724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2296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1440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012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0584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5156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9728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4300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887200" y="0"/>
            <a:ext cx="0" cy="685800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457200"/>
            <a:ext cx="12191695" cy="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914400"/>
            <a:ext cx="12191695" cy="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1371600"/>
            <a:ext cx="12191695" cy="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1828800"/>
            <a:ext cx="12191695" cy="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2286000"/>
            <a:ext cx="12191695" cy="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2743200"/>
            <a:ext cx="12191695" cy="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3200400"/>
            <a:ext cx="12191695" cy="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3657600"/>
            <a:ext cx="12191695" cy="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4114800"/>
            <a:ext cx="12191695" cy="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4572000"/>
            <a:ext cx="12191695" cy="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5029200"/>
            <a:ext cx="12191695" cy="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5486400"/>
            <a:ext cx="12191695" cy="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5943600"/>
            <a:ext cx="12191695" cy="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6400800"/>
            <a:ext cx="12191695" cy="0"/>
          </a:xfrm>
          <a:prstGeom prst="line">
            <a:avLst/>
          </a:prstGeom>
          <a:ln w="6350">
            <a:solidFill>
              <a:srgbClr val="16212F">
                <a:alpha val="25000"/>
              </a:srgbClr>
            </a:solidFill>
          </a:ln>
        </p:spPr>
        <p:style>
          <a:lnRef idx="2">
            <a:schemeClr val="accent1"/>
          </a:lnRef>
          <a:fillRef idx="0">
            <a:schemeClr val="accent1"/>
          </a:fillRef>
          <a:effectRef idx="1">
            <a:schemeClr val="accent1"/>
          </a:effectRef>
          <a:fontRef idx="minor">
            <a:schemeClr val="tx1"/>
          </a:fontRef>
        </p:style>
      </p:cxnSp>
      <p:sp>
        <p:nvSpPr>
          <p:cNvPr id="46" name="Hexagon 45"/>
          <p:cNvSpPr/>
          <p:nvPr/>
        </p:nvSpPr>
        <p:spPr>
          <a:xfrm>
            <a:off x="868680" y="658368"/>
            <a:ext cx="365760" cy="402336"/>
          </a:xfrm>
          <a:prstGeom prst="hexagon">
            <a:avLst/>
          </a:prstGeom>
          <a:solidFill>
            <a:srgbClr val="0A101B"/>
          </a:solidFill>
          <a:ln w="1524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Hexagon 46"/>
          <p:cNvSpPr/>
          <p:nvPr/>
        </p:nvSpPr>
        <p:spPr>
          <a:xfrm>
            <a:off x="932688" y="731520"/>
            <a:ext cx="237744" cy="256032"/>
          </a:xfrm>
          <a:prstGeom prst="hexagon">
            <a:avLst/>
          </a:prstGeom>
          <a:no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53312" y="694944"/>
            <a:ext cx="2011680" cy="164592"/>
          </a:xfrm>
          <a:prstGeom prst="rect">
            <a:avLst/>
          </a:prstGeom>
          <a:noFill/>
        </p:spPr>
        <p:txBody>
          <a:bodyPr wrap="square" lIns="0" rIns="0" tIns="0" bIns="0" anchor="t">
            <a:noAutofit/>
          </a:bodyPr>
          <a:lstStyle/>
          <a:p>
            <a:pPr algn="l">
              <a:lnSpc>
                <a:spcPct val="122000"/>
              </a:lnSpc>
            </a:pPr>
            <a:r>
              <a:rPr sz="919" b="1" i="0" spc="220">
                <a:solidFill>
                  <a:srgbClr val="F4F8FC"/>
                </a:solidFill>
                <a:latin typeface="Consolas"/>
              </a:rPr>
              <a:t>HELIOS·OPS</a:t>
            </a:r>
          </a:p>
        </p:txBody>
      </p:sp>
      <p:sp>
        <p:nvSpPr>
          <p:cNvPr id="49" name="TextBox 48"/>
          <p:cNvSpPr txBox="1"/>
          <p:nvPr/>
        </p:nvSpPr>
        <p:spPr>
          <a:xfrm>
            <a:off x="1353312" y="877824"/>
            <a:ext cx="3108960" cy="146304"/>
          </a:xfrm>
          <a:prstGeom prst="rect">
            <a:avLst/>
          </a:prstGeom>
          <a:noFill/>
        </p:spPr>
        <p:txBody>
          <a:bodyPr wrap="square" lIns="0" rIns="0" tIns="0" bIns="0" anchor="t">
            <a:noAutofit/>
          </a:bodyPr>
          <a:lstStyle/>
          <a:p>
            <a:pPr algn="l">
              <a:lnSpc>
                <a:spcPct val="122000"/>
              </a:lnSpc>
            </a:pPr>
            <a:r>
              <a:rPr sz="680" b="0" i="0" spc="120">
                <a:solidFill>
                  <a:srgbClr val="64748B"/>
                </a:solidFill>
                <a:latin typeface="Consolas"/>
              </a:rPr>
              <a:t>PLATFORM ENGINEERING · CONTROL PLANE</a:t>
            </a:r>
          </a:p>
        </p:txBody>
      </p:sp>
      <p:sp>
        <p:nvSpPr>
          <p:cNvPr id="50" name="TextBox 49"/>
          <p:cNvSpPr txBox="1"/>
          <p:nvPr/>
        </p:nvSpPr>
        <p:spPr>
          <a:xfrm>
            <a:off x="896112" y="1700784"/>
            <a:ext cx="6400800" cy="182880"/>
          </a:xfrm>
          <a:prstGeom prst="rect">
            <a:avLst/>
          </a:prstGeom>
          <a:noFill/>
        </p:spPr>
        <p:txBody>
          <a:bodyPr wrap="square" lIns="0" rIns="0" tIns="0" bIns="0" anchor="t">
            <a:noAutofit/>
          </a:bodyPr>
          <a:lstStyle/>
          <a:p>
            <a:pPr algn="l">
              <a:lnSpc>
                <a:spcPct val="122000"/>
              </a:lnSpc>
            </a:pPr>
            <a:r>
              <a:rPr sz="860" b="0" i="0" spc="240">
                <a:solidFill>
                  <a:srgbClr val="7DD3FC"/>
                </a:solidFill>
                <a:latin typeface="Consolas"/>
              </a:rPr>
              <a:t>ARCHITECTURE  ·  ADMINISTRATION  ·  INTEGRATION</a:t>
            </a:r>
          </a:p>
        </p:txBody>
      </p:sp>
      <p:sp>
        <p:nvSpPr>
          <p:cNvPr id="51" name="TextBox 50"/>
          <p:cNvSpPr txBox="1"/>
          <p:nvPr/>
        </p:nvSpPr>
        <p:spPr>
          <a:xfrm>
            <a:off x="868680" y="1920240"/>
            <a:ext cx="6583680" cy="868680"/>
          </a:xfrm>
          <a:prstGeom prst="rect">
            <a:avLst/>
          </a:prstGeom>
          <a:noFill/>
        </p:spPr>
        <p:txBody>
          <a:bodyPr wrap="none" lIns="0" rIns="0" tIns="0" bIns="0" anchor="t">
            <a:noAutofit/>
          </a:bodyPr>
          <a:lstStyle/>
          <a:p>
            <a:pPr algn="l">
              <a:lnSpc>
                <a:spcPct val="100000"/>
              </a:lnSpc>
            </a:pPr>
            <a:r>
              <a:rPr sz="5600" b="1">
                <a:solidFill>
                  <a:srgbClr val="F4F8FC"/>
                </a:solidFill>
                <a:latin typeface="Segoe UI"/>
              </a:rPr>
              <a:t>Helios</a:t>
            </a:r>
            <a:r>
              <a:rPr sz="5600" b="1">
                <a:solidFill>
                  <a:srgbClr val="7DD3FC"/>
                </a:solidFill>
                <a:latin typeface="Segoe UI"/>
              </a:rPr>
              <a:t>·</a:t>
            </a:r>
            <a:r>
              <a:rPr sz="5600" b="1">
                <a:solidFill>
                  <a:srgbClr val="F4F8FC"/>
                </a:solidFill>
                <a:latin typeface="Segoe UI"/>
              </a:rPr>
              <a:t>Ops</a:t>
            </a:r>
          </a:p>
        </p:txBody>
      </p:sp>
      <p:sp>
        <p:nvSpPr>
          <p:cNvPr id="52" name="Rectangle 51"/>
          <p:cNvSpPr/>
          <p:nvPr/>
        </p:nvSpPr>
        <p:spPr>
          <a:xfrm>
            <a:off x="896112" y="2798064"/>
            <a:ext cx="868680" cy="41148"/>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3" name="TextBox 52"/>
          <p:cNvSpPr txBox="1"/>
          <p:nvPr/>
        </p:nvSpPr>
        <p:spPr>
          <a:xfrm>
            <a:off x="896112" y="2999232"/>
            <a:ext cx="6492240" cy="402336"/>
          </a:xfrm>
          <a:prstGeom prst="rect">
            <a:avLst/>
          </a:prstGeom>
          <a:noFill/>
        </p:spPr>
        <p:txBody>
          <a:bodyPr wrap="square" lIns="0" rIns="0" tIns="0" bIns="0" anchor="t">
            <a:noAutofit/>
          </a:bodyPr>
          <a:lstStyle/>
          <a:p>
            <a:pPr algn="l">
              <a:lnSpc>
                <a:spcPct val="120000"/>
              </a:lnSpc>
            </a:pPr>
            <a:r>
              <a:rPr sz="2000" b="0" i="0">
                <a:solidFill>
                  <a:srgbClr val="E2E8F0"/>
                </a:solidFill>
                <a:latin typeface="Segoe UI"/>
              </a:rPr>
              <a:t>One canvas from holding company to CPU gauge.</a:t>
            </a:r>
          </a:p>
        </p:txBody>
      </p:sp>
      <p:sp>
        <p:nvSpPr>
          <p:cNvPr id="54" name="TextBox 53"/>
          <p:cNvSpPr txBox="1"/>
          <p:nvPr/>
        </p:nvSpPr>
        <p:spPr>
          <a:xfrm>
            <a:off x="896112" y="3584448"/>
            <a:ext cx="6309360" cy="713232"/>
          </a:xfrm>
          <a:prstGeom prst="rect">
            <a:avLst/>
          </a:prstGeom>
          <a:noFill/>
        </p:spPr>
        <p:txBody>
          <a:bodyPr wrap="square" lIns="0" rIns="0" tIns="0" bIns="0" anchor="t">
            <a:noAutofit/>
          </a:bodyPr>
          <a:lstStyle/>
          <a:p>
            <a:pPr algn="l">
              <a:lnSpc>
                <a:spcPct val="140000"/>
              </a:lnSpc>
            </a:pPr>
            <a:r>
              <a:rPr sz="1120" b="0" i="0">
                <a:solidFill>
                  <a:srgbClr val="9DB0C6"/>
                </a:solidFill>
                <a:latin typeface="Segoe UI"/>
              </a:rPr>
              <a:t>A working briefing on the hierarchical control room: how the architecture fits together, how operators run a shift, and the five-step contract that plugs any stack into the tree.</a:t>
            </a:r>
          </a:p>
        </p:txBody>
      </p:sp>
      <p:sp>
        <p:nvSpPr>
          <p:cNvPr id="55" name="Rounded Rectangle 54"/>
          <p:cNvSpPr/>
          <p:nvPr/>
        </p:nvSpPr>
        <p:spPr>
          <a:xfrm>
            <a:off x="896112" y="4590288"/>
            <a:ext cx="1965960" cy="246888"/>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6" name="TextBox 55"/>
          <p:cNvSpPr txBox="1"/>
          <p:nvPr/>
        </p:nvSpPr>
        <p:spPr>
          <a:xfrm>
            <a:off x="950976" y="4658772"/>
            <a:ext cx="1856231" cy="105156"/>
          </a:xfrm>
          <a:prstGeom prst="rect">
            <a:avLst/>
          </a:prstGeom>
          <a:noFill/>
        </p:spPr>
        <p:txBody>
          <a:bodyPr wrap="square" lIns="0" rIns="0" tIns="0" bIns="0" anchor="t">
            <a:noAutofit/>
          </a:bodyPr>
          <a:lstStyle/>
          <a:p>
            <a:pPr algn="ctr">
              <a:lnSpc>
                <a:spcPct val="100000"/>
              </a:lnSpc>
            </a:pPr>
            <a:r>
              <a:rPr sz="690" b="0" i="0">
                <a:solidFill>
                  <a:srgbClr val="9DB0C6"/>
                </a:solidFill>
                <a:latin typeface="Consolas"/>
              </a:rPr>
              <a:t>456-node reference estate</a:t>
            </a:r>
          </a:p>
        </p:txBody>
      </p:sp>
      <p:sp>
        <p:nvSpPr>
          <p:cNvPr id="57" name="Rounded Rectangle 56"/>
          <p:cNvSpPr/>
          <p:nvPr/>
        </p:nvSpPr>
        <p:spPr>
          <a:xfrm>
            <a:off x="2971800" y="4590288"/>
            <a:ext cx="1572768" cy="246888"/>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8" name="TextBox 57"/>
          <p:cNvSpPr txBox="1"/>
          <p:nvPr/>
        </p:nvSpPr>
        <p:spPr>
          <a:xfrm>
            <a:off x="3026664" y="4658772"/>
            <a:ext cx="1463040" cy="105156"/>
          </a:xfrm>
          <a:prstGeom prst="rect">
            <a:avLst/>
          </a:prstGeom>
          <a:noFill/>
        </p:spPr>
        <p:txBody>
          <a:bodyPr wrap="square" lIns="0" rIns="0" tIns="0" bIns="0" anchor="t">
            <a:noAutofit/>
          </a:bodyPr>
          <a:lstStyle/>
          <a:p>
            <a:pPr algn="ctr">
              <a:lnSpc>
                <a:spcPct val="100000"/>
              </a:lnSpc>
            </a:pPr>
            <a:r>
              <a:rPr sz="690" b="0" i="0">
                <a:solidFill>
                  <a:srgbClr val="9DB0C6"/>
                </a:solidFill>
                <a:latin typeface="Consolas"/>
              </a:rPr>
              <a:t>2-second live truth</a:t>
            </a:r>
          </a:p>
        </p:txBody>
      </p:sp>
      <p:sp>
        <p:nvSpPr>
          <p:cNvPr id="59" name="Rounded Rectangle 58"/>
          <p:cNvSpPr/>
          <p:nvPr/>
        </p:nvSpPr>
        <p:spPr>
          <a:xfrm>
            <a:off x="4654296" y="4590288"/>
            <a:ext cx="1325880" cy="246888"/>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0" name="TextBox 59"/>
          <p:cNvSpPr txBox="1"/>
          <p:nvPr/>
        </p:nvSpPr>
        <p:spPr>
          <a:xfrm>
            <a:off x="4709159" y="4658772"/>
            <a:ext cx="1216152" cy="105156"/>
          </a:xfrm>
          <a:prstGeom prst="rect">
            <a:avLst/>
          </a:prstGeom>
          <a:noFill/>
        </p:spPr>
        <p:txBody>
          <a:bodyPr wrap="square" lIns="0" rIns="0" tIns="0" bIns="0" anchor="t">
            <a:noAutofit/>
          </a:bodyPr>
          <a:lstStyle/>
          <a:p>
            <a:pPr algn="ctr">
              <a:lnSpc>
                <a:spcPct val="100000"/>
              </a:lnSpc>
            </a:pPr>
            <a:r>
              <a:rPr sz="690" b="0" i="0">
                <a:solidFill>
                  <a:srgbClr val="9DB0C6"/>
                </a:solidFill>
                <a:latin typeface="Consolas"/>
              </a:rPr>
              <a:t>8 stack recipes</a:t>
            </a:r>
          </a:p>
        </p:txBody>
      </p:sp>
      <p:cxnSp>
        <p:nvCxnSpPr>
          <p:cNvPr id="61" name="Connector 60"/>
          <p:cNvCxnSpPr/>
          <p:nvPr/>
        </p:nvCxnSpPr>
        <p:spPr>
          <a:xfrm>
            <a:off x="896112" y="5797296"/>
            <a:ext cx="6327648"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896112" y="5888736"/>
            <a:ext cx="4023360" cy="164592"/>
          </a:xfrm>
          <a:prstGeom prst="rect">
            <a:avLst/>
          </a:prstGeom>
          <a:noFill/>
        </p:spPr>
        <p:txBody>
          <a:bodyPr wrap="square" lIns="0" rIns="0" tIns="0" bIns="0" anchor="t">
            <a:noAutofit/>
          </a:bodyPr>
          <a:lstStyle/>
          <a:p>
            <a:pPr algn="l">
              <a:lnSpc>
                <a:spcPct val="122000"/>
              </a:lnSpc>
            </a:pPr>
            <a:r>
              <a:rPr sz="700" b="0" i="0" spc="110">
                <a:solidFill>
                  <a:srgbClr val="64748B"/>
                </a:solidFill>
                <a:latin typeface="Consolas"/>
              </a:rPr>
              <a:t>BRIEFING DECK  ·  v1.0  ·  OCTOBER 2026</a:t>
            </a:r>
          </a:p>
        </p:txBody>
      </p:sp>
      <p:sp>
        <p:nvSpPr>
          <p:cNvPr id="63" name="TextBox 62"/>
          <p:cNvSpPr txBox="1"/>
          <p:nvPr/>
        </p:nvSpPr>
        <p:spPr>
          <a:xfrm>
            <a:off x="4572000" y="5888736"/>
            <a:ext cx="3108960" cy="164592"/>
          </a:xfrm>
          <a:prstGeom prst="rect">
            <a:avLst/>
          </a:prstGeom>
          <a:noFill/>
        </p:spPr>
        <p:txBody>
          <a:bodyPr wrap="square" lIns="0" rIns="0" tIns="0" bIns="0" anchor="t">
            <a:noAutofit/>
          </a:bodyPr>
          <a:lstStyle/>
          <a:p>
            <a:pPr algn="l">
              <a:lnSpc>
                <a:spcPct val="122000"/>
              </a:lnSpc>
            </a:pPr>
            <a:r>
              <a:rPr sz="700" b="0" i="0" spc="110">
                <a:solidFill>
                  <a:srgbClr val="64748B"/>
                </a:solidFill>
                <a:latin typeface="Consolas"/>
              </a:rPr>
              <a:t>SOURCE: /guide  ·  27 SLIDES</a:t>
            </a:r>
          </a:p>
        </p:txBody>
      </p:sp>
      <p:sp>
        <p:nvSpPr>
          <p:cNvPr id="64" name="Rounded Rectangle 63"/>
          <p:cNvSpPr/>
          <p:nvPr/>
        </p:nvSpPr>
        <p:spPr>
          <a:xfrm>
            <a:off x="7818120" y="1298448"/>
            <a:ext cx="3712463" cy="4443984"/>
          </a:xfrm>
          <a:prstGeom prst="roundRect">
            <a:avLst>
              <a:gd name="adj" fmla="val 2955"/>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5" name="TextBox 64"/>
          <p:cNvSpPr txBox="1"/>
          <p:nvPr/>
        </p:nvSpPr>
        <p:spPr>
          <a:xfrm>
            <a:off x="8001000" y="1426464"/>
            <a:ext cx="2743200" cy="146304"/>
          </a:xfrm>
          <a:prstGeom prst="rect">
            <a:avLst/>
          </a:prstGeom>
          <a:noFill/>
        </p:spPr>
        <p:txBody>
          <a:bodyPr wrap="square" lIns="0" rIns="0" tIns="0" bIns="0" anchor="t">
            <a:noAutofit/>
          </a:bodyPr>
          <a:lstStyle/>
          <a:p>
            <a:pPr algn="l">
              <a:lnSpc>
                <a:spcPct val="122000"/>
              </a:lnSpc>
            </a:pPr>
            <a:r>
              <a:rPr sz="640" b="0" i="0" spc="140">
                <a:solidFill>
                  <a:srgbClr val="7DD3FC"/>
                </a:solidFill>
                <a:latin typeface="Consolas"/>
              </a:rPr>
              <a:t>ORGANIZATION</a:t>
            </a:r>
          </a:p>
        </p:txBody>
      </p:sp>
      <p:sp>
        <p:nvSpPr>
          <p:cNvPr id="66" name="TextBox 65"/>
          <p:cNvSpPr txBox="1"/>
          <p:nvPr/>
        </p:nvSpPr>
        <p:spPr>
          <a:xfrm>
            <a:off x="8001000" y="1572768"/>
            <a:ext cx="2743200" cy="164592"/>
          </a:xfrm>
          <a:prstGeom prst="rect">
            <a:avLst/>
          </a:prstGeom>
          <a:noFill/>
        </p:spPr>
        <p:txBody>
          <a:bodyPr wrap="square" lIns="0" rIns="0" tIns="0" bIns="0" anchor="t">
            <a:noAutofit/>
          </a:bodyPr>
          <a:lstStyle/>
          <a:p>
            <a:pPr algn="l">
              <a:lnSpc>
                <a:spcPct val="122000"/>
              </a:lnSpc>
            </a:pPr>
            <a:r>
              <a:rPr sz="819" b="1" i="0">
                <a:solidFill>
                  <a:srgbClr val="E2E8F0"/>
                </a:solidFill>
                <a:latin typeface="Segoe UI"/>
              </a:rPr>
              <a:t>Helios Enterprise Group</a:t>
            </a:r>
          </a:p>
        </p:txBody>
      </p:sp>
      <p:sp>
        <p:nvSpPr>
          <p:cNvPr id="67" name="Oval 66"/>
          <p:cNvSpPr/>
          <p:nvPr/>
        </p:nvSpPr>
        <p:spPr>
          <a:xfrm>
            <a:off x="11064240" y="1463040"/>
            <a:ext cx="82296" cy="82296"/>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8028431" y="1956816"/>
            <a:ext cx="3291840" cy="3063240"/>
          </a:xfrm>
          <a:prstGeom prst="roundRect">
            <a:avLst>
              <a:gd name="adj" fmla="val 2985"/>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9" name="TextBox 68"/>
          <p:cNvSpPr txBox="1"/>
          <p:nvPr/>
        </p:nvSpPr>
        <p:spPr>
          <a:xfrm>
            <a:off x="8193024" y="2066543"/>
            <a:ext cx="2286000" cy="137160"/>
          </a:xfrm>
          <a:prstGeom prst="rect">
            <a:avLst/>
          </a:prstGeom>
          <a:noFill/>
        </p:spPr>
        <p:txBody>
          <a:bodyPr wrap="square" lIns="0" rIns="0" tIns="0" bIns="0" anchor="t">
            <a:noAutofit/>
          </a:bodyPr>
          <a:lstStyle/>
          <a:p>
            <a:pPr algn="l">
              <a:lnSpc>
                <a:spcPct val="122000"/>
              </a:lnSpc>
            </a:pPr>
            <a:r>
              <a:rPr sz="620" b="0" i="0" spc="120">
                <a:solidFill>
                  <a:srgbClr val="A78BFA"/>
                </a:solidFill>
                <a:latin typeface="Consolas"/>
              </a:rPr>
              <a:t>DATACENTER · EU-WEST-1</a:t>
            </a:r>
          </a:p>
        </p:txBody>
      </p:sp>
      <p:sp>
        <p:nvSpPr>
          <p:cNvPr id="70" name="Rounded Rectangle 69"/>
          <p:cNvSpPr/>
          <p:nvPr/>
        </p:nvSpPr>
        <p:spPr>
          <a:xfrm>
            <a:off x="8247888" y="2487168"/>
            <a:ext cx="2834640" cy="2194560"/>
          </a:xfrm>
          <a:prstGeom prst="roundRect">
            <a:avLst>
              <a:gd name="adj" fmla="val 3750"/>
            </a:avLst>
          </a:prstGeom>
          <a:solidFill>
            <a:srgbClr val="14202F"/>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1" name="TextBox 70"/>
          <p:cNvSpPr txBox="1"/>
          <p:nvPr/>
        </p:nvSpPr>
        <p:spPr>
          <a:xfrm>
            <a:off x="8394192" y="2587752"/>
            <a:ext cx="2194560" cy="137160"/>
          </a:xfrm>
          <a:prstGeom prst="rect">
            <a:avLst/>
          </a:prstGeom>
          <a:noFill/>
        </p:spPr>
        <p:txBody>
          <a:bodyPr wrap="square" lIns="0" rIns="0" tIns="0" bIns="0" anchor="t">
            <a:noAutofit/>
          </a:bodyPr>
          <a:lstStyle/>
          <a:p>
            <a:pPr algn="l">
              <a:lnSpc>
                <a:spcPct val="122000"/>
              </a:lnSpc>
            </a:pPr>
            <a:r>
              <a:rPr sz="620" b="0" i="0" spc="110">
                <a:solidFill>
                  <a:srgbClr val="34D399"/>
                </a:solidFill>
                <a:latin typeface="Consolas"/>
              </a:rPr>
              <a:t>POD · CHECKOUT-API-6F2A</a:t>
            </a:r>
          </a:p>
        </p:txBody>
      </p:sp>
      <p:sp>
        <p:nvSpPr>
          <p:cNvPr id="72" name="Oval 71"/>
          <p:cNvSpPr/>
          <p:nvPr/>
        </p:nvSpPr>
        <p:spPr>
          <a:xfrm>
            <a:off x="10716768" y="2587752"/>
            <a:ext cx="91440" cy="9144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0661904" y="2532888"/>
            <a:ext cx="201168" cy="201168"/>
          </a:xfrm>
          <a:prstGeom prst="ellipse">
            <a:avLst/>
          </a:prstGeom>
          <a:noFill/>
          <a:ln w="1016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394192" y="2798064"/>
            <a:ext cx="2011680" cy="274320"/>
          </a:xfrm>
          <a:prstGeom prst="rect">
            <a:avLst/>
          </a:prstGeom>
          <a:noFill/>
        </p:spPr>
        <p:txBody>
          <a:bodyPr wrap="square" lIns="0" rIns="0" tIns="0" bIns="0" anchor="t">
            <a:noAutofit/>
          </a:bodyPr>
          <a:lstStyle/>
          <a:p>
            <a:pPr algn="l">
              <a:lnSpc>
                <a:spcPct val="100000"/>
              </a:lnSpc>
            </a:pPr>
            <a:r>
              <a:rPr sz="1250" b="1" i="0">
                <a:solidFill>
                  <a:srgbClr val="F4F8FC"/>
                </a:solidFill>
                <a:latin typeface="Segoe UI"/>
              </a:rPr>
              <a:t>checkout-api</a:t>
            </a:r>
          </a:p>
        </p:txBody>
      </p:sp>
      <p:sp>
        <p:nvSpPr>
          <p:cNvPr id="75" name="TextBox 74"/>
          <p:cNvSpPr txBox="1"/>
          <p:nvPr/>
        </p:nvSpPr>
        <p:spPr>
          <a:xfrm>
            <a:off x="8394192" y="2990088"/>
            <a:ext cx="2011680" cy="146304"/>
          </a:xfrm>
          <a:prstGeom prst="rect">
            <a:avLst/>
          </a:prstGeom>
          <a:noFill/>
        </p:spPr>
        <p:txBody>
          <a:bodyPr wrap="square" lIns="0" rIns="0" tIns="0" bIns="0" anchor="t">
            <a:noAutofit/>
          </a:bodyPr>
          <a:lstStyle/>
          <a:p>
            <a:pPr algn="l">
              <a:lnSpc>
                <a:spcPct val="122000"/>
              </a:lnSpc>
            </a:pPr>
            <a:r>
              <a:rPr sz="660" b="0" i="0">
                <a:solidFill>
                  <a:srgbClr val="64748B"/>
                </a:solidFill>
                <a:latin typeface="Consolas"/>
              </a:rPr>
              <a:t>node20 / fastify · v2.4.1</a:t>
            </a:r>
          </a:p>
        </p:txBody>
      </p:sp>
      <p:sp>
        <p:nvSpPr>
          <p:cNvPr id="76" name="TextBox 75"/>
          <p:cNvSpPr txBox="1"/>
          <p:nvPr/>
        </p:nvSpPr>
        <p:spPr>
          <a:xfrm>
            <a:off x="8394192" y="3246120"/>
            <a:ext cx="329184" cy="128016"/>
          </a:xfrm>
          <a:prstGeom prst="rect">
            <a:avLst/>
          </a:prstGeom>
          <a:noFill/>
        </p:spPr>
        <p:txBody>
          <a:bodyPr wrap="square" lIns="0" rIns="0" tIns="0" bIns="0" anchor="t">
            <a:noAutofit/>
          </a:bodyPr>
          <a:lstStyle/>
          <a:p>
            <a:pPr algn="l">
              <a:lnSpc>
                <a:spcPct val="122000"/>
              </a:lnSpc>
            </a:pPr>
            <a:r>
              <a:rPr sz="600" b="0" i="0">
                <a:solidFill>
                  <a:srgbClr val="64748B"/>
                </a:solidFill>
                <a:latin typeface="Consolas"/>
              </a:rPr>
              <a:t>CPU</a:t>
            </a:r>
          </a:p>
        </p:txBody>
      </p:sp>
      <p:sp>
        <p:nvSpPr>
          <p:cNvPr id="77" name="Rounded Rectangle 76"/>
          <p:cNvSpPr/>
          <p:nvPr/>
        </p:nvSpPr>
        <p:spPr>
          <a:xfrm>
            <a:off x="8778240" y="3273551"/>
            <a:ext cx="1783080" cy="68580"/>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8" name="Rounded Rectangle 77"/>
          <p:cNvSpPr/>
          <p:nvPr/>
        </p:nvSpPr>
        <p:spPr>
          <a:xfrm>
            <a:off x="8778240" y="3273551"/>
            <a:ext cx="1265986" cy="68580"/>
          </a:xfrm>
          <a:prstGeom prst="roundRect">
            <a:avLst>
              <a:gd name="adj" fmla="val 50000"/>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9" name="TextBox 78"/>
          <p:cNvSpPr txBox="1"/>
          <p:nvPr/>
        </p:nvSpPr>
        <p:spPr>
          <a:xfrm>
            <a:off x="10607040" y="3246120"/>
            <a:ext cx="329184" cy="128016"/>
          </a:xfrm>
          <a:prstGeom prst="rect">
            <a:avLst/>
          </a:prstGeom>
          <a:noFill/>
        </p:spPr>
        <p:txBody>
          <a:bodyPr wrap="square" lIns="0" rIns="0" tIns="0" bIns="0" anchor="t">
            <a:noAutofit/>
          </a:bodyPr>
          <a:lstStyle/>
          <a:p>
            <a:pPr algn="l">
              <a:lnSpc>
                <a:spcPct val="122000"/>
              </a:lnSpc>
            </a:pPr>
            <a:r>
              <a:rPr sz="600" b="0" i="0">
                <a:solidFill>
                  <a:srgbClr val="FB7185"/>
                </a:solidFill>
                <a:latin typeface="Consolas"/>
              </a:rPr>
              <a:t>71%</a:t>
            </a:r>
          </a:p>
        </p:txBody>
      </p:sp>
      <p:sp>
        <p:nvSpPr>
          <p:cNvPr id="80" name="TextBox 79"/>
          <p:cNvSpPr txBox="1"/>
          <p:nvPr/>
        </p:nvSpPr>
        <p:spPr>
          <a:xfrm>
            <a:off x="8394192" y="3493008"/>
            <a:ext cx="329184" cy="128016"/>
          </a:xfrm>
          <a:prstGeom prst="rect">
            <a:avLst/>
          </a:prstGeom>
          <a:noFill/>
        </p:spPr>
        <p:txBody>
          <a:bodyPr wrap="square" lIns="0" rIns="0" tIns="0" bIns="0" anchor="t">
            <a:noAutofit/>
          </a:bodyPr>
          <a:lstStyle/>
          <a:p>
            <a:pPr algn="l">
              <a:lnSpc>
                <a:spcPct val="122000"/>
              </a:lnSpc>
            </a:pPr>
            <a:r>
              <a:rPr sz="600" b="0" i="0">
                <a:solidFill>
                  <a:srgbClr val="64748B"/>
                </a:solidFill>
                <a:latin typeface="Consolas"/>
              </a:rPr>
              <a:t>MEM</a:t>
            </a:r>
          </a:p>
        </p:txBody>
      </p:sp>
      <p:sp>
        <p:nvSpPr>
          <p:cNvPr id="81" name="Rounded Rectangle 80"/>
          <p:cNvSpPr/>
          <p:nvPr/>
        </p:nvSpPr>
        <p:spPr>
          <a:xfrm>
            <a:off x="8778240" y="3520439"/>
            <a:ext cx="1783080" cy="68580"/>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2" name="Rounded Rectangle 81"/>
          <p:cNvSpPr/>
          <p:nvPr/>
        </p:nvSpPr>
        <p:spPr>
          <a:xfrm>
            <a:off x="8778240" y="3520439"/>
            <a:ext cx="962863" cy="68580"/>
          </a:xfrm>
          <a:prstGeom prst="roundRect">
            <a:avLst>
              <a:gd name="adj" fmla="val 50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3" name="TextBox 82"/>
          <p:cNvSpPr txBox="1"/>
          <p:nvPr/>
        </p:nvSpPr>
        <p:spPr>
          <a:xfrm>
            <a:off x="10607040" y="3493008"/>
            <a:ext cx="329184" cy="128016"/>
          </a:xfrm>
          <a:prstGeom prst="rect">
            <a:avLst/>
          </a:prstGeom>
          <a:noFill/>
        </p:spPr>
        <p:txBody>
          <a:bodyPr wrap="square" lIns="0" rIns="0" tIns="0" bIns="0" anchor="t">
            <a:noAutofit/>
          </a:bodyPr>
          <a:lstStyle/>
          <a:p>
            <a:pPr algn="l">
              <a:lnSpc>
                <a:spcPct val="122000"/>
              </a:lnSpc>
            </a:pPr>
            <a:r>
              <a:rPr sz="600" b="0" i="0">
                <a:solidFill>
                  <a:srgbClr val="9DB0C6"/>
                </a:solidFill>
                <a:latin typeface="Consolas"/>
              </a:rPr>
              <a:t>54%</a:t>
            </a:r>
          </a:p>
        </p:txBody>
      </p:sp>
      <p:sp>
        <p:nvSpPr>
          <p:cNvPr id="84" name="TextBox 83"/>
          <p:cNvSpPr txBox="1"/>
          <p:nvPr/>
        </p:nvSpPr>
        <p:spPr>
          <a:xfrm>
            <a:off x="8394192" y="3739896"/>
            <a:ext cx="329184" cy="128016"/>
          </a:xfrm>
          <a:prstGeom prst="rect">
            <a:avLst/>
          </a:prstGeom>
          <a:noFill/>
        </p:spPr>
        <p:txBody>
          <a:bodyPr wrap="square" lIns="0" rIns="0" tIns="0" bIns="0" anchor="t">
            <a:noAutofit/>
          </a:bodyPr>
          <a:lstStyle/>
          <a:p>
            <a:pPr algn="l">
              <a:lnSpc>
                <a:spcPct val="122000"/>
              </a:lnSpc>
            </a:pPr>
            <a:r>
              <a:rPr sz="600" b="0" i="0">
                <a:solidFill>
                  <a:srgbClr val="64748B"/>
                </a:solidFill>
                <a:latin typeface="Consolas"/>
              </a:rPr>
              <a:t>DISK</a:t>
            </a:r>
          </a:p>
        </p:txBody>
      </p:sp>
      <p:sp>
        <p:nvSpPr>
          <p:cNvPr id="85" name="Rounded Rectangle 84"/>
          <p:cNvSpPr/>
          <p:nvPr/>
        </p:nvSpPr>
        <p:spPr>
          <a:xfrm>
            <a:off x="8778240" y="3767328"/>
            <a:ext cx="1783080" cy="68580"/>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6" name="Rounded Rectangle 85"/>
          <p:cNvSpPr/>
          <p:nvPr/>
        </p:nvSpPr>
        <p:spPr>
          <a:xfrm>
            <a:off x="8778240" y="3767328"/>
            <a:ext cx="677570" cy="68580"/>
          </a:xfrm>
          <a:prstGeom prst="roundRect">
            <a:avLst>
              <a:gd name="adj" fmla="val 50000"/>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7" name="TextBox 86"/>
          <p:cNvSpPr txBox="1"/>
          <p:nvPr/>
        </p:nvSpPr>
        <p:spPr>
          <a:xfrm>
            <a:off x="10607040" y="3739896"/>
            <a:ext cx="329184" cy="128016"/>
          </a:xfrm>
          <a:prstGeom prst="rect">
            <a:avLst/>
          </a:prstGeom>
          <a:noFill/>
        </p:spPr>
        <p:txBody>
          <a:bodyPr wrap="square" lIns="0" rIns="0" tIns="0" bIns="0" anchor="t">
            <a:noAutofit/>
          </a:bodyPr>
          <a:lstStyle/>
          <a:p>
            <a:pPr algn="l">
              <a:lnSpc>
                <a:spcPct val="122000"/>
              </a:lnSpc>
            </a:pPr>
            <a:r>
              <a:rPr sz="600" b="0" i="0">
                <a:solidFill>
                  <a:srgbClr val="9DB0C6"/>
                </a:solidFill>
                <a:latin typeface="Consolas"/>
              </a:rPr>
              <a:t>38%</a:t>
            </a:r>
          </a:p>
        </p:txBody>
      </p:sp>
      <p:sp>
        <p:nvSpPr>
          <p:cNvPr id="88" name="Rounded Rectangle 87"/>
          <p:cNvSpPr/>
          <p:nvPr/>
        </p:nvSpPr>
        <p:spPr>
          <a:xfrm>
            <a:off x="8394192" y="4133087"/>
            <a:ext cx="566928" cy="182880"/>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9" name="TextBox 88"/>
          <p:cNvSpPr txBox="1"/>
          <p:nvPr/>
        </p:nvSpPr>
        <p:spPr>
          <a:xfrm>
            <a:off x="8449056" y="4173219"/>
            <a:ext cx="457200" cy="97536"/>
          </a:xfrm>
          <a:prstGeom prst="rect">
            <a:avLst/>
          </a:prstGeom>
          <a:noFill/>
        </p:spPr>
        <p:txBody>
          <a:bodyPr wrap="square" lIns="0" rIns="0" tIns="0" bIns="0" anchor="t">
            <a:noAutofit/>
          </a:bodyPr>
          <a:lstStyle/>
          <a:p>
            <a:pPr algn="ctr">
              <a:lnSpc>
                <a:spcPct val="100000"/>
              </a:lnSpc>
            </a:pPr>
            <a:r>
              <a:rPr sz="640" b="0" i="0">
                <a:solidFill>
                  <a:srgbClr val="FBBF24"/>
                </a:solidFill>
                <a:latin typeface="Consolas"/>
              </a:rPr>
              <a:t>2/3</a:t>
            </a:r>
          </a:p>
        </p:txBody>
      </p:sp>
      <p:sp>
        <p:nvSpPr>
          <p:cNvPr id="90" name="Rounded Rectangle 89"/>
          <p:cNvSpPr/>
          <p:nvPr/>
        </p:nvSpPr>
        <p:spPr>
          <a:xfrm>
            <a:off x="9025128" y="4133087"/>
            <a:ext cx="768096" cy="182880"/>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1" name="TextBox 90"/>
          <p:cNvSpPr txBox="1"/>
          <p:nvPr/>
        </p:nvSpPr>
        <p:spPr>
          <a:xfrm>
            <a:off x="9079992" y="4173219"/>
            <a:ext cx="658368" cy="97536"/>
          </a:xfrm>
          <a:prstGeom prst="rect">
            <a:avLst/>
          </a:prstGeom>
          <a:noFill/>
        </p:spPr>
        <p:txBody>
          <a:bodyPr wrap="square" lIns="0" rIns="0" tIns="0" bIns="0" anchor="t">
            <a:noAutofit/>
          </a:bodyPr>
          <a:lstStyle/>
          <a:p>
            <a:pPr algn="ctr">
              <a:lnSpc>
                <a:spcPct val="100000"/>
              </a:lnSpc>
            </a:pPr>
            <a:r>
              <a:rPr sz="640" b="0" i="0">
                <a:solidFill>
                  <a:srgbClr val="64748B"/>
                </a:solidFill>
                <a:latin typeface="Consolas"/>
              </a:rPr>
              <a:t>p99 142ms</a:t>
            </a:r>
          </a:p>
        </p:txBody>
      </p:sp>
      <p:sp>
        <p:nvSpPr>
          <p:cNvPr id="92" name="Rounded Rectangle 91"/>
          <p:cNvSpPr/>
          <p:nvPr/>
        </p:nvSpPr>
        <p:spPr>
          <a:xfrm>
            <a:off x="9857232" y="4133087"/>
            <a:ext cx="530352" cy="182880"/>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3" name="TextBox 92"/>
          <p:cNvSpPr txBox="1"/>
          <p:nvPr/>
        </p:nvSpPr>
        <p:spPr>
          <a:xfrm>
            <a:off x="9912096" y="4173219"/>
            <a:ext cx="420623" cy="97536"/>
          </a:xfrm>
          <a:prstGeom prst="rect">
            <a:avLst/>
          </a:prstGeom>
          <a:noFill/>
        </p:spPr>
        <p:txBody>
          <a:bodyPr wrap="square" lIns="0" rIns="0" tIns="0" bIns="0" anchor="t">
            <a:noAutofit/>
          </a:bodyPr>
          <a:lstStyle/>
          <a:p>
            <a:pPr algn="ctr">
              <a:lnSpc>
                <a:spcPct val="100000"/>
              </a:lnSpc>
            </a:pPr>
            <a:r>
              <a:rPr sz="640" b="0" i="0">
                <a:solidFill>
                  <a:srgbClr val="64748B"/>
                </a:solidFill>
                <a:latin typeface="Consolas"/>
              </a:rPr>
              <a:t>gRPC</a:t>
            </a:r>
          </a:p>
        </p:txBody>
      </p:sp>
      <p:sp>
        <p:nvSpPr>
          <p:cNvPr id="94" name="TextBox 93"/>
          <p:cNvSpPr txBox="1"/>
          <p:nvPr/>
        </p:nvSpPr>
        <p:spPr>
          <a:xfrm>
            <a:off x="8001000" y="5175504"/>
            <a:ext cx="3383280" cy="146304"/>
          </a:xfrm>
          <a:prstGeom prst="rect">
            <a:avLst/>
          </a:prstGeom>
          <a:noFill/>
        </p:spPr>
        <p:txBody>
          <a:bodyPr wrap="square" lIns="0" rIns="0" tIns="0" bIns="0" anchor="t">
            <a:noAutofit/>
          </a:bodyPr>
          <a:lstStyle/>
          <a:p>
            <a:pPr algn="l">
              <a:lnSpc>
                <a:spcPct val="122000"/>
              </a:lnSpc>
            </a:pPr>
            <a:r>
              <a:rPr sz="600" b="0" i="0" spc="100">
                <a:solidFill>
                  <a:srgbClr val="64748B"/>
                </a:solidFill>
                <a:latin typeface="Consolas"/>
              </a:rPr>
              <a:t>COMPOUND SUB-FLOW  ·  EXTENT: PARENT</a:t>
            </a:r>
          </a:p>
        </p:txBody>
      </p:sp>
      <p:cxnSp>
        <p:nvCxnSpPr>
          <p:cNvPr id="95" name="Connector 94"/>
          <p:cNvCxnSpPr/>
          <p:nvPr/>
        </p:nvCxnSpPr>
        <p:spPr>
          <a:xfrm>
            <a:off x="8001000" y="5358384"/>
            <a:ext cx="3355848"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8001000" y="5431536"/>
            <a:ext cx="3291840" cy="146304"/>
          </a:xfrm>
          <a:prstGeom prst="rect">
            <a:avLst/>
          </a:prstGeom>
          <a:noFill/>
        </p:spPr>
        <p:txBody>
          <a:bodyPr wrap="square" lIns="0" rIns="0" tIns="0" bIns="0" anchor="t">
            <a:noAutofit/>
          </a:bodyPr>
          <a:lstStyle/>
          <a:p>
            <a:pPr algn="l">
              <a:lnSpc>
                <a:spcPct val="122000"/>
              </a:lnSpc>
            </a:pPr>
            <a:r>
              <a:rPr sz="640" b="0" i="0">
                <a:solidFill>
                  <a:srgbClr val="9DB0C6"/>
                </a:solidFill>
                <a:latin typeface="Consolas"/>
              </a:rPr>
              <a:t>structure once · metrics every 2s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01 · THE CASE</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Why Helios·Ops exists</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Infrastructure dashboards usually stop at hosts; org charts stop at projects. Helios·Ops joins them into one navigable tree — and turns telemetry into a contract, not a screenshot.</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EXECUTIVE SUMMARY</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02 / 27</a:t>
            </a:r>
          </a:p>
        </p:txBody>
      </p:sp>
      <p:sp>
        <p:nvSpPr>
          <p:cNvPr id="11" name="Rounded Rectangle 10"/>
          <p:cNvSpPr/>
          <p:nvPr/>
        </p:nvSpPr>
        <p:spPr>
          <a:xfrm>
            <a:off x="566928" y="1783080"/>
            <a:ext cx="3575304" cy="2322576"/>
          </a:xfrm>
          <a:prstGeom prst="roundRect">
            <a:avLst>
              <a:gd name="adj" fmla="val 354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740664" y="1975104"/>
            <a:ext cx="182880" cy="23774"/>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996696" y="1938528"/>
            <a:ext cx="2971800" cy="219456"/>
          </a:xfrm>
          <a:prstGeom prst="rect">
            <a:avLst/>
          </a:prstGeom>
          <a:noFill/>
        </p:spPr>
        <p:txBody>
          <a:bodyPr wrap="square" lIns="0" rIns="0" tIns="0" bIns="0" anchor="t">
            <a:noAutofit/>
          </a:bodyPr>
          <a:lstStyle/>
          <a:p>
            <a:pPr algn="l">
              <a:lnSpc>
                <a:spcPct val="100000"/>
              </a:lnSpc>
            </a:pPr>
            <a:r>
              <a:rPr sz="1350" b="1" i="0">
                <a:solidFill>
                  <a:srgbClr val="F4F8FC"/>
                </a:solidFill>
                <a:latin typeface="Segoe UI"/>
              </a:rPr>
              <a:t>The problem</a:t>
            </a:r>
          </a:p>
        </p:txBody>
      </p:sp>
      <p:sp>
        <p:nvSpPr>
          <p:cNvPr id="14" name="TextBox 13"/>
          <p:cNvSpPr txBox="1"/>
          <p:nvPr/>
        </p:nvSpPr>
        <p:spPr>
          <a:xfrm>
            <a:off x="740664" y="2231136"/>
            <a:ext cx="3227832" cy="1700784"/>
          </a:xfrm>
          <a:prstGeom prst="rect">
            <a:avLst/>
          </a:prstGeom>
          <a:noFill/>
        </p:spPr>
        <p:txBody>
          <a:bodyPr wrap="square" lIns="0" rIns="0" tIns="0" bIns="0" anchor="t">
            <a:noAutofit/>
          </a:bodyPr>
          <a:lstStyle/>
          <a:p>
            <a:pPr algn="l" marL="146304" indent="-146304">
              <a:lnSpc>
                <a:spcPct val="130000"/>
              </a:lnSpc>
              <a:buClr>
                <a:srgbClr val="FB7185"/>
              </a:buClr>
              <a:buFont typeface="Arial"/>
              <a:buChar char="•"/>
            </a:pPr>
            <a:r>
              <a:rPr sz="950" b="0" i="0">
                <a:solidFill>
                  <a:srgbClr val="9DB0C6"/>
                </a:solidFill>
                <a:latin typeface="Segoe UI"/>
              </a:rPr>
              <a:t>The estate spans org, division, programme, datacenter, host, pod, service and endpoint — every tool knows one layer.</a:t>
            </a:r>
          </a:p>
          <a:p>
            <a:pPr algn="l" marL="146304" indent="-146304">
              <a:lnSpc>
                <a:spcPct val="130000"/>
              </a:lnSpc>
              <a:spcBef>
                <a:spcPts val="324"/>
              </a:spcBef>
              <a:buClr>
                <a:srgbClr val="FB7185"/>
              </a:buClr>
              <a:buFont typeface="Arial"/>
              <a:buChar char="•"/>
            </a:pPr>
            <a:r>
              <a:rPr sz="950" b="0" i="0">
                <a:solidFill>
                  <a:srgbClr val="9DB0C6"/>
                </a:solidFill>
                <a:latin typeface="Segoe UI"/>
              </a:rPr>
              <a:t>Ownership, budget and runtime health live in different spreadsheets.</a:t>
            </a:r>
          </a:p>
          <a:p>
            <a:pPr algn="l" marL="146304" indent="-146304">
              <a:lnSpc>
                <a:spcPct val="130000"/>
              </a:lnSpc>
              <a:spcBef>
                <a:spcPts val="324"/>
              </a:spcBef>
              <a:buClr>
                <a:srgbClr val="FB7185"/>
              </a:buClr>
              <a:buFont typeface="Arial"/>
              <a:buChar char="•"/>
            </a:pPr>
            <a:r>
              <a:rPr sz="950" b="0" i="0">
                <a:solidFill>
                  <a:srgbClr val="9DB0C6"/>
                </a:solidFill>
                <a:latin typeface="Segoe UI"/>
              </a:rPr>
              <a:t>Each new stack grows a bespoke dashboard, and nobody agrees which number is true.</a:t>
            </a:r>
          </a:p>
          <a:p>
            <a:pPr algn="l" marL="146304" indent="-146304">
              <a:lnSpc>
                <a:spcPct val="130000"/>
              </a:lnSpc>
              <a:spcBef>
                <a:spcPts val="324"/>
              </a:spcBef>
              <a:buClr>
                <a:srgbClr val="FB7185"/>
              </a:buClr>
              <a:buFont typeface="Arial"/>
              <a:buChar char="•"/>
            </a:pPr>
            <a:r>
              <a:rPr sz="950" b="0" i="0">
                <a:solidFill>
                  <a:srgbClr val="9DB0C6"/>
                </a:solidFill>
                <a:latin typeface="Segoe UI"/>
              </a:rPr>
              <a:t>Incident calls start with “which screen are you looking at?”</a:t>
            </a:r>
          </a:p>
        </p:txBody>
      </p:sp>
      <p:sp>
        <p:nvSpPr>
          <p:cNvPr id="15" name="Rounded Rectangle 14"/>
          <p:cNvSpPr/>
          <p:nvPr/>
        </p:nvSpPr>
        <p:spPr>
          <a:xfrm>
            <a:off x="4306824" y="1783080"/>
            <a:ext cx="3575304" cy="2322576"/>
          </a:xfrm>
          <a:prstGeom prst="roundRect">
            <a:avLst>
              <a:gd name="adj" fmla="val 354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Rectangle 15"/>
          <p:cNvSpPr/>
          <p:nvPr/>
        </p:nvSpPr>
        <p:spPr>
          <a:xfrm>
            <a:off x="4480560" y="1975104"/>
            <a:ext cx="182880" cy="23774"/>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4736592" y="1938528"/>
            <a:ext cx="2971800" cy="219456"/>
          </a:xfrm>
          <a:prstGeom prst="rect">
            <a:avLst/>
          </a:prstGeom>
          <a:noFill/>
        </p:spPr>
        <p:txBody>
          <a:bodyPr wrap="square" lIns="0" rIns="0" tIns="0" bIns="0" anchor="t">
            <a:noAutofit/>
          </a:bodyPr>
          <a:lstStyle/>
          <a:p>
            <a:pPr algn="l">
              <a:lnSpc>
                <a:spcPct val="100000"/>
              </a:lnSpc>
            </a:pPr>
            <a:r>
              <a:rPr sz="1350" b="1" i="0">
                <a:solidFill>
                  <a:srgbClr val="F4F8FC"/>
                </a:solidFill>
                <a:latin typeface="Segoe UI"/>
              </a:rPr>
              <a:t>The idea</a:t>
            </a:r>
          </a:p>
        </p:txBody>
      </p:sp>
      <p:sp>
        <p:nvSpPr>
          <p:cNvPr id="18" name="TextBox 17"/>
          <p:cNvSpPr txBox="1"/>
          <p:nvPr/>
        </p:nvSpPr>
        <p:spPr>
          <a:xfrm>
            <a:off x="4480560" y="2231136"/>
            <a:ext cx="3227832" cy="1700784"/>
          </a:xfrm>
          <a:prstGeom prst="rect">
            <a:avLst/>
          </a:prstGeom>
          <a:noFill/>
        </p:spPr>
        <p:txBody>
          <a:bodyPr wrap="square" lIns="0" rIns="0" tIns="0" bIns="0" anchor="t">
            <a:noAutofit/>
          </a:bodyPr>
          <a:lstStyle/>
          <a:p>
            <a:pPr algn="l" marL="146304" indent="-146304">
              <a:lnSpc>
                <a:spcPct val="130000"/>
              </a:lnSpc>
              <a:buClr>
                <a:srgbClr val="7DD3FC"/>
              </a:buClr>
              <a:buFont typeface="Arial"/>
              <a:buChar char="•"/>
            </a:pPr>
            <a:r>
              <a:rPr sz="950" b="0" i="0">
                <a:solidFill>
                  <a:srgbClr val="9DB0C6"/>
                </a:solidFill>
                <a:latin typeface="Segoe UI"/>
              </a:rPr>
              <a:t>Everything is a node in one self-referencing tree; containers render their children as compound sub-flows.</a:t>
            </a:r>
          </a:p>
          <a:p>
            <a:pPr algn="l" marL="146304" indent="-146304">
              <a:lnSpc>
                <a:spcPct val="130000"/>
              </a:lnSpc>
              <a:spcBef>
                <a:spcPts val="324"/>
              </a:spcBef>
              <a:buClr>
                <a:srgbClr val="7DD3FC"/>
              </a:buClr>
              <a:buFont typeface="Arial"/>
              <a:buChar char="•"/>
            </a:pPr>
            <a:r>
              <a:rPr sz="950" b="0" i="0">
                <a:solidFill>
                  <a:srgbClr val="9DB0C6"/>
                </a:solidFill>
                <a:latin typeface="Segoe UI"/>
              </a:rPr>
              <a:t>A single aggregation point feeds both server render and the API.</a:t>
            </a:r>
          </a:p>
          <a:p>
            <a:pPr algn="l" marL="146304" indent="-146304">
              <a:lnSpc>
                <a:spcPct val="130000"/>
              </a:lnSpc>
              <a:spcBef>
                <a:spcPts val="324"/>
              </a:spcBef>
              <a:buClr>
                <a:srgbClr val="7DD3FC"/>
              </a:buClr>
              <a:buFont typeface="Arial"/>
              <a:buChar char="•"/>
            </a:pPr>
            <a:r>
              <a:rPr sz="950" b="0" i="0">
                <a:solidFill>
                  <a:srgbClr val="9DB0C6"/>
                </a:solidFill>
                <a:latin typeface="Segoe UI"/>
              </a:rPr>
              <a:t>Metrics tick through a separate store slice, so 2-second updates never re-run layout.</a:t>
            </a:r>
          </a:p>
          <a:p>
            <a:pPr algn="l" marL="146304" indent="-146304">
              <a:lnSpc>
                <a:spcPct val="130000"/>
              </a:lnSpc>
              <a:spcBef>
                <a:spcPts val="324"/>
              </a:spcBef>
              <a:buClr>
                <a:srgbClr val="7DD3FC"/>
              </a:buClr>
              <a:buFont typeface="Arial"/>
              <a:buChar char="•"/>
            </a:pPr>
            <a:r>
              <a:rPr sz="950" b="0" i="0">
                <a:solidFill>
                  <a:srgbClr val="9DB0C6"/>
                </a:solidFill>
                <a:latin typeface="Segoe UI"/>
              </a:rPr>
              <a:t>An ingest gateway is the only write path; external systems never touch Postgres.</a:t>
            </a:r>
          </a:p>
        </p:txBody>
      </p:sp>
      <p:sp>
        <p:nvSpPr>
          <p:cNvPr id="19" name="Rounded Rectangle 18"/>
          <p:cNvSpPr/>
          <p:nvPr/>
        </p:nvSpPr>
        <p:spPr>
          <a:xfrm>
            <a:off x="8046720" y="1783080"/>
            <a:ext cx="3575304" cy="2322576"/>
          </a:xfrm>
          <a:prstGeom prst="roundRect">
            <a:avLst>
              <a:gd name="adj" fmla="val 354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ectangle 19"/>
          <p:cNvSpPr/>
          <p:nvPr/>
        </p:nvSpPr>
        <p:spPr>
          <a:xfrm>
            <a:off x="8220456" y="1975104"/>
            <a:ext cx="182880" cy="2377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8476488" y="1938528"/>
            <a:ext cx="2971800" cy="219456"/>
          </a:xfrm>
          <a:prstGeom prst="rect">
            <a:avLst/>
          </a:prstGeom>
          <a:noFill/>
        </p:spPr>
        <p:txBody>
          <a:bodyPr wrap="square" lIns="0" rIns="0" tIns="0" bIns="0" anchor="t">
            <a:noAutofit/>
          </a:bodyPr>
          <a:lstStyle/>
          <a:p>
            <a:pPr algn="l">
              <a:lnSpc>
                <a:spcPct val="100000"/>
              </a:lnSpc>
            </a:pPr>
            <a:r>
              <a:rPr sz="1350" b="1" i="0">
                <a:solidFill>
                  <a:srgbClr val="F4F8FC"/>
                </a:solidFill>
                <a:latin typeface="Segoe UI"/>
              </a:rPr>
              <a:t>The payoff</a:t>
            </a:r>
          </a:p>
        </p:txBody>
      </p:sp>
      <p:sp>
        <p:nvSpPr>
          <p:cNvPr id="22" name="TextBox 21"/>
          <p:cNvSpPr txBox="1"/>
          <p:nvPr/>
        </p:nvSpPr>
        <p:spPr>
          <a:xfrm>
            <a:off x="8220456" y="2231136"/>
            <a:ext cx="3227832" cy="1700784"/>
          </a:xfrm>
          <a:prstGeom prst="rect">
            <a:avLst/>
          </a:prstGeom>
          <a:noFill/>
        </p:spPr>
        <p:txBody>
          <a:bodyPr wrap="square" lIns="0" rIns="0" tIns="0" bIns="0" anchor="t">
            <a:noAutofit/>
          </a:bodyPr>
          <a:lstStyle/>
          <a:p>
            <a:pPr algn="l" marL="146304" indent="-146304">
              <a:lnSpc>
                <a:spcPct val="130000"/>
              </a:lnSpc>
              <a:buClr>
                <a:srgbClr val="34D399"/>
              </a:buClr>
              <a:buFont typeface="Arial"/>
              <a:buChar char="•"/>
            </a:pPr>
            <a:r>
              <a:rPr sz="950" b="0" i="0">
                <a:solidFill>
                  <a:srgbClr val="9DB0C6"/>
                </a:solidFill>
                <a:latin typeface="Segoe UI"/>
              </a:rPr>
              <a:t>One screen answers “what is it, how is it, what is under it, what can I do?”</a:t>
            </a:r>
          </a:p>
          <a:p>
            <a:pPr algn="l" marL="146304" indent="-146304">
              <a:lnSpc>
                <a:spcPct val="130000"/>
              </a:lnSpc>
              <a:spcBef>
                <a:spcPts val="324"/>
              </a:spcBef>
              <a:buClr>
                <a:srgbClr val="34D399"/>
              </a:buClr>
              <a:buFont typeface="Arial"/>
              <a:buChar char="•"/>
            </a:pPr>
            <a:r>
              <a:rPr sz="950" b="0" i="0">
                <a:solidFill>
                  <a:srgbClr val="9DB0C6"/>
                </a:solidFill>
                <a:latin typeface="Segoe UI"/>
              </a:rPr>
              <a:t>Six audited runbooks turn triage into action without leaving the canvas.</a:t>
            </a:r>
          </a:p>
          <a:p>
            <a:pPr algn="l" marL="146304" indent="-146304">
              <a:lnSpc>
                <a:spcPct val="130000"/>
              </a:lnSpc>
              <a:spcBef>
                <a:spcPts val="324"/>
              </a:spcBef>
              <a:buClr>
                <a:srgbClr val="34D399"/>
              </a:buClr>
              <a:buFont typeface="Arial"/>
              <a:buChar char="•"/>
            </a:pPr>
            <a:r>
              <a:rPr sz="950" b="0" i="0">
                <a:solidFill>
                  <a:srgbClr val="9DB0C6"/>
                </a:solidFill>
                <a:latin typeface="Segoe UI"/>
              </a:rPr>
              <a:t>A 456-node estate lays out in roughly 150–600 ms and stays legible.</a:t>
            </a:r>
          </a:p>
          <a:p>
            <a:pPr algn="l" marL="146304" indent="-146304">
              <a:lnSpc>
                <a:spcPct val="130000"/>
              </a:lnSpc>
              <a:spcBef>
                <a:spcPts val="324"/>
              </a:spcBef>
              <a:buClr>
                <a:srgbClr val="34D399"/>
              </a:buClr>
              <a:buFont typeface="Arial"/>
              <a:buChar char="•"/>
            </a:pPr>
            <a:r>
              <a:rPr sz="950" b="0" i="0">
                <a:solidFill>
                  <a:srgbClr val="9DB0C6"/>
                </a:solidFill>
                <a:latin typeface="Segoe UI"/>
              </a:rPr>
              <a:t>Eight copy-paste agents make integration a day of work, not a quarter.</a:t>
            </a:r>
          </a:p>
        </p:txBody>
      </p:sp>
      <p:sp>
        <p:nvSpPr>
          <p:cNvPr id="23" name="Rounded Rectangle 22"/>
          <p:cNvSpPr/>
          <p:nvPr/>
        </p:nvSpPr>
        <p:spPr>
          <a:xfrm>
            <a:off x="566928" y="4297680"/>
            <a:ext cx="11055096" cy="585216"/>
          </a:xfrm>
          <a:prstGeom prst="roundRect">
            <a:avLst>
              <a:gd name="adj" fmla="val 10937"/>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Rounded Rectangle 23"/>
          <p:cNvSpPr/>
          <p:nvPr/>
        </p:nvSpPr>
        <p:spPr>
          <a:xfrm>
            <a:off x="566928" y="4297680"/>
            <a:ext cx="45720" cy="585216"/>
          </a:xfrm>
          <a:prstGeom prst="roundRect">
            <a:avLst>
              <a:gd name="adj" fmla="val 40000"/>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786384" y="4443984"/>
            <a:ext cx="6583680" cy="310896"/>
          </a:xfrm>
          <a:prstGeom prst="rect">
            <a:avLst/>
          </a:prstGeom>
          <a:noFill/>
        </p:spPr>
        <p:txBody>
          <a:bodyPr wrap="square" lIns="0" rIns="0" tIns="0" bIns="0" anchor="t">
            <a:noAutofit/>
          </a:bodyPr>
          <a:lstStyle/>
          <a:p>
            <a:pPr algn="l">
              <a:lnSpc>
                <a:spcPct val="110000"/>
              </a:lnSpc>
            </a:pPr>
            <a:r>
              <a:rPr sz="1550" b="1" i="0">
                <a:solidFill>
                  <a:srgbClr val="F4F8FC"/>
                </a:solidFill>
                <a:latin typeface="Segoe UI"/>
              </a:rPr>
              <a:t>One tree. One contract. One operating loop.</a:t>
            </a:r>
          </a:p>
        </p:txBody>
      </p:sp>
      <p:sp>
        <p:nvSpPr>
          <p:cNvPr id="26" name="TextBox 25"/>
          <p:cNvSpPr txBox="1"/>
          <p:nvPr/>
        </p:nvSpPr>
        <p:spPr>
          <a:xfrm>
            <a:off x="8878824" y="4480560"/>
            <a:ext cx="2560320" cy="219456"/>
          </a:xfrm>
          <a:prstGeom prst="rect">
            <a:avLst/>
          </a:prstGeom>
          <a:noFill/>
        </p:spPr>
        <p:txBody>
          <a:bodyPr wrap="square" lIns="0" rIns="0" tIns="0" bIns="0" anchor="t">
            <a:noAutofit/>
          </a:bodyPr>
          <a:lstStyle/>
          <a:p>
            <a:pPr algn="r">
              <a:lnSpc>
                <a:spcPct val="122000"/>
              </a:lnSpc>
            </a:pPr>
            <a:r>
              <a:rPr sz="690" b="0" i="0" spc="120">
                <a:solidFill>
                  <a:srgbClr val="64748B"/>
                </a:solidFill>
                <a:latin typeface="Consolas"/>
              </a:rPr>
              <a:t>THE THESIS OF THIS DECK</a:t>
            </a:r>
          </a:p>
        </p:txBody>
      </p:sp>
      <p:sp>
        <p:nvSpPr>
          <p:cNvPr id="27" name="Rounded Rectangle 26"/>
          <p:cNvSpPr/>
          <p:nvPr/>
        </p:nvSpPr>
        <p:spPr>
          <a:xfrm>
            <a:off x="566928" y="5084064"/>
            <a:ext cx="1773936" cy="1005840"/>
          </a:xfrm>
          <a:prstGeom prst="roundRect">
            <a:avLst>
              <a:gd name="adj" fmla="val 636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685800" y="5193792"/>
            <a:ext cx="1591056" cy="274320"/>
          </a:xfrm>
          <a:prstGeom prst="rect">
            <a:avLst/>
          </a:prstGeom>
          <a:noFill/>
        </p:spPr>
        <p:txBody>
          <a:bodyPr wrap="square" lIns="0" rIns="0" tIns="0" bIns="0" anchor="t">
            <a:noAutofit/>
          </a:bodyPr>
          <a:lstStyle/>
          <a:p>
            <a:pPr algn="l">
              <a:lnSpc>
                <a:spcPct val="100000"/>
              </a:lnSpc>
            </a:pPr>
            <a:r>
              <a:rPr sz="1700" b="1" i="0">
                <a:solidFill>
                  <a:srgbClr val="7DD3FC"/>
                </a:solidFill>
                <a:latin typeface="Consolas"/>
              </a:rPr>
              <a:t>456</a:t>
            </a:r>
          </a:p>
        </p:txBody>
      </p:sp>
      <p:sp>
        <p:nvSpPr>
          <p:cNvPr id="29" name="TextBox 28"/>
          <p:cNvSpPr txBox="1"/>
          <p:nvPr/>
        </p:nvSpPr>
        <p:spPr>
          <a:xfrm>
            <a:off x="685800" y="5504688"/>
            <a:ext cx="1554480" cy="475488"/>
          </a:xfrm>
          <a:prstGeom prst="rect">
            <a:avLst/>
          </a:prstGeom>
          <a:noFill/>
        </p:spPr>
        <p:txBody>
          <a:bodyPr wrap="square" lIns="0" rIns="0" tIns="0" bIns="0" anchor="t">
            <a:noAutofit/>
          </a:bodyPr>
          <a:lstStyle/>
          <a:p>
            <a:pPr algn="l">
              <a:lnSpc>
                <a:spcPct val="120000"/>
              </a:lnSpc>
            </a:pPr>
            <a:r>
              <a:rPr sz="730" b="0" i="0">
                <a:solidFill>
                  <a:srgbClr val="9DB0C6"/>
                </a:solidFill>
                <a:latin typeface="Segoe UI"/>
              </a:rPr>
              <a:t>nodes in the reference estate</a:t>
            </a:r>
          </a:p>
        </p:txBody>
      </p:sp>
      <p:sp>
        <p:nvSpPr>
          <p:cNvPr id="30" name="Rounded Rectangle 29"/>
          <p:cNvSpPr/>
          <p:nvPr/>
        </p:nvSpPr>
        <p:spPr>
          <a:xfrm>
            <a:off x="2396642" y="5084064"/>
            <a:ext cx="1773936" cy="1005840"/>
          </a:xfrm>
          <a:prstGeom prst="roundRect">
            <a:avLst>
              <a:gd name="adj" fmla="val 636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2515514" y="5193792"/>
            <a:ext cx="1591056" cy="274320"/>
          </a:xfrm>
          <a:prstGeom prst="rect">
            <a:avLst/>
          </a:prstGeom>
          <a:noFill/>
        </p:spPr>
        <p:txBody>
          <a:bodyPr wrap="square" lIns="0" rIns="0" tIns="0" bIns="0" anchor="t">
            <a:noAutofit/>
          </a:bodyPr>
          <a:lstStyle/>
          <a:p>
            <a:pPr algn="l">
              <a:lnSpc>
                <a:spcPct val="100000"/>
              </a:lnSpc>
            </a:pPr>
            <a:r>
              <a:rPr sz="1700" b="1" i="0">
                <a:solidFill>
                  <a:srgbClr val="34D399"/>
                </a:solidFill>
                <a:latin typeface="Consolas"/>
              </a:rPr>
              <a:t>14</a:t>
            </a:r>
          </a:p>
        </p:txBody>
      </p:sp>
      <p:sp>
        <p:nvSpPr>
          <p:cNvPr id="32" name="TextBox 31"/>
          <p:cNvSpPr txBox="1"/>
          <p:nvPr/>
        </p:nvSpPr>
        <p:spPr>
          <a:xfrm>
            <a:off x="2515514" y="5504688"/>
            <a:ext cx="1554480" cy="475488"/>
          </a:xfrm>
          <a:prstGeom prst="rect">
            <a:avLst/>
          </a:prstGeom>
          <a:noFill/>
        </p:spPr>
        <p:txBody>
          <a:bodyPr wrap="square" lIns="0" rIns="0" tIns="0" bIns="0" anchor="t">
            <a:noAutofit/>
          </a:bodyPr>
          <a:lstStyle/>
          <a:p>
            <a:pPr algn="l">
              <a:lnSpc>
                <a:spcPct val="120000"/>
              </a:lnSpc>
            </a:pPr>
            <a:r>
              <a:rPr sz="730" b="0" i="0">
                <a:solidFill>
                  <a:srgbClr val="9DB0C6"/>
                </a:solidFill>
                <a:latin typeface="Segoe UI"/>
              </a:rPr>
              <a:t>node types on one spine</a:t>
            </a:r>
          </a:p>
        </p:txBody>
      </p:sp>
      <p:sp>
        <p:nvSpPr>
          <p:cNvPr id="33" name="Rounded Rectangle 32"/>
          <p:cNvSpPr/>
          <p:nvPr/>
        </p:nvSpPr>
        <p:spPr>
          <a:xfrm>
            <a:off x="4226356" y="5084064"/>
            <a:ext cx="1773936" cy="1005840"/>
          </a:xfrm>
          <a:prstGeom prst="roundRect">
            <a:avLst>
              <a:gd name="adj" fmla="val 636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4345228" y="5193792"/>
            <a:ext cx="1591056" cy="274320"/>
          </a:xfrm>
          <a:prstGeom prst="rect">
            <a:avLst/>
          </a:prstGeom>
          <a:noFill/>
        </p:spPr>
        <p:txBody>
          <a:bodyPr wrap="square" lIns="0" rIns="0" tIns="0" bIns="0" anchor="t">
            <a:noAutofit/>
          </a:bodyPr>
          <a:lstStyle/>
          <a:p>
            <a:pPr algn="l">
              <a:lnSpc>
                <a:spcPct val="100000"/>
              </a:lnSpc>
            </a:pPr>
            <a:r>
              <a:rPr sz="1700" b="1" i="0">
                <a:solidFill>
                  <a:srgbClr val="7DD3FC"/>
                </a:solidFill>
                <a:latin typeface="Consolas"/>
              </a:rPr>
              <a:t>41 / 91</a:t>
            </a:r>
          </a:p>
        </p:txBody>
      </p:sp>
      <p:sp>
        <p:nvSpPr>
          <p:cNvPr id="35" name="TextBox 34"/>
          <p:cNvSpPr txBox="1"/>
          <p:nvPr/>
        </p:nvSpPr>
        <p:spPr>
          <a:xfrm>
            <a:off x="4345228" y="5504688"/>
            <a:ext cx="1554480" cy="475488"/>
          </a:xfrm>
          <a:prstGeom prst="rect">
            <a:avLst/>
          </a:prstGeom>
          <a:noFill/>
        </p:spPr>
        <p:txBody>
          <a:bodyPr wrap="square" lIns="0" rIns="0" tIns="0" bIns="0" anchor="t">
            <a:noAutofit/>
          </a:bodyPr>
          <a:lstStyle/>
          <a:p>
            <a:pPr algn="l">
              <a:lnSpc>
                <a:spcPct val="120000"/>
              </a:lnSpc>
            </a:pPr>
            <a:r>
              <a:rPr sz="730" b="0" i="0">
                <a:solidFill>
                  <a:srgbClr val="9DB0C6"/>
                </a:solidFill>
                <a:latin typeface="Segoe UI"/>
              </a:rPr>
              <a:t>services / endpoints</a:t>
            </a:r>
          </a:p>
        </p:txBody>
      </p:sp>
      <p:sp>
        <p:nvSpPr>
          <p:cNvPr id="36" name="Rounded Rectangle 35"/>
          <p:cNvSpPr/>
          <p:nvPr/>
        </p:nvSpPr>
        <p:spPr>
          <a:xfrm>
            <a:off x="6056071" y="5084064"/>
            <a:ext cx="1773936" cy="1005840"/>
          </a:xfrm>
          <a:prstGeom prst="roundRect">
            <a:avLst>
              <a:gd name="adj" fmla="val 636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TextBox 36"/>
          <p:cNvSpPr txBox="1"/>
          <p:nvPr/>
        </p:nvSpPr>
        <p:spPr>
          <a:xfrm>
            <a:off x="6174943" y="5193792"/>
            <a:ext cx="1591056" cy="274320"/>
          </a:xfrm>
          <a:prstGeom prst="rect">
            <a:avLst/>
          </a:prstGeom>
          <a:noFill/>
        </p:spPr>
        <p:txBody>
          <a:bodyPr wrap="square" lIns="0" rIns="0" tIns="0" bIns="0" anchor="t">
            <a:noAutofit/>
          </a:bodyPr>
          <a:lstStyle/>
          <a:p>
            <a:pPr algn="l">
              <a:lnSpc>
                <a:spcPct val="100000"/>
              </a:lnSpc>
            </a:pPr>
            <a:r>
              <a:rPr sz="1700" b="1" i="0">
                <a:solidFill>
                  <a:srgbClr val="34D399"/>
                </a:solidFill>
                <a:latin typeface="Consolas"/>
              </a:rPr>
              <a:t>2 s</a:t>
            </a:r>
          </a:p>
        </p:txBody>
      </p:sp>
      <p:sp>
        <p:nvSpPr>
          <p:cNvPr id="38" name="TextBox 37"/>
          <p:cNvSpPr txBox="1"/>
          <p:nvPr/>
        </p:nvSpPr>
        <p:spPr>
          <a:xfrm>
            <a:off x="6174943" y="5504688"/>
            <a:ext cx="1554480" cy="475488"/>
          </a:xfrm>
          <a:prstGeom prst="rect">
            <a:avLst/>
          </a:prstGeom>
          <a:noFill/>
        </p:spPr>
        <p:txBody>
          <a:bodyPr wrap="square" lIns="0" rIns="0" tIns="0" bIns="0" anchor="t">
            <a:noAutofit/>
          </a:bodyPr>
          <a:lstStyle/>
          <a:p>
            <a:pPr algn="l">
              <a:lnSpc>
                <a:spcPct val="120000"/>
              </a:lnSpc>
            </a:pPr>
            <a:r>
              <a:rPr sz="730" b="0" i="0">
                <a:solidFill>
                  <a:srgbClr val="9DB0C6"/>
                </a:solidFill>
                <a:latin typeface="Segoe UI"/>
              </a:rPr>
              <a:t>live metric tick</a:t>
            </a:r>
          </a:p>
        </p:txBody>
      </p:sp>
      <p:sp>
        <p:nvSpPr>
          <p:cNvPr id="39" name="Rounded Rectangle 38"/>
          <p:cNvSpPr/>
          <p:nvPr/>
        </p:nvSpPr>
        <p:spPr>
          <a:xfrm>
            <a:off x="7885785" y="5084064"/>
            <a:ext cx="1773936" cy="1005840"/>
          </a:xfrm>
          <a:prstGeom prst="roundRect">
            <a:avLst>
              <a:gd name="adj" fmla="val 636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TextBox 39"/>
          <p:cNvSpPr txBox="1"/>
          <p:nvPr/>
        </p:nvSpPr>
        <p:spPr>
          <a:xfrm>
            <a:off x="8004657" y="5193792"/>
            <a:ext cx="1591056" cy="274320"/>
          </a:xfrm>
          <a:prstGeom prst="rect">
            <a:avLst/>
          </a:prstGeom>
          <a:noFill/>
        </p:spPr>
        <p:txBody>
          <a:bodyPr wrap="square" lIns="0" rIns="0" tIns="0" bIns="0" anchor="t">
            <a:noAutofit/>
          </a:bodyPr>
          <a:lstStyle/>
          <a:p>
            <a:pPr algn="l">
              <a:lnSpc>
                <a:spcPct val="100000"/>
              </a:lnSpc>
            </a:pPr>
            <a:r>
              <a:rPr sz="1700" b="1" i="0">
                <a:solidFill>
                  <a:srgbClr val="7DD3FC"/>
                </a:solidFill>
                <a:latin typeface="Consolas"/>
              </a:rPr>
              <a:t>6</a:t>
            </a:r>
          </a:p>
        </p:txBody>
      </p:sp>
      <p:sp>
        <p:nvSpPr>
          <p:cNvPr id="41" name="TextBox 40"/>
          <p:cNvSpPr txBox="1"/>
          <p:nvPr/>
        </p:nvSpPr>
        <p:spPr>
          <a:xfrm>
            <a:off x="8004657" y="5504688"/>
            <a:ext cx="1554480" cy="475488"/>
          </a:xfrm>
          <a:prstGeom prst="rect">
            <a:avLst/>
          </a:prstGeom>
          <a:noFill/>
        </p:spPr>
        <p:txBody>
          <a:bodyPr wrap="square" lIns="0" rIns="0" tIns="0" bIns="0" anchor="t">
            <a:noAutofit/>
          </a:bodyPr>
          <a:lstStyle/>
          <a:p>
            <a:pPr algn="l">
              <a:lnSpc>
                <a:spcPct val="120000"/>
              </a:lnSpc>
            </a:pPr>
            <a:r>
              <a:rPr sz="730" b="0" i="0">
                <a:solidFill>
                  <a:srgbClr val="9DB0C6"/>
                </a:solidFill>
                <a:latin typeface="Segoe UI"/>
              </a:rPr>
              <a:t>audited runbooks</a:t>
            </a:r>
          </a:p>
        </p:txBody>
      </p:sp>
      <p:sp>
        <p:nvSpPr>
          <p:cNvPr id="42" name="Rounded Rectangle 41"/>
          <p:cNvSpPr/>
          <p:nvPr/>
        </p:nvSpPr>
        <p:spPr>
          <a:xfrm>
            <a:off x="9715499" y="5084064"/>
            <a:ext cx="1773936" cy="1005840"/>
          </a:xfrm>
          <a:prstGeom prst="roundRect">
            <a:avLst>
              <a:gd name="adj" fmla="val 636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9834372" y="5193792"/>
            <a:ext cx="1591056" cy="274320"/>
          </a:xfrm>
          <a:prstGeom prst="rect">
            <a:avLst/>
          </a:prstGeom>
          <a:noFill/>
        </p:spPr>
        <p:txBody>
          <a:bodyPr wrap="square" lIns="0" rIns="0" tIns="0" bIns="0" anchor="t">
            <a:noAutofit/>
          </a:bodyPr>
          <a:lstStyle/>
          <a:p>
            <a:pPr algn="l">
              <a:lnSpc>
                <a:spcPct val="100000"/>
              </a:lnSpc>
            </a:pPr>
            <a:r>
              <a:rPr sz="1700" b="1" i="0">
                <a:solidFill>
                  <a:srgbClr val="34D399"/>
                </a:solidFill>
                <a:latin typeface="Consolas"/>
              </a:rPr>
              <a:t>5</a:t>
            </a:r>
          </a:p>
        </p:txBody>
      </p:sp>
      <p:sp>
        <p:nvSpPr>
          <p:cNvPr id="44" name="TextBox 43"/>
          <p:cNvSpPr txBox="1"/>
          <p:nvPr/>
        </p:nvSpPr>
        <p:spPr>
          <a:xfrm>
            <a:off x="9834372" y="5504688"/>
            <a:ext cx="1554480" cy="475488"/>
          </a:xfrm>
          <a:prstGeom prst="rect">
            <a:avLst/>
          </a:prstGeom>
          <a:noFill/>
        </p:spPr>
        <p:txBody>
          <a:bodyPr wrap="square" lIns="0" rIns="0" tIns="0" bIns="0" anchor="t">
            <a:noAutofit/>
          </a:bodyPr>
          <a:lstStyle/>
          <a:p>
            <a:pPr algn="l">
              <a:lnSpc>
                <a:spcPct val="120000"/>
              </a:lnSpc>
            </a:pPr>
            <a:r>
              <a:rPr sz="730" b="0" i="0">
                <a:solidFill>
                  <a:srgbClr val="9DB0C6"/>
                </a:solidFill>
                <a:latin typeface="Segoe UI"/>
              </a:rPr>
              <a:t>tables behind it 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02 · OUTLINE</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What we will cover</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Five parts, about 45 minutes including questions. Part 2 ends with a demo checkpoint on the live control room.</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OUTLINE</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03 / 27</a:t>
            </a:r>
          </a:p>
        </p:txBody>
      </p:sp>
      <p:sp>
        <p:nvSpPr>
          <p:cNvPr id="11" name="Rounded Rectangle 10"/>
          <p:cNvSpPr/>
          <p:nvPr/>
        </p:nvSpPr>
        <p:spPr>
          <a:xfrm>
            <a:off x="566928" y="1783080"/>
            <a:ext cx="11055096" cy="713232"/>
          </a:xfrm>
          <a:prstGeom prst="roundRect">
            <a:avLst>
              <a:gd name="adj" fmla="val 1025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749808" y="1956816"/>
            <a:ext cx="502920" cy="365760"/>
          </a:xfrm>
          <a:prstGeom prst="rect">
            <a:avLst/>
          </a:prstGeom>
          <a:noFill/>
        </p:spPr>
        <p:txBody>
          <a:bodyPr wrap="square" lIns="0" rIns="0" tIns="0" bIns="0" anchor="t">
            <a:noAutofit/>
          </a:bodyPr>
          <a:lstStyle/>
          <a:p>
            <a:pPr algn="l">
              <a:lnSpc>
                <a:spcPct val="100000"/>
              </a:lnSpc>
            </a:pPr>
            <a:r>
              <a:rPr sz="1900" b="1" i="0">
                <a:solidFill>
                  <a:srgbClr val="7DD3FC"/>
                </a:solidFill>
                <a:latin typeface="Consolas"/>
              </a:rPr>
              <a:t>01</a:t>
            </a:r>
          </a:p>
        </p:txBody>
      </p:sp>
      <p:sp>
        <p:nvSpPr>
          <p:cNvPr id="13" name="TextBox 12"/>
          <p:cNvSpPr txBox="1"/>
          <p:nvPr/>
        </p:nvSpPr>
        <p:spPr>
          <a:xfrm>
            <a:off x="1371600" y="1911095"/>
            <a:ext cx="2743200" cy="219456"/>
          </a:xfrm>
          <a:prstGeom prst="rect">
            <a:avLst/>
          </a:prstGeom>
          <a:noFill/>
        </p:spPr>
        <p:txBody>
          <a:bodyPr wrap="square" lIns="0" rIns="0" tIns="0" bIns="0" anchor="t">
            <a:noAutofit/>
          </a:bodyPr>
          <a:lstStyle/>
          <a:p>
            <a:pPr algn="l">
              <a:lnSpc>
                <a:spcPct val="100000"/>
              </a:lnSpc>
            </a:pPr>
            <a:r>
              <a:rPr sz="1250" b="1" i="0">
                <a:solidFill>
                  <a:srgbClr val="F4F8FC"/>
                </a:solidFill>
                <a:latin typeface="Segoe UI"/>
              </a:rPr>
              <a:t>Foundations</a:t>
            </a:r>
          </a:p>
        </p:txBody>
      </p:sp>
      <p:sp>
        <p:nvSpPr>
          <p:cNvPr id="14" name="TextBox 13"/>
          <p:cNvSpPr txBox="1"/>
          <p:nvPr/>
        </p:nvSpPr>
        <p:spPr>
          <a:xfrm>
            <a:off x="1371600" y="2157984"/>
            <a:ext cx="6949440" cy="201168"/>
          </a:xfrm>
          <a:prstGeom prst="rect">
            <a:avLst/>
          </a:prstGeom>
          <a:noFill/>
        </p:spPr>
        <p:txBody>
          <a:bodyPr wrap="square" lIns="0" rIns="0" tIns="0" bIns="0" anchor="t">
            <a:noAutofit/>
          </a:bodyPr>
          <a:lstStyle/>
          <a:p>
            <a:pPr algn="l">
              <a:lnSpc>
                <a:spcPct val="120000"/>
              </a:lnSpc>
            </a:pPr>
            <a:r>
              <a:rPr sz="900" b="0" i="0">
                <a:solidFill>
                  <a:srgbClr val="9DB0C6"/>
                </a:solidFill>
                <a:latin typeface="Segoe UI"/>
              </a:rPr>
              <a:t>Why the product exists, the mental model, and the estate in numbers.</a:t>
            </a:r>
          </a:p>
        </p:txBody>
      </p:sp>
      <p:sp>
        <p:nvSpPr>
          <p:cNvPr id="15" name="TextBox 14"/>
          <p:cNvSpPr txBox="1"/>
          <p:nvPr/>
        </p:nvSpPr>
        <p:spPr>
          <a:xfrm>
            <a:off x="10387584" y="1920240"/>
            <a:ext cx="1097280" cy="164592"/>
          </a:xfrm>
          <a:prstGeom prst="rect">
            <a:avLst/>
          </a:prstGeom>
          <a:noFill/>
        </p:spPr>
        <p:txBody>
          <a:bodyPr wrap="square" lIns="0" rIns="0" tIns="0" bIns="0" anchor="t">
            <a:noAutofit/>
          </a:bodyPr>
          <a:lstStyle/>
          <a:p>
            <a:pPr algn="r">
              <a:lnSpc>
                <a:spcPct val="122000"/>
              </a:lnSpc>
            </a:pPr>
            <a:r>
              <a:rPr sz="680" b="0" i="0">
                <a:solidFill>
                  <a:srgbClr val="64748B"/>
                </a:solidFill>
                <a:latin typeface="Consolas"/>
              </a:rPr>
              <a:t>SLIDES 02–04</a:t>
            </a:r>
          </a:p>
        </p:txBody>
      </p:sp>
      <p:sp>
        <p:nvSpPr>
          <p:cNvPr id="16" name="Rounded Rectangle 15"/>
          <p:cNvSpPr/>
          <p:nvPr/>
        </p:nvSpPr>
        <p:spPr>
          <a:xfrm>
            <a:off x="10634472" y="2139696"/>
            <a:ext cx="841248" cy="219456"/>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10689336" y="2193734"/>
            <a:ext cx="731520" cy="106680"/>
          </a:xfrm>
          <a:prstGeom prst="rect">
            <a:avLst/>
          </a:prstGeom>
          <a:noFill/>
        </p:spPr>
        <p:txBody>
          <a:bodyPr wrap="square" lIns="0" rIns="0" tIns="0" bIns="0" anchor="t">
            <a:noAutofit/>
          </a:bodyPr>
          <a:lstStyle/>
          <a:p>
            <a:pPr algn="ctr">
              <a:lnSpc>
                <a:spcPct val="100000"/>
              </a:lnSpc>
            </a:pPr>
            <a:r>
              <a:rPr sz="700" b="0" i="0">
                <a:solidFill>
                  <a:srgbClr val="7DD3FC"/>
                </a:solidFill>
                <a:latin typeface="Consolas"/>
              </a:rPr>
              <a:t>5 min</a:t>
            </a:r>
          </a:p>
        </p:txBody>
      </p:sp>
      <p:sp>
        <p:nvSpPr>
          <p:cNvPr id="18" name="Rounded Rectangle 17"/>
          <p:cNvSpPr/>
          <p:nvPr/>
        </p:nvSpPr>
        <p:spPr>
          <a:xfrm>
            <a:off x="566928" y="2578608"/>
            <a:ext cx="11055096" cy="713232"/>
          </a:xfrm>
          <a:prstGeom prst="roundRect">
            <a:avLst>
              <a:gd name="adj" fmla="val 1025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749808" y="2752344"/>
            <a:ext cx="502920" cy="365760"/>
          </a:xfrm>
          <a:prstGeom prst="rect">
            <a:avLst/>
          </a:prstGeom>
          <a:noFill/>
        </p:spPr>
        <p:txBody>
          <a:bodyPr wrap="square" lIns="0" rIns="0" tIns="0" bIns="0" anchor="t">
            <a:noAutofit/>
          </a:bodyPr>
          <a:lstStyle/>
          <a:p>
            <a:pPr algn="l">
              <a:lnSpc>
                <a:spcPct val="100000"/>
              </a:lnSpc>
            </a:pPr>
            <a:r>
              <a:rPr sz="1900" b="1" i="0">
                <a:solidFill>
                  <a:srgbClr val="A78BFA"/>
                </a:solidFill>
                <a:latin typeface="Consolas"/>
              </a:rPr>
              <a:t>02</a:t>
            </a:r>
          </a:p>
        </p:txBody>
      </p:sp>
      <p:sp>
        <p:nvSpPr>
          <p:cNvPr id="20" name="TextBox 19"/>
          <p:cNvSpPr txBox="1"/>
          <p:nvPr/>
        </p:nvSpPr>
        <p:spPr>
          <a:xfrm>
            <a:off x="1371600" y="2706624"/>
            <a:ext cx="2743200" cy="219456"/>
          </a:xfrm>
          <a:prstGeom prst="rect">
            <a:avLst/>
          </a:prstGeom>
          <a:noFill/>
        </p:spPr>
        <p:txBody>
          <a:bodyPr wrap="square" lIns="0" rIns="0" tIns="0" bIns="0" anchor="t">
            <a:noAutofit/>
          </a:bodyPr>
          <a:lstStyle/>
          <a:p>
            <a:pPr algn="l">
              <a:lnSpc>
                <a:spcPct val="100000"/>
              </a:lnSpc>
            </a:pPr>
            <a:r>
              <a:rPr sz="1250" b="1" i="0">
                <a:solidFill>
                  <a:srgbClr val="F4F8FC"/>
                </a:solidFill>
                <a:latin typeface="Segoe UI"/>
              </a:rPr>
              <a:t>Architecture &amp; patterns</a:t>
            </a:r>
          </a:p>
        </p:txBody>
      </p:sp>
      <p:sp>
        <p:nvSpPr>
          <p:cNvPr id="21" name="TextBox 20"/>
          <p:cNvSpPr txBox="1"/>
          <p:nvPr/>
        </p:nvSpPr>
        <p:spPr>
          <a:xfrm>
            <a:off x="1371600" y="2953512"/>
            <a:ext cx="6949440" cy="201168"/>
          </a:xfrm>
          <a:prstGeom prst="rect">
            <a:avLst/>
          </a:prstGeom>
          <a:noFill/>
        </p:spPr>
        <p:txBody>
          <a:bodyPr wrap="square" lIns="0" rIns="0" tIns="0" bIns="0" anchor="t">
            <a:noAutofit/>
          </a:bodyPr>
          <a:lstStyle/>
          <a:p>
            <a:pPr algn="l">
              <a:lnSpc>
                <a:spcPct val="120000"/>
              </a:lnSpc>
            </a:pPr>
            <a:r>
              <a:rPr sz="900" b="0" i="0">
                <a:solidFill>
                  <a:srgbClr val="9DB0C6"/>
                </a:solidFill>
                <a:latin typeface="Segoe UI"/>
              </a:rPr>
              <a:t>System map, frontend sub-flows, backend engine, data model, realtime loop, ELK layout.</a:t>
            </a:r>
          </a:p>
        </p:txBody>
      </p:sp>
      <p:sp>
        <p:nvSpPr>
          <p:cNvPr id="22" name="TextBox 21"/>
          <p:cNvSpPr txBox="1"/>
          <p:nvPr/>
        </p:nvSpPr>
        <p:spPr>
          <a:xfrm>
            <a:off x="10387584" y="2715768"/>
            <a:ext cx="1097280" cy="164592"/>
          </a:xfrm>
          <a:prstGeom prst="rect">
            <a:avLst/>
          </a:prstGeom>
          <a:noFill/>
        </p:spPr>
        <p:txBody>
          <a:bodyPr wrap="square" lIns="0" rIns="0" tIns="0" bIns="0" anchor="t">
            <a:noAutofit/>
          </a:bodyPr>
          <a:lstStyle/>
          <a:p>
            <a:pPr algn="r">
              <a:lnSpc>
                <a:spcPct val="122000"/>
              </a:lnSpc>
            </a:pPr>
            <a:r>
              <a:rPr sz="680" b="0" i="0">
                <a:solidFill>
                  <a:srgbClr val="64748B"/>
                </a:solidFill>
                <a:latin typeface="Consolas"/>
              </a:rPr>
              <a:t>SLIDES 05–11</a:t>
            </a:r>
          </a:p>
        </p:txBody>
      </p:sp>
      <p:sp>
        <p:nvSpPr>
          <p:cNvPr id="23" name="Rounded Rectangle 22"/>
          <p:cNvSpPr/>
          <p:nvPr/>
        </p:nvSpPr>
        <p:spPr>
          <a:xfrm>
            <a:off x="10634472" y="2935224"/>
            <a:ext cx="841248" cy="219456"/>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10689336" y="2989262"/>
            <a:ext cx="731520" cy="106680"/>
          </a:xfrm>
          <a:prstGeom prst="rect">
            <a:avLst/>
          </a:prstGeom>
          <a:noFill/>
        </p:spPr>
        <p:txBody>
          <a:bodyPr wrap="square" lIns="0" rIns="0" tIns="0" bIns="0" anchor="t">
            <a:noAutofit/>
          </a:bodyPr>
          <a:lstStyle/>
          <a:p>
            <a:pPr algn="ctr">
              <a:lnSpc>
                <a:spcPct val="100000"/>
              </a:lnSpc>
            </a:pPr>
            <a:r>
              <a:rPr sz="700" b="0" i="0">
                <a:solidFill>
                  <a:srgbClr val="A78BFA"/>
                </a:solidFill>
                <a:latin typeface="Consolas"/>
              </a:rPr>
              <a:t>12 min</a:t>
            </a:r>
          </a:p>
        </p:txBody>
      </p:sp>
      <p:sp>
        <p:nvSpPr>
          <p:cNvPr id="25" name="Rounded Rectangle 24"/>
          <p:cNvSpPr/>
          <p:nvPr/>
        </p:nvSpPr>
        <p:spPr>
          <a:xfrm>
            <a:off x="566928" y="3374136"/>
            <a:ext cx="11055096" cy="713232"/>
          </a:xfrm>
          <a:prstGeom prst="roundRect">
            <a:avLst>
              <a:gd name="adj" fmla="val 1025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749808" y="3547872"/>
            <a:ext cx="502920" cy="365760"/>
          </a:xfrm>
          <a:prstGeom prst="rect">
            <a:avLst/>
          </a:prstGeom>
          <a:noFill/>
        </p:spPr>
        <p:txBody>
          <a:bodyPr wrap="square" lIns="0" rIns="0" tIns="0" bIns="0" anchor="t">
            <a:noAutofit/>
          </a:bodyPr>
          <a:lstStyle/>
          <a:p>
            <a:pPr algn="l">
              <a:lnSpc>
                <a:spcPct val="100000"/>
              </a:lnSpc>
            </a:pPr>
            <a:r>
              <a:rPr sz="1900" b="1" i="0">
                <a:solidFill>
                  <a:srgbClr val="34D399"/>
                </a:solidFill>
                <a:latin typeface="Consolas"/>
              </a:rPr>
              <a:t>03</a:t>
            </a:r>
          </a:p>
        </p:txBody>
      </p:sp>
      <p:sp>
        <p:nvSpPr>
          <p:cNvPr id="27" name="TextBox 26"/>
          <p:cNvSpPr txBox="1"/>
          <p:nvPr/>
        </p:nvSpPr>
        <p:spPr>
          <a:xfrm>
            <a:off x="1371600" y="3502152"/>
            <a:ext cx="2743200" cy="219456"/>
          </a:xfrm>
          <a:prstGeom prst="rect">
            <a:avLst/>
          </a:prstGeom>
          <a:noFill/>
        </p:spPr>
        <p:txBody>
          <a:bodyPr wrap="square" lIns="0" rIns="0" tIns="0" bIns="0" anchor="t">
            <a:noAutofit/>
          </a:bodyPr>
          <a:lstStyle/>
          <a:p>
            <a:pPr algn="l">
              <a:lnSpc>
                <a:spcPct val="100000"/>
              </a:lnSpc>
            </a:pPr>
            <a:r>
              <a:rPr sz="1250" b="1" i="0">
                <a:solidFill>
                  <a:srgbClr val="F4F8FC"/>
                </a:solidFill>
                <a:latin typeface="Segoe UI"/>
              </a:rPr>
              <a:t>Application administration</a:t>
            </a:r>
          </a:p>
        </p:txBody>
      </p:sp>
      <p:sp>
        <p:nvSpPr>
          <p:cNvPr id="28" name="TextBox 27"/>
          <p:cNvSpPr txBox="1"/>
          <p:nvPr/>
        </p:nvSpPr>
        <p:spPr>
          <a:xfrm>
            <a:off x="1371600" y="3749039"/>
            <a:ext cx="6949440" cy="201168"/>
          </a:xfrm>
          <a:prstGeom prst="rect">
            <a:avLst/>
          </a:prstGeom>
          <a:noFill/>
        </p:spPr>
        <p:txBody>
          <a:bodyPr wrap="square" lIns="0" rIns="0" tIns="0" bIns="0" anchor="t">
            <a:noAutofit/>
          </a:bodyPr>
          <a:lstStyle/>
          <a:p>
            <a:pPr algn="l">
              <a:lnSpc>
                <a:spcPct val="120000"/>
              </a:lnSpc>
            </a:pPr>
            <a:r>
              <a:rPr sz="900" b="0" i="0">
                <a:solidFill>
                  <a:srgbClr val="9DB0C6"/>
                </a:solidFill>
                <a:latin typeface="Segoe UI"/>
              </a:rPr>
              <a:t>Control-room anatomy, the shift loop, canvas controls, inspector, runbooks, data operations and troubleshooting.</a:t>
            </a:r>
          </a:p>
        </p:txBody>
      </p:sp>
      <p:sp>
        <p:nvSpPr>
          <p:cNvPr id="29" name="TextBox 28"/>
          <p:cNvSpPr txBox="1"/>
          <p:nvPr/>
        </p:nvSpPr>
        <p:spPr>
          <a:xfrm>
            <a:off x="10387584" y="3511296"/>
            <a:ext cx="1097280" cy="164592"/>
          </a:xfrm>
          <a:prstGeom prst="rect">
            <a:avLst/>
          </a:prstGeom>
          <a:noFill/>
        </p:spPr>
        <p:txBody>
          <a:bodyPr wrap="square" lIns="0" rIns="0" tIns="0" bIns="0" anchor="t">
            <a:noAutofit/>
          </a:bodyPr>
          <a:lstStyle/>
          <a:p>
            <a:pPr algn="r">
              <a:lnSpc>
                <a:spcPct val="122000"/>
              </a:lnSpc>
            </a:pPr>
            <a:r>
              <a:rPr sz="680" b="0" i="0">
                <a:solidFill>
                  <a:srgbClr val="64748B"/>
                </a:solidFill>
                <a:latin typeface="Consolas"/>
              </a:rPr>
              <a:t>SLIDES 12–17</a:t>
            </a:r>
          </a:p>
        </p:txBody>
      </p:sp>
      <p:sp>
        <p:nvSpPr>
          <p:cNvPr id="30" name="Rounded Rectangle 29"/>
          <p:cNvSpPr/>
          <p:nvPr/>
        </p:nvSpPr>
        <p:spPr>
          <a:xfrm>
            <a:off x="10634472" y="3730752"/>
            <a:ext cx="841248" cy="219456"/>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10689336" y="3784790"/>
            <a:ext cx="731520" cy="106680"/>
          </a:xfrm>
          <a:prstGeom prst="rect">
            <a:avLst/>
          </a:prstGeom>
          <a:noFill/>
        </p:spPr>
        <p:txBody>
          <a:bodyPr wrap="square" lIns="0" rIns="0" tIns="0" bIns="0" anchor="t">
            <a:noAutofit/>
          </a:bodyPr>
          <a:lstStyle/>
          <a:p>
            <a:pPr algn="ctr">
              <a:lnSpc>
                <a:spcPct val="100000"/>
              </a:lnSpc>
            </a:pPr>
            <a:r>
              <a:rPr sz="700" b="0" i="0">
                <a:solidFill>
                  <a:srgbClr val="34D399"/>
                </a:solidFill>
                <a:latin typeface="Consolas"/>
              </a:rPr>
              <a:t>10 min</a:t>
            </a:r>
          </a:p>
        </p:txBody>
      </p:sp>
      <p:sp>
        <p:nvSpPr>
          <p:cNvPr id="32" name="Rounded Rectangle 31"/>
          <p:cNvSpPr/>
          <p:nvPr/>
        </p:nvSpPr>
        <p:spPr>
          <a:xfrm>
            <a:off x="566928" y="4169663"/>
            <a:ext cx="11055096" cy="713232"/>
          </a:xfrm>
          <a:prstGeom prst="roundRect">
            <a:avLst>
              <a:gd name="adj" fmla="val 1025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749808" y="4343400"/>
            <a:ext cx="502920" cy="365760"/>
          </a:xfrm>
          <a:prstGeom prst="rect">
            <a:avLst/>
          </a:prstGeom>
          <a:noFill/>
        </p:spPr>
        <p:txBody>
          <a:bodyPr wrap="square" lIns="0" rIns="0" tIns="0" bIns="0" anchor="t">
            <a:noAutofit/>
          </a:bodyPr>
          <a:lstStyle/>
          <a:p>
            <a:pPr algn="l">
              <a:lnSpc>
                <a:spcPct val="100000"/>
              </a:lnSpc>
            </a:pPr>
            <a:r>
              <a:rPr sz="1900" b="1" i="0">
                <a:solidFill>
                  <a:srgbClr val="FBBF24"/>
                </a:solidFill>
                <a:latin typeface="Consolas"/>
              </a:rPr>
              <a:t>04</a:t>
            </a:r>
          </a:p>
        </p:txBody>
      </p:sp>
      <p:sp>
        <p:nvSpPr>
          <p:cNvPr id="34" name="TextBox 33"/>
          <p:cNvSpPr txBox="1"/>
          <p:nvPr/>
        </p:nvSpPr>
        <p:spPr>
          <a:xfrm>
            <a:off x="1371600" y="4297679"/>
            <a:ext cx="2743200" cy="219456"/>
          </a:xfrm>
          <a:prstGeom prst="rect">
            <a:avLst/>
          </a:prstGeom>
          <a:noFill/>
        </p:spPr>
        <p:txBody>
          <a:bodyPr wrap="square" lIns="0" rIns="0" tIns="0" bIns="0" anchor="t">
            <a:noAutofit/>
          </a:bodyPr>
          <a:lstStyle/>
          <a:p>
            <a:pPr algn="l">
              <a:lnSpc>
                <a:spcPct val="100000"/>
              </a:lnSpc>
            </a:pPr>
            <a:r>
              <a:rPr sz="1250" b="1" i="0">
                <a:solidFill>
                  <a:srgbClr val="F4F8FC"/>
                </a:solidFill>
                <a:latin typeface="Segoe UI"/>
              </a:rPr>
              <a:t>Integration pattern</a:t>
            </a:r>
          </a:p>
        </p:txBody>
      </p:sp>
      <p:sp>
        <p:nvSpPr>
          <p:cNvPr id="35" name="TextBox 34"/>
          <p:cNvSpPr txBox="1"/>
          <p:nvPr/>
        </p:nvSpPr>
        <p:spPr>
          <a:xfrm>
            <a:off x="1371600" y="4544568"/>
            <a:ext cx="6949440" cy="201168"/>
          </a:xfrm>
          <a:prstGeom prst="rect">
            <a:avLst/>
          </a:prstGeom>
          <a:noFill/>
        </p:spPr>
        <p:txBody>
          <a:bodyPr wrap="square" lIns="0" rIns="0" tIns="0" bIns="0" anchor="t">
            <a:noAutofit/>
          </a:bodyPr>
          <a:lstStyle/>
          <a:p>
            <a:pPr algn="l">
              <a:lnSpc>
                <a:spcPct val="120000"/>
              </a:lnSpc>
            </a:pPr>
            <a:r>
              <a:rPr sz="900" b="0" i="0">
                <a:solidFill>
                  <a:srgbClr val="9DB0C6"/>
                </a:solidFill>
                <a:latin typeface="Segoe UI"/>
              </a:rPr>
              <a:t>Push, pull or watch; API contracts; end-to-end sequence; mapping rules; eight sample stacks.</a:t>
            </a:r>
          </a:p>
        </p:txBody>
      </p:sp>
      <p:sp>
        <p:nvSpPr>
          <p:cNvPr id="36" name="TextBox 35"/>
          <p:cNvSpPr txBox="1"/>
          <p:nvPr/>
        </p:nvSpPr>
        <p:spPr>
          <a:xfrm>
            <a:off x="10387584" y="4306824"/>
            <a:ext cx="1097280" cy="164592"/>
          </a:xfrm>
          <a:prstGeom prst="rect">
            <a:avLst/>
          </a:prstGeom>
          <a:noFill/>
        </p:spPr>
        <p:txBody>
          <a:bodyPr wrap="square" lIns="0" rIns="0" tIns="0" bIns="0" anchor="t">
            <a:noAutofit/>
          </a:bodyPr>
          <a:lstStyle/>
          <a:p>
            <a:pPr algn="r">
              <a:lnSpc>
                <a:spcPct val="122000"/>
              </a:lnSpc>
            </a:pPr>
            <a:r>
              <a:rPr sz="680" b="0" i="0">
                <a:solidFill>
                  <a:srgbClr val="64748B"/>
                </a:solidFill>
                <a:latin typeface="Consolas"/>
              </a:rPr>
              <a:t>SLIDES 18–23</a:t>
            </a:r>
          </a:p>
        </p:txBody>
      </p:sp>
      <p:sp>
        <p:nvSpPr>
          <p:cNvPr id="37" name="Rounded Rectangle 36"/>
          <p:cNvSpPr/>
          <p:nvPr/>
        </p:nvSpPr>
        <p:spPr>
          <a:xfrm>
            <a:off x="10634472" y="4526279"/>
            <a:ext cx="841248" cy="219456"/>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TextBox 37"/>
          <p:cNvSpPr txBox="1"/>
          <p:nvPr/>
        </p:nvSpPr>
        <p:spPr>
          <a:xfrm>
            <a:off x="10689336" y="4580318"/>
            <a:ext cx="731520" cy="106680"/>
          </a:xfrm>
          <a:prstGeom prst="rect">
            <a:avLst/>
          </a:prstGeom>
          <a:noFill/>
        </p:spPr>
        <p:txBody>
          <a:bodyPr wrap="square" lIns="0" rIns="0" tIns="0" bIns="0" anchor="t">
            <a:noAutofit/>
          </a:bodyPr>
          <a:lstStyle/>
          <a:p>
            <a:pPr algn="ctr">
              <a:lnSpc>
                <a:spcPct val="100000"/>
              </a:lnSpc>
            </a:pPr>
            <a:r>
              <a:rPr sz="700" b="0" i="0">
                <a:solidFill>
                  <a:srgbClr val="FBBF24"/>
                </a:solidFill>
                <a:latin typeface="Consolas"/>
              </a:rPr>
              <a:t>12 min</a:t>
            </a:r>
          </a:p>
        </p:txBody>
      </p:sp>
      <p:sp>
        <p:nvSpPr>
          <p:cNvPr id="39" name="Rounded Rectangle 38"/>
          <p:cNvSpPr/>
          <p:nvPr/>
        </p:nvSpPr>
        <p:spPr>
          <a:xfrm>
            <a:off x="566928" y="4965192"/>
            <a:ext cx="11055096" cy="713232"/>
          </a:xfrm>
          <a:prstGeom prst="roundRect">
            <a:avLst>
              <a:gd name="adj" fmla="val 1025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TextBox 39"/>
          <p:cNvSpPr txBox="1"/>
          <p:nvPr/>
        </p:nvSpPr>
        <p:spPr>
          <a:xfrm>
            <a:off x="749808" y="5138928"/>
            <a:ext cx="502920" cy="365760"/>
          </a:xfrm>
          <a:prstGeom prst="rect">
            <a:avLst/>
          </a:prstGeom>
          <a:noFill/>
        </p:spPr>
        <p:txBody>
          <a:bodyPr wrap="square" lIns="0" rIns="0" tIns="0" bIns="0" anchor="t">
            <a:noAutofit/>
          </a:bodyPr>
          <a:lstStyle/>
          <a:p>
            <a:pPr algn="l">
              <a:lnSpc>
                <a:spcPct val="100000"/>
              </a:lnSpc>
            </a:pPr>
            <a:r>
              <a:rPr sz="1900" b="1" i="0">
                <a:solidFill>
                  <a:srgbClr val="FB7185"/>
                </a:solidFill>
                <a:latin typeface="Consolas"/>
              </a:rPr>
              <a:t>05</a:t>
            </a:r>
          </a:p>
        </p:txBody>
      </p:sp>
      <p:sp>
        <p:nvSpPr>
          <p:cNvPr id="41" name="TextBox 40"/>
          <p:cNvSpPr txBox="1"/>
          <p:nvPr/>
        </p:nvSpPr>
        <p:spPr>
          <a:xfrm>
            <a:off x="1371600" y="5093207"/>
            <a:ext cx="2743200" cy="219456"/>
          </a:xfrm>
          <a:prstGeom prst="rect">
            <a:avLst/>
          </a:prstGeom>
          <a:noFill/>
        </p:spPr>
        <p:txBody>
          <a:bodyPr wrap="square" lIns="0" rIns="0" tIns="0" bIns="0" anchor="t">
            <a:noAutofit/>
          </a:bodyPr>
          <a:lstStyle/>
          <a:p>
            <a:pPr algn="l">
              <a:lnSpc>
                <a:spcPct val="100000"/>
              </a:lnSpc>
            </a:pPr>
            <a:r>
              <a:rPr sz="1250" b="1" i="0">
                <a:solidFill>
                  <a:srgbClr val="F4F8FC"/>
                </a:solidFill>
                <a:latin typeface="Segoe UI"/>
              </a:rPr>
              <a:t>Wrap-up</a:t>
            </a:r>
          </a:p>
        </p:txBody>
      </p:sp>
      <p:sp>
        <p:nvSpPr>
          <p:cNvPr id="42" name="TextBox 41"/>
          <p:cNvSpPr txBox="1"/>
          <p:nvPr/>
        </p:nvSpPr>
        <p:spPr>
          <a:xfrm>
            <a:off x="1371600" y="5340096"/>
            <a:ext cx="6949440" cy="201168"/>
          </a:xfrm>
          <a:prstGeom prst="rect">
            <a:avLst/>
          </a:prstGeom>
          <a:noFill/>
        </p:spPr>
        <p:txBody>
          <a:bodyPr wrap="square" lIns="0" rIns="0" tIns="0" bIns="0" anchor="t">
            <a:noAutofit/>
          </a:bodyPr>
          <a:lstStyle/>
          <a:p>
            <a:pPr algn="l">
              <a:lnSpc>
                <a:spcPct val="120000"/>
              </a:lnSpc>
            </a:pPr>
            <a:r>
              <a:rPr sz="900" b="0" i="0">
                <a:solidFill>
                  <a:srgbClr val="9DB0C6"/>
                </a:solidFill>
                <a:latin typeface="Segoe UI"/>
              </a:rPr>
              <a:t>Acceptance test, production roadmap, key takeaways and glossary.</a:t>
            </a:r>
          </a:p>
        </p:txBody>
      </p:sp>
      <p:sp>
        <p:nvSpPr>
          <p:cNvPr id="43" name="TextBox 42"/>
          <p:cNvSpPr txBox="1"/>
          <p:nvPr/>
        </p:nvSpPr>
        <p:spPr>
          <a:xfrm>
            <a:off x="10387584" y="5102352"/>
            <a:ext cx="1097280" cy="164592"/>
          </a:xfrm>
          <a:prstGeom prst="rect">
            <a:avLst/>
          </a:prstGeom>
          <a:noFill/>
        </p:spPr>
        <p:txBody>
          <a:bodyPr wrap="square" lIns="0" rIns="0" tIns="0" bIns="0" anchor="t">
            <a:noAutofit/>
          </a:bodyPr>
          <a:lstStyle/>
          <a:p>
            <a:pPr algn="r">
              <a:lnSpc>
                <a:spcPct val="122000"/>
              </a:lnSpc>
            </a:pPr>
            <a:r>
              <a:rPr sz="680" b="0" i="0">
                <a:solidFill>
                  <a:srgbClr val="64748B"/>
                </a:solidFill>
                <a:latin typeface="Consolas"/>
              </a:rPr>
              <a:t>SLIDES 24–26</a:t>
            </a:r>
          </a:p>
        </p:txBody>
      </p:sp>
      <p:sp>
        <p:nvSpPr>
          <p:cNvPr id="44" name="Rounded Rectangle 43"/>
          <p:cNvSpPr/>
          <p:nvPr/>
        </p:nvSpPr>
        <p:spPr>
          <a:xfrm>
            <a:off x="10634472" y="5321807"/>
            <a:ext cx="841248" cy="219456"/>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5" name="TextBox 44"/>
          <p:cNvSpPr txBox="1"/>
          <p:nvPr/>
        </p:nvSpPr>
        <p:spPr>
          <a:xfrm>
            <a:off x="10689336" y="5375846"/>
            <a:ext cx="731520" cy="106680"/>
          </a:xfrm>
          <a:prstGeom prst="rect">
            <a:avLst/>
          </a:prstGeom>
          <a:noFill/>
        </p:spPr>
        <p:txBody>
          <a:bodyPr wrap="square" lIns="0" rIns="0" tIns="0" bIns="0" anchor="t">
            <a:noAutofit/>
          </a:bodyPr>
          <a:lstStyle/>
          <a:p>
            <a:pPr algn="ctr">
              <a:lnSpc>
                <a:spcPct val="100000"/>
              </a:lnSpc>
            </a:pPr>
            <a:r>
              <a:rPr sz="700" b="0" i="0">
                <a:solidFill>
                  <a:srgbClr val="FB7185"/>
                </a:solidFill>
                <a:latin typeface="Consolas"/>
              </a:rPr>
              <a:t>4 min</a:t>
            </a:r>
          </a:p>
        </p:txBody>
      </p:sp>
      <p:sp>
        <p:nvSpPr>
          <p:cNvPr id="46" name="TextBox 45"/>
          <p:cNvSpPr txBox="1"/>
          <p:nvPr/>
        </p:nvSpPr>
        <p:spPr>
          <a:xfrm>
            <a:off x="566928" y="5852160"/>
            <a:ext cx="11055096" cy="182880"/>
          </a:xfrm>
          <a:prstGeom prst="rect">
            <a:avLst/>
          </a:prstGeom>
          <a:noFill/>
        </p:spPr>
        <p:txBody>
          <a:bodyPr wrap="square" lIns="0" rIns="0" tIns="0" bIns="0" anchor="t">
            <a:noAutofit/>
          </a:bodyPr>
          <a:lstStyle/>
          <a:p>
            <a:pPr algn="l">
              <a:lnSpc>
                <a:spcPct val="122000"/>
              </a:lnSpc>
            </a:pPr>
            <a:r>
              <a:rPr sz="680" b="0" i="0" spc="90">
                <a:solidFill>
                  <a:srgbClr val="64748B"/>
                </a:solidFill>
                <a:latin typeface="Consolas"/>
              </a:rPr>
              <a:t>DEMO CHECKPOINT AFTER PART 2  ·  SKIP PART 4 SAMPLES FOR A 30-MINUTE VERSION  ·  GLOSSARY IN APPENDIX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03 · AT A GLANCE</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The product in numbers</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A reference estate ships with the app: 456 nodes across 14 types, five tables, six runbooks, and a documented bridge for eight stacks.</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AT A GLANCE</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04 / 27</a:t>
            </a:r>
          </a:p>
        </p:txBody>
      </p:sp>
      <p:sp>
        <p:nvSpPr>
          <p:cNvPr id="11" name="Rounded Rectangle 10"/>
          <p:cNvSpPr/>
          <p:nvPr/>
        </p:nvSpPr>
        <p:spPr>
          <a:xfrm>
            <a:off x="566928" y="1783080"/>
            <a:ext cx="2651760" cy="1371600"/>
          </a:xfrm>
          <a:prstGeom prst="roundRect">
            <a:avLst>
              <a:gd name="adj" fmla="val 533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713232" y="1911095"/>
            <a:ext cx="2377440" cy="164592"/>
          </a:xfrm>
          <a:prstGeom prst="rect">
            <a:avLst/>
          </a:prstGeom>
          <a:noFill/>
        </p:spPr>
        <p:txBody>
          <a:bodyPr wrap="square" lIns="0" rIns="0" tIns="0" bIns="0" anchor="t">
            <a:noAutofit/>
          </a:bodyPr>
          <a:lstStyle/>
          <a:p>
            <a:pPr algn="l">
              <a:lnSpc>
                <a:spcPct val="122000"/>
              </a:lnSpc>
            </a:pPr>
            <a:r>
              <a:rPr sz="740" b="0" i="0" spc="90">
                <a:solidFill>
                  <a:srgbClr val="64748B"/>
                </a:solidFill>
                <a:latin typeface="Consolas"/>
              </a:rPr>
              <a:t>NODE TYPES</a:t>
            </a:r>
          </a:p>
        </p:txBody>
      </p:sp>
      <p:sp>
        <p:nvSpPr>
          <p:cNvPr id="13" name="TextBox 12"/>
          <p:cNvSpPr txBox="1"/>
          <p:nvPr/>
        </p:nvSpPr>
        <p:spPr>
          <a:xfrm>
            <a:off x="713232" y="2093976"/>
            <a:ext cx="2377440" cy="420624"/>
          </a:xfrm>
          <a:prstGeom prst="rect">
            <a:avLst/>
          </a:prstGeom>
          <a:noFill/>
        </p:spPr>
        <p:txBody>
          <a:bodyPr wrap="square" lIns="0" rIns="0" tIns="0" bIns="0" anchor="t">
            <a:noAutofit/>
          </a:bodyPr>
          <a:lstStyle/>
          <a:p>
            <a:pPr algn="l">
              <a:lnSpc>
                <a:spcPct val="100000"/>
              </a:lnSpc>
            </a:pPr>
            <a:r>
              <a:rPr sz="2700" b="1" i="0">
                <a:solidFill>
                  <a:srgbClr val="7DD3FC"/>
                </a:solidFill>
                <a:latin typeface="Consolas"/>
              </a:rPr>
              <a:t>14</a:t>
            </a:r>
          </a:p>
        </p:txBody>
      </p:sp>
      <p:sp>
        <p:nvSpPr>
          <p:cNvPr id="14" name="TextBox 13"/>
          <p:cNvSpPr txBox="1"/>
          <p:nvPr/>
        </p:nvSpPr>
        <p:spPr>
          <a:xfrm>
            <a:off x="713232" y="2843784"/>
            <a:ext cx="2377440" cy="201168"/>
          </a:xfrm>
          <a:prstGeom prst="rect">
            <a:avLst/>
          </a:prstGeom>
          <a:noFill/>
        </p:spPr>
        <p:txBody>
          <a:bodyPr wrap="square" lIns="0" rIns="0" tIns="0" bIns="0" anchor="t">
            <a:noAutofit/>
          </a:bodyPr>
          <a:lstStyle/>
          <a:p>
            <a:pPr algn="l">
              <a:lnSpc>
                <a:spcPct val="120000"/>
              </a:lnSpc>
            </a:pPr>
            <a:r>
              <a:rPr sz="780" b="0" i="0">
                <a:solidFill>
                  <a:srgbClr val="9DB0C6"/>
                </a:solidFill>
                <a:latin typeface="Segoe UI"/>
              </a:rPr>
              <a:t>11 containers · 3 leaves</a:t>
            </a:r>
          </a:p>
        </p:txBody>
      </p:sp>
      <p:sp>
        <p:nvSpPr>
          <p:cNvPr id="15" name="Rounded Rectangle 14"/>
          <p:cNvSpPr/>
          <p:nvPr/>
        </p:nvSpPr>
        <p:spPr>
          <a:xfrm>
            <a:off x="3310128" y="1783080"/>
            <a:ext cx="2651760" cy="1371600"/>
          </a:xfrm>
          <a:prstGeom prst="roundRect">
            <a:avLst>
              <a:gd name="adj" fmla="val 533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3456432" y="1911095"/>
            <a:ext cx="2377440" cy="164592"/>
          </a:xfrm>
          <a:prstGeom prst="rect">
            <a:avLst/>
          </a:prstGeom>
          <a:noFill/>
        </p:spPr>
        <p:txBody>
          <a:bodyPr wrap="square" lIns="0" rIns="0" tIns="0" bIns="0" anchor="t">
            <a:noAutofit/>
          </a:bodyPr>
          <a:lstStyle/>
          <a:p>
            <a:pPr algn="l">
              <a:lnSpc>
                <a:spcPct val="122000"/>
              </a:lnSpc>
            </a:pPr>
            <a:r>
              <a:rPr sz="740" b="0" i="0" spc="90">
                <a:solidFill>
                  <a:srgbClr val="64748B"/>
                </a:solidFill>
                <a:latin typeface="Consolas"/>
              </a:rPr>
              <a:t>NODES</a:t>
            </a:r>
          </a:p>
        </p:txBody>
      </p:sp>
      <p:sp>
        <p:nvSpPr>
          <p:cNvPr id="17" name="TextBox 16"/>
          <p:cNvSpPr txBox="1"/>
          <p:nvPr/>
        </p:nvSpPr>
        <p:spPr>
          <a:xfrm>
            <a:off x="3456432" y="2093976"/>
            <a:ext cx="2377440" cy="420624"/>
          </a:xfrm>
          <a:prstGeom prst="rect">
            <a:avLst/>
          </a:prstGeom>
          <a:noFill/>
        </p:spPr>
        <p:txBody>
          <a:bodyPr wrap="square" lIns="0" rIns="0" tIns="0" bIns="0" anchor="t">
            <a:noAutofit/>
          </a:bodyPr>
          <a:lstStyle/>
          <a:p>
            <a:pPr algn="l">
              <a:lnSpc>
                <a:spcPct val="100000"/>
              </a:lnSpc>
            </a:pPr>
            <a:r>
              <a:rPr sz="2700" b="1" i="0">
                <a:solidFill>
                  <a:srgbClr val="34D399"/>
                </a:solidFill>
                <a:latin typeface="Consolas"/>
              </a:rPr>
              <a:t>456</a:t>
            </a:r>
          </a:p>
        </p:txBody>
      </p:sp>
      <p:sp>
        <p:nvSpPr>
          <p:cNvPr id="18" name="TextBox 17"/>
          <p:cNvSpPr txBox="1"/>
          <p:nvPr/>
        </p:nvSpPr>
        <p:spPr>
          <a:xfrm>
            <a:off x="3456432" y="2843784"/>
            <a:ext cx="2377440" cy="201168"/>
          </a:xfrm>
          <a:prstGeom prst="rect">
            <a:avLst/>
          </a:prstGeom>
          <a:noFill/>
        </p:spPr>
        <p:txBody>
          <a:bodyPr wrap="square" lIns="0" rIns="0" tIns="0" bIns="0" anchor="t">
            <a:noAutofit/>
          </a:bodyPr>
          <a:lstStyle/>
          <a:p>
            <a:pPr algn="l">
              <a:lnSpc>
                <a:spcPct val="120000"/>
              </a:lnSpc>
            </a:pPr>
            <a:r>
              <a:rPr sz="780" b="0" i="0">
                <a:solidFill>
                  <a:srgbClr val="9DB0C6"/>
                </a:solidFill>
                <a:latin typeface="Segoe UI"/>
              </a:rPr>
              <a:t>one parent-ordered tree</a:t>
            </a:r>
          </a:p>
        </p:txBody>
      </p:sp>
      <p:sp>
        <p:nvSpPr>
          <p:cNvPr id="19" name="Rounded Rectangle 18"/>
          <p:cNvSpPr/>
          <p:nvPr/>
        </p:nvSpPr>
        <p:spPr>
          <a:xfrm>
            <a:off x="6053328" y="1783080"/>
            <a:ext cx="2651760" cy="1371600"/>
          </a:xfrm>
          <a:prstGeom prst="roundRect">
            <a:avLst>
              <a:gd name="adj" fmla="val 533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6199632" y="1911095"/>
            <a:ext cx="2377440" cy="164592"/>
          </a:xfrm>
          <a:prstGeom prst="rect">
            <a:avLst/>
          </a:prstGeom>
          <a:noFill/>
        </p:spPr>
        <p:txBody>
          <a:bodyPr wrap="square" lIns="0" rIns="0" tIns="0" bIns="0" anchor="t">
            <a:noAutofit/>
          </a:bodyPr>
          <a:lstStyle/>
          <a:p>
            <a:pPr algn="l">
              <a:lnSpc>
                <a:spcPct val="122000"/>
              </a:lnSpc>
            </a:pPr>
            <a:r>
              <a:rPr sz="740" b="0" i="0" spc="90">
                <a:solidFill>
                  <a:srgbClr val="64748B"/>
                </a:solidFill>
                <a:latin typeface="Consolas"/>
              </a:rPr>
              <a:t>SERVICES / ENDPOINTS</a:t>
            </a:r>
          </a:p>
        </p:txBody>
      </p:sp>
      <p:sp>
        <p:nvSpPr>
          <p:cNvPr id="21" name="TextBox 20"/>
          <p:cNvSpPr txBox="1"/>
          <p:nvPr/>
        </p:nvSpPr>
        <p:spPr>
          <a:xfrm>
            <a:off x="6199632" y="2093976"/>
            <a:ext cx="2377440" cy="420624"/>
          </a:xfrm>
          <a:prstGeom prst="rect">
            <a:avLst/>
          </a:prstGeom>
          <a:noFill/>
        </p:spPr>
        <p:txBody>
          <a:bodyPr wrap="square" lIns="0" rIns="0" tIns="0" bIns="0" anchor="t">
            <a:noAutofit/>
          </a:bodyPr>
          <a:lstStyle/>
          <a:p>
            <a:pPr algn="l">
              <a:lnSpc>
                <a:spcPct val="100000"/>
              </a:lnSpc>
            </a:pPr>
            <a:r>
              <a:rPr sz="2700" b="1" i="0">
                <a:solidFill>
                  <a:srgbClr val="F4F8FC"/>
                </a:solidFill>
                <a:latin typeface="Consolas"/>
              </a:rPr>
              <a:t>41 / 91</a:t>
            </a:r>
          </a:p>
        </p:txBody>
      </p:sp>
      <p:sp>
        <p:nvSpPr>
          <p:cNvPr id="22" name="TextBox 21"/>
          <p:cNvSpPr txBox="1"/>
          <p:nvPr/>
        </p:nvSpPr>
        <p:spPr>
          <a:xfrm>
            <a:off x="6199632" y="2843784"/>
            <a:ext cx="2377440" cy="201168"/>
          </a:xfrm>
          <a:prstGeom prst="rect">
            <a:avLst/>
          </a:prstGeom>
          <a:noFill/>
        </p:spPr>
        <p:txBody>
          <a:bodyPr wrap="square" lIns="0" rIns="0" tIns="0" bIns="0" anchor="t">
            <a:noAutofit/>
          </a:bodyPr>
          <a:lstStyle/>
          <a:p>
            <a:pPr algn="l">
              <a:lnSpc>
                <a:spcPct val="120000"/>
              </a:lnSpc>
            </a:pPr>
            <a:r>
              <a:rPr sz="780" b="0" i="0">
                <a:solidFill>
                  <a:srgbClr val="9DB0C6"/>
                </a:solidFill>
                <a:latin typeface="Segoe UI"/>
              </a:rPr>
              <a:t>the workload surface</a:t>
            </a:r>
          </a:p>
        </p:txBody>
      </p:sp>
      <p:sp>
        <p:nvSpPr>
          <p:cNvPr id="23" name="Rounded Rectangle 22"/>
          <p:cNvSpPr/>
          <p:nvPr/>
        </p:nvSpPr>
        <p:spPr>
          <a:xfrm>
            <a:off x="8796528" y="1783080"/>
            <a:ext cx="2651760" cy="1371600"/>
          </a:xfrm>
          <a:prstGeom prst="roundRect">
            <a:avLst>
              <a:gd name="adj" fmla="val 533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8942832" y="1911095"/>
            <a:ext cx="2377440" cy="164592"/>
          </a:xfrm>
          <a:prstGeom prst="rect">
            <a:avLst/>
          </a:prstGeom>
          <a:noFill/>
        </p:spPr>
        <p:txBody>
          <a:bodyPr wrap="square" lIns="0" rIns="0" tIns="0" bIns="0" anchor="t">
            <a:noAutofit/>
          </a:bodyPr>
          <a:lstStyle/>
          <a:p>
            <a:pPr algn="l">
              <a:lnSpc>
                <a:spcPct val="122000"/>
              </a:lnSpc>
            </a:pPr>
            <a:r>
              <a:rPr sz="740" b="0" i="0" spc="90">
                <a:solidFill>
                  <a:srgbClr val="64748B"/>
                </a:solidFill>
                <a:latin typeface="Consolas"/>
              </a:rPr>
              <a:t>SSE METRIC TICK</a:t>
            </a:r>
          </a:p>
        </p:txBody>
      </p:sp>
      <p:sp>
        <p:nvSpPr>
          <p:cNvPr id="25" name="TextBox 24"/>
          <p:cNvSpPr txBox="1"/>
          <p:nvPr/>
        </p:nvSpPr>
        <p:spPr>
          <a:xfrm>
            <a:off x="8942832" y="2093976"/>
            <a:ext cx="2377440" cy="420624"/>
          </a:xfrm>
          <a:prstGeom prst="rect">
            <a:avLst/>
          </a:prstGeom>
          <a:noFill/>
        </p:spPr>
        <p:txBody>
          <a:bodyPr wrap="square" lIns="0" rIns="0" tIns="0" bIns="0" anchor="t">
            <a:noAutofit/>
          </a:bodyPr>
          <a:lstStyle/>
          <a:p>
            <a:pPr algn="l">
              <a:lnSpc>
                <a:spcPct val="100000"/>
              </a:lnSpc>
            </a:pPr>
            <a:r>
              <a:rPr sz="2700" b="1" i="0">
                <a:solidFill>
                  <a:srgbClr val="7DD3FC"/>
                </a:solidFill>
                <a:latin typeface="Consolas"/>
              </a:rPr>
              <a:t>2 s</a:t>
            </a:r>
          </a:p>
        </p:txBody>
      </p:sp>
      <p:sp>
        <p:nvSpPr>
          <p:cNvPr id="26" name="TextBox 25"/>
          <p:cNvSpPr txBox="1"/>
          <p:nvPr/>
        </p:nvSpPr>
        <p:spPr>
          <a:xfrm>
            <a:off x="8942832" y="2843784"/>
            <a:ext cx="2377440" cy="201168"/>
          </a:xfrm>
          <a:prstGeom prst="rect">
            <a:avLst/>
          </a:prstGeom>
          <a:noFill/>
        </p:spPr>
        <p:txBody>
          <a:bodyPr wrap="square" lIns="0" rIns="0" tIns="0" bIns="0" anchor="t">
            <a:noAutofit/>
          </a:bodyPr>
          <a:lstStyle/>
          <a:p>
            <a:pPr algn="l">
              <a:lnSpc>
                <a:spcPct val="120000"/>
              </a:lnSpc>
            </a:pPr>
            <a:r>
              <a:rPr sz="780" b="0" i="0">
                <a:solidFill>
                  <a:srgbClr val="9DB0C6"/>
                </a:solidFill>
                <a:latin typeface="Segoe UI"/>
              </a:rPr>
              <a:t>10 s snapshot · 30 s samples</a:t>
            </a:r>
          </a:p>
        </p:txBody>
      </p:sp>
      <p:sp>
        <p:nvSpPr>
          <p:cNvPr id="27" name="Rounded Rectangle 26"/>
          <p:cNvSpPr/>
          <p:nvPr/>
        </p:nvSpPr>
        <p:spPr>
          <a:xfrm>
            <a:off x="566928" y="3273552"/>
            <a:ext cx="2651760" cy="1371600"/>
          </a:xfrm>
          <a:prstGeom prst="roundRect">
            <a:avLst>
              <a:gd name="adj" fmla="val 533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713232" y="3401568"/>
            <a:ext cx="2377440" cy="164592"/>
          </a:xfrm>
          <a:prstGeom prst="rect">
            <a:avLst/>
          </a:prstGeom>
          <a:noFill/>
        </p:spPr>
        <p:txBody>
          <a:bodyPr wrap="square" lIns="0" rIns="0" tIns="0" bIns="0" anchor="t">
            <a:noAutofit/>
          </a:bodyPr>
          <a:lstStyle/>
          <a:p>
            <a:pPr algn="l">
              <a:lnSpc>
                <a:spcPct val="122000"/>
              </a:lnSpc>
            </a:pPr>
            <a:r>
              <a:rPr sz="740" b="0" i="0" spc="90">
                <a:solidFill>
                  <a:srgbClr val="64748B"/>
                </a:solidFill>
                <a:latin typeface="Consolas"/>
              </a:rPr>
              <a:t>RESOURCE GAUGES</a:t>
            </a:r>
          </a:p>
        </p:txBody>
      </p:sp>
      <p:sp>
        <p:nvSpPr>
          <p:cNvPr id="29" name="TextBox 28"/>
          <p:cNvSpPr txBox="1"/>
          <p:nvPr/>
        </p:nvSpPr>
        <p:spPr>
          <a:xfrm>
            <a:off x="713232" y="3584448"/>
            <a:ext cx="2377440" cy="420624"/>
          </a:xfrm>
          <a:prstGeom prst="rect">
            <a:avLst/>
          </a:prstGeom>
          <a:noFill/>
        </p:spPr>
        <p:txBody>
          <a:bodyPr wrap="square" lIns="0" rIns="0" tIns="0" bIns="0" anchor="t">
            <a:noAutofit/>
          </a:bodyPr>
          <a:lstStyle/>
          <a:p>
            <a:pPr algn="l">
              <a:lnSpc>
                <a:spcPct val="100000"/>
              </a:lnSpc>
            </a:pPr>
            <a:r>
              <a:rPr sz="2700" b="1" i="0">
                <a:solidFill>
                  <a:srgbClr val="34D399"/>
                </a:solidFill>
                <a:latin typeface="Consolas"/>
              </a:rPr>
              <a:t>159</a:t>
            </a:r>
          </a:p>
        </p:txBody>
      </p:sp>
      <p:sp>
        <p:nvSpPr>
          <p:cNvPr id="30" name="TextBox 29"/>
          <p:cNvSpPr txBox="1"/>
          <p:nvPr/>
        </p:nvSpPr>
        <p:spPr>
          <a:xfrm>
            <a:off x="713232" y="4334256"/>
            <a:ext cx="2377440" cy="201168"/>
          </a:xfrm>
          <a:prstGeom prst="rect">
            <a:avLst/>
          </a:prstGeom>
          <a:noFill/>
        </p:spPr>
        <p:txBody>
          <a:bodyPr wrap="square" lIns="0" rIns="0" tIns="0" bIns="0" anchor="t">
            <a:noAutofit/>
          </a:bodyPr>
          <a:lstStyle/>
          <a:p>
            <a:pPr algn="l">
              <a:lnSpc>
                <a:spcPct val="120000"/>
              </a:lnSpc>
            </a:pPr>
            <a:r>
              <a:rPr sz="780" b="0" i="0">
                <a:solidFill>
                  <a:srgbClr val="9DB0C6"/>
                </a:solidFill>
                <a:latin typeface="Segoe UI"/>
              </a:rPr>
              <a:t>CPU · memory · disk</a:t>
            </a:r>
          </a:p>
        </p:txBody>
      </p:sp>
      <p:sp>
        <p:nvSpPr>
          <p:cNvPr id="31" name="Rounded Rectangle 30"/>
          <p:cNvSpPr/>
          <p:nvPr/>
        </p:nvSpPr>
        <p:spPr>
          <a:xfrm>
            <a:off x="3310128" y="3273552"/>
            <a:ext cx="2651760" cy="1371600"/>
          </a:xfrm>
          <a:prstGeom prst="roundRect">
            <a:avLst>
              <a:gd name="adj" fmla="val 533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3456432" y="3401568"/>
            <a:ext cx="2377440" cy="164592"/>
          </a:xfrm>
          <a:prstGeom prst="rect">
            <a:avLst/>
          </a:prstGeom>
          <a:noFill/>
        </p:spPr>
        <p:txBody>
          <a:bodyPr wrap="square" lIns="0" rIns="0" tIns="0" bIns="0" anchor="t">
            <a:noAutofit/>
          </a:bodyPr>
          <a:lstStyle/>
          <a:p>
            <a:pPr algn="l">
              <a:lnSpc>
                <a:spcPct val="122000"/>
              </a:lnSpc>
            </a:pPr>
            <a:r>
              <a:rPr sz="740" b="0" i="0" spc="90">
                <a:solidFill>
                  <a:srgbClr val="64748B"/>
                </a:solidFill>
                <a:latin typeface="Consolas"/>
              </a:rPr>
              <a:t>RUNBOOKS</a:t>
            </a:r>
          </a:p>
        </p:txBody>
      </p:sp>
      <p:sp>
        <p:nvSpPr>
          <p:cNvPr id="33" name="TextBox 32"/>
          <p:cNvSpPr txBox="1"/>
          <p:nvPr/>
        </p:nvSpPr>
        <p:spPr>
          <a:xfrm>
            <a:off x="3456432" y="3584448"/>
            <a:ext cx="2377440" cy="420624"/>
          </a:xfrm>
          <a:prstGeom prst="rect">
            <a:avLst/>
          </a:prstGeom>
          <a:noFill/>
        </p:spPr>
        <p:txBody>
          <a:bodyPr wrap="square" lIns="0" rIns="0" tIns="0" bIns="0" anchor="t">
            <a:noAutofit/>
          </a:bodyPr>
          <a:lstStyle/>
          <a:p>
            <a:pPr algn="l">
              <a:lnSpc>
                <a:spcPct val="100000"/>
              </a:lnSpc>
            </a:pPr>
            <a:r>
              <a:rPr sz="2700" b="1" i="0">
                <a:solidFill>
                  <a:srgbClr val="F4F8FC"/>
                </a:solidFill>
                <a:latin typeface="Consolas"/>
              </a:rPr>
              <a:t>6</a:t>
            </a:r>
          </a:p>
        </p:txBody>
      </p:sp>
      <p:sp>
        <p:nvSpPr>
          <p:cNvPr id="34" name="TextBox 33"/>
          <p:cNvSpPr txBox="1"/>
          <p:nvPr/>
        </p:nvSpPr>
        <p:spPr>
          <a:xfrm>
            <a:off x="3456432" y="4334256"/>
            <a:ext cx="2377440" cy="201168"/>
          </a:xfrm>
          <a:prstGeom prst="rect">
            <a:avLst/>
          </a:prstGeom>
          <a:noFill/>
        </p:spPr>
        <p:txBody>
          <a:bodyPr wrap="square" lIns="0" rIns="0" tIns="0" bIns="0" anchor="t">
            <a:noAutofit/>
          </a:bodyPr>
          <a:lstStyle/>
          <a:p>
            <a:pPr algn="l">
              <a:lnSpc>
                <a:spcPct val="120000"/>
              </a:lnSpc>
            </a:pPr>
            <a:r>
              <a:rPr sz="780" b="0" i="0">
                <a:solidFill>
                  <a:srgbClr val="9DB0C6"/>
                </a:solidFill>
                <a:latin typeface="Segoe UI"/>
              </a:rPr>
              <a:t>3 read-only · 3 privileged</a:t>
            </a:r>
          </a:p>
        </p:txBody>
      </p:sp>
      <p:sp>
        <p:nvSpPr>
          <p:cNvPr id="35" name="Rounded Rectangle 34"/>
          <p:cNvSpPr/>
          <p:nvPr/>
        </p:nvSpPr>
        <p:spPr>
          <a:xfrm>
            <a:off x="6053328" y="3273552"/>
            <a:ext cx="2651760" cy="1371600"/>
          </a:xfrm>
          <a:prstGeom prst="roundRect">
            <a:avLst>
              <a:gd name="adj" fmla="val 533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6199632" y="3401568"/>
            <a:ext cx="2377440" cy="164592"/>
          </a:xfrm>
          <a:prstGeom prst="rect">
            <a:avLst/>
          </a:prstGeom>
          <a:noFill/>
        </p:spPr>
        <p:txBody>
          <a:bodyPr wrap="square" lIns="0" rIns="0" tIns="0" bIns="0" anchor="t">
            <a:noAutofit/>
          </a:bodyPr>
          <a:lstStyle/>
          <a:p>
            <a:pPr algn="l">
              <a:lnSpc>
                <a:spcPct val="122000"/>
              </a:lnSpc>
            </a:pPr>
            <a:r>
              <a:rPr sz="740" b="0" i="0" spc="90">
                <a:solidFill>
                  <a:srgbClr val="64748B"/>
                </a:solidFill>
                <a:latin typeface="Consolas"/>
              </a:rPr>
              <a:t>TABLES</a:t>
            </a:r>
          </a:p>
        </p:txBody>
      </p:sp>
      <p:sp>
        <p:nvSpPr>
          <p:cNvPr id="37" name="TextBox 36"/>
          <p:cNvSpPr txBox="1"/>
          <p:nvPr/>
        </p:nvSpPr>
        <p:spPr>
          <a:xfrm>
            <a:off x="6199632" y="3584448"/>
            <a:ext cx="2377440" cy="420624"/>
          </a:xfrm>
          <a:prstGeom prst="rect">
            <a:avLst/>
          </a:prstGeom>
          <a:noFill/>
        </p:spPr>
        <p:txBody>
          <a:bodyPr wrap="square" lIns="0" rIns="0" tIns="0" bIns="0" anchor="t">
            <a:noAutofit/>
          </a:bodyPr>
          <a:lstStyle/>
          <a:p>
            <a:pPr algn="l">
              <a:lnSpc>
                <a:spcPct val="100000"/>
              </a:lnSpc>
            </a:pPr>
            <a:r>
              <a:rPr sz="2700" b="1" i="0">
                <a:solidFill>
                  <a:srgbClr val="7DD3FC"/>
                </a:solidFill>
                <a:latin typeface="Consolas"/>
              </a:rPr>
              <a:t>5</a:t>
            </a:r>
          </a:p>
        </p:txBody>
      </p:sp>
      <p:sp>
        <p:nvSpPr>
          <p:cNvPr id="38" name="TextBox 37"/>
          <p:cNvSpPr txBox="1"/>
          <p:nvPr/>
        </p:nvSpPr>
        <p:spPr>
          <a:xfrm>
            <a:off x="6199632" y="4334256"/>
            <a:ext cx="2377440" cy="201168"/>
          </a:xfrm>
          <a:prstGeom prst="rect">
            <a:avLst/>
          </a:prstGeom>
          <a:noFill/>
        </p:spPr>
        <p:txBody>
          <a:bodyPr wrap="square" lIns="0" rIns="0" tIns="0" bIns="0" anchor="t">
            <a:noAutofit/>
          </a:bodyPr>
          <a:lstStyle/>
          <a:p>
            <a:pPr algn="l">
              <a:lnSpc>
                <a:spcPct val="120000"/>
              </a:lnSpc>
            </a:pPr>
            <a:r>
              <a:rPr sz="780" b="0" i="0">
                <a:solidFill>
                  <a:srgbClr val="9DB0C6"/>
                </a:solidFill>
                <a:latin typeface="Segoe UI"/>
              </a:rPr>
              <a:t>tree, metrics, history, events, runs</a:t>
            </a:r>
          </a:p>
        </p:txBody>
      </p:sp>
      <p:sp>
        <p:nvSpPr>
          <p:cNvPr id="39" name="Rounded Rectangle 38"/>
          <p:cNvSpPr/>
          <p:nvPr/>
        </p:nvSpPr>
        <p:spPr>
          <a:xfrm>
            <a:off x="8796528" y="3273552"/>
            <a:ext cx="2651760" cy="1371600"/>
          </a:xfrm>
          <a:prstGeom prst="roundRect">
            <a:avLst>
              <a:gd name="adj" fmla="val 533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TextBox 39"/>
          <p:cNvSpPr txBox="1"/>
          <p:nvPr/>
        </p:nvSpPr>
        <p:spPr>
          <a:xfrm>
            <a:off x="8942832" y="3401568"/>
            <a:ext cx="2377440" cy="164592"/>
          </a:xfrm>
          <a:prstGeom prst="rect">
            <a:avLst/>
          </a:prstGeom>
          <a:noFill/>
        </p:spPr>
        <p:txBody>
          <a:bodyPr wrap="square" lIns="0" rIns="0" tIns="0" bIns="0" anchor="t">
            <a:noAutofit/>
          </a:bodyPr>
          <a:lstStyle/>
          <a:p>
            <a:pPr algn="l">
              <a:lnSpc>
                <a:spcPct val="122000"/>
              </a:lnSpc>
            </a:pPr>
            <a:r>
              <a:rPr sz="740" b="0" i="0" spc="90">
                <a:solidFill>
                  <a:srgbClr val="64748B"/>
                </a:solidFill>
                <a:latin typeface="Consolas"/>
              </a:rPr>
              <a:t>STACK RECIPES</a:t>
            </a:r>
          </a:p>
        </p:txBody>
      </p:sp>
      <p:sp>
        <p:nvSpPr>
          <p:cNvPr id="41" name="TextBox 40"/>
          <p:cNvSpPr txBox="1"/>
          <p:nvPr/>
        </p:nvSpPr>
        <p:spPr>
          <a:xfrm>
            <a:off x="8942832" y="3584448"/>
            <a:ext cx="2377440" cy="420624"/>
          </a:xfrm>
          <a:prstGeom prst="rect">
            <a:avLst/>
          </a:prstGeom>
          <a:noFill/>
        </p:spPr>
        <p:txBody>
          <a:bodyPr wrap="square" lIns="0" rIns="0" tIns="0" bIns="0" anchor="t">
            <a:noAutofit/>
          </a:bodyPr>
          <a:lstStyle/>
          <a:p>
            <a:pPr algn="l">
              <a:lnSpc>
                <a:spcPct val="100000"/>
              </a:lnSpc>
            </a:pPr>
            <a:r>
              <a:rPr sz="2700" b="1" i="0">
                <a:solidFill>
                  <a:srgbClr val="34D399"/>
                </a:solidFill>
                <a:latin typeface="Consolas"/>
              </a:rPr>
              <a:t>8</a:t>
            </a:r>
          </a:p>
        </p:txBody>
      </p:sp>
      <p:sp>
        <p:nvSpPr>
          <p:cNvPr id="42" name="TextBox 41"/>
          <p:cNvSpPr txBox="1"/>
          <p:nvPr/>
        </p:nvSpPr>
        <p:spPr>
          <a:xfrm>
            <a:off x="8942832" y="4334256"/>
            <a:ext cx="2377440" cy="201168"/>
          </a:xfrm>
          <a:prstGeom prst="rect">
            <a:avLst/>
          </a:prstGeom>
          <a:noFill/>
        </p:spPr>
        <p:txBody>
          <a:bodyPr wrap="square" lIns="0" rIns="0" tIns="0" bIns="0" anchor="t">
            <a:noAutofit/>
          </a:bodyPr>
          <a:lstStyle/>
          <a:p>
            <a:pPr algn="l">
              <a:lnSpc>
                <a:spcPct val="120000"/>
              </a:lnSpc>
            </a:pPr>
            <a:r>
              <a:rPr sz="780" b="0" i="0">
                <a:solidFill>
                  <a:srgbClr val="9DB0C6"/>
                </a:solidFill>
                <a:latin typeface="Segoe UI"/>
              </a:rPr>
              <a:t>Laravel → Rust → Postgres → MinIO</a:t>
            </a:r>
          </a:p>
        </p:txBody>
      </p:sp>
      <p:sp>
        <p:nvSpPr>
          <p:cNvPr id="43" name="Rounded Rectangle 42"/>
          <p:cNvSpPr/>
          <p:nvPr/>
        </p:nvSpPr>
        <p:spPr>
          <a:xfrm>
            <a:off x="566928" y="4901184"/>
            <a:ext cx="3575304" cy="1170432"/>
          </a:xfrm>
          <a:prstGeom prst="roundRect">
            <a:avLst>
              <a:gd name="adj" fmla="val 625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4" name="Rectangle 43"/>
          <p:cNvSpPr/>
          <p:nvPr/>
        </p:nvSpPr>
        <p:spPr>
          <a:xfrm>
            <a:off x="713232" y="5047488"/>
            <a:ext cx="164592" cy="2377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5" name="TextBox 44"/>
          <p:cNvSpPr txBox="1"/>
          <p:nvPr/>
        </p:nvSpPr>
        <p:spPr>
          <a:xfrm>
            <a:off x="950976" y="5001768"/>
            <a:ext cx="1645920" cy="182880"/>
          </a:xfrm>
          <a:prstGeom prst="rect">
            <a:avLst/>
          </a:prstGeom>
          <a:noFill/>
        </p:spPr>
        <p:txBody>
          <a:bodyPr wrap="square" lIns="0" rIns="0" tIns="0" bIns="0" anchor="t">
            <a:noAutofit/>
          </a:bodyPr>
          <a:lstStyle/>
          <a:p>
            <a:pPr algn="l">
              <a:lnSpc>
                <a:spcPct val="122000"/>
              </a:lnSpc>
            </a:pPr>
            <a:r>
              <a:rPr sz="1000" b="1" i="0">
                <a:solidFill>
                  <a:srgbClr val="F4F8FC"/>
                </a:solidFill>
                <a:latin typeface="Segoe UI"/>
              </a:rPr>
              <a:t>Operators</a:t>
            </a:r>
          </a:p>
        </p:txBody>
      </p:sp>
      <p:sp>
        <p:nvSpPr>
          <p:cNvPr id="46" name="TextBox 45"/>
          <p:cNvSpPr txBox="1"/>
          <p:nvPr/>
        </p:nvSpPr>
        <p:spPr>
          <a:xfrm>
            <a:off x="713232" y="5266944"/>
            <a:ext cx="3273552" cy="658368"/>
          </a:xfrm>
          <a:prstGeom prst="rect">
            <a:avLst/>
          </a:prstGeom>
          <a:noFill/>
        </p:spPr>
        <p:txBody>
          <a:bodyPr wrap="square" lIns="0" rIns="0" tIns="0" bIns="0" anchor="t">
            <a:noAutofit/>
          </a:bodyPr>
          <a:lstStyle/>
          <a:p>
            <a:pPr algn="l">
              <a:lnSpc>
                <a:spcPct val="130000"/>
              </a:lnSpc>
            </a:pPr>
            <a:r>
              <a:rPr sz="880" b="0" i="0">
                <a:solidFill>
                  <a:srgbClr val="9DB0C6"/>
                </a:solidFill>
                <a:latin typeface="Segoe UI"/>
              </a:rPr>
              <a:t>One screen from estate glance to acked incident. No tool-hopping between org, host and service views.</a:t>
            </a:r>
          </a:p>
        </p:txBody>
      </p:sp>
      <p:sp>
        <p:nvSpPr>
          <p:cNvPr id="47" name="Rounded Rectangle 46"/>
          <p:cNvSpPr/>
          <p:nvPr/>
        </p:nvSpPr>
        <p:spPr>
          <a:xfrm>
            <a:off x="4306824" y="4901184"/>
            <a:ext cx="3575304" cy="1170432"/>
          </a:xfrm>
          <a:prstGeom prst="roundRect">
            <a:avLst>
              <a:gd name="adj" fmla="val 625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Rectangle 47"/>
          <p:cNvSpPr/>
          <p:nvPr/>
        </p:nvSpPr>
        <p:spPr>
          <a:xfrm>
            <a:off x="4453128" y="5047488"/>
            <a:ext cx="164592" cy="23774"/>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9" name="TextBox 48"/>
          <p:cNvSpPr txBox="1"/>
          <p:nvPr/>
        </p:nvSpPr>
        <p:spPr>
          <a:xfrm>
            <a:off x="4690872" y="5001768"/>
            <a:ext cx="1645920" cy="182880"/>
          </a:xfrm>
          <a:prstGeom prst="rect">
            <a:avLst/>
          </a:prstGeom>
          <a:noFill/>
        </p:spPr>
        <p:txBody>
          <a:bodyPr wrap="square" lIns="0" rIns="0" tIns="0" bIns="0" anchor="t">
            <a:noAutofit/>
          </a:bodyPr>
          <a:lstStyle/>
          <a:p>
            <a:pPr algn="l">
              <a:lnSpc>
                <a:spcPct val="122000"/>
              </a:lnSpc>
            </a:pPr>
            <a:r>
              <a:rPr sz="1000" b="1" i="0">
                <a:solidFill>
                  <a:srgbClr val="F4F8FC"/>
                </a:solidFill>
                <a:latin typeface="Segoe UI"/>
              </a:rPr>
              <a:t>Integrators</a:t>
            </a:r>
          </a:p>
        </p:txBody>
      </p:sp>
      <p:sp>
        <p:nvSpPr>
          <p:cNvPr id="50" name="TextBox 49"/>
          <p:cNvSpPr txBox="1"/>
          <p:nvPr/>
        </p:nvSpPr>
        <p:spPr>
          <a:xfrm>
            <a:off x="4453128" y="5266944"/>
            <a:ext cx="3273552" cy="658368"/>
          </a:xfrm>
          <a:prstGeom prst="rect">
            <a:avLst/>
          </a:prstGeom>
          <a:noFill/>
        </p:spPr>
        <p:txBody>
          <a:bodyPr wrap="square" lIns="0" rIns="0" tIns="0" bIns="0" anchor="t">
            <a:noAutofit/>
          </a:bodyPr>
          <a:lstStyle/>
          <a:p>
            <a:pPr algn="l">
              <a:lnSpc>
                <a:spcPct val="130000"/>
              </a:lnSpc>
            </a:pPr>
            <a:r>
              <a:rPr sz="880" b="0" i="0">
                <a:solidFill>
                  <a:srgbClr val="9DB0C6"/>
                </a:solidFill>
                <a:latin typeface="Segoe UI"/>
              </a:rPr>
              <a:t>One contract: register the shape, push the signals, raise what matters, read the estate back.</a:t>
            </a:r>
          </a:p>
        </p:txBody>
      </p:sp>
      <p:sp>
        <p:nvSpPr>
          <p:cNvPr id="51" name="Rounded Rectangle 50"/>
          <p:cNvSpPr/>
          <p:nvPr/>
        </p:nvSpPr>
        <p:spPr>
          <a:xfrm>
            <a:off x="8046719" y="4901184"/>
            <a:ext cx="3575304" cy="1170432"/>
          </a:xfrm>
          <a:prstGeom prst="roundRect">
            <a:avLst>
              <a:gd name="adj" fmla="val 625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Rectangle 51"/>
          <p:cNvSpPr/>
          <p:nvPr/>
        </p:nvSpPr>
        <p:spPr>
          <a:xfrm>
            <a:off x="8193023" y="5047488"/>
            <a:ext cx="164592" cy="2377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3" name="TextBox 52"/>
          <p:cNvSpPr txBox="1"/>
          <p:nvPr/>
        </p:nvSpPr>
        <p:spPr>
          <a:xfrm>
            <a:off x="8430767" y="5001768"/>
            <a:ext cx="1645920" cy="182880"/>
          </a:xfrm>
          <a:prstGeom prst="rect">
            <a:avLst/>
          </a:prstGeom>
          <a:noFill/>
        </p:spPr>
        <p:txBody>
          <a:bodyPr wrap="square" lIns="0" rIns="0" tIns="0" bIns="0" anchor="t">
            <a:noAutofit/>
          </a:bodyPr>
          <a:lstStyle/>
          <a:p>
            <a:pPr algn="l">
              <a:lnSpc>
                <a:spcPct val="122000"/>
              </a:lnSpc>
            </a:pPr>
            <a:r>
              <a:rPr sz="1000" b="1" i="0">
                <a:solidFill>
                  <a:srgbClr val="F4F8FC"/>
                </a:solidFill>
                <a:latin typeface="Segoe UI"/>
              </a:rPr>
              <a:t>Reviewers</a:t>
            </a:r>
          </a:p>
        </p:txBody>
      </p:sp>
      <p:sp>
        <p:nvSpPr>
          <p:cNvPr id="54" name="TextBox 53"/>
          <p:cNvSpPr txBox="1"/>
          <p:nvPr/>
        </p:nvSpPr>
        <p:spPr>
          <a:xfrm>
            <a:off x="8193023" y="5266944"/>
            <a:ext cx="3273552" cy="658368"/>
          </a:xfrm>
          <a:prstGeom prst="rect">
            <a:avLst/>
          </a:prstGeom>
          <a:noFill/>
        </p:spPr>
        <p:txBody>
          <a:bodyPr wrap="square" lIns="0" rIns="0" tIns="0" bIns="0" anchor="t">
            <a:noAutofit/>
          </a:bodyPr>
          <a:lstStyle/>
          <a:p>
            <a:pPr algn="l">
              <a:lnSpc>
                <a:spcPct val="130000"/>
              </a:lnSpc>
            </a:pPr>
            <a:r>
              <a:rPr sz="880" b="0" i="0">
                <a:solidFill>
                  <a:srgbClr val="9DB0C6"/>
                </a:solidFill>
                <a:latin typeface="Segoe UI"/>
              </a:rPr>
              <a:t>One architecture: compound sub-flows, a single aggregation point and an ingest-only write path.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1.1 · SYSTEM OVERVIEW</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Client, server and data each own one job</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The browser renders and interacts. The App Router aggregates and fans out. Postgres holds durable state. External systems only ever write through the ingest gateway.</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ARCHITECTURE</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05 / 27</a:t>
            </a:r>
          </a:p>
        </p:txBody>
      </p:sp>
      <p:sp>
        <p:nvSpPr>
          <p:cNvPr id="11" name="Rounded Rectangle 10"/>
          <p:cNvSpPr/>
          <p:nvPr/>
        </p:nvSpPr>
        <p:spPr>
          <a:xfrm>
            <a:off x="566928" y="1783080"/>
            <a:ext cx="3127248" cy="457200"/>
          </a:xfrm>
          <a:prstGeom prst="roundRect">
            <a:avLst>
              <a:gd name="adj" fmla="val 12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694944" y="1874519"/>
            <a:ext cx="2871215" cy="146304"/>
          </a:xfrm>
          <a:prstGeom prst="rect">
            <a:avLst/>
          </a:prstGeom>
          <a:noFill/>
        </p:spPr>
        <p:txBody>
          <a:bodyPr wrap="square" lIns="0" rIns="0" tIns="0" bIns="0" anchor="t">
            <a:noAutofit/>
          </a:bodyPr>
          <a:lstStyle/>
          <a:p>
            <a:pPr algn="l">
              <a:lnSpc>
                <a:spcPct val="122000"/>
              </a:lnSpc>
            </a:pPr>
            <a:r>
              <a:rPr sz="650" b="0" i="0" spc="130">
                <a:solidFill>
                  <a:srgbClr val="7DD3FC"/>
                </a:solidFill>
                <a:latin typeface="Consolas"/>
              </a:rPr>
              <a:t>CLIENT</a:t>
            </a:r>
          </a:p>
        </p:txBody>
      </p:sp>
      <p:sp>
        <p:nvSpPr>
          <p:cNvPr id="13" name="TextBox 12"/>
          <p:cNvSpPr txBox="1"/>
          <p:nvPr/>
        </p:nvSpPr>
        <p:spPr>
          <a:xfrm>
            <a:off x="694944" y="2020824"/>
            <a:ext cx="2871215"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Segoe UI"/>
              </a:rPr>
              <a:t>Browser · React 19 + Zustand</a:t>
            </a:r>
          </a:p>
        </p:txBody>
      </p:sp>
      <p:sp>
        <p:nvSpPr>
          <p:cNvPr id="14" name="Rounded Rectangle 13"/>
          <p:cNvSpPr/>
          <p:nvPr/>
        </p:nvSpPr>
        <p:spPr>
          <a:xfrm>
            <a:off x="4443984" y="1783080"/>
            <a:ext cx="3035808" cy="457200"/>
          </a:xfrm>
          <a:prstGeom prst="roundRect">
            <a:avLst>
              <a:gd name="adj" fmla="val 12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4572000" y="1874519"/>
            <a:ext cx="2779776" cy="146304"/>
          </a:xfrm>
          <a:prstGeom prst="rect">
            <a:avLst/>
          </a:prstGeom>
          <a:noFill/>
        </p:spPr>
        <p:txBody>
          <a:bodyPr wrap="square" lIns="0" rIns="0" tIns="0" bIns="0" anchor="t">
            <a:noAutofit/>
          </a:bodyPr>
          <a:lstStyle/>
          <a:p>
            <a:pPr algn="l">
              <a:lnSpc>
                <a:spcPct val="122000"/>
              </a:lnSpc>
            </a:pPr>
            <a:r>
              <a:rPr sz="650" b="0" i="0" spc="130">
                <a:solidFill>
                  <a:srgbClr val="A78BFA"/>
                </a:solidFill>
                <a:latin typeface="Consolas"/>
              </a:rPr>
              <a:t>SERVER</a:t>
            </a:r>
          </a:p>
        </p:txBody>
      </p:sp>
      <p:sp>
        <p:nvSpPr>
          <p:cNvPr id="16" name="TextBox 15"/>
          <p:cNvSpPr txBox="1"/>
          <p:nvPr/>
        </p:nvSpPr>
        <p:spPr>
          <a:xfrm>
            <a:off x="4572000" y="2020824"/>
            <a:ext cx="2779776"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Segoe UI"/>
              </a:rPr>
              <a:t>Next.js App Router · Node runtime</a:t>
            </a:r>
          </a:p>
        </p:txBody>
      </p:sp>
      <p:sp>
        <p:nvSpPr>
          <p:cNvPr id="17" name="Rounded Rectangle 16"/>
          <p:cNvSpPr/>
          <p:nvPr/>
        </p:nvSpPr>
        <p:spPr>
          <a:xfrm>
            <a:off x="8156448" y="1783080"/>
            <a:ext cx="3465576" cy="457200"/>
          </a:xfrm>
          <a:prstGeom prst="roundRect">
            <a:avLst>
              <a:gd name="adj" fmla="val 12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8284464" y="1874519"/>
            <a:ext cx="3209544" cy="146304"/>
          </a:xfrm>
          <a:prstGeom prst="rect">
            <a:avLst/>
          </a:prstGeom>
          <a:noFill/>
        </p:spPr>
        <p:txBody>
          <a:bodyPr wrap="square" lIns="0" rIns="0" tIns="0" bIns="0" anchor="t">
            <a:noAutofit/>
          </a:bodyPr>
          <a:lstStyle/>
          <a:p>
            <a:pPr algn="l">
              <a:lnSpc>
                <a:spcPct val="122000"/>
              </a:lnSpc>
            </a:pPr>
            <a:r>
              <a:rPr sz="650" b="0" i="0" spc="130">
                <a:solidFill>
                  <a:srgbClr val="34D399"/>
                </a:solidFill>
                <a:latin typeface="Consolas"/>
              </a:rPr>
              <a:t>DATA</a:t>
            </a:r>
          </a:p>
        </p:txBody>
      </p:sp>
      <p:sp>
        <p:nvSpPr>
          <p:cNvPr id="19" name="TextBox 18"/>
          <p:cNvSpPr txBox="1"/>
          <p:nvPr/>
        </p:nvSpPr>
        <p:spPr>
          <a:xfrm>
            <a:off x="8284464" y="2020824"/>
            <a:ext cx="3209544"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Segoe UI"/>
              </a:rPr>
              <a:t>PostgreSQL · Drizzle ORM</a:t>
            </a:r>
          </a:p>
        </p:txBody>
      </p:sp>
      <p:sp>
        <p:nvSpPr>
          <p:cNvPr id="20" name="Rounded Rectangle 19"/>
          <p:cNvSpPr/>
          <p:nvPr/>
        </p:nvSpPr>
        <p:spPr>
          <a:xfrm>
            <a:off x="566928" y="2350008"/>
            <a:ext cx="3127248" cy="566928"/>
          </a:xfrm>
          <a:prstGeom prst="roundRect">
            <a:avLst>
              <a:gd name="adj" fmla="val 9677"/>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Rectangle 20"/>
          <p:cNvSpPr/>
          <p:nvPr/>
        </p:nvSpPr>
        <p:spPr>
          <a:xfrm>
            <a:off x="676656" y="2468879"/>
            <a:ext cx="27432" cy="310896"/>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786384" y="2441448"/>
            <a:ext cx="2816352"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app/page.tsx</a:t>
            </a:r>
          </a:p>
        </p:txBody>
      </p:sp>
      <p:sp>
        <p:nvSpPr>
          <p:cNvPr id="23" name="TextBox 22"/>
          <p:cNvSpPr txBox="1"/>
          <p:nvPr/>
        </p:nvSpPr>
        <p:spPr>
          <a:xfrm>
            <a:off x="786384" y="2615184"/>
            <a:ext cx="2798064" cy="256032"/>
          </a:xfrm>
          <a:prstGeom prst="rect">
            <a:avLst/>
          </a:prstGeom>
          <a:noFill/>
        </p:spPr>
        <p:txBody>
          <a:bodyPr wrap="square" lIns="0" rIns="0" tIns="0" bIns="0" anchor="t">
            <a:noAutofit/>
          </a:bodyPr>
          <a:lstStyle/>
          <a:p>
            <a:pPr algn="l">
              <a:lnSpc>
                <a:spcPct val="120000"/>
              </a:lnSpc>
            </a:pPr>
            <a:r>
              <a:rPr sz="690" b="0" i="0">
                <a:solidFill>
                  <a:srgbClr val="9DB0C6"/>
                </a:solidFill>
                <a:latin typeface="Segoe UI"/>
              </a:rPr>
              <a:t>server component · initial fetch, first paint already has topology</a:t>
            </a:r>
          </a:p>
        </p:txBody>
      </p:sp>
      <p:sp>
        <p:nvSpPr>
          <p:cNvPr id="24" name="Rounded Rectangle 23"/>
          <p:cNvSpPr/>
          <p:nvPr/>
        </p:nvSpPr>
        <p:spPr>
          <a:xfrm>
            <a:off x="566928" y="2976372"/>
            <a:ext cx="3127248" cy="566928"/>
          </a:xfrm>
          <a:prstGeom prst="roundRect">
            <a:avLst>
              <a:gd name="adj" fmla="val 9677"/>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Rectangle 24"/>
          <p:cNvSpPr/>
          <p:nvPr/>
        </p:nvSpPr>
        <p:spPr>
          <a:xfrm>
            <a:off x="676656" y="3095244"/>
            <a:ext cx="27432" cy="310896"/>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786384" y="3067812"/>
            <a:ext cx="2816352"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Canvas + SubFlowNode</a:t>
            </a:r>
          </a:p>
        </p:txBody>
      </p:sp>
      <p:sp>
        <p:nvSpPr>
          <p:cNvPr id="27" name="TextBox 26"/>
          <p:cNvSpPr txBox="1"/>
          <p:nvPr/>
        </p:nvSpPr>
        <p:spPr>
          <a:xfrm>
            <a:off x="786384" y="3241548"/>
            <a:ext cx="2798064" cy="256032"/>
          </a:xfrm>
          <a:prstGeom prst="rect">
            <a:avLst/>
          </a:prstGeom>
          <a:noFill/>
        </p:spPr>
        <p:txBody>
          <a:bodyPr wrap="square" lIns="0" rIns="0" tIns="0" bIns="0" anchor="t">
            <a:noAutofit/>
          </a:bodyPr>
          <a:lstStyle/>
          <a:p>
            <a:pPr algn="l">
              <a:lnSpc>
                <a:spcPct val="120000"/>
              </a:lnSpc>
            </a:pPr>
            <a:r>
              <a:rPr sz="690" b="0" i="0">
                <a:solidFill>
                  <a:srgbClr val="9DB0C6"/>
                </a:solidFill>
                <a:latin typeface="Segoe UI"/>
              </a:rPr>
              <a:t>pan / zoom · recursive sub-flows · extent:parent clamp</a:t>
            </a:r>
          </a:p>
        </p:txBody>
      </p:sp>
      <p:sp>
        <p:nvSpPr>
          <p:cNvPr id="28" name="Rounded Rectangle 27"/>
          <p:cNvSpPr/>
          <p:nvPr/>
        </p:nvSpPr>
        <p:spPr>
          <a:xfrm>
            <a:off x="566928" y="3602736"/>
            <a:ext cx="3127248" cy="566928"/>
          </a:xfrm>
          <a:prstGeom prst="roundRect">
            <a:avLst>
              <a:gd name="adj" fmla="val 9677"/>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Rectangle 28"/>
          <p:cNvSpPr/>
          <p:nvPr/>
        </p:nvSpPr>
        <p:spPr>
          <a:xfrm>
            <a:off x="676656" y="3721608"/>
            <a:ext cx="27432" cy="310896"/>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786384" y="3694176"/>
            <a:ext cx="2816352"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NodeCard</a:t>
            </a:r>
          </a:p>
        </p:txBody>
      </p:sp>
      <p:sp>
        <p:nvSpPr>
          <p:cNvPr id="31" name="TextBox 30"/>
          <p:cNvSpPr txBox="1"/>
          <p:nvPr/>
        </p:nvSpPr>
        <p:spPr>
          <a:xfrm>
            <a:off x="786384" y="3867911"/>
            <a:ext cx="2798064" cy="256032"/>
          </a:xfrm>
          <a:prstGeom prst="rect">
            <a:avLst/>
          </a:prstGeom>
          <a:noFill/>
        </p:spPr>
        <p:txBody>
          <a:bodyPr wrap="square" lIns="0" rIns="0" tIns="0" bIns="0" anchor="t">
            <a:noAutofit/>
          </a:bodyPr>
          <a:lstStyle/>
          <a:p>
            <a:pPr algn="l">
              <a:lnSpc>
                <a:spcPct val="120000"/>
              </a:lnSpc>
            </a:pPr>
            <a:r>
              <a:rPr sz="690" b="0" i="0">
                <a:solidFill>
                  <a:srgbClr val="9DB0C6"/>
                </a:solidFill>
                <a:latin typeface="Segoe UI"/>
              </a:rPr>
              <a:t>memoized · 3-gauge host strip · sparkline · SLA chip</a:t>
            </a:r>
          </a:p>
        </p:txBody>
      </p:sp>
      <p:sp>
        <p:nvSpPr>
          <p:cNvPr id="32" name="Rounded Rectangle 31"/>
          <p:cNvSpPr/>
          <p:nvPr/>
        </p:nvSpPr>
        <p:spPr>
          <a:xfrm>
            <a:off x="566928" y="4229100"/>
            <a:ext cx="3127248" cy="566928"/>
          </a:xfrm>
          <a:prstGeom prst="roundRect">
            <a:avLst>
              <a:gd name="adj" fmla="val 9677"/>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Rectangle 32"/>
          <p:cNvSpPr/>
          <p:nvPr/>
        </p:nvSpPr>
        <p:spPr>
          <a:xfrm>
            <a:off x="676656" y="4347972"/>
            <a:ext cx="27432" cy="310896"/>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786384" y="4320540"/>
            <a:ext cx="2816352"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store/ops.ts</a:t>
            </a:r>
          </a:p>
        </p:txBody>
      </p:sp>
      <p:sp>
        <p:nvSpPr>
          <p:cNvPr id="35" name="TextBox 34"/>
          <p:cNvSpPr txBox="1"/>
          <p:nvPr/>
        </p:nvSpPr>
        <p:spPr>
          <a:xfrm>
            <a:off x="786384" y="4494276"/>
            <a:ext cx="2798064" cy="256032"/>
          </a:xfrm>
          <a:prstGeom prst="rect">
            <a:avLst/>
          </a:prstGeom>
          <a:noFill/>
        </p:spPr>
        <p:txBody>
          <a:bodyPr wrap="square" lIns="0" rIns="0" tIns="0" bIns="0" anchor="t">
            <a:noAutofit/>
          </a:bodyPr>
          <a:lstStyle/>
          <a:p>
            <a:pPr algn="l">
              <a:lnSpc>
                <a:spcPct val="120000"/>
              </a:lnSpc>
            </a:pPr>
            <a:r>
              <a:rPr sz="690" b="0" i="0">
                <a:solidFill>
                  <a:srgbClr val="9DB0C6"/>
                </a:solidFill>
                <a:latin typeface="Segoe UI"/>
              </a:rPr>
              <a:t>zustand slices: structure · metrics · series · events · view</a:t>
            </a:r>
          </a:p>
        </p:txBody>
      </p:sp>
      <p:sp>
        <p:nvSpPr>
          <p:cNvPr id="36" name="Rounded Rectangle 35"/>
          <p:cNvSpPr/>
          <p:nvPr/>
        </p:nvSpPr>
        <p:spPr>
          <a:xfrm>
            <a:off x="566928" y="4855464"/>
            <a:ext cx="3127248" cy="566928"/>
          </a:xfrm>
          <a:prstGeom prst="roundRect">
            <a:avLst>
              <a:gd name="adj" fmla="val 9677"/>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Rectangle 36"/>
          <p:cNvSpPr/>
          <p:nvPr/>
        </p:nvSpPr>
        <p:spPr>
          <a:xfrm>
            <a:off x="676656" y="4974336"/>
            <a:ext cx="27432" cy="310896"/>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TextBox 37"/>
          <p:cNvSpPr txBox="1"/>
          <p:nvPr/>
        </p:nvSpPr>
        <p:spPr>
          <a:xfrm>
            <a:off x="786384" y="4946904"/>
            <a:ext cx="2816352"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lib/elk-layout.ts</a:t>
            </a:r>
          </a:p>
        </p:txBody>
      </p:sp>
      <p:sp>
        <p:nvSpPr>
          <p:cNvPr id="39" name="TextBox 38"/>
          <p:cNvSpPr txBox="1"/>
          <p:nvPr/>
        </p:nvSpPr>
        <p:spPr>
          <a:xfrm>
            <a:off x="786384" y="5120640"/>
            <a:ext cx="2798064" cy="256032"/>
          </a:xfrm>
          <a:prstGeom prst="rect">
            <a:avLst/>
          </a:prstGeom>
          <a:noFill/>
        </p:spPr>
        <p:txBody>
          <a:bodyPr wrap="square" lIns="0" rIns="0" tIns="0" bIns="0" anchor="t">
            <a:noAutofit/>
          </a:bodyPr>
          <a:lstStyle/>
          <a:p>
            <a:pPr algn="l">
              <a:lnSpc>
                <a:spcPct val="120000"/>
              </a:lnSpc>
            </a:pPr>
            <a:r>
              <a:rPr sz="690" b="0" i="0">
                <a:solidFill>
                  <a:srgbClr val="9DB0C6"/>
                </a:solidFill>
                <a:latin typeface="Segoe UI"/>
              </a:rPr>
              <a:t>elkjs layered · compound graph · DOWN | RIGHT</a:t>
            </a:r>
          </a:p>
        </p:txBody>
      </p:sp>
      <p:sp>
        <p:nvSpPr>
          <p:cNvPr id="40" name="Rounded Rectangle 39"/>
          <p:cNvSpPr/>
          <p:nvPr/>
        </p:nvSpPr>
        <p:spPr>
          <a:xfrm>
            <a:off x="4443984" y="2350008"/>
            <a:ext cx="3035808" cy="475488"/>
          </a:xfrm>
          <a:prstGeom prst="roundRect">
            <a:avLst>
              <a:gd name="adj" fmla="val 1153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1" name="TextBox 40"/>
          <p:cNvSpPr txBox="1"/>
          <p:nvPr/>
        </p:nvSpPr>
        <p:spPr>
          <a:xfrm>
            <a:off x="4572000" y="2414015"/>
            <a:ext cx="2816352" cy="155448"/>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getTopologyPayload()</a:t>
            </a:r>
          </a:p>
        </p:txBody>
      </p:sp>
      <p:sp>
        <p:nvSpPr>
          <p:cNvPr id="42" name="TextBox 41"/>
          <p:cNvSpPr txBox="1"/>
          <p:nvPr/>
        </p:nvSpPr>
        <p:spPr>
          <a:xfrm>
            <a:off x="4572000" y="2578608"/>
            <a:ext cx="2798063" cy="201168"/>
          </a:xfrm>
          <a:prstGeom prst="rect">
            <a:avLst/>
          </a:prstGeom>
          <a:noFill/>
        </p:spPr>
        <p:txBody>
          <a:bodyPr wrap="square" lIns="0" rIns="0" tIns="0" bIns="0" anchor="t">
            <a:noAutofit/>
          </a:bodyPr>
          <a:lstStyle/>
          <a:p>
            <a:pPr algn="l">
              <a:lnSpc>
                <a:spcPct val="115000"/>
              </a:lnSpc>
            </a:pPr>
            <a:r>
              <a:rPr sz="650" b="0" i="0">
                <a:solidFill>
                  <a:srgbClr val="9DB0C6"/>
                </a:solidFill>
                <a:latin typeface="Segoe UI"/>
              </a:rPr>
              <a:t>the single aggregation point — SSR and API share it</a:t>
            </a:r>
          </a:p>
        </p:txBody>
      </p:sp>
      <p:sp>
        <p:nvSpPr>
          <p:cNvPr id="43" name="Rectangle 42"/>
          <p:cNvSpPr/>
          <p:nvPr/>
        </p:nvSpPr>
        <p:spPr>
          <a:xfrm>
            <a:off x="7424927" y="2459736"/>
            <a:ext cx="27432" cy="25603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4" name="Rounded Rectangle 43"/>
          <p:cNvSpPr/>
          <p:nvPr/>
        </p:nvSpPr>
        <p:spPr>
          <a:xfrm>
            <a:off x="4443984" y="2866644"/>
            <a:ext cx="3035808" cy="475488"/>
          </a:xfrm>
          <a:prstGeom prst="roundRect">
            <a:avLst>
              <a:gd name="adj" fmla="val 1153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5" name="TextBox 44"/>
          <p:cNvSpPr txBox="1"/>
          <p:nvPr/>
        </p:nvSpPr>
        <p:spPr>
          <a:xfrm>
            <a:off x="4572000" y="2930651"/>
            <a:ext cx="2816352" cy="155448"/>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GET /api/topology</a:t>
            </a:r>
          </a:p>
        </p:txBody>
      </p:sp>
      <p:sp>
        <p:nvSpPr>
          <p:cNvPr id="46" name="TextBox 45"/>
          <p:cNvSpPr txBox="1"/>
          <p:nvPr/>
        </p:nvSpPr>
        <p:spPr>
          <a:xfrm>
            <a:off x="4572000" y="3095244"/>
            <a:ext cx="2798063" cy="201168"/>
          </a:xfrm>
          <a:prstGeom prst="rect">
            <a:avLst/>
          </a:prstGeom>
          <a:noFill/>
        </p:spPr>
        <p:txBody>
          <a:bodyPr wrap="square" lIns="0" rIns="0" tIns="0" bIns="0" anchor="t">
            <a:noAutofit/>
          </a:bodyPr>
          <a:lstStyle/>
          <a:p>
            <a:pPr algn="l">
              <a:lnSpc>
                <a:spcPct val="115000"/>
              </a:lnSpc>
            </a:pPr>
            <a:r>
              <a:rPr sz="650" b="0" i="0">
                <a:solidFill>
                  <a:srgbClr val="9DB0C6"/>
                </a:solidFill>
                <a:latin typeface="Segoe UI"/>
              </a:rPr>
              <a:t>full snapshot · nodes parents-first · series · events · runs</a:t>
            </a:r>
          </a:p>
        </p:txBody>
      </p:sp>
      <p:sp>
        <p:nvSpPr>
          <p:cNvPr id="47" name="Rectangle 46"/>
          <p:cNvSpPr/>
          <p:nvPr/>
        </p:nvSpPr>
        <p:spPr>
          <a:xfrm>
            <a:off x="7424927" y="2976372"/>
            <a:ext cx="27432" cy="25603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Rounded Rectangle 47"/>
          <p:cNvSpPr/>
          <p:nvPr/>
        </p:nvSpPr>
        <p:spPr>
          <a:xfrm>
            <a:off x="4443984" y="3383279"/>
            <a:ext cx="3035808" cy="475488"/>
          </a:xfrm>
          <a:prstGeom prst="roundRect">
            <a:avLst>
              <a:gd name="adj" fmla="val 1153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9" name="TextBox 48"/>
          <p:cNvSpPr txBox="1"/>
          <p:nvPr/>
        </p:nvSpPr>
        <p:spPr>
          <a:xfrm>
            <a:off x="4572000" y="3447287"/>
            <a:ext cx="2816352" cy="155448"/>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GET /api/stream</a:t>
            </a:r>
          </a:p>
        </p:txBody>
      </p:sp>
      <p:sp>
        <p:nvSpPr>
          <p:cNvPr id="50" name="TextBox 49"/>
          <p:cNvSpPr txBox="1"/>
          <p:nvPr/>
        </p:nvSpPr>
        <p:spPr>
          <a:xfrm>
            <a:off x="4572000" y="3611879"/>
            <a:ext cx="2798063" cy="201168"/>
          </a:xfrm>
          <a:prstGeom prst="rect">
            <a:avLst/>
          </a:prstGeom>
          <a:noFill/>
        </p:spPr>
        <p:txBody>
          <a:bodyPr wrap="square" lIns="0" rIns="0" tIns="0" bIns="0" anchor="t">
            <a:noAutofit/>
          </a:bodyPr>
          <a:lstStyle/>
          <a:p>
            <a:pPr algn="l">
              <a:lnSpc>
                <a:spcPct val="115000"/>
              </a:lnSpc>
            </a:pPr>
            <a:r>
              <a:rPr sz="650" b="0" i="0">
                <a:solidFill>
                  <a:srgbClr val="9DB0C6"/>
                </a:solidFill>
                <a:latin typeface="Segoe UI"/>
              </a:rPr>
              <a:t>SSE · hello then metrics every 2 s · event · cli</a:t>
            </a:r>
          </a:p>
        </p:txBody>
      </p:sp>
      <p:sp>
        <p:nvSpPr>
          <p:cNvPr id="51" name="Rectangle 50"/>
          <p:cNvSpPr/>
          <p:nvPr/>
        </p:nvSpPr>
        <p:spPr>
          <a:xfrm>
            <a:off x="7424927" y="3493008"/>
            <a:ext cx="27432" cy="256032"/>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Rounded Rectangle 51"/>
          <p:cNvSpPr/>
          <p:nvPr/>
        </p:nvSpPr>
        <p:spPr>
          <a:xfrm>
            <a:off x="4443984" y="3899915"/>
            <a:ext cx="3035808" cy="475488"/>
          </a:xfrm>
          <a:prstGeom prst="roundRect">
            <a:avLst>
              <a:gd name="adj" fmla="val 1153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3" name="TextBox 52"/>
          <p:cNvSpPr txBox="1"/>
          <p:nvPr/>
        </p:nvSpPr>
        <p:spPr>
          <a:xfrm>
            <a:off x="4572000" y="3963924"/>
            <a:ext cx="2816352" cy="155448"/>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POST /api/ingest/*</a:t>
            </a:r>
          </a:p>
        </p:txBody>
      </p:sp>
      <p:sp>
        <p:nvSpPr>
          <p:cNvPr id="54" name="TextBox 53"/>
          <p:cNvSpPr txBox="1"/>
          <p:nvPr/>
        </p:nvSpPr>
        <p:spPr>
          <a:xfrm>
            <a:off x="4572000" y="4128515"/>
            <a:ext cx="2798063" cy="201168"/>
          </a:xfrm>
          <a:prstGeom prst="rect">
            <a:avLst/>
          </a:prstGeom>
          <a:noFill/>
        </p:spPr>
        <p:txBody>
          <a:bodyPr wrap="square" lIns="0" rIns="0" tIns="0" bIns="0" anchor="t">
            <a:noAutofit/>
          </a:bodyPr>
          <a:lstStyle/>
          <a:p>
            <a:pPr algn="l">
              <a:lnSpc>
                <a:spcPct val="115000"/>
              </a:lnSpc>
            </a:pPr>
            <a:r>
              <a:rPr sz="650" b="0" i="0">
                <a:solidFill>
                  <a:srgbClr val="9DB0C6"/>
                </a:solidFill>
                <a:latin typeface="Segoe UI"/>
              </a:rPr>
              <a:t>nodes · metrics · events — validates, upserts, broadcasts</a:t>
            </a:r>
          </a:p>
        </p:txBody>
      </p:sp>
      <p:sp>
        <p:nvSpPr>
          <p:cNvPr id="55" name="Rectangle 54"/>
          <p:cNvSpPr/>
          <p:nvPr/>
        </p:nvSpPr>
        <p:spPr>
          <a:xfrm>
            <a:off x="7424927" y="4009644"/>
            <a:ext cx="27432" cy="25603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6" name="Rounded Rectangle 55"/>
          <p:cNvSpPr/>
          <p:nvPr/>
        </p:nvSpPr>
        <p:spPr>
          <a:xfrm>
            <a:off x="4443984" y="4416552"/>
            <a:ext cx="3035808" cy="475488"/>
          </a:xfrm>
          <a:prstGeom prst="roundRect">
            <a:avLst>
              <a:gd name="adj" fmla="val 1153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7" name="TextBox 56"/>
          <p:cNvSpPr txBox="1"/>
          <p:nvPr/>
        </p:nvSpPr>
        <p:spPr>
          <a:xfrm>
            <a:off x="4572000" y="4480560"/>
            <a:ext cx="2816352" cy="155448"/>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PATCH · events · cli</a:t>
            </a:r>
          </a:p>
        </p:txBody>
      </p:sp>
      <p:sp>
        <p:nvSpPr>
          <p:cNvPr id="58" name="TextBox 57"/>
          <p:cNvSpPr txBox="1"/>
          <p:nvPr/>
        </p:nvSpPr>
        <p:spPr>
          <a:xfrm>
            <a:off x="4572000" y="4645152"/>
            <a:ext cx="2798063" cy="201168"/>
          </a:xfrm>
          <a:prstGeom prst="rect">
            <a:avLst/>
          </a:prstGeom>
          <a:noFill/>
        </p:spPr>
        <p:txBody>
          <a:bodyPr wrap="square" lIns="0" rIns="0" tIns="0" bIns="0" anchor="t">
            <a:noAutofit/>
          </a:bodyPr>
          <a:lstStyle/>
          <a:p>
            <a:pPr algn="l">
              <a:lnSpc>
                <a:spcPct val="115000"/>
              </a:lnSpc>
            </a:pPr>
            <a:r>
              <a:rPr sz="650" b="0" i="0">
                <a:solidFill>
                  <a:srgbClr val="9DB0C6"/>
                </a:solidFill>
                <a:latin typeface="Segoe UI"/>
              </a:rPr>
              <a:t>view state, ack, runbooks with live output</a:t>
            </a:r>
          </a:p>
        </p:txBody>
      </p:sp>
      <p:sp>
        <p:nvSpPr>
          <p:cNvPr id="59" name="Rectangle 58"/>
          <p:cNvSpPr/>
          <p:nvPr/>
        </p:nvSpPr>
        <p:spPr>
          <a:xfrm>
            <a:off x="7424927" y="4526280"/>
            <a:ext cx="27432" cy="25603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0" name="Rounded Rectangle 59"/>
          <p:cNvSpPr/>
          <p:nvPr/>
        </p:nvSpPr>
        <p:spPr>
          <a:xfrm>
            <a:off x="4443984" y="4933188"/>
            <a:ext cx="3035808" cy="475488"/>
          </a:xfrm>
          <a:prstGeom prst="roundRect">
            <a:avLst>
              <a:gd name="adj" fmla="val 1153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1" name="TextBox 60"/>
          <p:cNvSpPr txBox="1"/>
          <p:nvPr/>
        </p:nvSpPr>
        <p:spPr>
          <a:xfrm>
            <a:off x="4572000" y="4997196"/>
            <a:ext cx="2816352" cy="155448"/>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lib/telemetry.ts</a:t>
            </a:r>
          </a:p>
        </p:txBody>
      </p:sp>
      <p:sp>
        <p:nvSpPr>
          <p:cNvPr id="62" name="TextBox 61"/>
          <p:cNvSpPr txBox="1"/>
          <p:nvPr/>
        </p:nvSpPr>
        <p:spPr>
          <a:xfrm>
            <a:off x="4572000" y="5161788"/>
            <a:ext cx="2798063" cy="201168"/>
          </a:xfrm>
          <a:prstGeom prst="rect">
            <a:avLst/>
          </a:prstGeom>
          <a:noFill/>
        </p:spPr>
        <p:txBody>
          <a:bodyPr wrap="square" lIns="0" rIns="0" tIns="0" bIns="0" anchor="t">
            <a:noAutofit/>
          </a:bodyPr>
          <a:lstStyle/>
          <a:p>
            <a:pPr algn="l">
              <a:lnSpc>
                <a:spcPct val="115000"/>
              </a:lnSpc>
            </a:pPr>
            <a:r>
              <a:rPr sz="650" b="0" i="0">
                <a:solidFill>
                  <a:srgbClr val="9DB0C6"/>
                </a:solidFill>
                <a:latin typeface="Segoe UI"/>
              </a:rPr>
              <a:t>mean-reversion engine · average rollups · worst status</a:t>
            </a:r>
          </a:p>
        </p:txBody>
      </p:sp>
      <p:sp>
        <p:nvSpPr>
          <p:cNvPr id="63" name="Rectangle 62"/>
          <p:cNvSpPr/>
          <p:nvPr/>
        </p:nvSpPr>
        <p:spPr>
          <a:xfrm>
            <a:off x="7424927" y="5042916"/>
            <a:ext cx="27432" cy="25603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4" name="Rounded Rectangle 63"/>
          <p:cNvSpPr/>
          <p:nvPr/>
        </p:nvSpPr>
        <p:spPr>
          <a:xfrm>
            <a:off x="8156448" y="2350008"/>
            <a:ext cx="3465576" cy="566928"/>
          </a:xfrm>
          <a:prstGeom prst="roundRect">
            <a:avLst>
              <a:gd name="adj" fmla="val 9677"/>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5" name="Oval 64"/>
          <p:cNvSpPr/>
          <p:nvPr/>
        </p:nvSpPr>
        <p:spPr>
          <a:xfrm>
            <a:off x="8275320" y="2523744"/>
            <a:ext cx="182880" cy="201168"/>
          </a:xfrm>
          <a:prstGeom prst="ellipse">
            <a:avLst/>
          </a:prstGeom>
          <a:solidFill>
            <a:srgbClr val="0E1A28"/>
          </a:solidFill>
          <a:ln w="1143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540496" y="2432303"/>
            <a:ext cx="2962656" cy="164592"/>
          </a:xfrm>
          <a:prstGeom prst="rect">
            <a:avLst/>
          </a:prstGeom>
          <a:noFill/>
        </p:spPr>
        <p:txBody>
          <a:bodyPr wrap="square" lIns="0" rIns="0" tIns="0" bIns="0" anchor="t">
            <a:noAutofit/>
          </a:bodyPr>
          <a:lstStyle/>
          <a:p>
            <a:pPr algn="l">
              <a:lnSpc>
                <a:spcPct val="122000"/>
              </a:lnSpc>
            </a:pPr>
            <a:r>
              <a:rPr sz="819" b="1" i="0">
                <a:solidFill>
                  <a:srgbClr val="F4F8FC"/>
                </a:solidFill>
                <a:latin typeface="Consolas"/>
              </a:rPr>
              <a:t>ops_nodes</a:t>
            </a:r>
          </a:p>
        </p:txBody>
      </p:sp>
      <p:sp>
        <p:nvSpPr>
          <p:cNvPr id="67" name="TextBox 66"/>
          <p:cNvSpPr txBox="1"/>
          <p:nvPr/>
        </p:nvSpPr>
        <p:spPr>
          <a:xfrm>
            <a:off x="8540496" y="2606039"/>
            <a:ext cx="2962656" cy="256032"/>
          </a:xfrm>
          <a:prstGeom prst="rect">
            <a:avLst/>
          </a:prstGeom>
          <a:noFill/>
        </p:spPr>
        <p:txBody>
          <a:bodyPr wrap="square" lIns="0" rIns="0" tIns="0" bIns="0" anchor="t">
            <a:noAutofit/>
          </a:bodyPr>
          <a:lstStyle/>
          <a:p>
            <a:pPr algn="l">
              <a:lnSpc>
                <a:spcPct val="120000"/>
              </a:lnSpc>
            </a:pPr>
            <a:r>
              <a:rPr sz="660" b="0" i="0">
                <a:solidFill>
                  <a:srgbClr val="9DB0C6"/>
                </a:solidFill>
                <a:latin typeface="Segoe UI"/>
              </a:rPr>
              <a:t>self-referencing tree · parent_id, type, status, meta, x/y, collapsed</a:t>
            </a:r>
          </a:p>
        </p:txBody>
      </p:sp>
      <p:sp>
        <p:nvSpPr>
          <p:cNvPr id="68" name="Rounded Rectangle 67"/>
          <p:cNvSpPr/>
          <p:nvPr/>
        </p:nvSpPr>
        <p:spPr>
          <a:xfrm>
            <a:off x="8156448" y="2976372"/>
            <a:ext cx="3465576" cy="566928"/>
          </a:xfrm>
          <a:prstGeom prst="roundRect">
            <a:avLst>
              <a:gd name="adj" fmla="val 9677"/>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9" name="Oval 68"/>
          <p:cNvSpPr/>
          <p:nvPr/>
        </p:nvSpPr>
        <p:spPr>
          <a:xfrm>
            <a:off x="8275320" y="3150108"/>
            <a:ext cx="182880" cy="201168"/>
          </a:xfrm>
          <a:prstGeom prst="ellipse">
            <a:avLst/>
          </a:prstGeom>
          <a:solidFill>
            <a:srgbClr val="0E1A28"/>
          </a:solidFill>
          <a:ln w="1143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540496" y="3058668"/>
            <a:ext cx="2962656" cy="164592"/>
          </a:xfrm>
          <a:prstGeom prst="rect">
            <a:avLst/>
          </a:prstGeom>
          <a:noFill/>
        </p:spPr>
        <p:txBody>
          <a:bodyPr wrap="square" lIns="0" rIns="0" tIns="0" bIns="0" anchor="t">
            <a:noAutofit/>
          </a:bodyPr>
          <a:lstStyle/>
          <a:p>
            <a:pPr algn="l">
              <a:lnSpc>
                <a:spcPct val="122000"/>
              </a:lnSpc>
            </a:pPr>
            <a:r>
              <a:rPr sz="819" b="1" i="0">
                <a:solidFill>
                  <a:srgbClr val="F4F8FC"/>
                </a:solidFill>
                <a:latin typeface="Consolas"/>
              </a:rPr>
              <a:t>ops_metrics</a:t>
            </a:r>
          </a:p>
        </p:txBody>
      </p:sp>
      <p:sp>
        <p:nvSpPr>
          <p:cNvPr id="71" name="TextBox 70"/>
          <p:cNvSpPr txBox="1"/>
          <p:nvPr/>
        </p:nvSpPr>
        <p:spPr>
          <a:xfrm>
            <a:off x="8540496" y="3232404"/>
            <a:ext cx="2962656" cy="256032"/>
          </a:xfrm>
          <a:prstGeom prst="rect">
            <a:avLst/>
          </a:prstGeom>
          <a:noFill/>
        </p:spPr>
        <p:txBody>
          <a:bodyPr wrap="square" lIns="0" rIns="0" tIns="0" bIns="0" anchor="t">
            <a:noAutofit/>
          </a:bodyPr>
          <a:lstStyle/>
          <a:p>
            <a:pPr algn="l">
              <a:lnSpc>
                <a:spcPct val="120000"/>
              </a:lnSpc>
            </a:pPr>
            <a:r>
              <a:rPr sz="660" b="0" i="0">
                <a:solidFill>
                  <a:srgbClr val="9DB0C6"/>
                </a:solidFill>
                <a:latin typeface="Segoe UI"/>
              </a:rPr>
              <a:t>latest snapshot per node · cpu, mem, disk, net, rps, p99, err, replicas</a:t>
            </a:r>
          </a:p>
        </p:txBody>
      </p:sp>
      <p:sp>
        <p:nvSpPr>
          <p:cNvPr id="72" name="Rounded Rectangle 71"/>
          <p:cNvSpPr/>
          <p:nvPr/>
        </p:nvSpPr>
        <p:spPr>
          <a:xfrm>
            <a:off x="8156448" y="3602736"/>
            <a:ext cx="3465576" cy="566928"/>
          </a:xfrm>
          <a:prstGeom prst="roundRect">
            <a:avLst>
              <a:gd name="adj" fmla="val 9677"/>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3" name="Oval 72"/>
          <p:cNvSpPr/>
          <p:nvPr/>
        </p:nvSpPr>
        <p:spPr>
          <a:xfrm>
            <a:off x="8275320" y="3776472"/>
            <a:ext cx="182880" cy="201168"/>
          </a:xfrm>
          <a:prstGeom prst="ellipse">
            <a:avLst/>
          </a:prstGeom>
          <a:solidFill>
            <a:srgbClr val="0E1A28"/>
          </a:solidFill>
          <a:ln w="1143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540496" y="3685032"/>
            <a:ext cx="2962656" cy="164592"/>
          </a:xfrm>
          <a:prstGeom prst="rect">
            <a:avLst/>
          </a:prstGeom>
          <a:noFill/>
        </p:spPr>
        <p:txBody>
          <a:bodyPr wrap="square" lIns="0" rIns="0" tIns="0" bIns="0" anchor="t">
            <a:noAutofit/>
          </a:bodyPr>
          <a:lstStyle/>
          <a:p>
            <a:pPr algn="l">
              <a:lnSpc>
                <a:spcPct val="122000"/>
              </a:lnSpc>
            </a:pPr>
            <a:r>
              <a:rPr sz="819" b="1" i="0">
                <a:solidFill>
                  <a:srgbClr val="F4F8FC"/>
                </a:solidFill>
                <a:latin typeface="Consolas"/>
              </a:rPr>
              <a:t>ops_metric_samples</a:t>
            </a:r>
          </a:p>
        </p:txBody>
      </p:sp>
      <p:sp>
        <p:nvSpPr>
          <p:cNvPr id="75" name="TextBox 74"/>
          <p:cNvSpPr txBox="1"/>
          <p:nvPr/>
        </p:nvSpPr>
        <p:spPr>
          <a:xfrm>
            <a:off x="8540496" y="3858768"/>
            <a:ext cx="2962656" cy="256032"/>
          </a:xfrm>
          <a:prstGeom prst="rect">
            <a:avLst/>
          </a:prstGeom>
          <a:noFill/>
        </p:spPr>
        <p:txBody>
          <a:bodyPr wrap="square" lIns="0" rIns="0" tIns="0" bIns="0" anchor="t">
            <a:noAutofit/>
          </a:bodyPr>
          <a:lstStyle/>
          <a:p>
            <a:pPr algn="l">
              <a:lnSpc>
                <a:spcPct val="120000"/>
              </a:lnSpc>
            </a:pPr>
            <a:r>
              <a:rPr sz="660" b="0" i="0">
                <a:solidFill>
                  <a:srgbClr val="9DB0C6"/>
                </a:solidFill>
                <a:latin typeface="Segoe UI"/>
              </a:rPr>
              <a:t>rolling history · pruned beyond 50 minutes</a:t>
            </a:r>
          </a:p>
        </p:txBody>
      </p:sp>
      <p:sp>
        <p:nvSpPr>
          <p:cNvPr id="76" name="Rounded Rectangle 75"/>
          <p:cNvSpPr/>
          <p:nvPr/>
        </p:nvSpPr>
        <p:spPr>
          <a:xfrm>
            <a:off x="8156448" y="4229100"/>
            <a:ext cx="3465576" cy="566928"/>
          </a:xfrm>
          <a:prstGeom prst="roundRect">
            <a:avLst>
              <a:gd name="adj" fmla="val 9677"/>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7" name="Oval 76"/>
          <p:cNvSpPr/>
          <p:nvPr/>
        </p:nvSpPr>
        <p:spPr>
          <a:xfrm>
            <a:off x="8275320" y="4402836"/>
            <a:ext cx="182880" cy="201168"/>
          </a:xfrm>
          <a:prstGeom prst="ellipse">
            <a:avLst/>
          </a:prstGeom>
          <a:solidFill>
            <a:srgbClr val="0E1A28"/>
          </a:solidFill>
          <a:ln w="1143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540496" y="4311396"/>
            <a:ext cx="2962656" cy="164592"/>
          </a:xfrm>
          <a:prstGeom prst="rect">
            <a:avLst/>
          </a:prstGeom>
          <a:noFill/>
        </p:spPr>
        <p:txBody>
          <a:bodyPr wrap="square" lIns="0" rIns="0" tIns="0" bIns="0" anchor="t">
            <a:noAutofit/>
          </a:bodyPr>
          <a:lstStyle/>
          <a:p>
            <a:pPr algn="l">
              <a:lnSpc>
                <a:spcPct val="122000"/>
              </a:lnSpc>
            </a:pPr>
            <a:r>
              <a:rPr sz="819" b="1" i="0">
                <a:solidFill>
                  <a:srgbClr val="F4F8FC"/>
                </a:solidFill>
                <a:latin typeface="Consolas"/>
              </a:rPr>
              <a:t>ops_events</a:t>
            </a:r>
          </a:p>
        </p:txBody>
      </p:sp>
      <p:sp>
        <p:nvSpPr>
          <p:cNvPr id="79" name="TextBox 78"/>
          <p:cNvSpPr txBox="1"/>
          <p:nvPr/>
        </p:nvSpPr>
        <p:spPr>
          <a:xfrm>
            <a:off x="8540496" y="4485132"/>
            <a:ext cx="2962656" cy="256032"/>
          </a:xfrm>
          <a:prstGeom prst="rect">
            <a:avLst/>
          </a:prstGeom>
          <a:noFill/>
        </p:spPr>
        <p:txBody>
          <a:bodyPr wrap="square" lIns="0" rIns="0" tIns="0" bIns="0" anchor="t">
            <a:noAutofit/>
          </a:bodyPr>
          <a:lstStyle/>
          <a:p>
            <a:pPr algn="l">
              <a:lnSpc>
                <a:spcPct val="120000"/>
              </a:lnSpc>
            </a:pPr>
            <a:r>
              <a:rPr sz="660" b="0" i="0">
                <a:solidFill>
                  <a:srgbClr val="9DB0C6"/>
                </a:solidFill>
                <a:latin typeface="Segoe UI"/>
              </a:rPr>
              <a:t>alert + audit stream · severity, source, ack flag</a:t>
            </a:r>
          </a:p>
        </p:txBody>
      </p:sp>
      <p:sp>
        <p:nvSpPr>
          <p:cNvPr id="80" name="Rounded Rectangle 79"/>
          <p:cNvSpPr/>
          <p:nvPr/>
        </p:nvSpPr>
        <p:spPr>
          <a:xfrm>
            <a:off x="8156448" y="4855464"/>
            <a:ext cx="3465576" cy="566928"/>
          </a:xfrm>
          <a:prstGeom prst="roundRect">
            <a:avLst>
              <a:gd name="adj" fmla="val 9677"/>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1" name="Oval 80"/>
          <p:cNvSpPr/>
          <p:nvPr/>
        </p:nvSpPr>
        <p:spPr>
          <a:xfrm>
            <a:off x="8275320" y="5029200"/>
            <a:ext cx="182880" cy="201168"/>
          </a:xfrm>
          <a:prstGeom prst="ellipse">
            <a:avLst/>
          </a:prstGeom>
          <a:solidFill>
            <a:srgbClr val="0E1A28"/>
          </a:solidFill>
          <a:ln w="1143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540496" y="4937760"/>
            <a:ext cx="2962656" cy="164592"/>
          </a:xfrm>
          <a:prstGeom prst="rect">
            <a:avLst/>
          </a:prstGeom>
          <a:noFill/>
        </p:spPr>
        <p:txBody>
          <a:bodyPr wrap="square" lIns="0" rIns="0" tIns="0" bIns="0" anchor="t">
            <a:noAutofit/>
          </a:bodyPr>
          <a:lstStyle/>
          <a:p>
            <a:pPr algn="l">
              <a:lnSpc>
                <a:spcPct val="122000"/>
              </a:lnSpc>
            </a:pPr>
            <a:r>
              <a:rPr sz="819" b="1" i="0">
                <a:solidFill>
                  <a:srgbClr val="F4F8FC"/>
                </a:solidFill>
                <a:latin typeface="Consolas"/>
              </a:rPr>
              <a:t>ops_command_runs</a:t>
            </a:r>
          </a:p>
        </p:txBody>
      </p:sp>
      <p:sp>
        <p:nvSpPr>
          <p:cNvPr id="83" name="TextBox 82"/>
          <p:cNvSpPr txBox="1"/>
          <p:nvPr/>
        </p:nvSpPr>
        <p:spPr>
          <a:xfrm>
            <a:off x="8540496" y="5111496"/>
            <a:ext cx="2962656" cy="256032"/>
          </a:xfrm>
          <a:prstGeom prst="rect">
            <a:avLst/>
          </a:prstGeom>
          <a:noFill/>
        </p:spPr>
        <p:txBody>
          <a:bodyPr wrap="square" lIns="0" rIns="0" tIns="0" bIns="0" anchor="t">
            <a:noAutofit/>
          </a:bodyPr>
          <a:lstStyle/>
          <a:p>
            <a:pPr algn="l">
              <a:lnSpc>
                <a:spcPct val="120000"/>
              </a:lnSpc>
            </a:pPr>
            <a:r>
              <a:rPr sz="660" b="0" i="0">
                <a:solidFill>
                  <a:srgbClr val="9DB0C6"/>
                </a:solidFill>
                <a:latin typeface="Segoe UI"/>
              </a:rPr>
              <a:t>CLI executor log · operator, exit code, output</a:t>
            </a:r>
          </a:p>
        </p:txBody>
      </p:sp>
      <p:cxnSp>
        <p:nvCxnSpPr>
          <p:cNvPr id="84" name="Connector 83"/>
          <p:cNvCxnSpPr/>
          <p:nvPr/>
        </p:nvCxnSpPr>
        <p:spPr>
          <a:xfrm>
            <a:off x="3749039" y="2606040"/>
            <a:ext cx="640081" cy="0"/>
          </a:xfrm>
          <a:prstGeom prst="line">
            <a:avLst/>
          </a:prstGeom>
          <a:ln w="13970">
            <a:solidFill>
              <a:srgbClr val="7DD3FC">
                <a:alpha val="75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3739896" y="2295144"/>
            <a:ext cx="658368" cy="146304"/>
          </a:xfrm>
          <a:prstGeom prst="rect">
            <a:avLst/>
          </a:prstGeom>
          <a:noFill/>
        </p:spPr>
        <p:txBody>
          <a:bodyPr wrap="square" lIns="0" rIns="0" tIns="0" bIns="0" anchor="t">
            <a:noAutofit/>
          </a:bodyPr>
          <a:lstStyle/>
          <a:p>
            <a:pPr algn="ctr">
              <a:lnSpc>
                <a:spcPct val="122000"/>
              </a:lnSpc>
            </a:pPr>
            <a:r>
              <a:rPr sz="580" b="0" i="0" spc="40">
                <a:solidFill>
                  <a:srgbClr val="7DD3FC"/>
                </a:solidFill>
                <a:latin typeface="Consolas"/>
              </a:rPr>
              <a:t>fetch</a:t>
            </a:r>
          </a:p>
        </p:txBody>
      </p:sp>
      <p:sp>
        <p:nvSpPr>
          <p:cNvPr id="86" name="TextBox 85"/>
          <p:cNvSpPr txBox="1"/>
          <p:nvPr/>
        </p:nvSpPr>
        <p:spPr>
          <a:xfrm>
            <a:off x="3739896" y="2414016"/>
            <a:ext cx="658368" cy="146304"/>
          </a:xfrm>
          <a:prstGeom prst="rect">
            <a:avLst/>
          </a:prstGeom>
          <a:noFill/>
        </p:spPr>
        <p:txBody>
          <a:bodyPr wrap="square" lIns="0" rIns="0" tIns="0" bIns="0" anchor="t">
            <a:noAutofit/>
          </a:bodyPr>
          <a:lstStyle/>
          <a:p>
            <a:pPr algn="ctr">
              <a:lnSpc>
                <a:spcPct val="122000"/>
              </a:lnSpc>
            </a:pPr>
            <a:r>
              <a:rPr sz="520" b="0" i="0">
                <a:solidFill>
                  <a:srgbClr val="64748B"/>
                </a:solidFill>
                <a:latin typeface="Consolas"/>
              </a:rPr>
              <a:t>one HTTP call</a:t>
            </a:r>
          </a:p>
        </p:txBody>
      </p:sp>
      <p:cxnSp>
        <p:nvCxnSpPr>
          <p:cNvPr id="87" name="Connector 86"/>
          <p:cNvCxnSpPr/>
          <p:nvPr/>
        </p:nvCxnSpPr>
        <p:spPr>
          <a:xfrm>
            <a:off x="3749039" y="3867911"/>
            <a:ext cx="640081" cy="0"/>
          </a:xfrm>
          <a:prstGeom prst="line">
            <a:avLst/>
          </a:prstGeom>
          <a:ln w="13970">
            <a:solidFill>
              <a:srgbClr val="7DD3FC">
                <a:alpha val="75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3739896" y="3557015"/>
            <a:ext cx="658368" cy="146304"/>
          </a:xfrm>
          <a:prstGeom prst="rect">
            <a:avLst/>
          </a:prstGeom>
          <a:noFill/>
        </p:spPr>
        <p:txBody>
          <a:bodyPr wrap="square" lIns="0" rIns="0" tIns="0" bIns="0" anchor="t">
            <a:noAutofit/>
          </a:bodyPr>
          <a:lstStyle/>
          <a:p>
            <a:pPr algn="ctr">
              <a:lnSpc>
                <a:spcPct val="122000"/>
              </a:lnSpc>
            </a:pPr>
            <a:r>
              <a:rPr sz="580" b="0" i="0" spc="40">
                <a:solidFill>
                  <a:srgbClr val="7DD3FC"/>
                </a:solidFill>
                <a:latin typeface="Consolas"/>
              </a:rPr>
              <a:t>subscribe</a:t>
            </a:r>
          </a:p>
        </p:txBody>
      </p:sp>
      <p:sp>
        <p:nvSpPr>
          <p:cNvPr id="89" name="TextBox 88"/>
          <p:cNvSpPr txBox="1"/>
          <p:nvPr/>
        </p:nvSpPr>
        <p:spPr>
          <a:xfrm>
            <a:off x="3739896" y="3675887"/>
            <a:ext cx="658368" cy="146304"/>
          </a:xfrm>
          <a:prstGeom prst="rect">
            <a:avLst/>
          </a:prstGeom>
          <a:noFill/>
        </p:spPr>
        <p:txBody>
          <a:bodyPr wrap="square" lIns="0" rIns="0" tIns="0" bIns="0" anchor="t">
            <a:noAutofit/>
          </a:bodyPr>
          <a:lstStyle/>
          <a:p>
            <a:pPr algn="ctr">
              <a:lnSpc>
                <a:spcPct val="122000"/>
              </a:lnSpc>
            </a:pPr>
            <a:r>
              <a:rPr sz="520" b="0" i="0">
                <a:solidFill>
                  <a:srgbClr val="64748B"/>
                </a:solidFill>
                <a:latin typeface="Consolas"/>
              </a:rPr>
              <a:t>2 s metrics</a:t>
            </a:r>
          </a:p>
        </p:txBody>
      </p:sp>
      <p:cxnSp>
        <p:nvCxnSpPr>
          <p:cNvPr id="90" name="Connector 89"/>
          <p:cNvCxnSpPr/>
          <p:nvPr/>
        </p:nvCxnSpPr>
        <p:spPr>
          <a:xfrm>
            <a:off x="3749039" y="5074920"/>
            <a:ext cx="640081" cy="0"/>
          </a:xfrm>
          <a:prstGeom prst="line">
            <a:avLst/>
          </a:prstGeom>
          <a:ln w="13970">
            <a:solidFill>
              <a:srgbClr val="7DD3FC">
                <a:alpha val="75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3739896" y="4764024"/>
            <a:ext cx="658368" cy="146304"/>
          </a:xfrm>
          <a:prstGeom prst="rect">
            <a:avLst/>
          </a:prstGeom>
          <a:noFill/>
        </p:spPr>
        <p:txBody>
          <a:bodyPr wrap="square" lIns="0" rIns="0" tIns="0" bIns="0" anchor="t">
            <a:noAutofit/>
          </a:bodyPr>
          <a:lstStyle/>
          <a:p>
            <a:pPr algn="ctr">
              <a:lnSpc>
                <a:spcPct val="122000"/>
              </a:lnSpc>
            </a:pPr>
            <a:r>
              <a:rPr sz="580" b="0" i="0" spc="40">
                <a:solidFill>
                  <a:srgbClr val="7DD3FC"/>
                </a:solidFill>
                <a:latin typeface="Consolas"/>
              </a:rPr>
              <a:t>act</a:t>
            </a:r>
          </a:p>
        </p:txBody>
      </p:sp>
      <p:sp>
        <p:nvSpPr>
          <p:cNvPr id="92" name="TextBox 91"/>
          <p:cNvSpPr txBox="1"/>
          <p:nvPr/>
        </p:nvSpPr>
        <p:spPr>
          <a:xfrm>
            <a:off x="3739896" y="4882896"/>
            <a:ext cx="658368" cy="146304"/>
          </a:xfrm>
          <a:prstGeom prst="rect">
            <a:avLst/>
          </a:prstGeom>
          <a:noFill/>
        </p:spPr>
        <p:txBody>
          <a:bodyPr wrap="square" lIns="0" rIns="0" tIns="0" bIns="0" anchor="t">
            <a:noAutofit/>
          </a:bodyPr>
          <a:lstStyle/>
          <a:p>
            <a:pPr algn="ctr">
              <a:lnSpc>
                <a:spcPct val="122000"/>
              </a:lnSpc>
            </a:pPr>
            <a:r>
              <a:rPr sz="520" b="0" i="0">
                <a:solidFill>
                  <a:srgbClr val="64748B"/>
                </a:solidFill>
                <a:latin typeface="Consolas"/>
              </a:rPr>
              <a:t>PATCH · POST</a:t>
            </a:r>
          </a:p>
        </p:txBody>
      </p:sp>
      <p:cxnSp>
        <p:nvCxnSpPr>
          <p:cNvPr id="93" name="Connector 92"/>
          <p:cNvCxnSpPr/>
          <p:nvPr/>
        </p:nvCxnSpPr>
        <p:spPr>
          <a:xfrm>
            <a:off x="7525512" y="2807208"/>
            <a:ext cx="585215" cy="0"/>
          </a:xfrm>
          <a:prstGeom prst="line">
            <a:avLst/>
          </a:prstGeom>
          <a:ln w="12700">
            <a:solidFill>
              <a:srgbClr val="A78BFA">
                <a:alpha val="70000"/>
              </a:srgbClr>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7525512" y="3794760"/>
            <a:ext cx="585215" cy="0"/>
          </a:xfrm>
          <a:prstGeom prst="line">
            <a:avLst/>
          </a:prstGeom>
          <a:ln w="12700">
            <a:solidFill>
              <a:srgbClr val="A78BFA">
                <a:alpha val="70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525512" y="2898648"/>
            <a:ext cx="585215" cy="310896"/>
          </a:xfrm>
          <a:prstGeom prst="rect">
            <a:avLst/>
          </a:prstGeom>
          <a:noFill/>
        </p:spPr>
        <p:txBody>
          <a:bodyPr wrap="square" lIns="0" rIns="0" tIns="0" bIns="0" anchor="t">
            <a:noAutofit/>
          </a:bodyPr>
          <a:lstStyle/>
          <a:p>
            <a:pPr algn="ctr">
              <a:lnSpc>
                <a:spcPct val="122000"/>
              </a:lnSpc>
            </a:pPr>
            <a:r>
              <a:rPr sz="560" b="0" i="0">
                <a:solidFill>
                  <a:srgbClr val="A78BFA"/>
                </a:solidFill>
                <a:latin typeface="Consolas"/>
              </a:rPr>
              <a:t>select</a:t>
            </a:r>
          </a:p>
        </p:txBody>
      </p:sp>
      <p:sp>
        <p:nvSpPr>
          <p:cNvPr id="96" name="TextBox 95"/>
          <p:cNvSpPr txBox="1"/>
          <p:nvPr/>
        </p:nvSpPr>
        <p:spPr>
          <a:xfrm>
            <a:off x="7525512" y="3886200"/>
            <a:ext cx="585215" cy="310896"/>
          </a:xfrm>
          <a:prstGeom prst="rect">
            <a:avLst/>
          </a:prstGeom>
          <a:noFill/>
        </p:spPr>
        <p:txBody>
          <a:bodyPr wrap="square" lIns="0" rIns="0" tIns="0" bIns="0" anchor="t">
            <a:noAutofit/>
          </a:bodyPr>
          <a:lstStyle/>
          <a:p>
            <a:pPr algn="ctr">
              <a:lnSpc>
                <a:spcPct val="122000"/>
              </a:lnSpc>
            </a:pPr>
            <a:r>
              <a:rPr sz="560" b="0" i="0">
                <a:solidFill>
                  <a:srgbClr val="A78BFA"/>
                </a:solidFill>
                <a:latin typeface="Consolas"/>
              </a:rPr>
              <a:t>upsert</a:t>
            </a:r>
          </a:p>
        </p:txBody>
      </p:sp>
      <p:sp>
        <p:nvSpPr>
          <p:cNvPr id="97" name="Rounded Rectangle 96"/>
          <p:cNvSpPr/>
          <p:nvPr/>
        </p:nvSpPr>
        <p:spPr>
          <a:xfrm>
            <a:off x="566928" y="5577840"/>
            <a:ext cx="11055096" cy="640080"/>
          </a:xfrm>
          <a:prstGeom prst="roundRect">
            <a:avLst>
              <a:gd name="adj" fmla="val 1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8" name="TextBox 97"/>
          <p:cNvSpPr txBox="1"/>
          <p:nvPr/>
        </p:nvSpPr>
        <p:spPr>
          <a:xfrm>
            <a:off x="713232" y="5669279"/>
            <a:ext cx="1234440" cy="146304"/>
          </a:xfrm>
          <a:prstGeom prst="rect">
            <a:avLst/>
          </a:prstGeom>
          <a:noFill/>
        </p:spPr>
        <p:txBody>
          <a:bodyPr wrap="square" lIns="0" rIns="0" tIns="0" bIns="0" anchor="t">
            <a:noAutofit/>
          </a:bodyPr>
          <a:lstStyle/>
          <a:p>
            <a:pPr algn="l">
              <a:lnSpc>
                <a:spcPct val="122000"/>
              </a:lnSpc>
            </a:pPr>
            <a:r>
              <a:rPr sz="640" b="0" i="0" spc="120">
                <a:solidFill>
                  <a:srgbClr val="FBBF24"/>
                </a:solidFill>
                <a:latin typeface="Consolas"/>
              </a:rPr>
              <a:t>EXTERNAL WORLD</a:t>
            </a:r>
          </a:p>
        </p:txBody>
      </p:sp>
      <p:sp>
        <p:nvSpPr>
          <p:cNvPr id="99" name="TextBox 98"/>
          <p:cNvSpPr txBox="1"/>
          <p:nvPr/>
        </p:nvSpPr>
        <p:spPr>
          <a:xfrm>
            <a:off x="713232" y="5824727"/>
            <a:ext cx="1371600" cy="292608"/>
          </a:xfrm>
          <a:prstGeom prst="rect">
            <a:avLst/>
          </a:prstGeom>
          <a:noFill/>
        </p:spPr>
        <p:txBody>
          <a:bodyPr wrap="square" lIns="0" rIns="0" tIns="0" bIns="0" anchor="t">
            <a:noAutofit/>
          </a:bodyPr>
          <a:lstStyle/>
          <a:p>
            <a:pPr algn="l">
              <a:lnSpc>
                <a:spcPct val="115000"/>
              </a:lnSpc>
            </a:pPr>
            <a:r>
              <a:rPr sz="660" b="0" i="0">
                <a:solidFill>
                  <a:srgbClr val="64748B"/>
                </a:solidFill>
                <a:latin typeface="Segoe UI"/>
              </a:rPr>
              <a:t>never touches the database</a:t>
            </a:r>
          </a:p>
        </p:txBody>
      </p:sp>
      <p:sp>
        <p:nvSpPr>
          <p:cNvPr id="100" name="Rounded Rectangle 99"/>
          <p:cNvSpPr/>
          <p:nvPr/>
        </p:nvSpPr>
        <p:spPr>
          <a:xfrm>
            <a:off x="2267712" y="5769864"/>
            <a:ext cx="592836" cy="246888"/>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1" name="TextBox 100"/>
          <p:cNvSpPr txBox="1"/>
          <p:nvPr/>
        </p:nvSpPr>
        <p:spPr>
          <a:xfrm>
            <a:off x="2322576" y="5841269"/>
            <a:ext cx="483108" cy="99059"/>
          </a:xfrm>
          <a:prstGeom prst="rect">
            <a:avLst/>
          </a:prstGeom>
          <a:noFill/>
        </p:spPr>
        <p:txBody>
          <a:bodyPr wrap="square" lIns="0" rIns="0" tIns="0" bIns="0" anchor="t">
            <a:noAutofit/>
          </a:bodyPr>
          <a:lstStyle/>
          <a:p>
            <a:pPr algn="ctr">
              <a:lnSpc>
                <a:spcPct val="100000"/>
              </a:lnSpc>
            </a:pPr>
            <a:r>
              <a:rPr sz="650" b="0" i="0">
                <a:solidFill>
                  <a:srgbClr val="9DB0C6"/>
                </a:solidFill>
                <a:latin typeface="Consolas"/>
              </a:rPr>
              <a:t>Laravel</a:t>
            </a:r>
          </a:p>
        </p:txBody>
      </p:sp>
      <p:sp>
        <p:nvSpPr>
          <p:cNvPr id="102" name="Rounded Rectangle 101"/>
          <p:cNvSpPr/>
          <p:nvPr/>
        </p:nvSpPr>
        <p:spPr>
          <a:xfrm>
            <a:off x="2924556" y="5769864"/>
            <a:ext cx="806196" cy="246888"/>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3" name="TextBox 102"/>
          <p:cNvSpPr txBox="1"/>
          <p:nvPr/>
        </p:nvSpPr>
        <p:spPr>
          <a:xfrm>
            <a:off x="2979420" y="5841269"/>
            <a:ext cx="696468" cy="99059"/>
          </a:xfrm>
          <a:prstGeom prst="rect">
            <a:avLst/>
          </a:prstGeom>
          <a:noFill/>
        </p:spPr>
        <p:txBody>
          <a:bodyPr wrap="square" lIns="0" rIns="0" tIns="0" bIns="0" anchor="t">
            <a:noAutofit/>
          </a:bodyPr>
          <a:lstStyle/>
          <a:p>
            <a:pPr algn="ctr">
              <a:lnSpc>
                <a:spcPct val="100000"/>
              </a:lnSpc>
            </a:pPr>
            <a:r>
              <a:rPr sz="650" b="0" i="0">
                <a:solidFill>
                  <a:srgbClr val="9DB0C6"/>
                </a:solidFill>
                <a:latin typeface="Consolas"/>
              </a:rPr>
              <a:t>Spring Boot</a:t>
            </a:r>
          </a:p>
        </p:txBody>
      </p:sp>
      <p:sp>
        <p:nvSpPr>
          <p:cNvPr id="104" name="Rounded Rectangle 103"/>
          <p:cNvSpPr/>
          <p:nvPr/>
        </p:nvSpPr>
        <p:spPr>
          <a:xfrm>
            <a:off x="3794760" y="5769864"/>
            <a:ext cx="592836" cy="246888"/>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5" name="TextBox 104"/>
          <p:cNvSpPr txBox="1"/>
          <p:nvPr/>
        </p:nvSpPr>
        <p:spPr>
          <a:xfrm>
            <a:off x="3849624" y="5841269"/>
            <a:ext cx="483108" cy="99059"/>
          </a:xfrm>
          <a:prstGeom prst="rect">
            <a:avLst/>
          </a:prstGeom>
          <a:noFill/>
        </p:spPr>
        <p:txBody>
          <a:bodyPr wrap="square" lIns="0" rIns="0" tIns="0" bIns="0" anchor="t">
            <a:noAutofit/>
          </a:bodyPr>
          <a:lstStyle/>
          <a:p>
            <a:pPr algn="ctr">
              <a:lnSpc>
                <a:spcPct val="100000"/>
              </a:lnSpc>
            </a:pPr>
            <a:r>
              <a:rPr sz="650" b="0" i="0">
                <a:solidFill>
                  <a:srgbClr val="9DB0C6"/>
                </a:solidFill>
                <a:latin typeface="Consolas"/>
              </a:rPr>
              <a:t>Node.js</a:t>
            </a:r>
          </a:p>
        </p:txBody>
      </p:sp>
      <p:sp>
        <p:nvSpPr>
          <p:cNvPr id="106" name="Rounded Rectangle 105"/>
          <p:cNvSpPr/>
          <p:nvPr/>
        </p:nvSpPr>
        <p:spPr>
          <a:xfrm>
            <a:off x="4451604" y="5769864"/>
            <a:ext cx="326136" cy="246888"/>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7" name="TextBox 106"/>
          <p:cNvSpPr txBox="1"/>
          <p:nvPr/>
        </p:nvSpPr>
        <p:spPr>
          <a:xfrm>
            <a:off x="4506468" y="5841269"/>
            <a:ext cx="216408" cy="99059"/>
          </a:xfrm>
          <a:prstGeom prst="rect">
            <a:avLst/>
          </a:prstGeom>
          <a:noFill/>
        </p:spPr>
        <p:txBody>
          <a:bodyPr wrap="square" lIns="0" rIns="0" tIns="0" bIns="0" anchor="t">
            <a:noAutofit/>
          </a:bodyPr>
          <a:lstStyle/>
          <a:p>
            <a:pPr algn="ctr">
              <a:lnSpc>
                <a:spcPct val="100000"/>
              </a:lnSpc>
            </a:pPr>
            <a:r>
              <a:rPr sz="650" b="0" i="0">
                <a:solidFill>
                  <a:srgbClr val="9DB0C6"/>
                </a:solidFill>
                <a:latin typeface="Consolas"/>
              </a:rPr>
              <a:t>Go</a:t>
            </a:r>
          </a:p>
        </p:txBody>
      </p:sp>
      <p:sp>
        <p:nvSpPr>
          <p:cNvPr id="108" name="Rounded Rectangle 107"/>
          <p:cNvSpPr/>
          <p:nvPr/>
        </p:nvSpPr>
        <p:spPr>
          <a:xfrm>
            <a:off x="4841748" y="5769864"/>
            <a:ext cx="432816" cy="246888"/>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9" name="TextBox 108"/>
          <p:cNvSpPr txBox="1"/>
          <p:nvPr/>
        </p:nvSpPr>
        <p:spPr>
          <a:xfrm>
            <a:off x="4896612" y="5841269"/>
            <a:ext cx="323088" cy="99059"/>
          </a:xfrm>
          <a:prstGeom prst="rect">
            <a:avLst/>
          </a:prstGeom>
          <a:noFill/>
        </p:spPr>
        <p:txBody>
          <a:bodyPr wrap="square" lIns="0" rIns="0" tIns="0" bIns="0" anchor="t">
            <a:noAutofit/>
          </a:bodyPr>
          <a:lstStyle/>
          <a:p>
            <a:pPr algn="ctr">
              <a:lnSpc>
                <a:spcPct val="100000"/>
              </a:lnSpc>
            </a:pPr>
            <a:r>
              <a:rPr sz="650" b="0" i="0">
                <a:solidFill>
                  <a:srgbClr val="9DB0C6"/>
                </a:solidFill>
                <a:latin typeface="Consolas"/>
              </a:rPr>
              <a:t>Rust</a:t>
            </a:r>
          </a:p>
        </p:txBody>
      </p:sp>
      <p:sp>
        <p:nvSpPr>
          <p:cNvPr id="110" name="Rounded Rectangle 109"/>
          <p:cNvSpPr/>
          <p:nvPr/>
        </p:nvSpPr>
        <p:spPr>
          <a:xfrm>
            <a:off x="5338572" y="5769864"/>
            <a:ext cx="539496" cy="246888"/>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1" name="TextBox 110"/>
          <p:cNvSpPr txBox="1"/>
          <p:nvPr/>
        </p:nvSpPr>
        <p:spPr>
          <a:xfrm>
            <a:off x="5393436" y="5841269"/>
            <a:ext cx="429768" cy="99059"/>
          </a:xfrm>
          <a:prstGeom prst="rect">
            <a:avLst/>
          </a:prstGeom>
          <a:noFill/>
        </p:spPr>
        <p:txBody>
          <a:bodyPr wrap="square" lIns="0" rIns="0" tIns="0" bIns="0" anchor="t">
            <a:noAutofit/>
          </a:bodyPr>
          <a:lstStyle/>
          <a:p>
            <a:pPr algn="ctr">
              <a:lnSpc>
                <a:spcPct val="100000"/>
              </a:lnSpc>
            </a:pPr>
            <a:r>
              <a:rPr sz="650" b="0" i="0">
                <a:solidFill>
                  <a:srgbClr val="9DB0C6"/>
                </a:solidFill>
                <a:latin typeface="Consolas"/>
              </a:rPr>
              <a:t>Python</a:t>
            </a:r>
          </a:p>
        </p:txBody>
      </p:sp>
      <p:sp>
        <p:nvSpPr>
          <p:cNvPr id="112" name="Rounded Rectangle 111"/>
          <p:cNvSpPr/>
          <p:nvPr/>
        </p:nvSpPr>
        <p:spPr>
          <a:xfrm>
            <a:off x="5942076" y="5769864"/>
            <a:ext cx="646176" cy="246888"/>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3" name="TextBox 112"/>
          <p:cNvSpPr txBox="1"/>
          <p:nvPr/>
        </p:nvSpPr>
        <p:spPr>
          <a:xfrm>
            <a:off x="5996940" y="5841269"/>
            <a:ext cx="536448" cy="99059"/>
          </a:xfrm>
          <a:prstGeom prst="rect">
            <a:avLst/>
          </a:prstGeom>
          <a:noFill/>
        </p:spPr>
        <p:txBody>
          <a:bodyPr wrap="square" lIns="0" rIns="0" tIns="0" bIns="0" anchor="t">
            <a:noAutofit/>
          </a:bodyPr>
          <a:lstStyle/>
          <a:p>
            <a:pPr algn="ctr">
              <a:lnSpc>
                <a:spcPct val="100000"/>
              </a:lnSpc>
            </a:pPr>
            <a:r>
              <a:rPr sz="650" b="0" i="0">
                <a:solidFill>
                  <a:srgbClr val="9DB0C6"/>
                </a:solidFill>
                <a:latin typeface="Consolas"/>
              </a:rPr>
              <a:t>Postgres</a:t>
            </a:r>
          </a:p>
        </p:txBody>
      </p:sp>
      <p:sp>
        <p:nvSpPr>
          <p:cNvPr id="114" name="Rounded Rectangle 113"/>
          <p:cNvSpPr/>
          <p:nvPr/>
        </p:nvSpPr>
        <p:spPr>
          <a:xfrm>
            <a:off x="6652260" y="5769864"/>
            <a:ext cx="486156" cy="246888"/>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5" name="TextBox 114"/>
          <p:cNvSpPr txBox="1"/>
          <p:nvPr/>
        </p:nvSpPr>
        <p:spPr>
          <a:xfrm>
            <a:off x="6707124" y="5841269"/>
            <a:ext cx="376428" cy="99059"/>
          </a:xfrm>
          <a:prstGeom prst="rect">
            <a:avLst/>
          </a:prstGeom>
          <a:noFill/>
        </p:spPr>
        <p:txBody>
          <a:bodyPr wrap="square" lIns="0" rIns="0" tIns="0" bIns="0" anchor="t">
            <a:noAutofit/>
          </a:bodyPr>
          <a:lstStyle/>
          <a:p>
            <a:pPr algn="ctr">
              <a:lnSpc>
                <a:spcPct val="100000"/>
              </a:lnSpc>
            </a:pPr>
            <a:r>
              <a:rPr sz="650" b="0" i="0">
                <a:solidFill>
                  <a:srgbClr val="9DB0C6"/>
                </a:solidFill>
                <a:latin typeface="Consolas"/>
              </a:rPr>
              <a:t>MinIO</a:t>
            </a:r>
          </a:p>
        </p:txBody>
      </p:sp>
      <p:cxnSp>
        <p:nvCxnSpPr>
          <p:cNvPr id="116" name="Connector 115"/>
          <p:cNvCxnSpPr/>
          <p:nvPr/>
        </p:nvCxnSpPr>
        <p:spPr>
          <a:xfrm>
            <a:off x="9400032" y="5893307"/>
            <a:ext cx="1042416" cy="0"/>
          </a:xfrm>
          <a:prstGeom prst="line">
            <a:avLst/>
          </a:prstGeom>
          <a:ln w="13970">
            <a:solidFill>
              <a:srgbClr val="FBBF24">
                <a:alpha val="85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9345167" y="5660136"/>
            <a:ext cx="1280160" cy="146304"/>
          </a:xfrm>
          <a:prstGeom prst="rect">
            <a:avLst/>
          </a:prstGeom>
          <a:noFill/>
        </p:spPr>
        <p:txBody>
          <a:bodyPr wrap="square" lIns="0" rIns="0" tIns="0" bIns="0" anchor="t">
            <a:noAutofit/>
          </a:bodyPr>
          <a:lstStyle/>
          <a:p>
            <a:pPr algn="r">
              <a:lnSpc>
                <a:spcPct val="122000"/>
              </a:lnSpc>
            </a:pPr>
            <a:r>
              <a:rPr sz="580" b="0" i="0" spc="30">
                <a:solidFill>
                  <a:srgbClr val="FBBF24"/>
                </a:solidFill>
                <a:latin typeface="Consolas"/>
              </a:rPr>
              <a:t>POST /api/ingest/*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1.2 · HIERARCHY MODEL</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Everything is a node — containers are sub-flows</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Fourteen types form one spine. The first eleven can hold children; service, endpoint and resource are leaves. Parents always appear before children.</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ARCHITECTURE</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06 / 27</a:t>
            </a:r>
          </a:p>
        </p:txBody>
      </p:sp>
      <p:sp>
        <p:nvSpPr>
          <p:cNvPr id="11" name="Rounded Rectangle 10"/>
          <p:cNvSpPr/>
          <p:nvPr/>
        </p:nvSpPr>
        <p:spPr>
          <a:xfrm>
            <a:off x="566928" y="1783080"/>
            <a:ext cx="6784848" cy="310896"/>
          </a:xfrm>
          <a:prstGeom prst="roundRect">
            <a:avLst>
              <a:gd name="adj" fmla="val 7352"/>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658368" y="1869948"/>
            <a:ext cx="347472" cy="137160"/>
          </a:xfrm>
          <a:prstGeom prst="rect">
            <a:avLst/>
          </a:prstGeom>
          <a:noFill/>
        </p:spPr>
        <p:txBody>
          <a:bodyPr wrap="square" lIns="0" rIns="0" tIns="0" bIns="0" anchor="t">
            <a:noAutofit/>
          </a:bodyPr>
          <a:lstStyle/>
          <a:p>
            <a:pPr algn="l">
              <a:lnSpc>
                <a:spcPct val="122000"/>
              </a:lnSpc>
            </a:pPr>
            <a:r>
              <a:rPr sz="640" b="0" i="0">
                <a:solidFill>
                  <a:srgbClr val="64748B"/>
                </a:solidFill>
                <a:latin typeface="Consolas"/>
              </a:rPr>
              <a:t>L0</a:t>
            </a:r>
          </a:p>
        </p:txBody>
      </p:sp>
      <p:sp>
        <p:nvSpPr>
          <p:cNvPr id="13" name="TextBox 12"/>
          <p:cNvSpPr txBox="1"/>
          <p:nvPr/>
        </p:nvSpPr>
        <p:spPr>
          <a:xfrm>
            <a:off x="1042416" y="1851660"/>
            <a:ext cx="1847088"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organization</a:t>
            </a:r>
          </a:p>
        </p:txBody>
      </p:sp>
      <p:sp>
        <p:nvSpPr>
          <p:cNvPr id="14" name="TextBox 13"/>
          <p:cNvSpPr txBox="1"/>
          <p:nvPr/>
        </p:nvSpPr>
        <p:spPr>
          <a:xfrm>
            <a:off x="2944368" y="1853488"/>
            <a:ext cx="3246120" cy="164592"/>
          </a:xfrm>
          <a:prstGeom prst="rect">
            <a:avLst/>
          </a:prstGeom>
          <a:noFill/>
        </p:spPr>
        <p:txBody>
          <a:bodyPr wrap="square" lIns="0" rIns="0" tIns="0" bIns="0" anchor="t">
            <a:noAutofit/>
          </a:bodyPr>
          <a:lstStyle/>
          <a:p>
            <a:pPr algn="l">
              <a:lnSpc>
                <a:spcPct val="122000"/>
              </a:lnSpc>
            </a:pPr>
            <a:r>
              <a:rPr sz="790" b="0" i="0">
                <a:solidFill>
                  <a:srgbClr val="9DB0C6"/>
                </a:solidFill>
                <a:latin typeface="Segoe UI"/>
              </a:rPr>
              <a:t>Helios Enterprise Group</a:t>
            </a:r>
          </a:p>
        </p:txBody>
      </p:sp>
      <p:sp>
        <p:nvSpPr>
          <p:cNvPr id="15" name="Rounded Rectangle 14"/>
          <p:cNvSpPr/>
          <p:nvPr/>
        </p:nvSpPr>
        <p:spPr>
          <a:xfrm>
            <a:off x="6364224" y="1833372"/>
            <a:ext cx="841248" cy="192024"/>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6419088" y="1882457"/>
            <a:ext cx="731520" cy="88391"/>
          </a:xfrm>
          <a:prstGeom prst="rect">
            <a:avLst/>
          </a:prstGeom>
          <a:noFill/>
        </p:spPr>
        <p:txBody>
          <a:bodyPr wrap="square" lIns="0" rIns="0" tIns="0" bIns="0" anchor="t">
            <a:noAutofit/>
          </a:bodyPr>
          <a:lstStyle/>
          <a:p>
            <a:pPr algn="ctr">
              <a:lnSpc>
                <a:spcPct val="100000"/>
              </a:lnSpc>
            </a:pPr>
            <a:r>
              <a:rPr sz="580" b="0" i="0">
                <a:solidFill>
                  <a:srgbClr val="7DD3FC"/>
                </a:solidFill>
                <a:latin typeface="Consolas"/>
              </a:rPr>
              <a:t>container</a:t>
            </a:r>
          </a:p>
        </p:txBody>
      </p:sp>
      <p:sp>
        <p:nvSpPr>
          <p:cNvPr id="17" name="TextBox 16"/>
          <p:cNvSpPr txBox="1"/>
          <p:nvPr/>
        </p:nvSpPr>
        <p:spPr>
          <a:xfrm>
            <a:off x="658368" y="2180844"/>
            <a:ext cx="347472" cy="137160"/>
          </a:xfrm>
          <a:prstGeom prst="rect">
            <a:avLst/>
          </a:prstGeom>
          <a:noFill/>
        </p:spPr>
        <p:txBody>
          <a:bodyPr wrap="square" lIns="0" rIns="0" tIns="0" bIns="0" anchor="t">
            <a:noAutofit/>
          </a:bodyPr>
          <a:lstStyle/>
          <a:p>
            <a:pPr algn="l">
              <a:lnSpc>
                <a:spcPct val="122000"/>
              </a:lnSpc>
            </a:pPr>
            <a:r>
              <a:rPr sz="640" b="0" i="0">
                <a:solidFill>
                  <a:srgbClr val="64748B"/>
                </a:solidFill>
                <a:latin typeface="Consolas"/>
              </a:rPr>
              <a:t>L1</a:t>
            </a:r>
          </a:p>
        </p:txBody>
      </p:sp>
      <p:sp>
        <p:nvSpPr>
          <p:cNvPr id="18" name="TextBox 17"/>
          <p:cNvSpPr txBox="1"/>
          <p:nvPr/>
        </p:nvSpPr>
        <p:spPr>
          <a:xfrm>
            <a:off x="1042416" y="2162556"/>
            <a:ext cx="1847088"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sub_org</a:t>
            </a:r>
          </a:p>
        </p:txBody>
      </p:sp>
      <p:sp>
        <p:nvSpPr>
          <p:cNvPr id="19" name="TextBox 18"/>
          <p:cNvSpPr txBox="1"/>
          <p:nvPr/>
        </p:nvSpPr>
        <p:spPr>
          <a:xfrm>
            <a:off x="2944368" y="2164384"/>
            <a:ext cx="3246120" cy="164592"/>
          </a:xfrm>
          <a:prstGeom prst="rect">
            <a:avLst/>
          </a:prstGeom>
          <a:noFill/>
        </p:spPr>
        <p:txBody>
          <a:bodyPr wrap="square" lIns="0" rIns="0" tIns="0" bIns="0" anchor="t">
            <a:noAutofit/>
          </a:bodyPr>
          <a:lstStyle/>
          <a:p>
            <a:pPr algn="l">
              <a:lnSpc>
                <a:spcPct val="122000"/>
              </a:lnSpc>
            </a:pPr>
            <a:r>
              <a:rPr sz="790" b="0" i="0">
                <a:solidFill>
                  <a:srgbClr val="9DB0C6"/>
                </a:solidFill>
                <a:latin typeface="Segoe UI"/>
              </a:rPr>
              <a:t>Cloud Platform · Retail Operations</a:t>
            </a:r>
          </a:p>
        </p:txBody>
      </p:sp>
      <p:sp>
        <p:nvSpPr>
          <p:cNvPr id="20" name="Rounded Rectangle 19"/>
          <p:cNvSpPr/>
          <p:nvPr/>
        </p:nvSpPr>
        <p:spPr>
          <a:xfrm>
            <a:off x="6364224" y="2144268"/>
            <a:ext cx="841248" cy="192024"/>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6419088" y="2193353"/>
            <a:ext cx="731520" cy="88391"/>
          </a:xfrm>
          <a:prstGeom prst="rect">
            <a:avLst/>
          </a:prstGeom>
          <a:noFill/>
        </p:spPr>
        <p:txBody>
          <a:bodyPr wrap="square" lIns="0" rIns="0" tIns="0" bIns="0" anchor="t">
            <a:noAutofit/>
          </a:bodyPr>
          <a:lstStyle/>
          <a:p>
            <a:pPr algn="ctr">
              <a:lnSpc>
                <a:spcPct val="100000"/>
              </a:lnSpc>
            </a:pPr>
            <a:r>
              <a:rPr sz="580" b="0" i="0">
                <a:solidFill>
                  <a:srgbClr val="7DD3FC"/>
                </a:solidFill>
                <a:latin typeface="Consolas"/>
              </a:rPr>
              <a:t>container</a:t>
            </a:r>
          </a:p>
        </p:txBody>
      </p:sp>
      <p:sp>
        <p:nvSpPr>
          <p:cNvPr id="22" name="Rounded Rectangle 21"/>
          <p:cNvSpPr/>
          <p:nvPr/>
        </p:nvSpPr>
        <p:spPr>
          <a:xfrm>
            <a:off x="566928" y="2404872"/>
            <a:ext cx="6784848" cy="310896"/>
          </a:xfrm>
          <a:prstGeom prst="roundRect">
            <a:avLst>
              <a:gd name="adj" fmla="val 7352"/>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658368" y="2491740"/>
            <a:ext cx="347472" cy="137160"/>
          </a:xfrm>
          <a:prstGeom prst="rect">
            <a:avLst/>
          </a:prstGeom>
          <a:noFill/>
        </p:spPr>
        <p:txBody>
          <a:bodyPr wrap="square" lIns="0" rIns="0" tIns="0" bIns="0" anchor="t">
            <a:noAutofit/>
          </a:bodyPr>
          <a:lstStyle/>
          <a:p>
            <a:pPr algn="l">
              <a:lnSpc>
                <a:spcPct val="122000"/>
              </a:lnSpc>
            </a:pPr>
            <a:r>
              <a:rPr sz="640" b="0" i="0">
                <a:solidFill>
                  <a:srgbClr val="64748B"/>
                </a:solidFill>
                <a:latin typeface="Consolas"/>
              </a:rPr>
              <a:t>L2</a:t>
            </a:r>
          </a:p>
        </p:txBody>
      </p:sp>
      <p:sp>
        <p:nvSpPr>
          <p:cNvPr id="24" name="TextBox 23"/>
          <p:cNvSpPr txBox="1"/>
          <p:nvPr/>
        </p:nvSpPr>
        <p:spPr>
          <a:xfrm>
            <a:off x="1042416" y="2473452"/>
            <a:ext cx="1847088"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project</a:t>
            </a:r>
          </a:p>
        </p:txBody>
      </p:sp>
      <p:sp>
        <p:nvSpPr>
          <p:cNvPr id="25" name="TextBox 24"/>
          <p:cNvSpPr txBox="1"/>
          <p:nvPr/>
        </p:nvSpPr>
        <p:spPr>
          <a:xfrm>
            <a:off x="2944368" y="2475280"/>
            <a:ext cx="3246120" cy="164592"/>
          </a:xfrm>
          <a:prstGeom prst="rect">
            <a:avLst/>
          </a:prstGeom>
          <a:noFill/>
        </p:spPr>
        <p:txBody>
          <a:bodyPr wrap="square" lIns="0" rIns="0" tIns="0" bIns="0" anchor="t">
            <a:noAutofit/>
          </a:bodyPr>
          <a:lstStyle/>
          <a:p>
            <a:pPr algn="l">
              <a:lnSpc>
                <a:spcPct val="122000"/>
              </a:lnSpc>
            </a:pPr>
            <a:r>
              <a:rPr sz="790" b="0" i="0">
                <a:solidFill>
                  <a:srgbClr val="9DB0C6"/>
                </a:solidFill>
                <a:latin typeface="Segoe UI"/>
              </a:rPr>
              <a:t>Core Commerce · Data · Store Systems · Payments</a:t>
            </a:r>
          </a:p>
        </p:txBody>
      </p:sp>
      <p:sp>
        <p:nvSpPr>
          <p:cNvPr id="26" name="Rounded Rectangle 25"/>
          <p:cNvSpPr/>
          <p:nvPr/>
        </p:nvSpPr>
        <p:spPr>
          <a:xfrm>
            <a:off x="6364224" y="2455164"/>
            <a:ext cx="841248" cy="192024"/>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6419088" y="2504249"/>
            <a:ext cx="731520" cy="88391"/>
          </a:xfrm>
          <a:prstGeom prst="rect">
            <a:avLst/>
          </a:prstGeom>
          <a:noFill/>
        </p:spPr>
        <p:txBody>
          <a:bodyPr wrap="square" lIns="0" rIns="0" tIns="0" bIns="0" anchor="t">
            <a:noAutofit/>
          </a:bodyPr>
          <a:lstStyle/>
          <a:p>
            <a:pPr algn="ctr">
              <a:lnSpc>
                <a:spcPct val="100000"/>
              </a:lnSpc>
            </a:pPr>
            <a:r>
              <a:rPr sz="580" b="0" i="0">
                <a:solidFill>
                  <a:srgbClr val="7DD3FC"/>
                </a:solidFill>
                <a:latin typeface="Consolas"/>
              </a:rPr>
              <a:t>container</a:t>
            </a:r>
          </a:p>
        </p:txBody>
      </p:sp>
      <p:sp>
        <p:nvSpPr>
          <p:cNvPr id="28" name="TextBox 27"/>
          <p:cNvSpPr txBox="1"/>
          <p:nvPr/>
        </p:nvSpPr>
        <p:spPr>
          <a:xfrm>
            <a:off x="658368" y="2802636"/>
            <a:ext cx="347472" cy="137160"/>
          </a:xfrm>
          <a:prstGeom prst="rect">
            <a:avLst/>
          </a:prstGeom>
          <a:noFill/>
        </p:spPr>
        <p:txBody>
          <a:bodyPr wrap="square" lIns="0" rIns="0" tIns="0" bIns="0" anchor="t">
            <a:noAutofit/>
          </a:bodyPr>
          <a:lstStyle/>
          <a:p>
            <a:pPr algn="l">
              <a:lnSpc>
                <a:spcPct val="122000"/>
              </a:lnSpc>
            </a:pPr>
            <a:r>
              <a:rPr sz="640" b="0" i="0">
                <a:solidFill>
                  <a:srgbClr val="64748B"/>
                </a:solidFill>
                <a:latin typeface="Consolas"/>
              </a:rPr>
              <a:t>L3</a:t>
            </a:r>
          </a:p>
        </p:txBody>
      </p:sp>
      <p:sp>
        <p:nvSpPr>
          <p:cNvPr id="29" name="TextBox 28"/>
          <p:cNvSpPr txBox="1"/>
          <p:nvPr/>
        </p:nvSpPr>
        <p:spPr>
          <a:xfrm>
            <a:off x="1042416" y="2784348"/>
            <a:ext cx="1847088"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sub_project</a:t>
            </a:r>
          </a:p>
        </p:txBody>
      </p:sp>
      <p:sp>
        <p:nvSpPr>
          <p:cNvPr id="30" name="TextBox 29"/>
          <p:cNvSpPr txBox="1"/>
          <p:nvPr/>
        </p:nvSpPr>
        <p:spPr>
          <a:xfrm>
            <a:off x="2944368" y="2786176"/>
            <a:ext cx="3246120" cy="164592"/>
          </a:xfrm>
          <a:prstGeom prst="rect">
            <a:avLst/>
          </a:prstGeom>
          <a:noFill/>
        </p:spPr>
        <p:txBody>
          <a:bodyPr wrap="square" lIns="0" rIns="0" tIns="0" bIns="0" anchor="t">
            <a:noAutofit/>
          </a:bodyPr>
          <a:lstStyle/>
          <a:p>
            <a:pPr algn="l">
              <a:lnSpc>
                <a:spcPct val="122000"/>
              </a:lnSpc>
            </a:pPr>
            <a:r>
              <a:rPr sz="790" b="0" i="0">
                <a:solidFill>
                  <a:srgbClr val="9DB0C6"/>
                </a:solidFill>
                <a:latin typeface="Segoe UI"/>
              </a:rPr>
              <a:t>Checkout Modernization · Ledger Rewrite</a:t>
            </a:r>
          </a:p>
        </p:txBody>
      </p:sp>
      <p:sp>
        <p:nvSpPr>
          <p:cNvPr id="31" name="Rounded Rectangle 30"/>
          <p:cNvSpPr/>
          <p:nvPr/>
        </p:nvSpPr>
        <p:spPr>
          <a:xfrm>
            <a:off x="6364224" y="2766060"/>
            <a:ext cx="841248" cy="192024"/>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6419088" y="2815145"/>
            <a:ext cx="731520" cy="88391"/>
          </a:xfrm>
          <a:prstGeom prst="rect">
            <a:avLst/>
          </a:prstGeom>
          <a:noFill/>
        </p:spPr>
        <p:txBody>
          <a:bodyPr wrap="square" lIns="0" rIns="0" tIns="0" bIns="0" anchor="t">
            <a:noAutofit/>
          </a:bodyPr>
          <a:lstStyle/>
          <a:p>
            <a:pPr algn="ctr">
              <a:lnSpc>
                <a:spcPct val="100000"/>
              </a:lnSpc>
            </a:pPr>
            <a:r>
              <a:rPr sz="580" b="0" i="0">
                <a:solidFill>
                  <a:srgbClr val="7DD3FC"/>
                </a:solidFill>
                <a:latin typeface="Consolas"/>
              </a:rPr>
              <a:t>container</a:t>
            </a:r>
          </a:p>
        </p:txBody>
      </p:sp>
      <p:sp>
        <p:nvSpPr>
          <p:cNvPr id="33" name="Rounded Rectangle 32"/>
          <p:cNvSpPr/>
          <p:nvPr/>
        </p:nvSpPr>
        <p:spPr>
          <a:xfrm>
            <a:off x="566928" y="3026663"/>
            <a:ext cx="6784848" cy="310896"/>
          </a:xfrm>
          <a:prstGeom prst="roundRect">
            <a:avLst>
              <a:gd name="adj" fmla="val 7352"/>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658368" y="3113532"/>
            <a:ext cx="347472" cy="137160"/>
          </a:xfrm>
          <a:prstGeom prst="rect">
            <a:avLst/>
          </a:prstGeom>
          <a:noFill/>
        </p:spPr>
        <p:txBody>
          <a:bodyPr wrap="square" lIns="0" rIns="0" tIns="0" bIns="0" anchor="t">
            <a:noAutofit/>
          </a:bodyPr>
          <a:lstStyle/>
          <a:p>
            <a:pPr algn="l">
              <a:lnSpc>
                <a:spcPct val="122000"/>
              </a:lnSpc>
            </a:pPr>
            <a:r>
              <a:rPr sz="640" b="0" i="0">
                <a:solidFill>
                  <a:srgbClr val="64748B"/>
                </a:solidFill>
                <a:latin typeface="Consolas"/>
              </a:rPr>
              <a:t>L4</a:t>
            </a:r>
          </a:p>
        </p:txBody>
      </p:sp>
      <p:sp>
        <p:nvSpPr>
          <p:cNvPr id="35" name="TextBox 34"/>
          <p:cNvSpPr txBox="1"/>
          <p:nvPr/>
        </p:nvSpPr>
        <p:spPr>
          <a:xfrm>
            <a:off x="1042416" y="3095244"/>
            <a:ext cx="1847088"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datacenter</a:t>
            </a:r>
          </a:p>
        </p:txBody>
      </p:sp>
      <p:sp>
        <p:nvSpPr>
          <p:cNvPr id="36" name="TextBox 35"/>
          <p:cNvSpPr txBox="1"/>
          <p:nvPr/>
        </p:nvSpPr>
        <p:spPr>
          <a:xfrm>
            <a:off x="2944368" y="3097072"/>
            <a:ext cx="3246120" cy="164592"/>
          </a:xfrm>
          <a:prstGeom prst="rect">
            <a:avLst/>
          </a:prstGeom>
          <a:noFill/>
        </p:spPr>
        <p:txBody>
          <a:bodyPr wrap="square" lIns="0" rIns="0" tIns="0" bIns="0" anchor="t">
            <a:noAutofit/>
          </a:bodyPr>
          <a:lstStyle/>
          <a:p>
            <a:pPr algn="l">
              <a:lnSpc>
                <a:spcPct val="122000"/>
              </a:lnSpc>
            </a:pPr>
            <a:r>
              <a:rPr sz="790" b="0" i="0">
                <a:solidFill>
                  <a:srgbClr val="9DB0C6"/>
                </a:solidFill>
                <a:latin typeface="Segoe UI"/>
              </a:rPr>
              <a:t>eu-west-1 · us-east-1 · ap-south-1</a:t>
            </a:r>
          </a:p>
        </p:txBody>
      </p:sp>
      <p:sp>
        <p:nvSpPr>
          <p:cNvPr id="37" name="Rounded Rectangle 36"/>
          <p:cNvSpPr/>
          <p:nvPr/>
        </p:nvSpPr>
        <p:spPr>
          <a:xfrm>
            <a:off x="6364224" y="3076956"/>
            <a:ext cx="841248" cy="192024"/>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TextBox 37"/>
          <p:cNvSpPr txBox="1"/>
          <p:nvPr/>
        </p:nvSpPr>
        <p:spPr>
          <a:xfrm>
            <a:off x="6419088" y="3126041"/>
            <a:ext cx="731520" cy="88391"/>
          </a:xfrm>
          <a:prstGeom prst="rect">
            <a:avLst/>
          </a:prstGeom>
          <a:noFill/>
        </p:spPr>
        <p:txBody>
          <a:bodyPr wrap="square" lIns="0" rIns="0" tIns="0" bIns="0" anchor="t">
            <a:noAutofit/>
          </a:bodyPr>
          <a:lstStyle/>
          <a:p>
            <a:pPr algn="ctr">
              <a:lnSpc>
                <a:spcPct val="100000"/>
              </a:lnSpc>
            </a:pPr>
            <a:r>
              <a:rPr sz="580" b="0" i="0">
                <a:solidFill>
                  <a:srgbClr val="7DD3FC"/>
                </a:solidFill>
                <a:latin typeface="Consolas"/>
              </a:rPr>
              <a:t>container</a:t>
            </a:r>
          </a:p>
        </p:txBody>
      </p:sp>
      <p:sp>
        <p:nvSpPr>
          <p:cNvPr id="39" name="TextBox 38"/>
          <p:cNvSpPr txBox="1"/>
          <p:nvPr/>
        </p:nvSpPr>
        <p:spPr>
          <a:xfrm>
            <a:off x="658368" y="3424427"/>
            <a:ext cx="347472" cy="137160"/>
          </a:xfrm>
          <a:prstGeom prst="rect">
            <a:avLst/>
          </a:prstGeom>
          <a:noFill/>
        </p:spPr>
        <p:txBody>
          <a:bodyPr wrap="square" lIns="0" rIns="0" tIns="0" bIns="0" anchor="t">
            <a:noAutofit/>
          </a:bodyPr>
          <a:lstStyle/>
          <a:p>
            <a:pPr algn="l">
              <a:lnSpc>
                <a:spcPct val="122000"/>
              </a:lnSpc>
            </a:pPr>
            <a:r>
              <a:rPr sz="640" b="0" i="0">
                <a:solidFill>
                  <a:srgbClr val="64748B"/>
                </a:solidFill>
                <a:latin typeface="Consolas"/>
              </a:rPr>
              <a:t>L5</a:t>
            </a:r>
          </a:p>
        </p:txBody>
      </p:sp>
      <p:sp>
        <p:nvSpPr>
          <p:cNvPr id="40" name="TextBox 39"/>
          <p:cNvSpPr txBox="1"/>
          <p:nvPr/>
        </p:nvSpPr>
        <p:spPr>
          <a:xfrm>
            <a:off x="1042416" y="3406139"/>
            <a:ext cx="1847088"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namespace / server</a:t>
            </a:r>
          </a:p>
        </p:txBody>
      </p:sp>
      <p:sp>
        <p:nvSpPr>
          <p:cNvPr id="41" name="TextBox 40"/>
          <p:cNvSpPr txBox="1"/>
          <p:nvPr/>
        </p:nvSpPr>
        <p:spPr>
          <a:xfrm>
            <a:off x="2944368" y="3407968"/>
            <a:ext cx="3246120" cy="164592"/>
          </a:xfrm>
          <a:prstGeom prst="rect">
            <a:avLst/>
          </a:prstGeom>
          <a:noFill/>
        </p:spPr>
        <p:txBody>
          <a:bodyPr wrap="square" lIns="0" rIns="0" tIns="0" bIns="0" anchor="t">
            <a:noAutofit/>
          </a:bodyPr>
          <a:lstStyle/>
          <a:p>
            <a:pPr algn="l">
              <a:lnSpc>
                <a:spcPct val="122000"/>
              </a:lnSpc>
            </a:pPr>
            <a:r>
              <a:rPr sz="790" b="0" i="0">
                <a:solidFill>
                  <a:srgbClr val="9DB0C6"/>
                </a:solidFill>
                <a:latin typeface="Segoe UI"/>
              </a:rPr>
              <a:t>k8s production namespace · bare-metal / VM / EC2</a:t>
            </a:r>
          </a:p>
        </p:txBody>
      </p:sp>
      <p:sp>
        <p:nvSpPr>
          <p:cNvPr id="42" name="Rounded Rectangle 41"/>
          <p:cNvSpPr/>
          <p:nvPr/>
        </p:nvSpPr>
        <p:spPr>
          <a:xfrm>
            <a:off x="6364224" y="3387851"/>
            <a:ext cx="841248" cy="192024"/>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6419088" y="3436937"/>
            <a:ext cx="731520" cy="88391"/>
          </a:xfrm>
          <a:prstGeom prst="rect">
            <a:avLst/>
          </a:prstGeom>
          <a:noFill/>
        </p:spPr>
        <p:txBody>
          <a:bodyPr wrap="square" lIns="0" rIns="0" tIns="0" bIns="0" anchor="t">
            <a:noAutofit/>
          </a:bodyPr>
          <a:lstStyle/>
          <a:p>
            <a:pPr algn="ctr">
              <a:lnSpc>
                <a:spcPct val="100000"/>
              </a:lnSpc>
            </a:pPr>
            <a:r>
              <a:rPr sz="580" b="0" i="0">
                <a:solidFill>
                  <a:srgbClr val="7DD3FC"/>
                </a:solidFill>
                <a:latin typeface="Consolas"/>
              </a:rPr>
              <a:t>container</a:t>
            </a:r>
          </a:p>
        </p:txBody>
      </p:sp>
      <p:sp>
        <p:nvSpPr>
          <p:cNvPr id="44" name="Rounded Rectangle 43"/>
          <p:cNvSpPr/>
          <p:nvPr/>
        </p:nvSpPr>
        <p:spPr>
          <a:xfrm>
            <a:off x="566928" y="3648455"/>
            <a:ext cx="6784848" cy="310896"/>
          </a:xfrm>
          <a:prstGeom prst="roundRect">
            <a:avLst>
              <a:gd name="adj" fmla="val 7352"/>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5" name="TextBox 44"/>
          <p:cNvSpPr txBox="1"/>
          <p:nvPr/>
        </p:nvSpPr>
        <p:spPr>
          <a:xfrm>
            <a:off x="658368" y="3735323"/>
            <a:ext cx="347472" cy="137160"/>
          </a:xfrm>
          <a:prstGeom prst="rect">
            <a:avLst/>
          </a:prstGeom>
          <a:noFill/>
        </p:spPr>
        <p:txBody>
          <a:bodyPr wrap="square" lIns="0" rIns="0" tIns="0" bIns="0" anchor="t">
            <a:noAutofit/>
          </a:bodyPr>
          <a:lstStyle/>
          <a:p>
            <a:pPr algn="l">
              <a:lnSpc>
                <a:spcPct val="122000"/>
              </a:lnSpc>
            </a:pPr>
            <a:r>
              <a:rPr sz="640" b="0" i="0">
                <a:solidFill>
                  <a:srgbClr val="64748B"/>
                </a:solidFill>
                <a:latin typeface="Consolas"/>
              </a:rPr>
              <a:t>L6</a:t>
            </a:r>
          </a:p>
        </p:txBody>
      </p:sp>
      <p:sp>
        <p:nvSpPr>
          <p:cNvPr id="46" name="TextBox 45"/>
          <p:cNvSpPr txBox="1"/>
          <p:nvPr/>
        </p:nvSpPr>
        <p:spPr>
          <a:xfrm>
            <a:off x="1042416" y="3717035"/>
            <a:ext cx="1847088"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container / pod</a:t>
            </a:r>
          </a:p>
        </p:txBody>
      </p:sp>
      <p:sp>
        <p:nvSpPr>
          <p:cNvPr id="47" name="TextBox 46"/>
          <p:cNvSpPr txBox="1"/>
          <p:nvPr/>
        </p:nvSpPr>
        <p:spPr>
          <a:xfrm>
            <a:off x="2944368" y="3718864"/>
            <a:ext cx="3246120" cy="164592"/>
          </a:xfrm>
          <a:prstGeom prst="rect">
            <a:avLst/>
          </a:prstGeom>
          <a:noFill/>
        </p:spPr>
        <p:txBody>
          <a:bodyPr wrap="square" lIns="0" rIns="0" tIns="0" bIns="0" anchor="t">
            <a:noAutofit/>
          </a:bodyPr>
          <a:lstStyle/>
          <a:p>
            <a:pPr algn="l">
              <a:lnSpc>
                <a:spcPct val="122000"/>
              </a:lnSpc>
            </a:pPr>
            <a:r>
              <a:rPr sz="790" b="0" i="0">
                <a:solidFill>
                  <a:srgbClr val="9DB0C6"/>
                </a:solidFill>
                <a:latin typeface="Segoe UI"/>
              </a:rPr>
              <a:t>Docker engine · CrashLoop-aware pod</a:t>
            </a:r>
          </a:p>
        </p:txBody>
      </p:sp>
      <p:sp>
        <p:nvSpPr>
          <p:cNvPr id="48" name="Rounded Rectangle 47"/>
          <p:cNvSpPr/>
          <p:nvPr/>
        </p:nvSpPr>
        <p:spPr>
          <a:xfrm>
            <a:off x="6364224" y="3698747"/>
            <a:ext cx="841248" cy="192024"/>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9" name="TextBox 48"/>
          <p:cNvSpPr txBox="1"/>
          <p:nvPr/>
        </p:nvSpPr>
        <p:spPr>
          <a:xfrm>
            <a:off x="6419088" y="3747833"/>
            <a:ext cx="731520" cy="88391"/>
          </a:xfrm>
          <a:prstGeom prst="rect">
            <a:avLst/>
          </a:prstGeom>
          <a:noFill/>
        </p:spPr>
        <p:txBody>
          <a:bodyPr wrap="square" lIns="0" rIns="0" tIns="0" bIns="0" anchor="t">
            <a:noAutofit/>
          </a:bodyPr>
          <a:lstStyle/>
          <a:p>
            <a:pPr algn="ctr">
              <a:lnSpc>
                <a:spcPct val="100000"/>
              </a:lnSpc>
            </a:pPr>
            <a:r>
              <a:rPr sz="580" b="0" i="0">
                <a:solidFill>
                  <a:srgbClr val="7DD3FC"/>
                </a:solidFill>
                <a:latin typeface="Consolas"/>
              </a:rPr>
              <a:t>container</a:t>
            </a:r>
          </a:p>
        </p:txBody>
      </p:sp>
      <p:sp>
        <p:nvSpPr>
          <p:cNvPr id="50" name="TextBox 49"/>
          <p:cNvSpPr txBox="1"/>
          <p:nvPr/>
        </p:nvSpPr>
        <p:spPr>
          <a:xfrm>
            <a:off x="658368" y="4046219"/>
            <a:ext cx="347472" cy="137160"/>
          </a:xfrm>
          <a:prstGeom prst="rect">
            <a:avLst/>
          </a:prstGeom>
          <a:noFill/>
        </p:spPr>
        <p:txBody>
          <a:bodyPr wrap="square" lIns="0" rIns="0" tIns="0" bIns="0" anchor="t">
            <a:noAutofit/>
          </a:bodyPr>
          <a:lstStyle/>
          <a:p>
            <a:pPr algn="l">
              <a:lnSpc>
                <a:spcPct val="122000"/>
              </a:lnSpc>
            </a:pPr>
            <a:r>
              <a:rPr sz="640" b="0" i="0">
                <a:solidFill>
                  <a:srgbClr val="64748B"/>
                </a:solidFill>
                <a:latin typeface="Consolas"/>
              </a:rPr>
              <a:t>L7</a:t>
            </a:r>
          </a:p>
        </p:txBody>
      </p:sp>
      <p:sp>
        <p:nvSpPr>
          <p:cNvPr id="51" name="TextBox 50"/>
          <p:cNvSpPr txBox="1"/>
          <p:nvPr/>
        </p:nvSpPr>
        <p:spPr>
          <a:xfrm>
            <a:off x="1042416" y="4027931"/>
            <a:ext cx="1847088"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service_group</a:t>
            </a:r>
          </a:p>
        </p:txBody>
      </p:sp>
      <p:sp>
        <p:nvSpPr>
          <p:cNvPr id="52" name="TextBox 51"/>
          <p:cNvSpPr txBox="1"/>
          <p:nvPr/>
        </p:nvSpPr>
        <p:spPr>
          <a:xfrm>
            <a:off x="2944368" y="4029760"/>
            <a:ext cx="3246120" cy="164592"/>
          </a:xfrm>
          <a:prstGeom prst="rect">
            <a:avLst/>
          </a:prstGeom>
          <a:noFill/>
        </p:spPr>
        <p:txBody>
          <a:bodyPr wrap="square" lIns="0" rIns="0" tIns="0" bIns="0" anchor="t">
            <a:noAutofit/>
          </a:bodyPr>
          <a:lstStyle/>
          <a:p>
            <a:pPr algn="l">
              <a:lnSpc>
                <a:spcPct val="122000"/>
              </a:lnSpc>
            </a:pPr>
            <a:r>
              <a:rPr sz="790" b="0" i="0">
                <a:solidFill>
                  <a:srgbClr val="9DB0C6"/>
                </a:solidFill>
                <a:latin typeface="Segoe UI"/>
              </a:rPr>
              <a:t>Commerce · Treasury · Risk · Supply</a:t>
            </a:r>
          </a:p>
        </p:txBody>
      </p:sp>
      <p:sp>
        <p:nvSpPr>
          <p:cNvPr id="53" name="Rounded Rectangle 52"/>
          <p:cNvSpPr/>
          <p:nvPr/>
        </p:nvSpPr>
        <p:spPr>
          <a:xfrm>
            <a:off x="6364224" y="4009643"/>
            <a:ext cx="841248" cy="192024"/>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4" name="TextBox 53"/>
          <p:cNvSpPr txBox="1"/>
          <p:nvPr/>
        </p:nvSpPr>
        <p:spPr>
          <a:xfrm>
            <a:off x="6419088" y="4058729"/>
            <a:ext cx="731520" cy="88391"/>
          </a:xfrm>
          <a:prstGeom prst="rect">
            <a:avLst/>
          </a:prstGeom>
          <a:noFill/>
        </p:spPr>
        <p:txBody>
          <a:bodyPr wrap="square" lIns="0" rIns="0" tIns="0" bIns="0" anchor="t">
            <a:noAutofit/>
          </a:bodyPr>
          <a:lstStyle/>
          <a:p>
            <a:pPr algn="ctr">
              <a:lnSpc>
                <a:spcPct val="100000"/>
              </a:lnSpc>
            </a:pPr>
            <a:r>
              <a:rPr sz="580" b="0" i="0">
                <a:solidFill>
                  <a:srgbClr val="7DD3FC"/>
                </a:solidFill>
                <a:latin typeface="Consolas"/>
              </a:rPr>
              <a:t>container</a:t>
            </a:r>
          </a:p>
        </p:txBody>
      </p:sp>
      <p:sp>
        <p:nvSpPr>
          <p:cNvPr id="55" name="Rounded Rectangle 54"/>
          <p:cNvSpPr/>
          <p:nvPr/>
        </p:nvSpPr>
        <p:spPr>
          <a:xfrm>
            <a:off x="566928" y="4270247"/>
            <a:ext cx="6784848" cy="310896"/>
          </a:xfrm>
          <a:prstGeom prst="roundRect">
            <a:avLst>
              <a:gd name="adj" fmla="val 7352"/>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6" name="TextBox 55"/>
          <p:cNvSpPr txBox="1"/>
          <p:nvPr/>
        </p:nvSpPr>
        <p:spPr>
          <a:xfrm>
            <a:off x="658368" y="4357115"/>
            <a:ext cx="347472" cy="137160"/>
          </a:xfrm>
          <a:prstGeom prst="rect">
            <a:avLst/>
          </a:prstGeom>
          <a:noFill/>
        </p:spPr>
        <p:txBody>
          <a:bodyPr wrap="square" lIns="0" rIns="0" tIns="0" bIns="0" anchor="t">
            <a:noAutofit/>
          </a:bodyPr>
          <a:lstStyle/>
          <a:p>
            <a:pPr algn="l">
              <a:lnSpc>
                <a:spcPct val="122000"/>
              </a:lnSpc>
            </a:pPr>
            <a:r>
              <a:rPr sz="640" b="0" i="0">
                <a:solidFill>
                  <a:srgbClr val="64748B"/>
                </a:solidFill>
                <a:latin typeface="Consolas"/>
              </a:rPr>
              <a:t>L8</a:t>
            </a:r>
          </a:p>
        </p:txBody>
      </p:sp>
      <p:sp>
        <p:nvSpPr>
          <p:cNvPr id="57" name="TextBox 56"/>
          <p:cNvSpPr txBox="1"/>
          <p:nvPr/>
        </p:nvSpPr>
        <p:spPr>
          <a:xfrm>
            <a:off x="1042416" y="4338827"/>
            <a:ext cx="1847088"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service_sub_group</a:t>
            </a:r>
          </a:p>
        </p:txBody>
      </p:sp>
      <p:sp>
        <p:nvSpPr>
          <p:cNvPr id="58" name="TextBox 57"/>
          <p:cNvSpPr txBox="1"/>
          <p:nvPr/>
        </p:nvSpPr>
        <p:spPr>
          <a:xfrm>
            <a:off x="2944368" y="4340656"/>
            <a:ext cx="3246120" cy="164592"/>
          </a:xfrm>
          <a:prstGeom prst="rect">
            <a:avLst/>
          </a:prstGeom>
          <a:noFill/>
        </p:spPr>
        <p:txBody>
          <a:bodyPr wrap="square" lIns="0" rIns="0" tIns="0" bIns="0" anchor="t">
            <a:noAutofit/>
          </a:bodyPr>
          <a:lstStyle/>
          <a:p>
            <a:pPr algn="l">
              <a:lnSpc>
                <a:spcPct val="122000"/>
              </a:lnSpc>
            </a:pPr>
            <a:r>
              <a:rPr sz="790" b="0" i="0">
                <a:solidFill>
                  <a:srgbClr val="9DB0C6"/>
                </a:solidFill>
                <a:latin typeface="Segoe UI"/>
              </a:rPr>
              <a:t>Payment Orchestration · Basket &amp; Pricing</a:t>
            </a:r>
          </a:p>
        </p:txBody>
      </p:sp>
      <p:sp>
        <p:nvSpPr>
          <p:cNvPr id="59" name="Rounded Rectangle 58"/>
          <p:cNvSpPr/>
          <p:nvPr/>
        </p:nvSpPr>
        <p:spPr>
          <a:xfrm>
            <a:off x="6364224" y="4320539"/>
            <a:ext cx="841248" cy="192024"/>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0" name="TextBox 59"/>
          <p:cNvSpPr txBox="1"/>
          <p:nvPr/>
        </p:nvSpPr>
        <p:spPr>
          <a:xfrm>
            <a:off x="6419088" y="4369625"/>
            <a:ext cx="731520" cy="88391"/>
          </a:xfrm>
          <a:prstGeom prst="rect">
            <a:avLst/>
          </a:prstGeom>
          <a:noFill/>
        </p:spPr>
        <p:txBody>
          <a:bodyPr wrap="square" lIns="0" rIns="0" tIns="0" bIns="0" anchor="t">
            <a:noAutofit/>
          </a:bodyPr>
          <a:lstStyle/>
          <a:p>
            <a:pPr algn="ctr">
              <a:lnSpc>
                <a:spcPct val="100000"/>
              </a:lnSpc>
            </a:pPr>
            <a:r>
              <a:rPr sz="580" b="0" i="0">
                <a:solidFill>
                  <a:srgbClr val="7DD3FC"/>
                </a:solidFill>
                <a:latin typeface="Consolas"/>
              </a:rPr>
              <a:t>container</a:t>
            </a:r>
          </a:p>
        </p:txBody>
      </p:sp>
      <p:sp>
        <p:nvSpPr>
          <p:cNvPr id="61" name="TextBox 60"/>
          <p:cNvSpPr txBox="1"/>
          <p:nvPr/>
        </p:nvSpPr>
        <p:spPr>
          <a:xfrm>
            <a:off x="658368" y="4668011"/>
            <a:ext cx="347472" cy="137160"/>
          </a:xfrm>
          <a:prstGeom prst="rect">
            <a:avLst/>
          </a:prstGeom>
          <a:noFill/>
        </p:spPr>
        <p:txBody>
          <a:bodyPr wrap="square" lIns="0" rIns="0" tIns="0" bIns="0" anchor="t">
            <a:noAutofit/>
          </a:bodyPr>
          <a:lstStyle/>
          <a:p>
            <a:pPr algn="l">
              <a:lnSpc>
                <a:spcPct val="122000"/>
              </a:lnSpc>
            </a:pPr>
            <a:r>
              <a:rPr sz="640" b="0" i="0">
                <a:solidFill>
                  <a:srgbClr val="64748B"/>
                </a:solidFill>
                <a:latin typeface="Consolas"/>
              </a:rPr>
              <a:t>L9</a:t>
            </a:r>
          </a:p>
        </p:txBody>
      </p:sp>
      <p:sp>
        <p:nvSpPr>
          <p:cNvPr id="62" name="TextBox 61"/>
          <p:cNvSpPr txBox="1"/>
          <p:nvPr/>
        </p:nvSpPr>
        <p:spPr>
          <a:xfrm>
            <a:off x="1042416" y="4649723"/>
            <a:ext cx="1847088"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service</a:t>
            </a:r>
          </a:p>
        </p:txBody>
      </p:sp>
      <p:sp>
        <p:nvSpPr>
          <p:cNvPr id="63" name="TextBox 62"/>
          <p:cNvSpPr txBox="1"/>
          <p:nvPr/>
        </p:nvSpPr>
        <p:spPr>
          <a:xfrm>
            <a:off x="2944368" y="4651552"/>
            <a:ext cx="3246120" cy="164592"/>
          </a:xfrm>
          <a:prstGeom prst="rect">
            <a:avLst/>
          </a:prstGeom>
          <a:noFill/>
        </p:spPr>
        <p:txBody>
          <a:bodyPr wrap="square" lIns="0" rIns="0" tIns="0" bIns="0" anchor="t">
            <a:noAutofit/>
          </a:bodyPr>
          <a:lstStyle/>
          <a:p>
            <a:pPr algn="l">
              <a:lnSpc>
                <a:spcPct val="122000"/>
              </a:lnSpc>
            </a:pPr>
            <a:r>
              <a:rPr sz="790" b="0" i="0">
                <a:solidFill>
                  <a:srgbClr val="9DB0C6"/>
                </a:solidFill>
                <a:latin typeface="Segoe UI"/>
              </a:rPr>
              <a:t>checkout-api v2.4.1 · gRPC · HTTP/2</a:t>
            </a:r>
          </a:p>
        </p:txBody>
      </p:sp>
      <p:sp>
        <p:nvSpPr>
          <p:cNvPr id="64" name="Rounded Rectangle 63"/>
          <p:cNvSpPr/>
          <p:nvPr/>
        </p:nvSpPr>
        <p:spPr>
          <a:xfrm>
            <a:off x="6364224" y="4631435"/>
            <a:ext cx="841248" cy="192024"/>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5" name="TextBox 64"/>
          <p:cNvSpPr txBox="1"/>
          <p:nvPr/>
        </p:nvSpPr>
        <p:spPr>
          <a:xfrm>
            <a:off x="6419088" y="4680521"/>
            <a:ext cx="731520" cy="88391"/>
          </a:xfrm>
          <a:prstGeom prst="rect">
            <a:avLst/>
          </a:prstGeom>
          <a:noFill/>
        </p:spPr>
        <p:txBody>
          <a:bodyPr wrap="square" lIns="0" rIns="0" tIns="0" bIns="0" anchor="t">
            <a:noAutofit/>
          </a:bodyPr>
          <a:lstStyle/>
          <a:p>
            <a:pPr algn="ctr">
              <a:lnSpc>
                <a:spcPct val="100000"/>
              </a:lnSpc>
            </a:pPr>
            <a:r>
              <a:rPr sz="580" b="0" i="0">
                <a:solidFill>
                  <a:srgbClr val="34D399"/>
                </a:solidFill>
                <a:latin typeface="Consolas"/>
              </a:rPr>
              <a:t>leaf</a:t>
            </a:r>
          </a:p>
        </p:txBody>
      </p:sp>
      <p:sp>
        <p:nvSpPr>
          <p:cNvPr id="66" name="Rounded Rectangle 65"/>
          <p:cNvSpPr/>
          <p:nvPr/>
        </p:nvSpPr>
        <p:spPr>
          <a:xfrm>
            <a:off x="566928" y="4892039"/>
            <a:ext cx="6784848" cy="310896"/>
          </a:xfrm>
          <a:prstGeom prst="roundRect">
            <a:avLst>
              <a:gd name="adj" fmla="val 7352"/>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7" name="TextBox 66"/>
          <p:cNvSpPr txBox="1"/>
          <p:nvPr/>
        </p:nvSpPr>
        <p:spPr>
          <a:xfrm>
            <a:off x="658368" y="4978907"/>
            <a:ext cx="347472" cy="137160"/>
          </a:xfrm>
          <a:prstGeom prst="rect">
            <a:avLst/>
          </a:prstGeom>
          <a:noFill/>
        </p:spPr>
        <p:txBody>
          <a:bodyPr wrap="square" lIns="0" rIns="0" tIns="0" bIns="0" anchor="t">
            <a:noAutofit/>
          </a:bodyPr>
          <a:lstStyle/>
          <a:p>
            <a:pPr algn="l">
              <a:lnSpc>
                <a:spcPct val="122000"/>
              </a:lnSpc>
            </a:pPr>
            <a:r>
              <a:rPr sz="640" b="0" i="0">
                <a:solidFill>
                  <a:srgbClr val="64748B"/>
                </a:solidFill>
                <a:latin typeface="Consolas"/>
              </a:rPr>
              <a:t>L10</a:t>
            </a:r>
          </a:p>
        </p:txBody>
      </p:sp>
      <p:sp>
        <p:nvSpPr>
          <p:cNvPr id="68" name="TextBox 67"/>
          <p:cNvSpPr txBox="1"/>
          <p:nvPr/>
        </p:nvSpPr>
        <p:spPr>
          <a:xfrm>
            <a:off x="1042416" y="4960619"/>
            <a:ext cx="1847088"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endpoint</a:t>
            </a:r>
          </a:p>
        </p:txBody>
      </p:sp>
      <p:sp>
        <p:nvSpPr>
          <p:cNvPr id="69" name="TextBox 68"/>
          <p:cNvSpPr txBox="1"/>
          <p:nvPr/>
        </p:nvSpPr>
        <p:spPr>
          <a:xfrm>
            <a:off x="2944368" y="4962448"/>
            <a:ext cx="3246120" cy="164592"/>
          </a:xfrm>
          <a:prstGeom prst="rect">
            <a:avLst/>
          </a:prstGeom>
          <a:noFill/>
        </p:spPr>
        <p:txBody>
          <a:bodyPr wrap="square" lIns="0" rIns="0" tIns="0" bIns="0" anchor="t">
            <a:noAutofit/>
          </a:bodyPr>
          <a:lstStyle/>
          <a:p>
            <a:pPr algn="l">
              <a:lnSpc>
                <a:spcPct val="122000"/>
              </a:lnSpc>
            </a:pPr>
            <a:r>
              <a:rPr sz="790" b="0" i="0">
                <a:solidFill>
                  <a:srgbClr val="9DB0C6"/>
                </a:solidFill>
                <a:latin typeface="Segoe UI"/>
              </a:rPr>
              <a:t>POST /v1/checkout/session · SLA 250 ms</a:t>
            </a:r>
          </a:p>
        </p:txBody>
      </p:sp>
      <p:sp>
        <p:nvSpPr>
          <p:cNvPr id="70" name="Rounded Rectangle 69"/>
          <p:cNvSpPr/>
          <p:nvPr/>
        </p:nvSpPr>
        <p:spPr>
          <a:xfrm>
            <a:off x="6364224" y="4942331"/>
            <a:ext cx="841248" cy="192024"/>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1" name="TextBox 70"/>
          <p:cNvSpPr txBox="1"/>
          <p:nvPr/>
        </p:nvSpPr>
        <p:spPr>
          <a:xfrm>
            <a:off x="6419088" y="4991417"/>
            <a:ext cx="731520" cy="88391"/>
          </a:xfrm>
          <a:prstGeom prst="rect">
            <a:avLst/>
          </a:prstGeom>
          <a:noFill/>
        </p:spPr>
        <p:txBody>
          <a:bodyPr wrap="square" lIns="0" rIns="0" tIns="0" bIns="0" anchor="t">
            <a:noAutofit/>
          </a:bodyPr>
          <a:lstStyle/>
          <a:p>
            <a:pPr algn="ctr">
              <a:lnSpc>
                <a:spcPct val="100000"/>
              </a:lnSpc>
            </a:pPr>
            <a:r>
              <a:rPr sz="580" b="0" i="0">
                <a:solidFill>
                  <a:srgbClr val="34D399"/>
                </a:solidFill>
                <a:latin typeface="Consolas"/>
              </a:rPr>
              <a:t>leaf</a:t>
            </a:r>
          </a:p>
        </p:txBody>
      </p:sp>
      <p:sp>
        <p:nvSpPr>
          <p:cNvPr id="72" name="TextBox 71"/>
          <p:cNvSpPr txBox="1"/>
          <p:nvPr/>
        </p:nvSpPr>
        <p:spPr>
          <a:xfrm>
            <a:off x="658368" y="5289803"/>
            <a:ext cx="347472" cy="137160"/>
          </a:xfrm>
          <a:prstGeom prst="rect">
            <a:avLst/>
          </a:prstGeom>
          <a:noFill/>
        </p:spPr>
        <p:txBody>
          <a:bodyPr wrap="square" lIns="0" rIns="0" tIns="0" bIns="0" anchor="t">
            <a:noAutofit/>
          </a:bodyPr>
          <a:lstStyle/>
          <a:p>
            <a:pPr algn="l">
              <a:lnSpc>
                <a:spcPct val="122000"/>
              </a:lnSpc>
            </a:pPr>
            <a:r>
              <a:rPr sz="640" b="0" i="0">
                <a:solidFill>
                  <a:srgbClr val="64748B"/>
                </a:solidFill>
                <a:latin typeface="Consolas"/>
              </a:rPr>
              <a:t>L11</a:t>
            </a:r>
          </a:p>
        </p:txBody>
      </p:sp>
      <p:sp>
        <p:nvSpPr>
          <p:cNvPr id="73" name="TextBox 72"/>
          <p:cNvSpPr txBox="1"/>
          <p:nvPr/>
        </p:nvSpPr>
        <p:spPr>
          <a:xfrm>
            <a:off x="1042416" y="5271515"/>
            <a:ext cx="1847088" cy="164592"/>
          </a:xfrm>
          <a:prstGeom prst="rect">
            <a:avLst/>
          </a:prstGeom>
          <a:noFill/>
        </p:spPr>
        <p:txBody>
          <a:bodyPr wrap="square" lIns="0" rIns="0" tIns="0" bIns="0" anchor="t">
            <a:noAutofit/>
          </a:bodyPr>
          <a:lstStyle/>
          <a:p>
            <a:pPr algn="l">
              <a:lnSpc>
                <a:spcPct val="122000"/>
              </a:lnSpc>
            </a:pPr>
            <a:r>
              <a:rPr sz="840" b="1" i="0">
                <a:solidFill>
                  <a:srgbClr val="F4F8FC"/>
                </a:solidFill>
                <a:latin typeface="Consolas"/>
              </a:rPr>
              <a:t>resource</a:t>
            </a:r>
          </a:p>
        </p:txBody>
      </p:sp>
      <p:sp>
        <p:nvSpPr>
          <p:cNvPr id="74" name="TextBox 73"/>
          <p:cNvSpPr txBox="1"/>
          <p:nvPr/>
        </p:nvSpPr>
        <p:spPr>
          <a:xfrm>
            <a:off x="2944368" y="5273344"/>
            <a:ext cx="3246120" cy="164592"/>
          </a:xfrm>
          <a:prstGeom prst="rect">
            <a:avLst/>
          </a:prstGeom>
          <a:noFill/>
        </p:spPr>
        <p:txBody>
          <a:bodyPr wrap="square" lIns="0" rIns="0" tIns="0" bIns="0" anchor="t">
            <a:noAutofit/>
          </a:bodyPr>
          <a:lstStyle/>
          <a:p>
            <a:pPr algn="l">
              <a:lnSpc>
                <a:spcPct val="122000"/>
              </a:lnSpc>
            </a:pPr>
            <a:r>
              <a:rPr sz="790" b="0" i="0">
                <a:solidFill>
                  <a:srgbClr val="9DB0C6"/>
                </a:solidFill>
                <a:latin typeface="Segoe UI"/>
              </a:rPr>
              <a:t>CPU · Memory · Disk — arc gauge mirroring the host</a:t>
            </a:r>
          </a:p>
        </p:txBody>
      </p:sp>
      <p:sp>
        <p:nvSpPr>
          <p:cNvPr id="75" name="Rounded Rectangle 74"/>
          <p:cNvSpPr/>
          <p:nvPr/>
        </p:nvSpPr>
        <p:spPr>
          <a:xfrm>
            <a:off x="6364224" y="5253227"/>
            <a:ext cx="841248" cy="192024"/>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6" name="TextBox 75"/>
          <p:cNvSpPr txBox="1"/>
          <p:nvPr/>
        </p:nvSpPr>
        <p:spPr>
          <a:xfrm>
            <a:off x="6419088" y="5302313"/>
            <a:ext cx="731520" cy="88391"/>
          </a:xfrm>
          <a:prstGeom prst="rect">
            <a:avLst/>
          </a:prstGeom>
          <a:noFill/>
        </p:spPr>
        <p:txBody>
          <a:bodyPr wrap="square" lIns="0" rIns="0" tIns="0" bIns="0" anchor="t">
            <a:noAutofit/>
          </a:bodyPr>
          <a:lstStyle/>
          <a:p>
            <a:pPr algn="ctr">
              <a:lnSpc>
                <a:spcPct val="100000"/>
              </a:lnSpc>
            </a:pPr>
            <a:r>
              <a:rPr sz="580" b="0" i="0">
                <a:solidFill>
                  <a:srgbClr val="A78BFA"/>
                </a:solidFill>
                <a:latin typeface="Consolas"/>
              </a:rPr>
              <a:t>leaf</a:t>
            </a:r>
          </a:p>
        </p:txBody>
      </p:sp>
      <p:sp>
        <p:nvSpPr>
          <p:cNvPr id="77" name="Rounded Rectangle 76"/>
          <p:cNvSpPr/>
          <p:nvPr/>
        </p:nvSpPr>
        <p:spPr>
          <a:xfrm>
            <a:off x="7534656" y="1783080"/>
            <a:ext cx="4087368" cy="3035808"/>
          </a:xfrm>
          <a:prstGeom prst="roundRect">
            <a:avLst>
              <a:gd name="adj" fmla="val 3012"/>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8" name="TextBox 77"/>
          <p:cNvSpPr txBox="1"/>
          <p:nvPr/>
        </p:nvSpPr>
        <p:spPr>
          <a:xfrm>
            <a:off x="7699248" y="1929384"/>
            <a:ext cx="3813048" cy="182880"/>
          </a:xfrm>
          <a:prstGeom prst="rect">
            <a:avLst/>
          </a:prstGeom>
          <a:noFill/>
        </p:spPr>
        <p:txBody>
          <a:bodyPr wrap="square" lIns="0" rIns="0" tIns="0" bIns="0" anchor="t">
            <a:noAutofit/>
          </a:bodyPr>
          <a:lstStyle/>
          <a:p>
            <a:pPr algn="l">
              <a:lnSpc>
                <a:spcPct val="122000"/>
              </a:lnSpc>
            </a:pPr>
            <a:r>
              <a:rPr sz="720" b="0" i="0" spc="130">
                <a:solidFill>
                  <a:srgbClr val="7DD3FC"/>
                </a:solidFill>
                <a:latin typeface="Consolas"/>
              </a:rPr>
              <a:t>READING THE SPINE</a:t>
            </a:r>
          </a:p>
        </p:txBody>
      </p:sp>
      <p:sp>
        <p:nvSpPr>
          <p:cNvPr id="79" name="TextBox 78"/>
          <p:cNvSpPr txBox="1"/>
          <p:nvPr/>
        </p:nvSpPr>
        <p:spPr>
          <a:xfrm>
            <a:off x="7699248" y="2148840"/>
            <a:ext cx="3758183" cy="512064"/>
          </a:xfrm>
          <a:prstGeom prst="rect">
            <a:avLst/>
          </a:prstGeom>
          <a:noFill/>
        </p:spPr>
        <p:txBody>
          <a:bodyPr wrap="square" lIns="0" rIns="0" tIns="0" bIns="0" anchor="t">
            <a:noAutofit/>
          </a:bodyPr>
          <a:lstStyle/>
          <a:p>
            <a:pPr algn="l">
              <a:lnSpc>
                <a:spcPct val="132000"/>
              </a:lnSpc>
            </a:pPr>
            <a:r>
              <a:rPr sz="919" b="0" i="0">
                <a:solidFill>
                  <a:srgbClr val="9DB0C6"/>
                </a:solidFill>
                <a:latin typeface="Segoe UI"/>
              </a:rPr>
              <a:t>A container is a card with a header plus a child sub-flow. A leaf is a fixed-size card.</a:t>
            </a:r>
          </a:p>
        </p:txBody>
      </p:sp>
      <p:cxnSp>
        <p:nvCxnSpPr>
          <p:cNvPr id="80" name="Connector 79"/>
          <p:cNvCxnSpPr/>
          <p:nvPr/>
        </p:nvCxnSpPr>
        <p:spPr>
          <a:xfrm>
            <a:off x="7699248" y="2697480"/>
            <a:ext cx="3758184"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699248" y="2788920"/>
            <a:ext cx="3758183" cy="155448"/>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11 containers</a:t>
            </a:r>
          </a:p>
        </p:txBody>
      </p:sp>
      <p:sp>
        <p:nvSpPr>
          <p:cNvPr id="82" name="TextBox 81"/>
          <p:cNvSpPr txBox="1"/>
          <p:nvPr/>
        </p:nvSpPr>
        <p:spPr>
          <a:xfrm>
            <a:off x="7699248" y="2962656"/>
            <a:ext cx="3776472" cy="402336"/>
          </a:xfrm>
          <a:prstGeom prst="rect">
            <a:avLst/>
          </a:prstGeom>
          <a:noFill/>
        </p:spPr>
        <p:txBody>
          <a:bodyPr wrap="square" lIns="0" rIns="0" tIns="0" bIns="0" anchor="t">
            <a:noAutofit/>
          </a:bodyPr>
          <a:lstStyle/>
          <a:p>
            <a:pPr algn="l">
              <a:lnSpc>
                <a:spcPct val="130000"/>
              </a:lnSpc>
            </a:pPr>
            <a:r>
              <a:rPr sz="790" b="0" i="0">
                <a:solidFill>
                  <a:srgbClr val="9DB0C6"/>
                </a:solidFill>
                <a:latin typeface="Segoe UI"/>
              </a:rPr>
              <a:t>organization → … → service_sub_group. Double-click any header to collapse the branch in place.</a:t>
            </a:r>
          </a:p>
        </p:txBody>
      </p:sp>
      <p:sp>
        <p:nvSpPr>
          <p:cNvPr id="83" name="TextBox 82"/>
          <p:cNvSpPr txBox="1"/>
          <p:nvPr/>
        </p:nvSpPr>
        <p:spPr>
          <a:xfrm>
            <a:off x="7699248" y="3429000"/>
            <a:ext cx="3758183" cy="155448"/>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3 leaves</a:t>
            </a:r>
          </a:p>
        </p:txBody>
      </p:sp>
      <p:sp>
        <p:nvSpPr>
          <p:cNvPr id="84" name="TextBox 83"/>
          <p:cNvSpPr txBox="1"/>
          <p:nvPr/>
        </p:nvSpPr>
        <p:spPr>
          <a:xfrm>
            <a:off x="7699248" y="3602736"/>
            <a:ext cx="3776472" cy="402336"/>
          </a:xfrm>
          <a:prstGeom prst="rect">
            <a:avLst/>
          </a:prstGeom>
          <a:noFill/>
        </p:spPr>
        <p:txBody>
          <a:bodyPr wrap="square" lIns="0" rIns="0" tIns="0" bIns="0" anchor="t">
            <a:noAutofit/>
          </a:bodyPr>
          <a:lstStyle/>
          <a:p>
            <a:pPr algn="l">
              <a:lnSpc>
                <a:spcPct val="130000"/>
              </a:lnSpc>
            </a:pPr>
            <a:r>
              <a:rPr sz="790" b="0" i="0">
                <a:solidFill>
                  <a:srgbClr val="9DB0C6"/>
                </a:solidFill>
                <a:latin typeface="Segoe UI"/>
              </a:rPr>
              <a:t>service, endpoint and resource. Leaves are what layout uses for intrinsic size.</a:t>
            </a:r>
          </a:p>
        </p:txBody>
      </p:sp>
      <p:sp>
        <p:nvSpPr>
          <p:cNvPr id="85" name="TextBox 84"/>
          <p:cNvSpPr txBox="1"/>
          <p:nvPr/>
        </p:nvSpPr>
        <p:spPr>
          <a:xfrm>
            <a:off x="7699248" y="4069080"/>
            <a:ext cx="3758183" cy="155448"/>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159 gauges</a:t>
            </a:r>
          </a:p>
        </p:txBody>
      </p:sp>
      <p:sp>
        <p:nvSpPr>
          <p:cNvPr id="86" name="TextBox 85"/>
          <p:cNvSpPr txBox="1"/>
          <p:nvPr/>
        </p:nvSpPr>
        <p:spPr>
          <a:xfrm>
            <a:off x="7699248" y="4242816"/>
            <a:ext cx="3776472" cy="402336"/>
          </a:xfrm>
          <a:prstGeom prst="rect">
            <a:avLst/>
          </a:prstGeom>
          <a:noFill/>
        </p:spPr>
        <p:txBody>
          <a:bodyPr wrap="square" lIns="0" rIns="0" tIns="0" bIns="0" anchor="t">
            <a:noAutofit/>
          </a:bodyPr>
          <a:lstStyle/>
          <a:p>
            <a:pPr algn="l">
              <a:lnSpc>
                <a:spcPct val="130000"/>
              </a:lnSpc>
            </a:pPr>
            <a:r>
              <a:rPr sz="790" b="0" i="0">
                <a:solidFill>
                  <a:srgbClr val="9DB0C6"/>
                </a:solidFill>
                <a:latin typeface="Segoe UI"/>
              </a:rPr>
              <a:t>Every server, container and pod carries CPU / memory / disk children. Hidden by default for readability.</a:t>
            </a:r>
          </a:p>
        </p:txBody>
      </p:sp>
      <p:sp>
        <p:nvSpPr>
          <p:cNvPr id="87" name="Rounded Rectangle 86"/>
          <p:cNvSpPr/>
          <p:nvPr/>
        </p:nvSpPr>
        <p:spPr>
          <a:xfrm>
            <a:off x="7534656" y="4946904"/>
            <a:ext cx="4087368" cy="621792"/>
          </a:xfrm>
          <a:prstGeom prst="roundRect">
            <a:avLst>
              <a:gd name="adj" fmla="val 8823"/>
            </a:avLst>
          </a:prstGeom>
          <a:solidFill>
            <a:srgbClr val="0B1220"/>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8" name="TextBox 87"/>
          <p:cNvSpPr txBox="1"/>
          <p:nvPr/>
        </p:nvSpPr>
        <p:spPr>
          <a:xfrm>
            <a:off x="7680960" y="5020056"/>
            <a:ext cx="3813048" cy="182880"/>
          </a:xfrm>
          <a:prstGeom prst="rect">
            <a:avLst/>
          </a:prstGeom>
          <a:noFill/>
        </p:spPr>
        <p:txBody>
          <a:bodyPr wrap="square" lIns="0" rIns="0" tIns="0" bIns="0" anchor="t">
            <a:noAutofit/>
          </a:bodyPr>
          <a:lstStyle/>
          <a:p>
            <a:pPr algn="l">
              <a:lnSpc>
                <a:spcPct val="122000"/>
              </a:lnSpc>
            </a:pPr>
            <a:r>
              <a:rPr sz="660" b="0" i="0" spc="120">
                <a:solidFill>
                  <a:srgbClr val="FBBF24"/>
                </a:solidFill>
                <a:latin typeface="Consolas"/>
              </a:rPr>
              <a:t>INVARIANT</a:t>
            </a:r>
          </a:p>
        </p:txBody>
      </p:sp>
      <p:sp>
        <p:nvSpPr>
          <p:cNvPr id="89" name="TextBox 88"/>
          <p:cNvSpPr txBox="1"/>
          <p:nvPr/>
        </p:nvSpPr>
        <p:spPr>
          <a:xfrm>
            <a:off x="7680960" y="5184648"/>
            <a:ext cx="3813048" cy="310896"/>
          </a:xfrm>
          <a:prstGeom prst="rect">
            <a:avLst/>
          </a:prstGeom>
          <a:noFill/>
        </p:spPr>
        <p:txBody>
          <a:bodyPr wrap="square" lIns="0" rIns="0" tIns="0" bIns="0" anchor="t">
            <a:noAutofit/>
          </a:bodyPr>
          <a:lstStyle/>
          <a:p>
            <a:pPr algn="l">
              <a:lnSpc>
                <a:spcPct val="125000"/>
              </a:lnSpc>
            </a:pPr>
            <a:r>
              <a:rPr sz="819" b="0" i="0">
                <a:solidFill>
                  <a:srgbClr val="E2E8F0"/>
                </a:solidFill>
                <a:latin typeface="Segoe UI"/>
              </a:rPr>
              <a:t>Parents before children — in seed, ingest and every payload.</a:t>
            </a:r>
          </a:p>
        </p:txBody>
      </p:sp>
      <p:sp>
        <p:nvSpPr>
          <p:cNvPr id="90" name="Rounded Rectangle 89"/>
          <p:cNvSpPr/>
          <p:nvPr/>
        </p:nvSpPr>
        <p:spPr>
          <a:xfrm>
            <a:off x="566928" y="5705856"/>
            <a:ext cx="11055096" cy="457200"/>
          </a:xfrm>
          <a:prstGeom prst="roundRect">
            <a:avLst>
              <a:gd name="adj" fmla="val 12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1" name="TextBox 90"/>
          <p:cNvSpPr txBox="1"/>
          <p:nvPr/>
        </p:nvSpPr>
        <p:spPr>
          <a:xfrm>
            <a:off x="713232" y="5852160"/>
            <a:ext cx="1188720" cy="164592"/>
          </a:xfrm>
          <a:prstGeom prst="rect">
            <a:avLst/>
          </a:prstGeom>
          <a:noFill/>
        </p:spPr>
        <p:txBody>
          <a:bodyPr wrap="square" lIns="0" rIns="0" tIns="0" bIns="0" anchor="t">
            <a:noAutofit/>
          </a:bodyPr>
          <a:lstStyle/>
          <a:p>
            <a:pPr algn="l">
              <a:lnSpc>
                <a:spcPct val="122000"/>
              </a:lnSpc>
            </a:pPr>
            <a:r>
              <a:rPr sz="620" b="0" i="0" spc="110">
                <a:solidFill>
                  <a:srgbClr val="64748B"/>
                </a:solidFill>
                <a:latin typeface="Consolas"/>
              </a:rPr>
              <a:t>SHAPE LANGUAGE</a:t>
            </a:r>
          </a:p>
        </p:txBody>
      </p:sp>
      <p:sp>
        <p:nvSpPr>
          <p:cNvPr id="92" name="TextBox 91"/>
          <p:cNvSpPr txBox="1"/>
          <p:nvPr/>
        </p:nvSpPr>
        <p:spPr>
          <a:xfrm>
            <a:off x="2011680" y="5843016"/>
            <a:ext cx="9966960" cy="182880"/>
          </a:xfrm>
          <a:prstGeom prst="rect">
            <a:avLst/>
          </a:prstGeom>
          <a:noFill/>
        </p:spPr>
        <p:txBody>
          <a:bodyPr wrap="square" lIns="0" rIns="0" tIns="0" bIns="0" anchor="t">
            <a:noAutofit/>
          </a:bodyPr>
          <a:lstStyle/>
          <a:p>
            <a:pPr algn="l">
              <a:lnSpc>
                <a:spcPct val="122000"/>
              </a:lnSpc>
            </a:pPr>
            <a:r>
              <a:rPr sz="700" b="0" i="0">
                <a:solidFill>
                  <a:srgbClr val="9DB0C6"/>
                </a:solidFill>
                <a:latin typeface="Consolas"/>
              </a:rPr>
              <a:t>container = header + child sub-flow staged on its own grid      ·      leaf = fixed card, no children      ·      gauge = arc that mirrors its host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1.3 · FRONTEND PATTERNS</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Recursive sub-flows, memoized cards, a calm viewport</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Three frontend decisions carry the experience: children live inside their parent, cards subscribe to single keys, and view state is reversible.</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ARCHITECTURE</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07 / 27</a:t>
            </a:r>
          </a:p>
        </p:txBody>
      </p:sp>
      <p:sp>
        <p:nvSpPr>
          <p:cNvPr id="11" name="Rounded Rectangle 10"/>
          <p:cNvSpPr/>
          <p:nvPr/>
        </p:nvSpPr>
        <p:spPr>
          <a:xfrm>
            <a:off x="566928" y="1783080"/>
            <a:ext cx="4791456" cy="1225296"/>
          </a:xfrm>
          <a:prstGeom prst="roundRect">
            <a:avLst>
              <a:gd name="adj" fmla="val 671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704088" y="1938528"/>
            <a:ext cx="182880" cy="23774"/>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960120" y="1901952"/>
            <a:ext cx="4261104" cy="219456"/>
          </a:xfrm>
          <a:prstGeom prst="rect">
            <a:avLst/>
          </a:prstGeom>
          <a:noFill/>
        </p:spPr>
        <p:txBody>
          <a:bodyPr wrap="square" lIns="0" rIns="0" tIns="0" bIns="0" anchor="t">
            <a:noAutofit/>
          </a:bodyPr>
          <a:lstStyle/>
          <a:p>
            <a:pPr algn="l">
              <a:lnSpc>
                <a:spcPct val="100000"/>
              </a:lnSpc>
            </a:pPr>
            <a:r>
              <a:rPr sz="1050" b="1" i="0">
                <a:solidFill>
                  <a:srgbClr val="F4F8FC"/>
                </a:solidFill>
                <a:latin typeface="Segoe UI"/>
              </a:rPr>
              <a:t>Recursive sub-flows with extent:parent</a:t>
            </a:r>
          </a:p>
        </p:txBody>
      </p:sp>
      <p:sp>
        <p:nvSpPr>
          <p:cNvPr id="14" name="TextBox 13"/>
          <p:cNvSpPr txBox="1"/>
          <p:nvPr/>
        </p:nvSpPr>
        <p:spPr>
          <a:xfrm>
            <a:off x="704088" y="2194560"/>
            <a:ext cx="4517136" cy="676656"/>
          </a:xfrm>
          <a:prstGeom prst="rect">
            <a:avLst/>
          </a:prstGeom>
          <a:noFill/>
        </p:spPr>
        <p:txBody>
          <a:bodyPr wrap="square" lIns="0" rIns="0" tIns="0" bIns="0" anchor="t">
            <a:noAutofit/>
          </a:bodyPr>
          <a:lstStyle/>
          <a:p>
            <a:pPr algn="l">
              <a:lnSpc>
                <a:spcPct val="130000"/>
              </a:lnSpc>
            </a:pPr>
            <a:r>
              <a:rPr sz="830" b="0" i="0">
                <a:solidFill>
                  <a:srgbClr val="9DB0C6"/>
                </a:solidFill>
                <a:latin typeface="Segoe UI"/>
              </a:rPr>
              <a:t>Each SubFlowNode renders its own card, then positions children relative to it. Drag is clamped to [0, parent − self], so a child can never leave its container.</a:t>
            </a:r>
          </a:p>
          <a:p>
            <a:pPr algn="l">
              <a:lnSpc>
                <a:spcPct val="130000"/>
              </a:lnSpc>
              <a:spcBef>
                <a:spcPts val="324"/>
              </a:spcBef>
            </a:pPr>
            <a:r>
              <a:rPr sz="830" b="0" i="0">
                <a:solidFill>
                  <a:srgbClr val="9DB0C6"/>
                </a:solidFill>
                <a:latin typeface="Segoe UI"/>
              </a:rPr>
              <a:t>Double-click a header collapses the branch in place.</a:t>
            </a:r>
          </a:p>
        </p:txBody>
      </p:sp>
      <p:sp>
        <p:nvSpPr>
          <p:cNvPr id="15" name="Rounded Rectangle 14"/>
          <p:cNvSpPr/>
          <p:nvPr/>
        </p:nvSpPr>
        <p:spPr>
          <a:xfrm>
            <a:off x="566928" y="3090672"/>
            <a:ext cx="4791456" cy="1225296"/>
          </a:xfrm>
          <a:prstGeom prst="roundRect">
            <a:avLst>
              <a:gd name="adj" fmla="val 671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Rectangle 15"/>
          <p:cNvSpPr/>
          <p:nvPr/>
        </p:nvSpPr>
        <p:spPr>
          <a:xfrm>
            <a:off x="704088" y="3246120"/>
            <a:ext cx="182880" cy="2377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960120" y="3209544"/>
            <a:ext cx="4261104" cy="219456"/>
          </a:xfrm>
          <a:prstGeom prst="rect">
            <a:avLst/>
          </a:prstGeom>
          <a:noFill/>
        </p:spPr>
        <p:txBody>
          <a:bodyPr wrap="square" lIns="0" rIns="0" tIns="0" bIns="0" anchor="t">
            <a:noAutofit/>
          </a:bodyPr>
          <a:lstStyle/>
          <a:p>
            <a:pPr algn="l">
              <a:lnSpc>
                <a:spcPct val="100000"/>
              </a:lnSpc>
            </a:pPr>
            <a:r>
              <a:rPr sz="1050" b="1" i="0">
                <a:solidFill>
                  <a:srgbClr val="F4F8FC"/>
                </a:solidFill>
                <a:latin typeface="Segoe UI"/>
              </a:rPr>
              <a:t>Memoization discipline</a:t>
            </a:r>
          </a:p>
        </p:txBody>
      </p:sp>
      <p:sp>
        <p:nvSpPr>
          <p:cNvPr id="18" name="TextBox 17"/>
          <p:cNvSpPr txBox="1"/>
          <p:nvPr/>
        </p:nvSpPr>
        <p:spPr>
          <a:xfrm>
            <a:off x="704088" y="3502151"/>
            <a:ext cx="4517136" cy="676656"/>
          </a:xfrm>
          <a:prstGeom prst="rect">
            <a:avLst/>
          </a:prstGeom>
          <a:noFill/>
        </p:spPr>
        <p:txBody>
          <a:bodyPr wrap="square" lIns="0" rIns="0" tIns="0" bIns="0" anchor="t">
            <a:noAutofit/>
          </a:bodyPr>
          <a:lstStyle/>
          <a:p>
            <a:pPr algn="l">
              <a:lnSpc>
                <a:spcPct val="130000"/>
              </a:lnSpc>
            </a:pPr>
            <a:r>
              <a:rPr sz="830" b="0" i="0">
                <a:solidFill>
                  <a:srgbClr val="9DB0C6"/>
                </a:solidFill>
                <a:latin typeface="Segoe UI"/>
              </a:rPr>
              <a:t>Cards are React.memo and subscribe to single keys — s.metrics[id], s.nodesById[id] — never whole arrays.</a:t>
            </a:r>
          </a:p>
          <a:p>
            <a:pPr algn="l">
              <a:lnSpc>
                <a:spcPct val="130000"/>
              </a:lnSpc>
              <a:spcBef>
                <a:spcPts val="324"/>
              </a:spcBef>
            </a:pPr>
            <a:r>
              <a:rPr sz="830" b="0" i="0">
                <a:solidFill>
                  <a:srgbClr val="9DB0C6"/>
                </a:solidFill>
                <a:latin typeface="Segoe UI"/>
              </a:rPr>
              <a:t>A 2-second tick over 456 nodes repaints gauges and sparklines only; layout is untouched.</a:t>
            </a:r>
          </a:p>
        </p:txBody>
      </p:sp>
      <p:sp>
        <p:nvSpPr>
          <p:cNvPr id="19" name="Rounded Rectangle 18"/>
          <p:cNvSpPr/>
          <p:nvPr/>
        </p:nvSpPr>
        <p:spPr>
          <a:xfrm>
            <a:off x="566928" y="4398264"/>
            <a:ext cx="4791456" cy="1225296"/>
          </a:xfrm>
          <a:prstGeom prst="roundRect">
            <a:avLst>
              <a:gd name="adj" fmla="val 671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ectangle 19"/>
          <p:cNvSpPr/>
          <p:nvPr/>
        </p:nvSpPr>
        <p:spPr>
          <a:xfrm>
            <a:off x="704088" y="4553712"/>
            <a:ext cx="182880" cy="2377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960120" y="4517136"/>
            <a:ext cx="4261104" cy="219456"/>
          </a:xfrm>
          <a:prstGeom prst="rect">
            <a:avLst/>
          </a:prstGeom>
          <a:noFill/>
        </p:spPr>
        <p:txBody>
          <a:bodyPr wrap="square" lIns="0" rIns="0" tIns="0" bIns="0" anchor="t">
            <a:noAutofit/>
          </a:bodyPr>
          <a:lstStyle/>
          <a:p>
            <a:pPr algn="l">
              <a:lnSpc>
                <a:spcPct val="100000"/>
              </a:lnSpc>
            </a:pPr>
            <a:r>
              <a:rPr sz="1050" b="1" i="0">
                <a:solidFill>
                  <a:srgbClr val="F4F8FC"/>
                </a:solidFill>
                <a:latin typeface="Segoe UI"/>
              </a:rPr>
              <a:t>Reversible view state</a:t>
            </a:r>
          </a:p>
        </p:txBody>
      </p:sp>
      <p:sp>
        <p:nvSpPr>
          <p:cNvPr id="22" name="TextBox 21"/>
          <p:cNvSpPr txBox="1"/>
          <p:nvPr/>
        </p:nvSpPr>
        <p:spPr>
          <a:xfrm>
            <a:off x="704088" y="4809744"/>
            <a:ext cx="4517136" cy="676655"/>
          </a:xfrm>
          <a:prstGeom prst="rect">
            <a:avLst/>
          </a:prstGeom>
          <a:noFill/>
        </p:spPr>
        <p:txBody>
          <a:bodyPr wrap="square" lIns="0" rIns="0" tIns="0" bIns="0" anchor="t">
            <a:noAutofit/>
          </a:bodyPr>
          <a:lstStyle/>
          <a:p>
            <a:pPr algn="l">
              <a:lnSpc>
                <a:spcPct val="130000"/>
              </a:lnSpc>
            </a:pPr>
            <a:r>
              <a:rPr sz="830" b="0" i="0">
                <a:solidFill>
                  <a:srgbClr val="9DB0C6"/>
                </a:solidFill>
                <a:latin typeface="Segoe UI"/>
              </a:rPr>
              <a:t>Collapse flags and drag offsets persist per node through PATCH, so a shift handover sees the same canvas.</a:t>
            </a:r>
          </a:p>
          <a:p>
            <a:pPr algn="l">
              <a:lnSpc>
                <a:spcPct val="130000"/>
              </a:lnSpc>
              <a:spcBef>
                <a:spcPts val="324"/>
              </a:spcBef>
            </a:pPr>
            <a:r>
              <a:rPr sz="830" b="0" i="0">
                <a:solidFill>
                  <a:srgbClr val="9DB0C6"/>
                </a:solidFill>
                <a:latin typeface="Segoe UI"/>
              </a:rPr>
              <a:t>Navigator, search and rollups read precomputed maps instead of recomputing subtrees.</a:t>
            </a:r>
          </a:p>
        </p:txBody>
      </p:sp>
      <p:sp>
        <p:nvSpPr>
          <p:cNvPr id="23" name="Rounded Rectangle 22"/>
          <p:cNvSpPr/>
          <p:nvPr/>
        </p:nvSpPr>
        <p:spPr>
          <a:xfrm>
            <a:off x="5650992" y="1783080"/>
            <a:ext cx="5971032" cy="2331720"/>
          </a:xfrm>
          <a:prstGeom prst="roundRect">
            <a:avLst>
              <a:gd name="adj" fmla="val 3921"/>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5815583" y="1901952"/>
            <a:ext cx="3840480" cy="164592"/>
          </a:xfrm>
          <a:prstGeom prst="rect">
            <a:avLst/>
          </a:prstGeom>
          <a:noFill/>
        </p:spPr>
        <p:txBody>
          <a:bodyPr wrap="square" lIns="0" rIns="0" tIns="0" bIns="0" anchor="t">
            <a:noAutofit/>
          </a:bodyPr>
          <a:lstStyle/>
          <a:p>
            <a:pPr algn="l">
              <a:lnSpc>
                <a:spcPct val="122000"/>
              </a:lnSpc>
            </a:pPr>
            <a:r>
              <a:rPr sz="670" b="0" i="0" spc="110">
                <a:solidFill>
                  <a:srgbClr val="7DD3FC"/>
                </a:solidFill>
                <a:latin typeface="Consolas"/>
              </a:rPr>
              <a:t>EXTENT: PARENT — THE DRAG CONSTRAINT</a:t>
            </a:r>
          </a:p>
        </p:txBody>
      </p:sp>
      <p:sp>
        <p:nvSpPr>
          <p:cNvPr id="25" name="Rounded Rectangle 24"/>
          <p:cNvSpPr/>
          <p:nvPr/>
        </p:nvSpPr>
        <p:spPr>
          <a:xfrm>
            <a:off x="5833872" y="2130552"/>
            <a:ext cx="5605272" cy="1847088"/>
          </a:xfrm>
          <a:prstGeom prst="roundRect">
            <a:avLst>
              <a:gd name="adj" fmla="val 3960"/>
            </a:avLst>
          </a:prstGeom>
          <a:solidFill>
            <a:srgbClr val="0A1420"/>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5961888" y="2203704"/>
            <a:ext cx="2377440" cy="146304"/>
          </a:xfrm>
          <a:prstGeom prst="rect">
            <a:avLst/>
          </a:prstGeom>
          <a:noFill/>
        </p:spPr>
        <p:txBody>
          <a:bodyPr wrap="square" lIns="0" rIns="0" tIns="0" bIns="0" anchor="t">
            <a:noAutofit/>
          </a:bodyPr>
          <a:lstStyle/>
          <a:p>
            <a:pPr algn="l">
              <a:lnSpc>
                <a:spcPct val="122000"/>
              </a:lnSpc>
            </a:pPr>
            <a:r>
              <a:rPr sz="590" b="0" i="0" spc="100">
                <a:solidFill>
                  <a:srgbClr val="64748B"/>
                </a:solidFill>
                <a:latin typeface="Consolas"/>
              </a:rPr>
              <a:t>PARENT CONTAINER</a:t>
            </a:r>
          </a:p>
        </p:txBody>
      </p:sp>
      <p:sp>
        <p:nvSpPr>
          <p:cNvPr id="27" name="Rounded Rectangle 26"/>
          <p:cNvSpPr/>
          <p:nvPr/>
        </p:nvSpPr>
        <p:spPr>
          <a:xfrm>
            <a:off x="5961888" y="2386584"/>
            <a:ext cx="1737360" cy="1188720"/>
          </a:xfrm>
          <a:prstGeom prst="roundRect">
            <a:avLst>
              <a:gd name="adj" fmla="val 5384"/>
            </a:avLst>
          </a:prstGeom>
          <a:solidFill>
            <a:srgbClr val="14202F"/>
          </a:solidFill>
          <a:ln w="9525">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6080759" y="2478024"/>
            <a:ext cx="1554480" cy="146304"/>
          </a:xfrm>
          <a:prstGeom prst="rect">
            <a:avLst/>
          </a:prstGeom>
          <a:noFill/>
        </p:spPr>
        <p:txBody>
          <a:bodyPr wrap="square" lIns="0" rIns="0" tIns="0" bIns="0" anchor="t">
            <a:noAutofit/>
          </a:bodyPr>
          <a:lstStyle/>
          <a:p>
            <a:pPr algn="l">
              <a:lnSpc>
                <a:spcPct val="122000"/>
              </a:lnSpc>
            </a:pPr>
            <a:r>
              <a:rPr sz="570" b="0" i="0" spc="100">
                <a:solidFill>
                  <a:srgbClr val="7DD3FC"/>
                </a:solidFill>
                <a:latin typeface="Consolas"/>
              </a:rPr>
              <a:t>CHILD</a:t>
            </a:r>
          </a:p>
        </p:txBody>
      </p:sp>
      <p:sp>
        <p:nvSpPr>
          <p:cNvPr id="29" name="TextBox 28"/>
          <p:cNvSpPr txBox="1"/>
          <p:nvPr/>
        </p:nvSpPr>
        <p:spPr>
          <a:xfrm>
            <a:off x="6080759" y="2633472"/>
            <a:ext cx="1554480" cy="164592"/>
          </a:xfrm>
          <a:prstGeom prst="rect">
            <a:avLst/>
          </a:prstGeom>
          <a:noFill/>
        </p:spPr>
        <p:txBody>
          <a:bodyPr wrap="square" lIns="0" rIns="0" tIns="0" bIns="0" anchor="t">
            <a:noAutofit/>
          </a:bodyPr>
          <a:lstStyle/>
          <a:p>
            <a:pPr algn="l">
              <a:lnSpc>
                <a:spcPct val="122000"/>
              </a:lnSpc>
            </a:pPr>
            <a:r>
              <a:rPr sz="700" b="0" i="0">
                <a:solidFill>
                  <a:srgbClr val="E2E8F0"/>
                </a:solidFill>
                <a:latin typeface="Consolas"/>
              </a:rPr>
              <a:t>offset (0, 0)</a:t>
            </a:r>
          </a:p>
        </p:txBody>
      </p:sp>
      <p:sp>
        <p:nvSpPr>
          <p:cNvPr id="30" name="TextBox 29"/>
          <p:cNvSpPr txBox="1"/>
          <p:nvPr/>
        </p:nvSpPr>
        <p:spPr>
          <a:xfrm>
            <a:off x="6080759" y="3063239"/>
            <a:ext cx="1517904" cy="384048"/>
          </a:xfrm>
          <a:prstGeom prst="rect">
            <a:avLst/>
          </a:prstGeom>
          <a:noFill/>
        </p:spPr>
        <p:txBody>
          <a:bodyPr wrap="square" lIns="0" rIns="0" tIns="0" bIns="0" anchor="t">
            <a:noAutofit/>
          </a:bodyPr>
          <a:lstStyle/>
          <a:p>
            <a:pPr algn="l">
              <a:lnSpc>
                <a:spcPct val="118000"/>
              </a:lnSpc>
            </a:pPr>
            <a:r>
              <a:rPr sz="620" b="0" i="0">
                <a:solidFill>
                  <a:srgbClr val="64748B"/>
                </a:solidFill>
                <a:latin typeface="Segoe UI"/>
              </a:rPr>
              <a:t>clamped at the
parent's edge</a:t>
            </a:r>
          </a:p>
        </p:txBody>
      </p:sp>
      <p:sp>
        <p:nvSpPr>
          <p:cNvPr id="31" name="Rounded Rectangle 30"/>
          <p:cNvSpPr/>
          <p:nvPr/>
        </p:nvSpPr>
        <p:spPr>
          <a:xfrm>
            <a:off x="9573768" y="2624328"/>
            <a:ext cx="1737360" cy="1188720"/>
          </a:xfrm>
          <a:prstGeom prst="roundRect">
            <a:avLst>
              <a:gd name="adj" fmla="val 5384"/>
            </a:avLst>
          </a:prstGeom>
          <a:solidFill>
            <a:srgbClr val="14202F"/>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9692640" y="2715768"/>
            <a:ext cx="1554480" cy="146304"/>
          </a:xfrm>
          <a:prstGeom prst="rect">
            <a:avLst/>
          </a:prstGeom>
          <a:noFill/>
        </p:spPr>
        <p:txBody>
          <a:bodyPr wrap="square" lIns="0" rIns="0" tIns="0" bIns="0" anchor="t">
            <a:noAutofit/>
          </a:bodyPr>
          <a:lstStyle/>
          <a:p>
            <a:pPr algn="l">
              <a:lnSpc>
                <a:spcPct val="122000"/>
              </a:lnSpc>
            </a:pPr>
            <a:r>
              <a:rPr sz="570" b="0" i="0" spc="100">
                <a:solidFill>
                  <a:srgbClr val="34D399"/>
                </a:solidFill>
                <a:latin typeface="Consolas"/>
              </a:rPr>
              <a:t>CHILD</a:t>
            </a:r>
          </a:p>
        </p:txBody>
      </p:sp>
      <p:sp>
        <p:nvSpPr>
          <p:cNvPr id="33" name="TextBox 32"/>
          <p:cNvSpPr txBox="1"/>
          <p:nvPr/>
        </p:nvSpPr>
        <p:spPr>
          <a:xfrm>
            <a:off x="9692640" y="2871216"/>
            <a:ext cx="1554480" cy="164592"/>
          </a:xfrm>
          <a:prstGeom prst="rect">
            <a:avLst/>
          </a:prstGeom>
          <a:noFill/>
        </p:spPr>
        <p:txBody>
          <a:bodyPr wrap="square" lIns="0" rIns="0" tIns="0" bIns="0" anchor="t">
            <a:noAutofit/>
          </a:bodyPr>
          <a:lstStyle/>
          <a:p>
            <a:pPr algn="l">
              <a:lnSpc>
                <a:spcPct val="122000"/>
              </a:lnSpc>
            </a:pPr>
            <a:r>
              <a:rPr sz="700" b="0" i="0">
                <a:solidFill>
                  <a:srgbClr val="E2E8F0"/>
                </a:solidFill>
                <a:latin typeface="Consolas"/>
              </a:rPr>
              <a:t>offset (max, max)</a:t>
            </a:r>
          </a:p>
        </p:txBody>
      </p:sp>
      <p:sp>
        <p:nvSpPr>
          <p:cNvPr id="34" name="TextBox 33"/>
          <p:cNvSpPr txBox="1"/>
          <p:nvPr/>
        </p:nvSpPr>
        <p:spPr>
          <a:xfrm>
            <a:off x="9692640" y="3300984"/>
            <a:ext cx="1517904" cy="384048"/>
          </a:xfrm>
          <a:prstGeom prst="rect">
            <a:avLst/>
          </a:prstGeom>
          <a:noFill/>
        </p:spPr>
        <p:txBody>
          <a:bodyPr wrap="square" lIns="0" rIns="0" tIns="0" bIns="0" anchor="t">
            <a:noAutofit/>
          </a:bodyPr>
          <a:lstStyle/>
          <a:p>
            <a:pPr algn="l">
              <a:lnSpc>
                <a:spcPct val="118000"/>
              </a:lnSpc>
            </a:pPr>
            <a:r>
              <a:rPr sz="620" b="0" i="0">
                <a:solidFill>
                  <a:srgbClr val="64748B"/>
                </a:solidFill>
                <a:latin typeface="Segoe UI"/>
              </a:rPr>
              <a:t>cannot cross the
container boundary</a:t>
            </a:r>
          </a:p>
        </p:txBody>
      </p:sp>
      <p:cxnSp>
        <p:nvCxnSpPr>
          <p:cNvPr id="35" name="Connector 34"/>
          <p:cNvCxnSpPr/>
          <p:nvPr/>
        </p:nvCxnSpPr>
        <p:spPr>
          <a:xfrm>
            <a:off x="7754112" y="2980944"/>
            <a:ext cx="1764792" cy="0"/>
          </a:xfrm>
          <a:prstGeom prst="line">
            <a:avLst/>
          </a:prstGeom>
          <a:ln w="11430">
            <a:solidFill>
              <a:srgbClr val="9DB0C6">
                <a:alpha val="75000"/>
              </a:srgbClr>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72400" y="2651760"/>
            <a:ext cx="1728216" cy="146304"/>
          </a:xfrm>
          <a:prstGeom prst="rect">
            <a:avLst/>
          </a:prstGeom>
          <a:noFill/>
        </p:spPr>
        <p:txBody>
          <a:bodyPr wrap="square" lIns="0" rIns="0" tIns="0" bIns="0" anchor="t">
            <a:noAutofit/>
          </a:bodyPr>
          <a:lstStyle/>
          <a:p>
            <a:pPr algn="ctr">
              <a:lnSpc>
                <a:spcPct val="122000"/>
              </a:lnSpc>
            </a:pPr>
            <a:r>
              <a:rPr sz="580" b="0" i="0" spc="60">
                <a:solidFill>
                  <a:srgbClr val="9DB0C6"/>
                </a:solidFill>
                <a:latin typeface="Consolas"/>
              </a:rPr>
              <a:t>DRAG RANGE</a:t>
            </a:r>
          </a:p>
        </p:txBody>
      </p:sp>
      <p:sp>
        <p:nvSpPr>
          <p:cNvPr id="37" name="TextBox 36"/>
          <p:cNvSpPr txBox="1"/>
          <p:nvPr/>
        </p:nvSpPr>
        <p:spPr>
          <a:xfrm>
            <a:off x="7772400" y="2788920"/>
            <a:ext cx="1728216" cy="146304"/>
          </a:xfrm>
          <a:prstGeom prst="rect">
            <a:avLst/>
          </a:prstGeom>
          <a:noFill/>
        </p:spPr>
        <p:txBody>
          <a:bodyPr wrap="square" lIns="0" rIns="0" tIns="0" bIns="0" anchor="t">
            <a:noAutofit/>
          </a:bodyPr>
          <a:lstStyle/>
          <a:p>
            <a:pPr algn="ctr">
              <a:lnSpc>
                <a:spcPct val="122000"/>
              </a:lnSpc>
            </a:pPr>
            <a:r>
              <a:rPr sz="580" b="0" i="0">
                <a:solidFill>
                  <a:srgbClr val="64748B"/>
                </a:solidFill>
                <a:latin typeface="Consolas"/>
              </a:rPr>
              <a:t>0 … parent − self</a:t>
            </a:r>
          </a:p>
        </p:txBody>
      </p:sp>
      <p:sp>
        <p:nvSpPr>
          <p:cNvPr id="38" name="Rounded Rectangle 37"/>
          <p:cNvSpPr/>
          <p:nvPr/>
        </p:nvSpPr>
        <p:spPr>
          <a:xfrm>
            <a:off x="5650992" y="4261104"/>
            <a:ext cx="5971032" cy="1353312"/>
          </a:xfrm>
          <a:prstGeom prst="roundRect">
            <a:avLst>
              <a:gd name="adj" fmla="val 6081"/>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Rectangle 38"/>
          <p:cNvSpPr/>
          <p:nvPr/>
        </p:nvSpPr>
        <p:spPr>
          <a:xfrm>
            <a:off x="5788152" y="4416552"/>
            <a:ext cx="182880" cy="2377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TextBox 39"/>
          <p:cNvSpPr txBox="1"/>
          <p:nvPr/>
        </p:nvSpPr>
        <p:spPr>
          <a:xfrm>
            <a:off x="6044184" y="4379976"/>
            <a:ext cx="5440680" cy="219456"/>
          </a:xfrm>
          <a:prstGeom prst="rect">
            <a:avLst/>
          </a:prstGeom>
          <a:noFill/>
        </p:spPr>
        <p:txBody>
          <a:bodyPr wrap="square" lIns="0" rIns="0" tIns="0" bIns="0" anchor="t">
            <a:noAutofit/>
          </a:bodyPr>
          <a:lstStyle/>
          <a:p>
            <a:pPr algn="l">
              <a:lnSpc>
                <a:spcPct val="100000"/>
              </a:lnSpc>
            </a:pPr>
            <a:r>
              <a:rPr sz="1050" b="1" i="0">
                <a:solidFill>
                  <a:srgbClr val="F4F8FC"/>
                </a:solidFill>
                <a:latin typeface="Segoe UI"/>
              </a:rPr>
              <a:t>Viewport that stays out of the way</a:t>
            </a:r>
          </a:p>
        </p:txBody>
      </p:sp>
      <p:sp>
        <p:nvSpPr>
          <p:cNvPr id="41" name="TextBox 40"/>
          <p:cNvSpPr txBox="1"/>
          <p:nvPr/>
        </p:nvSpPr>
        <p:spPr>
          <a:xfrm>
            <a:off x="5788152" y="4672584"/>
            <a:ext cx="5696712" cy="804671"/>
          </a:xfrm>
          <a:prstGeom prst="rect">
            <a:avLst/>
          </a:prstGeom>
          <a:noFill/>
        </p:spPr>
        <p:txBody>
          <a:bodyPr wrap="square" lIns="0" rIns="0" tIns="0" bIns="0" anchor="t">
            <a:noAutofit/>
          </a:bodyPr>
          <a:lstStyle/>
          <a:p>
            <a:pPr algn="l">
              <a:lnSpc>
                <a:spcPct val="130000"/>
              </a:lnSpc>
            </a:pPr>
            <a:r>
              <a:rPr sz="840" b="0" i="0">
                <a:solidFill>
                  <a:srgbClr val="9DB0C6"/>
                </a:solidFill>
                <a:latin typeface="Segoe UI"/>
              </a:rPr>
              <a:t>Wheel pans; Ctrl+wheel zooms to the cursor (0.06–2.4×); backdrop drag pans. Fit centres the estate; Focus expands collapsed ancestors first.</a:t>
            </a:r>
          </a:p>
          <a:p>
            <a:pPr algn="l">
              <a:lnSpc>
                <a:spcPct val="130000"/>
              </a:lnSpc>
              <a:spcBef>
                <a:spcPts val="324"/>
              </a:spcBef>
            </a:pPr>
            <a:r>
              <a:rPr sz="840" b="0" i="0">
                <a:solidFill>
                  <a:srgbClr val="9DB0C6"/>
                </a:solidFill>
                <a:latin typeface="Segoe UI"/>
              </a:rPr>
              <a:t>On wide hierarchies the first paint prefers a legible zoom over a fully zoomed-out map.</a:t>
            </a:r>
          </a:p>
        </p:txBody>
      </p:sp>
      <p:sp>
        <p:nvSpPr>
          <p:cNvPr id="42" name="Rounded Rectangle 41"/>
          <p:cNvSpPr/>
          <p:nvPr/>
        </p:nvSpPr>
        <p:spPr>
          <a:xfrm>
            <a:off x="566928" y="5724144"/>
            <a:ext cx="11055096" cy="438912"/>
          </a:xfrm>
          <a:prstGeom prst="roundRect">
            <a:avLst>
              <a:gd name="adj" fmla="val 125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731520" y="5833872"/>
            <a:ext cx="10789920" cy="219456"/>
          </a:xfrm>
          <a:prstGeom prst="rect">
            <a:avLst/>
          </a:prstGeom>
          <a:noFill/>
        </p:spPr>
        <p:txBody>
          <a:bodyPr wrap="square" lIns="0" rIns="0" tIns="0" bIns="0" anchor="t">
            <a:noAutofit/>
          </a:bodyPr>
          <a:lstStyle/>
          <a:p>
            <a:pPr algn="l">
              <a:lnSpc>
                <a:spcPct val="122000"/>
              </a:lnSpc>
            </a:pPr>
            <a:r>
              <a:rPr sz="740" b="0" i="0">
                <a:solidFill>
                  <a:srgbClr val="9DB0C6"/>
                </a:solidFill>
                <a:latin typeface="Consolas"/>
              </a:rPr>
              <a:t>Pattern names for the review:   compound-graph sub-flows   ·   slice-isolated store updates   ·   memoized leaf subscriptions   ·   structure-only relayout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1.4 · BACKEND PATTERNS</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One aggregation point, a bounded engine, audited actions</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The server has three jobs: serve one consistent snapshot, evolve believable telemetry, and execute runbooks with a receipt.</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ARCHITECTURE</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08 / 27</a:t>
            </a:r>
          </a:p>
        </p:txBody>
      </p:sp>
      <p:sp>
        <p:nvSpPr>
          <p:cNvPr id="11" name="Rounded Rectangle 10"/>
          <p:cNvSpPr/>
          <p:nvPr/>
        </p:nvSpPr>
        <p:spPr>
          <a:xfrm>
            <a:off x="566928" y="1783080"/>
            <a:ext cx="3575304" cy="2139696"/>
          </a:xfrm>
          <a:prstGeom prst="roundRect">
            <a:avLst>
              <a:gd name="adj" fmla="val 38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731520" y="1965960"/>
            <a:ext cx="182880" cy="23774"/>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987552" y="1929384"/>
            <a:ext cx="2990088" cy="219456"/>
          </a:xfrm>
          <a:prstGeom prst="rect">
            <a:avLst/>
          </a:prstGeom>
          <a:noFill/>
        </p:spPr>
        <p:txBody>
          <a:bodyPr wrap="square" lIns="0" rIns="0" tIns="0" bIns="0" anchor="t">
            <a:noAutofit/>
          </a:bodyPr>
          <a:lstStyle/>
          <a:p>
            <a:pPr algn="l">
              <a:lnSpc>
                <a:spcPct val="100000"/>
              </a:lnSpc>
            </a:pPr>
            <a:r>
              <a:rPr sz="1200" b="1" i="0">
                <a:solidFill>
                  <a:srgbClr val="F4F8FC"/>
                </a:solidFill>
                <a:latin typeface="Segoe UI"/>
              </a:rPr>
              <a:t>One aggregation point</a:t>
            </a:r>
          </a:p>
        </p:txBody>
      </p:sp>
      <p:sp>
        <p:nvSpPr>
          <p:cNvPr id="14" name="TextBox 13"/>
          <p:cNvSpPr txBox="1"/>
          <p:nvPr/>
        </p:nvSpPr>
        <p:spPr>
          <a:xfrm>
            <a:off x="731520" y="2221991"/>
            <a:ext cx="3246120" cy="1536192"/>
          </a:xfrm>
          <a:prstGeom prst="rect">
            <a:avLst/>
          </a:prstGeom>
          <a:noFill/>
        </p:spPr>
        <p:txBody>
          <a:bodyPr wrap="square" lIns="0" rIns="0" tIns="0" bIns="0" anchor="t">
            <a:noAutofit/>
          </a:bodyPr>
          <a:lstStyle/>
          <a:p>
            <a:pPr algn="l" marL="146304" indent="-146304">
              <a:lnSpc>
                <a:spcPct val="130000"/>
              </a:lnSpc>
              <a:buClr>
                <a:srgbClr val="7DD3FC"/>
              </a:buClr>
              <a:buFont typeface="Arial"/>
              <a:buChar char="•"/>
            </a:pPr>
            <a:r>
              <a:rPr sz="919" b="0" i="0">
                <a:solidFill>
                  <a:srgbClr val="9DB0C6"/>
                </a:solidFill>
                <a:latin typeface="Segoe UI"/>
              </a:rPr>
              <a:t>getTopologyPayload() is the only place that joins nodes + metrics + series + events + runs.</a:t>
            </a:r>
          </a:p>
          <a:p>
            <a:pPr algn="l" marL="146304" indent="-146304">
              <a:lnSpc>
                <a:spcPct val="130000"/>
              </a:lnSpc>
              <a:spcBef>
                <a:spcPts val="324"/>
              </a:spcBef>
              <a:buClr>
                <a:srgbClr val="7DD3FC"/>
              </a:buClr>
              <a:buFont typeface="Arial"/>
              <a:buChar char="•"/>
            </a:pPr>
            <a:r>
              <a:rPr sz="919" b="0" i="0">
                <a:solidFill>
                  <a:srgbClr val="9DB0C6"/>
                </a:solidFill>
                <a:latin typeface="Segoe UI"/>
              </a:rPr>
              <a:t>Both the server component and GET /api/topology call it, so SSR and client bootstrap can never diverge.</a:t>
            </a:r>
          </a:p>
          <a:p>
            <a:pPr algn="l" marL="146304" indent="-146304">
              <a:lnSpc>
                <a:spcPct val="130000"/>
              </a:lnSpc>
              <a:spcBef>
                <a:spcPts val="324"/>
              </a:spcBef>
              <a:buClr>
                <a:srgbClr val="7DD3FC"/>
              </a:buClr>
              <a:buFont typeface="Arial"/>
              <a:buChar char="•"/>
            </a:pPr>
            <a:r>
              <a:rPr sz="919" b="0" i="0">
                <a:solidFill>
                  <a:srgbClr val="9DB0C6"/>
                </a:solidFill>
                <a:latin typeface="Segoe UI"/>
              </a:rPr>
              <a:t>Parents are emitted before children — the invariant the renderer depends on.</a:t>
            </a:r>
          </a:p>
        </p:txBody>
      </p:sp>
      <p:sp>
        <p:nvSpPr>
          <p:cNvPr id="15" name="Rounded Rectangle 14"/>
          <p:cNvSpPr/>
          <p:nvPr/>
        </p:nvSpPr>
        <p:spPr>
          <a:xfrm>
            <a:off x="4306824" y="1783080"/>
            <a:ext cx="3575304" cy="2139696"/>
          </a:xfrm>
          <a:prstGeom prst="roundRect">
            <a:avLst>
              <a:gd name="adj" fmla="val 38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Rectangle 15"/>
          <p:cNvSpPr/>
          <p:nvPr/>
        </p:nvSpPr>
        <p:spPr>
          <a:xfrm>
            <a:off x="4471416" y="1965960"/>
            <a:ext cx="182880" cy="2377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4727448" y="1929384"/>
            <a:ext cx="2990088" cy="219456"/>
          </a:xfrm>
          <a:prstGeom prst="rect">
            <a:avLst/>
          </a:prstGeom>
          <a:noFill/>
        </p:spPr>
        <p:txBody>
          <a:bodyPr wrap="square" lIns="0" rIns="0" tIns="0" bIns="0" anchor="t">
            <a:noAutofit/>
          </a:bodyPr>
          <a:lstStyle/>
          <a:p>
            <a:pPr algn="l">
              <a:lnSpc>
                <a:spcPct val="100000"/>
              </a:lnSpc>
            </a:pPr>
            <a:r>
              <a:rPr sz="1200" b="1" i="0">
                <a:solidFill>
                  <a:srgbClr val="F4F8FC"/>
                </a:solidFill>
                <a:latin typeface="Segoe UI"/>
              </a:rPr>
              <a:t>Simulation that behaves</a:t>
            </a:r>
          </a:p>
        </p:txBody>
      </p:sp>
      <p:sp>
        <p:nvSpPr>
          <p:cNvPr id="18" name="TextBox 17"/>
          <p:cNvSpPr txBox="1"/>
          <p:nvPr/>
        </p:nvSpPr>
        <p:spPr>
          <a:xfrm>
            <a:off x="4471416" y="2221991"/>
            <a:ext cx="3246120" cy="1536192"/>
          </a:xfrm>
          <a:prstGeom prst="rect">
            <a:avLst/>
          </a:prstGeom>
          <a:noFill/>
        </p:spPr>
        <p:txBody>
          <a:bodyPr wrap="square" lIns="0" rIns="0" tIns="0" bIns="0" anchor="t">
            <a:noAutofit/>
          </a:bodyPr>
          <a:lstStyle/>
          <a:p>
            <a:pPr algn="l" marL="146304" indent="-146304">
              <a:lnSpc>
                <a:spcPct val="130000"/>
              </a:lnSpc>
              <a:buClr>
                <a:srgbClr val="34D399"/>
              </a:buClr>
              <a:buFont typeface="Arial"/>
              <a:buChar char="•"/>
            </a:pPr>
            <a:r>
              <a:rPr sz="919" b="0" i="0">
                <a:solidFill>
                  <a:srgbClr val="9DB0C6"/>
                </a:solidFill>
                <a:latin typeface="Segoe UI"/>
              </a:rPr>
              <a:t>Each node mean-reverts toward a drifting operating point: no random-walk explosions, rare damped spikes, ceilings everywhere.</a:t>
            </a:r>
          </a:p>
          <a:p>
            <a:pPr algn="l" marL="146304" indent="-146304">
              <a:lnSpc>
                <a:spcPct val="130000"/>
              </a:lnSpc>
              <a:spcBef>
                <a:spcPts val="324"/>
              </a:spcBef>
              <a:buClr>
                <a:srgbClr val="34D399"/>
              </a:buClr>
              <a:buFont typeface="Arial"/>
              <a:buChar char="•"/>
            </a:pPr>
            <a:r>
              <a:rPr sz="919" b="0" i="0">
                <a:solidFill>
                  <a:srgbClr val="9DB0C6"/>
                </a:solidFill>
                <a:latin typeface="Segoe UI"/>
              </a:rPr>
              <a:t>Groups roll up with averages — never sums — plus worst-child status; maintenance is sticky and excluded.</a:t>
            </a:r>
          </a:p>
          <a:p>
            <a:pPr algn="l" marL="146304" indent="-146304">
              <a:lnSpc>
                <a:spcPct val="130000"/>
              </a:lnSpc>
              <a:spcBef>
                <a:spcPts val="324"/>
              </a:spcBef>
              <a:buClr>
                <a:srgbClr val="34D399"/>
              </a:buClr>
              <a:buFont typeface="Arial"/>
              <a:buChar char="•"/>
            </a:pPr>
            <a:r>
              <a:rPr sz="919" b="0" i="0">
                <a:solidFill>
                  <a:srgbClr val="9DB0C6"/>
                </a:solidFill>
                <a:latin typeface="Segoe UI"/>
              </a:rPr>
              <a:t>Resource gauges mirror their host and never feed the rollup.</a:t>
            </a:r>
          </a:p>
        </p:txBody>
      </p:sp>
      <p:sp>
        <p:nvSpPr>
          <p:cNvPr id="19" name="Rounded Rectangle 18"/>
          <p:cNvSpPr/>
          <p:nvPr/>
        </p:nvSpPr>
        <p:spPr>
          <a:xfrm>
            <a:off x="8046720" y="1783080"/>
            <a:ext cx="3575304" cy="2139696"/>
          </a:xfrm>
          <a:prstGeom prst="roundRect">
            <a:avLst>
              <a:gd name="adj" fmla="val 38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ectangle 19"/>
          <p:cNvSpPr/>
          <p:nvPr/>
        </p:nvSpPr>
        <p:spPr>
          <a:xfrm>
            <a:off x="8211312" y="1965960"/>
            <a:ext cx="182880" cy="2377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8467344" y="1929384"/>
            <a:ext cx="2990088" cy="219456"/>
          </a:xfrm>
          <a:prstGeom prst="rect">
            <a:avLst/>
          </a:prstGeom>
          <a:noFill/>
        </p:spPr>
        <p:txBody>
          <a:bodyPr wrap="square" lIns="0" rIns="0" tIns="0" bIns="0" anchor="t">
            <a:noAutofit/>
          </a:bodyPr>
          <a:lstStyle/>
          <a:p>
            <a:pPr algn="l">
              <a:lnSpc>
                <a:spcPct val="100000"/>
              </a:lnSpc>
            </a:pPr>
            <a:r>
              <a:rPr sz="1200" b="1" i="0">
                <a:solidFill>
                  <a:srgbClr val="F4F8FC"/>
                </a:solidFill>
                <a:latin typeface="Segoe UI"/>
              </a:rPr>
              <a:t>Actions with a receipt</a:t>
            </a:r>
          </a:p>
        </p:txBody>
      </p:sp>
      <p:sp>
        <p:nvSpPr>
          <p:cNvPr id="22" name="TextBox 21"/>
          <p:cNvSpPr txBox="1"/>
          <p:nvPr/>
        </p:nvSpPr>
        <p:spPr>
          <a:xfrm>
            <a:off x="8211312" y="2221991"/>
            <a:ext cx="3246120" cy="1536192"/>
          </a:xfrm>
          <a:prstGeom prst="rect">
            <a:avLst/>
          </a:prstGeom>
          <a:noFill/>
        </p:spPr>
        <p:txBody>
          <a:bodyPr wrap="square" lIns="0" rIns="0" tIns="0" bIns="0" anchor="t">
            <a:noAutofit/>
          </a:bodyPr>
          <a:lstStyle/>
          <a:p>
            <a:pPr algn="l" marL="146304" indent="-146304">
              <a:lnSpc>
                <a:spcPct val="130000"/>
              </a:lnSpc>
              <a:buClr>
                <a:srgbClr val="A78BFA"/>
              </a:buClr>
              <a:buFont typeface="Arial"/>
              <a:buChar char="•"/>
            </a:pPr>
            <a:r>
              <a:rPr sz="919" b="0" i="0">
                <a:solidFill>
                  <a:srgbClr val="9DB0C6"/>
                </a:solidFill>
                <a:latin typeface="Segoe UI"/>
              </a:rPr>
              <a:t>Six runbooks (snapshot, logs, scale, restart, drain, failover) stream output line-by-line over SSE.</a:t>
            </a:r>
          </a:p>
          <a:p>
            <a:pPr algn="l" marL="146304" indent="-146304">
              <a:lnSpc>
                <a:spcPct val="130000"/>
              </a:lnSpc>
              <a:spcBef>
                <a:spcPts val="324"/>
              </a:spcBef>
              <a:buClr>
                <a:srgbClr val="A78BFA"/>
              </a:buClr>
              <a:buFont typeface="Arial"/>
              <a:buChar char="•"/>
            </a:pPr>
            <a:r>
              <a:rPr sz="919" b="0" i="0">
                <a:solidFill>
                  <a:srgbClr val="9DB0C6"/>
                </a:solidFill>
                <a:latin typeface="Segoe UI"/>
              </a:rPr>
              <a:t>Every run persists to ops_command_runs with operator, exit code and full output.</a:t>
            </a:r>
          </a:p>
          <a:p>
            <a:pPr algn="l" marL="146304" indent="-146304">
              <a:lnSpc>
                <a:spcPct val="130000"/>
              </a:lnSpc>
              <a:spcBef>
                <a:spcPts val="324"/>
              </a:spcBef>
              <a:buClr>
                <a:srgbClr val="A78BFA"/>
              </a:buClr>
              <a:buFont typeface="Arial"/>
              <a:buChar char="•"/>
            </a:pPr>
            <a:r>
              <a:rPr sz="919" b="0" i="0">
                <a:solidFill>
                  <a:srgbClr val="9DB0C6"/>
                </a:solidFill>
                <a:latin typeface="Segoe UI"/>
              </a:rPr>
              <a:t>Risky runbooks apply real topology effects and can fail closed with an exit-1 trail.</a:t>
            </a:r>
          </a:p>
        </p:txBody>
      </p:sp>
      <p:sp>
        <p:nvSpPr>
          <p:cNvPr id="23" name="Rounded Rectangle 22"/>
          <p:cNvSpPr/>
          <p:nvPr/>
        </p:nvSpPr>
        <p:spPr>
          <a:xfrm>
            <a:off x="566928" y="4169663"/>
            <a:ext cx="7187184" cy="1956816"/>
          </a:xfrm>
          <a:prstGeom prst="roundRect">
            <a:avLst>
              <a:gd name="adj" fmla="val 4205"/>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731520" y="4297680"/>
            <a:ext cx="3657600" cy="164592"/>
          </a:xfrm>
          <a:prstGeom prst="rect">
            <a:avLst/>
          </a:prstGeom>
          <a:noFill/>
        </p:spPr>
        <p:txBody>
          <a:bodyPr wrap="square" lIns="0" rIns="0" tIns="0" bIns="0" anchor="t">
            <a:noAutofit/>
          </a:bodyPr>
          <a:lstStyle/>
          <a:p>
            <a:pPr algn="l">
              <a:lnSpc>
                <a:spcPct val="122000"/>
              </a:lnSpc>
            </a:pPr>
            <a:r>
              <a:rPr sz="690" b="0" i="0" spc="120">
                <a:solidFill>
                  <a:srgbClr val="7DD3FC"/>
                </a:solidFill>
                <a:latin typeface="Consolas"/>
              </a:rPr>
              <a:t>STATUS DERIVATION</a:t>
            </a:r>
          </a:p>
        </p:txBody>
      </p:sp>
      <p:sp>
        <p:nvSpPr>
          <p:cNvPr id="25" name="Oval 24"/>
          <p:cNvSpPr/>
          <p:nvPr/>
        </p:nvSpPr>
        <p:spPr>
          <a:xfrm>
            <a:off x="768096" y="4640579"/>
            <a:ext cx="78638" cy="7863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 y="4590288"/>
            <a:ext cx="822960" cy="164592"/>
          </a:xfrm>
          <a:prstGeom prst="rect">
            <a:avLst/>
          </a:prstGeom>
          <a:noFill/>
        </p:spPr>
        <p:txBody>
          <a:bodyPr wrap="square" lIns="0" rIns="0" tIns="0" bIns="0" anchor="t">
            <a:noAutofit/>
          </a:bodyPr>
          <a:lstStyle/>
          <a:p>
            <a:pPr algn="l">
              <a:lnSpc>
                <a:spcPct val="122000"/>
              </a:lnSpc>
            </a:pPr>
            <a:r>
              <a:rPr sz="740" b="0" i="0" spc="60">
                <a:solidFill>
                  <a:srgbClr val="FB7185"/>
                </a:solidFill>
                <a:latin typeface="Consolas"/>
              </a:rPr>
              <a:t>CRITICAL</a:t>
            </a:r>
          </a:p>
        </p:txBody>
      </p:sp>
      <p:sp>
        <p:nvSpPr>
          <p:cNvPr id="27" name="TextBox 26"/>
          <p:cNvSpPr txBox="1"/>
          <p:nvPr/>
        </p:nvSpPr>
        <p:spPr>
          <a:xfrm>
            <a:off x="1810512" y="4590288"/>
            <a:ext cx="5669280" cy="164592"/>
          </a:xfrm>
          <a:prstGeom prst="rect">
            <a:avLst/>
          </a:prstGeom>
          <a:noFill/>
        </p:spPr>
        <p:txBody>
          <a:bodyPr wrap="square" lIns="0" rIns="0" tIns="0" bIns="0" anchor="t">
            <a:noAutofit/>
          </a:bodyPr>
          <a:lstStyle/>
          <a:p>
            <a:pPr algn="l">
              <a:lnSpc>
                <a:spcPct val="122000"/>
              </a:lnSpc>
            </a:pPr>
            <a:r>
              <a:rPr sz="760" b="0" i="0">
                <a:solidFill>
                  <a:srgbClr val="9DB0C6"/>
                </a:solidFill>
                <a:latin typeface="Segoe UI"/>
              </a:rPr>
              <a:t>cpu &gt; 92   ·   err &gt; 5   ·   uptime &lt; 98.5</a:t>
            </a:r>
          </a:p>
        </p:txBody>
      </p:sp>
      <p:sp>
        <p:nvSpPr>
          <p:cNvPr id="28" name="Oval 27"/>
          <p:cNvSpPr/>
          <p:nvPr/>
        </p:nvSpPr>
        <p:spPr>
          <a:xfrm>
            <a:off x="768096" y="5006340"/>
            <a:ext cx="78638" cy="7863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4956048"/>
            <a:ext cx="822960" cy="164592"/>
          </a:xfrm>
          <a:prstGeom prst="rect">
            <a:avLst/>
          </a:prstGeom>
          <a:noFill/>
        </p:spPr>
        <p:txBody>
          <a:bodyPr wrap="square" lIns="0" rIns="0" tIns="0" bIns="0" anchor="t">
            <a:noAutofit/>
          </a:bodyPr>
          <a:lstStyle/>
          <a:p>
            <a:pPr algn="l">
              <a:lnSpc>
                <a:spcPct val="122000"/>
              </a:lnSpc>
            </a:pPr>
            <a:r>
              <a:rPr sz="740" b="0" i="0" spc="60">
                <a:solidFill>
                  <a:srgbClr val="FBBF24"/>
                </a:solidFill>
                <a:latin typeface="Consolas"/>
              </a:rPr>
              <a:t>DEGRADED</a:t>
            </a:r>
          </a:p>
        </p:txBody>
      </p:sp>
      <p:sp>
        <p:nvSpPr>
          <p:cNvPr id="30" name="TextBox 29"/>
          <p:cNvSpPr txBox="1"/>
          <p:nvPr/>
        </p:nvSpPr>
        <p:spPr>
          <a:xfrm>
            <a:off x="1810512" y="4956048"/>
            <a:ext cx="5669280" cy="164592"/>
          </a:xfrm>
          <a:prstGeom prst="rect">
            <a:avLst/>
          </a:prstGeom>
          <a:noFill/>
        </p:spPr>
        <p:txBody>
          <a:bodyPr wrap="square" lIns="0" rIns="0" tIns="0" bIns="0" anchor="t">
            <a:noAutofit/>
          </a:bodyPr>
          <a:lstStyle/>
          <a:p>
            <a:pPr algn="l">
              <a:lnSpc>
                <a:spcPct val="122000"/>
              </a:lnSpc>
            </a:pPr>
            <a:r>
              <a:rPr sz="760" b="0" i="0">
                <a:solidFill>
                  <a:srgbClr val="9DB0C6"/>
                </a:solidFill>
                <a:latin typeface="Segoe UI"/>
              </a:rPr>
              <a:t>cpu &gt; 79   ·   err &gt; 1.4   ·   mem &gt; 88</a:t>
            </a:r>
          </a:p>
        </p:txBody>
      </p:sp>
      <p:sp>
        <p:nvSpPr>
          <p:cNvPr id="31" name="Oval 30"/>
          <p:cNvSpPr/>
          <p:nvPr/>
        </p:nvSpPr>
        <p:spPr>
          <a:xfrm>
            <a:off x="768096" y="5372100"/>
            <a:ext cx="78638" cy="7863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 y="5321808"/>
            <a:ext cx="822960" cy="164592"/>
          </a:xfrm>
          <a:prstGeom prst="rect">
            <a:avLst/>
          </a:prstGeom>
          <a:noFill/>
        </p:spPr>
        <p:txBody>
          <a:bodyPr wrap="square" lIns="0" rIns="0" tIns="0" bIns="0" anchor="t">
            <a:noAutofit/>
          </a:bodyPr>
          <a:lstStyle/>
          <a:p>
            <a:pPr algn="l">
              <a:lnSpc>
                <a:spcPct val="122000"/>
              </a:lnSpc>
            </a:pPr>
            <a:r>
              <a:rPr sz="740" b="0" i="0" spc="60">
                <a:solidFill>
                  <a:srgbClr val="34D399"/>
                </a:solidFill>
                <a:latin typeface="Consolas"/>
              </a:rPr>
              <a:t>GROUPS</a:t>
            </a:r>
          </a:p>
        </p:txBody>
      </p:sp>
      <p:sp>
        <p:nvSpPr>
          <p:cNvPr id="33" name="TextBox 32"/>
          <p:cNvSpPr txBox="1"/>
          <p:nvPr/>
        </p:nvSpPr>
        <p:spPr>
          <a:xfrm>
            <a:off x="1810512" y="5321808"/>
            <a:ext cx="5669280" cy="164592"/>
          </a:xfrm>
          <a:prstGeom prst="rect">
            <a:avLst/>
          </a:prstGeom>
          <a:noFill/>
        </p:spPr>
        <p:txBody>
          <a:bodyPr wrap="square" lIns="0" rIns="0" tIns="0" bIns="0" anchor="t">
            <a:noAutofit/>
          </a:bodyPr>
          <a:lstStyle/>
          <a:p>
            <a:pPr algn="l">
              <a:lnSpc>
                <a:spcPct val="122000"/>
              </a:lnSpc>
            </a:pPr>
            <a:r>
              <a:rPr sz="760" b="0" i="0">
                <a:solidFill>
                  <a:srgbClr val="9DB0C6"/>
                </a:solidFill>
                <a:latin typeface="Segoe UI"/>
              </a:rPr>
              <a:t>worst child wins — maintenance excluded</a:t>
            </a:r>
          </a:p>
        </p:txBody>
      </p:sp>
      <p:sp>
        <p:nvSpPr>
          <p:cNvPr id="34" name="Oval 33"/>
          <p:cNvSpPr/>
          <p:nvPr/>
        </p:nvSpPr>
        <p:spPr>
          <a:xfrm>
            <a:off x="768096" y="5737860"/>
            <a:ext cx="78638" cy="78638"/>
          </a:xfrm>
          <a:prstGeom prst="ellipse">
            <a:avLst/>
          </a:prstGeom>
          <a:solidFill>
            <a:srgbClr val="9DB0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2688" y="5687568"/>
            <a:ext cx="822960" cy="164592"/>
          </a:xfrm>
          <a:prstGeom prst="rect">
            <a:avLst/>
          </a:prstGeom>
          <a:noFill/>
        </p:spPr>
        <p:txBody>
          <a:bodyPr wrap="square" lIns="0" rIns="0" tIns="0" bIns="0" anchor="t">
            <a:noAutofit/>
          </a:bodyPr>
          <a:lstStyle/>
          <a:p>
            <a:pPr algn="l">
              <a:lnSpc>
                <a:spcPct val="122000"/>
              </a:lnSpc>
            </a:pPr>
            <a:r>
              <a:rPr sz="740" b="0" i="0" spc="60">
                <a:solidFill>
                  <a:srgbClr val="9DB0C6"/>
                </a:solidFill>
                <a:latin typeface="Consolas"/>
              </a:rPr>
              <a:t>OFFLINE</a:t>
            </a:r>
          </a:p>
        </p:txBody>
      </p:sp>
      <p:sp>
        <p:nvSpPr>
          <p:cNvPr id="36" name="TextBox 35"/>
          <p:cNvSpPr txBox="1"/>
          <p:nvPr/>
        </p:nvSpPr>
        <p:spPr>
          <a:xfrm>
            <a:off x="1810512" y="5687568"/>
            <a:ext cx="5669280" cy="164592"/>
          </a:xfrm>
          <a:prstGeom prst="rect">
            <a:avLst/>
          </a:prstGeom>
          <a:noFill/>
        </p:spPr>
        <p:txBody>
          <a:bodyPr wrap="square" lIns="0" rIns="0" tIns="0" bIns="0" anchor="t">
            <a:noAutofit/>
          </a:bodyPr>
          <a:lstStyle/>
          <a:p>
            <a:pPr algn="l">
              <a:lnSpc>
                <a:spcPct val="122000"/>
              </a:lnSpc>
            </a:pPr>
            <a:r>
              <a:rPr sz="760" b="0" i="0">
                <a:solidFill>
                  <a:srgbClr val="9DB0C6"/>
                </a:solidFill>
                <a:latin typeface="Segoe UI"/>
              </a:rPr>
              <a:t>the agent is silent — rows freeze at zero</a:t>
            </a:r>
          </a:p>
        </p:txBody>
      </p:sp>
      <p:sp>
        <p:nvSpPr>
          <p:cNvPr id="37" name="Rounded Rectangle 36"/>
          <p:cNvSpPr/>
          <p:nvPr/>
        </p:nvSpPr>
        <p:spPr>
          <a:xfrm>
            <a:off x="7918704" y="4169663"/>
            <a:ext cx="3703320" cy="1956816"/>
          </a:xfrm>
          <a:prstGeom prst="roundRect">
            <a:avLst>
              <a:gd name="adj" fmla="val 4205"/>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TextBox 37"/>
          <p:cNvSpPr txBox="1"/>
          <p:nvPr/>
        </p:nvSpPr>
        <p:spPr>
          <a:xfrm>
            <a:off x="8083296" y="4297679"/>
            <a:ext cx="3383280" cy="164592"/>
          </a:xfrm>
          <a:prstGeom prst="rect">
            <a:avLst/>
          </a:prstGeom>
          <a:noFill/>
        </p:spPr>
        <p:txBody>
          <a:bodyPr wrap="square" lIns="0" rIns="0" tIns="0" bIns="0" anchor="t">
            <a:noAutofit/>
          </a:bodyPr>
          <a:lstStyle/>
          <a:p>
            <a:pPr algn="l">
              <a:lnSpc>
                <a:spcPct val="122000"/>
              </a:lnSpc>
            </a:pPr>
            <a:r>
              <a:rPr sz="690" b="0" i="0" spc="120">
                <a:solidFill>
                  <a:srgbClr val="FBBF24"/>
                </a:solidFill>
                <a:latin typeface="Consolas"/>
              </a:rPr>
              <a:t>WHY AVERAGES, NOT SUMS</a:t>
            </a:r>
          </a:p>
        </p:txBody>
      </p:sp>
      <p:sp>
        <p:nvSpPr>
          <p:cNvPr id="39" name="TextBox 38"/>
          <p:cNvSpPr txBox="1"/>
          <p:nvPr/>
        </p:nvSpPr>
        <p:spPr>
          <a:xfrm>
            <a:off x="8083296" y="4571999"/>
            <a:ext cx="658368" cy="146304"/>
          </a:xfrm>
          <a:prstGeom prst="rect">
            <a:avLst/>
          </a:prstGeom>
          <a:noFill/>
        </p:spPr>
        <p:txBody>
          <a:bodyPr wrap="square" lIns="0" rIns="0" tIns="0" bIns="0" anchor="t">
            <a:noAutofit/>
          </a:bodyPr>
          <a:lstStyle/>
          <a:p>
            <a:pPr algn="l">
              <a:lnSpc>
                <a:spcPct val="122000"/>
              </a:lnSpc>
            </a:pPr>
            <a:r>
              <a:rPr sz="660" b="0" i="0">
                <a:solidFill>
                  <a:srgbClr val="9DB0C6"/>
                </a:solidFill>
                <a:latin typeface="Consolas"/>
              </a:rPr>
              <a:t>host</a:t>
            </a:r>
          </a:p>
        </p:txBody>
      </p:sp>
      <p:sp>
        <p:nvSpPr>
          <p:cNvPr id="40" name="Rounded Rectangle 39"/>
          <p:cNvSpPr/>
          <p:nvPr/>
        </p:nvSpPr>
        <p:spPr>
          <a:xfrm>
            <a:off x="8778240" y="4599431"/>
            <a:ext cx="1920240" cy="91440"/>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1" name="Rounded Rectangle 40"/>
          <p:cNvSpPr/>
          <p:nvPr/>
        </p:nvSpPr>
        <p:spPr>
          <a:xfrm>
            <a:off x="8778240" y="4599431"/>
            <a:ext cx="1190548" cy="91440"/>
          </a:xfrm>
          <a:prstGeom prst="roundRect">
            <a:avLst>
              <a:gd name="adj" fmla="val 50000"/>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TextBox 41"/>
          <p:cNvSpPr txBox="1"/>
          <p:nvPr/>
        </p:nvSpPr>
        <p:spPr>
          <a:xfrm>
            <a:off x="10771632" y="4562855"/>
            <a:ext cx="658368" cy="146304"/>
          </a:xfrm>
          <a:prstGeom prst="rect">
            <a:avLst/>
          </a:prstGeom>
          <a:noFill/>
        </p:spPr>
        <p:txBody>
          <a:bodyPr wrap="square" lIns="0" rIns="0" tIns="0" bIns="0" anchor="t">
            <a:noAutofit/>
          </a:bodyPr>
          <a:lstStyle/>
          <a:p>
            <a:pPr algn="r">
              <a:lnSpc>
                <a:spcPct val="122000"/>
              </a:lnSpc>
            </a:pPr>
            <a:r>
              <a:rPr sz="640" b="0" i="0">
                <a:solidFill>
                  <a:srgbClr val="9DB0C6"/>
                </a:solidFill>
                <a:latin typeface="Consolas"/>
              </a:rPr>
              <a:t>62.0%</a:t>
            </a:r>
          </a:p>
        </p:txBody>
      </p:sp>
      <p:sp>
        <p:nvSpPr>
          <p:cNvPr id="43" name="TextBox 42"/>
          <p:cNvSpPr txBox="1"/>
          <p:nvPr/>
        </p:nvSpPr>
        <p:spPr>
          <a:xfrm>
            <a:off x="8083296" y="4837175"/>
            <a:ext cx="658368" cy="146304"/>
          </a:xfrm>
          <a:prstGeom prst="rect">
            <a:avLst/>
          </a:prstGeom>
          <a:noFill/>
        </p:spPr>
        <p:txBody>
          <a:bodyPr wrap="square" lIns="0" rIns="0" tIns="0" bIns="0" anchor="t">
            <a:noAutofit/>
          </a:bodyPr>
          <a:lstStyle/>
          <a:p>
            <a:pPr algn="l">
              <a:lnSpc>
                <a:spcPct val="122000"/>
              </a:lnSpc>
            </a:pPr>
            <a:r>
              <a:rPr sz="660" b="0" i="0">
                <a:solidFill>
                  <a:srgbClr val="9DB0C6"/>
                </a:solidFill>
                <a:latin typeface="Consolas"/>
              </a:rPr>
              <a:t>pod</a:t>
            </a:r>
          </a:p>
        </p:txBody>
      </p:sp>
      <p:sp>
        <p:nvSpPr>
          <p:cNvPr id="44" name="Rounded Rectangle 43"/>
          <p:cNvSpPr/>
          <p:nvPr/>
        </p:nvSpPr>
        <p:spPr>
          <a:xfrm>
            <a:off x="8778240" y="4864607"/>
            <a:ext cx="1920240" cy="91440"/>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5" name="Rounded Rectangle 44"/>
          <p:cNvSpPr/>
          <p:nvPr/>
        </p:nvSpPr>
        <p:spPr>
          <a:xfrm>
            <a:off x="8778240" y="4864607"/>
            <a:ext cx="1179027" cy="91440"/>
          </a:xfrm>
          <a:prstGeom prst="roundRect">
            <a:avLst>
              <a:gd name="adj" fmla="val 50000"/>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6" name="TextBox 45"/>
          <p:cNvSpPr txBox="1"/>
          <p:nvPr/>
        </p:nvSpPr>
        <p:spPr>
          <a:xfrm>
            <a:off x="10771632" y="4828031"/>
            <a:ext cx="658368" cy="146304"/>
          </a:xfrm>
          <a:prstGeom prst="rect">
            <a:avLst/>
          </a:prstGeom>
          <a:noFill/>
        </p:spPr>
        <p:txBody>
          <a:bodyPr wrap="square" lIns="0" rIns="0" tIns="0" bIns="0" anchor="t">
            <a:noAutofit/>
          </a:bodyPr>
          <a:lstStyle/>
          <a:p>
            <a:pPr algn="r">
              <a:lnSpc>
                <a:spcPct val="122000"/>
              </a:lnSpc>
            </a:pPr>
            <a:r>
              <a:rPr sz="640" b="0" i="0">
                <a:solidFill>
                  <a:srgbClr val="9DB0C6"/>
                </a:solidFill>
                <a:latin typeface="Consolas"/>
              </a:rPr>
              <a:t>61.4%</a:t>
            </a:r>
          </a:p>
        </p:txBody>
      </p:sp>
      <p:sp>
        <p:nvSpPr>
          <p:cNvPr id="47" name="TextBox 46"/>
          <p:cNvSpPr txBox="1"/>
          <p:nvPr/>
        </p:nvSpPr>
        <p:spPr>
          <a:xfrm>
            <a:off x="8083296" y="5102351"/>
            <a:ext cx="658368" cy="146304"/>
          </a:xfrm>
          <a:prstGeom prst="rect">
            <a:avLst/>
          </a:prstGeom>
          <a:noFill/>
        </p:spPr>
        <p:txBody>
          <a:bodyPr wrap="square" lIns="0" rIns="0" tIns="0" bIns="0" anchor="t">
            <a:noAutofit/>
          </a:bodyPr>
          <a:lstStyle/>
          <a:p>
            <a:pPr algn="l">
              <a:lnSpc>
                <a:spcPct val="122000"/>
              </a:lnSpc>
            </a:pPr>
            <a:r>
              <a:rPr sz="660" b="0" i="0">
                <a:solidFill>
                  <a:srgbClr val="9DB0C6"/>
                </a:solidFill>
                <a:latin typeface="Consolas"/>
              </a:rPr>
              <a:t>service</a:t>
            </a:r>
          </a:p>
        </p:txBody>
      </p:sp>
      <p:sp>
        <p:nvSpPr>
          <p:cNvPr id="48" name="Rounded Rectangle 47"/>
          <p:cNvSpPr/>
          <p:nvPr/>
        </p:nvSpPr>
        <p:spPr>
          <a:xfrm>
            <a:off x="8778240" y="5129783"/>
            <a:ext cx="1920240" cy="91440"/>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9" name="Rounded Rectangle 48"/>
          <p:cNvSpPr/>
          <p:nvPr/>
        </p:nvSpPr>
        <p:spPr>
          <a:xfrm>
            <a:off x="8778240" y="5129783"/>
            <a:ext cx="1167505" cy="91440"/>
          </a:xfrm>
          <a:prstGeom prst="roundRect">
            <a:avLst>
              <a:gd name="adj" fmla="val 50000"/>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0" name="TextBox 49"/>
          <p:cNvSpPr txBox="1"/>
          <p:nvPr/>
        </p:nvSpPr>
        <p:spPr>
          <a:xfrm>
            <a:off x="10771632" y="5093207"/>
            <a:ext cx="658368" cy="146304"/>
          </a:xfrm>
          <a:prstGeom prst="rect">
            <a:avLst/>
          </a:prstGeom>
          <a:noFill/>
        </p:spPr>
        <p:txBody>
          <a:bodyPr wrap="square" lIns="0" rIns="0" tIns="0" bIns="0" anchor="t">
            <a:noAutofit/>
          </a:bodyPr>
          <a:lstStyle/>
          <a:p>
            <a:pPr algn="r">
              <a:lnSpc>
                <a:spcPct val="122000"/>
              </a:lnSpc>
            </a:pPr>
            <a:r>
              <a:rPr sz="640" b="0" i="0">
                <a:solidFill>
                  <a:srgbClr val="9DB0C6"/>
                </a:solidFill>
                <a:latin typeface="Consolas"/>
              </a:rPr>
              <a:t>60.8%</a:t>
            </a:r>
          </a:p>
        </p:txBody>
      </p:sp>
      <p:sp>
        <p:nvSpPr>
          <p:cNvPr id="51" name="TextBox 50"/>
          <p:cNvSpPr txBox="1"/>
          <p:nvPr/>
        </p:nvSpPr>
        <p:spPr>
          <a:xfrm>
            <a:off x="8083296" y="5367527"/>
            <a:ext cx="658368" cy="146304"/>
          </a:xfrm>
          <a:prstGeom prst="rect">
            <a:avLst/>
          </a:prstGeom>
          <a:noFill/>
        </p:spPr>
        <p:txBody>
          <a:bodyPr wrap="square" lIns="0" rIns="0" tIns="0" bIns="0" anchor="t">
            <a:noAutofit/>
          </a:bodyPr>
          <a:lstStyle/>
          <a:p>
            <a:pPr algn="l">
              <a:lnSpc>
                <a:spcPct val="122000"/>
              </a:lnSpc>
            </a:pPr>
            <a:r>
              <a:rPr sz="660" b="0" i="0">
                <a:solidFill>
                  <a:srgbClr val="9DB0C6"/>
                </a:solidFill>
                <a:latin typeface="Consolas"/>
              </a:rPr>
              <a:t>group</a:t>
            </a:r>
          </a:p>
        </p:txBody>
      </p:sp>
      <p:sp>
        <p:nvSpPr>
          <p:cNvPr id="52" name="Rounded Rectangle 51"/>
          <p:cNvSpPr/>
          <p:nvPr/>
        </p:nvSpPr>
        <p:spPr>
          <a:xfrm>
            <a:off x="8778240" y="5394959"/>
            <a:ext cx="1920240" cy="91440"/>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3" name="Rounded Rectangle 52"/>
          <p:cNvSpPr/>
          <p:nvPr/>
        </p:nvSpPr>
        <p:spPr>
          <a:xfrm>
            <a:off x="8778240" y="5394959"/>
            <a:ext cx="1161745" cy="91440"/>
          </a:xfrm>
          <a:prstGeom prst="roundRect">
            <a:avLst>
              <a:gd name="adj" fmla="val 50000"/>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4" name="TextBox 53"/>
          <p:cNvSpPr txBox="1"/>
          <p:nvPr/>
        </p:nvSpPr>
        <p:spPr>
          <a:xfrm>
            <a:off x="10771632" y="5358383"/>
            <a:ext cx="658368" cy="146304"/>
          </a:xfrm>
          <a:prstGeom prst="rect">
            <a:avLst/>
          </a:prstGeom>
          <a:noFill/>
        </p:spPr>
        <p:txBody>
          <a:bodyPr wrap="square" lIns="0" rIns="0" tIns="0" bIns="0" anchor="t">
            <a:noAutofit/>
          </a:bodyPr>
          <a:lstStyle/>
          <a:p>
            <a:pPr algn="r">
              <a:lnSpc>
                <a:spcPct val="122000"/>
              </a:lnSpc>
            </a:pPr>
            <a:r>
              <a:rPr sz="640" b="0" i="0">
                <a:solidFill>
                  <a:srgbClr val="9DB0C6"/>
                </a:solidFill>
                <a:latin typeface="Consolas"/>
              </a:rPr>
              <a:t>60.5%</a:t>
            </a:r>
          </a:p>
        </p:txBody>
      </p:sp>
      <p:sp>
        <p:nvSpPr>
          <p:cNvPr id="55" name="TextBox 54"/>
          <p:cNvSpPr txBox="1"/>
          <p:nvPr/>
        </p:nvSpPr>
        <p:spPr>
          <a:xfrm>
            <a:off x="8083296" y="5632704"/>
            <a:ext cx="3401568" cy="420624"/>
          </a:xfrm>
          <a:prstGeom prst="rect">
            <a:avLst/>
          </a:prstGeom>
          <a:noFill/>
        </p:spPr>
        <p:txBody>
          <a:bodyPr wrap="square" lIns="0" rIns="0" tIns="0" bIns="0" anchor="t">
            <a:noAutofit/>
          </a:bodyPr>
          <a:lstStyle/>
          <a:p>
            <a:pPr algn="l">
              <a:lnSpc>
                <a:spcPct val="125000"/>
              </a:lnSpc>
            </a:pPr>
            <a:r>
              <a:rPr sz="720" b="0" i="0">
                <a:solidFill>
                  <a:srgbClr val="9DB0C6"/>
                </a:solidFill>
                <a:latin typeface="Segoe UI"/>
              </a:rPr>
              <a:t>The same request is seen at four levels. Averaging per level keeps RPS honest; summing compounds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1.5 · DATA MODEL</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Five tables, one self-referencing tree</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ops_nodes holds the hierarchy. Everything else hangs off it with cascading deletes, and sample history is pruned to a rolling 50-minute window.</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ARCHITECTURE</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09 / 27</a:t>
            </a:r>
          </a:p>
        </p:txBody>
      </p:sp>
      <p:sp>
        <p:nvSpPr>
          <p:cNvPr id="11" name="Rounded Rectangle 10"/>
          <p:cNvSpPr/>
          <p:nvPr/>
        </p:nvSpPr>
        <p:spPr>
          <a:xfrm>
            <a:off x="566928" y="1783080"/>
            <a:ext cx="2761488" cy="3877056"/>
          </a:xfrm>
          <a:prstGeom prst="roundRect">
            <a:avLst>
              <a:gd name="adj" fmla="val 2649"/>
            </a:avLst>
          </a:prstGeom>
          <a:solidFill>
            <a:srgbClr val="14202F"/>
          </a:solidFill>
          <a:ln w="9525">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713232" y="1901952"/>
            <a:ext cx="2487168" cy="164592"/>
          </a:xfrm>
          <a:prstGeom prst="rect">
            <a:avLst/>
          </a:prstGeom>
          <a:noFill/>
        </p:spPr>
        <p:txBody>
          <a:bodyPr wrap="square" lIns="0" rIns="0" tIns="0" bIns="0" anchor="t">
            <a:noAutofit/>
          </a:bodyPr>
          <a:lstStyle/>
          <a:p>
            <a:pPr algn="l">
              <a:lnSpc>
                <a:spcPct val="122000"/>
              </a:lnSpc>
            </a:pPr>
            <a:r>
              <a:rPr sz="1100" b="1" i="0">
                <a:solidFill>
                  <a:srgbClr val="F4F8FC"/>
                </a:solidFill>
                <a:latin typeface="Consolas"/>
              </a:rPr>
              <a:t>ops_nodes</a:t>
            </a:r>
          </a:p>
        </p:txBody>
      </p:sp>
      <p:sp>
        <p:nvSpPr>
          <p:cNvPr id="13" name="TextBox 12"/>
          <p:cNvSpPr txBox="1"/>
          <p:nvPr/>
        </p:nvSpPr>
        <p:spPr>
          <a:xfrm>
            <a:off x="713232" y="2112264"/>
            <a:ext cx="2487168" cy="146304"/>
          </a:xfrm>
          <a:prstGeom prst="rect">
            <a:avLst/>
          </a:prstGeom>
          <a:noFill/>
        </p:spPr>
        <p:txBody>
          <a:bodyPr wrap="square" lIns="0" rIns="0" tIns="0" bIns="0" anchor="t">
            <a:noAutofit/>
          </a:bodyPr>
          <a:lstStyle/>
          <a:p>
            <a:pPr algn="l">
              <a:lnSpc>
                <a:spcPct val="122000"/>
              </a:lnSpc>
            </a:pPr>
            <a:r>
              <a:rPr sz="650" b="0" i="0">
                <a:solidFill>
                  <a:srgbClr val="7DD3FC"/>
                </a:solidFill>
                <a:latin typeface="Consolas"/>
              </a:rPr>
              <a:t>the tree · self-referencing</a:t>
            </a:r>
          </a:p>
        </p:txBody>
      </p:sp>
      <p:cxnSp>
        <p:nvCxnSpPr>
          <p:cNvPr id="14" name="Connector 13"/>
          <p:cNvCxnSpPr/>
          <p:nvPr/>
        </p:nvCxnSpPr>
        <p:spPr>
          <a:xfrm>
            <a:off x="694944" y="2304288"/>
            <a:ext cx="2505456" cy="0"/>
          </a:xfrm>
          <a:prstGeom prst="line">
            <a:avLst/>
          </a:prstGeom>
          <a:ln w="8890">
            <a:solidFill>
              <a:srgbClr val="1E2C3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13232" y="2404872"/>
            <a:ext cx="822960" cy="146304"/>
          </a:xfrm>
          <a:prstGeom prst="rect">
            <a:avLst/>
          </a:prstGeom>
          <a:noFill/>
        </p:spPr>
        <p:txBody>
          <a:bodyPr wrap="square" lIns="0" rIns="0" tIns="0" bIns="0" anchor="t">
            <a:noAutofit/>
          </a:bodyPr>
          <a:lstStyle/>
          <a:p>
            <a:pPr algn="l">
              <a:lnSpc>
                <a:spcPct val="122000"/>
              </a:lnSpc>
            </a:pPr>
            <a:r>
              <a:rPr sz="650" b="0" i="0">
                <a:solidFill>
                  <a:srgbClr val="F4F8FC"/>
                </a:solidFill>
                <a:latin typeface="Consolas"/>
              </a:rPr>
              <a:t>id</a:t>
            </a:r>
          </a:p>
        </p:txBody>
      </p:sp>
      <p:sp>
        <p:nvSpPr>
          <p:cNvPr id="16" name="TextBox 15"/>
          <p:cNvSpPr txBox="1"/>
          <p:nvPr/>
        </p:nvSpPr>
        <p:spPr>
          <a:xfrm>
            <a:off x="1572768" y="2404872"/>
            <a:ext cx="1609344"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Consolas"/>
              </a:rPr>
              <a:t>text · PK</a:t>
            </a:r>
          </a:p>
        </p:txBody>
      </p:sp>
      <p:sp>
        <p:nvSpPr>
          <p:cNvPr id="17" name="TextBox 16"/>
          <p:cNvSpPr txBox="1"/>
          <p:nvPr/>
        </p:nvSpPr>
        <p:spPr>
          <a:xfrm>
            <a:off x="713232" y="2619756"/>
            <a:ext cx="822960" cy="146304"/>
          </a:xfrm>
          <a:prstGeom prst="rect">
            <a:avLst/>
          </a:prstGeom>
          <a:noFill/>
        </p:spPr>
        <p:txBody>
          <a:bodyPr wrap="square" lIns="0" rIns="0" tIns="0" bIns="0" anchor="t">
            <a:noAutofit/>
          </a:bodyPr>
          <a:lstStyle/>
          <a:p>
            <a:pPr algn="l">
              <a:lnSpc>
                <a:spcPct val="122000"/>
              </a:lnSpc>
            </a:pPr>
            <a:r>
              <a:rPr sz="650" b="0" i="0">
                <a:solidFill>
                  <a:srgbClr val="F4F8FC"/>
                </a:solidFill>
                <a:latin typeface="Consolas"/>
              </a:rPr>
              <a:t>parent_id</a:t>
            </a:r>
          </a:p>
        </p:txBody>
      </p:sp>
      <p:sp>
        <p:nvSpPr>
          <p:cNvPr id="18" name="TextBox 17"/>
          <p:cNvSpPr txBox="1"/>
          <p:nvPr/>
        </p:nvSpPr>
        <p:spPr>
          <a:xfrm>
            <a:off x="1572768" y="2619756"/>
            <a:ext cx="1609344"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Consolas"/>
              </a:rPr>
              <a:t>FK → ops_nodes</a:t>
            </a:r>
          </a:p>
        </p:txBody>
      </p:sp>
      <p:sp>
        <p:nvSpPr>
          <p:cNvPr id="19" name="TextBox 18"/>
          <p:cNvSpPr txBox="1"/>
          <p:nvPr/>
        </p:nvSpPr>
        <p:spPr>
          <a:xfrm>
            <a:off x="713232" y="2834639"/>
            <a:ext cx="822960" cy="146304"/>
          </a:xfrm>
          <a:prstGeom prst="rect">
            <a:avLst/>
          </a:prstGeom>
          <a:noFill/>
        </p:spPr>
        <p:txBody>
          <a:bodyPr wrap="square" lIns="0" rIns="0" tIns="0" bIns="0" anchor="t">
            <a:noAutofit/>
          </a:bodyPr>
          <a:lstStyle/>
          <a:p>
            <a:pPr algn="l">
              <a:lnSpc>
                <a:spcPct val="122000"/>
              </a:lnSpc>
            </a:pPr>
            <a:r>
              <a:rPr sz="650" b="0" i="0">
                <a:solidFill>
                  <a:srgbClr val="F4F8FC"/>
                </a:solidFill>
                <a:latin typeface="Consolas"/>
              </a:rPr>
              <a:t>name</a:t>
            </a:r>
          </a:p>
        </p:txBody>
      </p:sp>
      <p:sp>
        <p:nvSpPr>
          <p:cNvPr id="20" name="TextBox 19"/>
          <p:cNvSpPr txBox="1"/>
          <p:nvPr/>
        </p:nvSpPr>
        <p:spPr>
          <a:xfrm>
            <a:off x="1572768" y="2834639"/>
            <a:ext cx="1609344"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Consolas"/>
              </a:rPr>
              <a:t>label on the card</a:t>
            </a:r>
          </a:p>
        </p:txBody>
      </p:sp>
      <p:sp>
        <p:nvSpPr>
          <p:cNvPr id="21" name="TextBox 20"/>
          <p:cNvSpPr txBox="1"/>
          <p:nvPr/>
        </p:nvSpPr>
        <p:spPr>
          <a:xfrm>
            <a:off x="713232" y="3049523"/>
            <a:ext cx="822960" cy="146304"/>
          </a:xfrm>
          <a:prstGeom prst="rect">
            <a:avLst/>
          </a:prstGeom>
          <a:noFill/>
        </p:spPr>
        <p:txBody>
          <a:bodyPr wrap="square" lIns="0" rIns="0" tIns="0" bIns="0" anchor="t">
            <a:noAutofit/>
          </a:bodyPr>
          <a:lstStyle/>
          <a:p>
            <a:pPr algn="l">
              <a:lnSpc>
                <a:spcPct val="122000"/>
              </a:lnSpc>
            </a:pPr>
            <a:r>
              <a:rPr sz="650" b="0" i="0">
                <a:solidFill>
                  <a:srgbClr val="F4F8FC"/>
                </a:solidFill>
                <a:latin typeface="Consolas"/>
              </a:rPr>
              <a:t>type</a:t>
            </a:r>
          </a:p>
        </p:txBody>
      </p:sp>
      <p:sp>
        <p:nvSpPr>
          <p:cNvPr id="22" name="TextBox 21"/>
          <p:cNvSpPr txBox="1"/>
          <p:nvPr/>
        </p:nvSpPr>
        <p:spPr>
          <a:xfrm>
            <a:off x="1572768" y="3049523"/>
            <a:ext cx="1609344"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Consolas"/>
              </a:rPr>
              <a:t>14 values</a:t>
            </a:r>
          </a:p>
        </p:txBody>
      </p:sp>
      <p:sp>
        <p:nvSpPr>
          <p:cNvPr id="23" name="TextBox 22"/>
          <p:cNvSpPr txBox="1"/>
          <p:nvPr/>
        </p:nvSpPr>
        <p:spPr>
          <a:xfrm>
            <a:off x="713232" y="3264407"/>
            <a:ext cx="822960" cy="146304"/>
          </a:xfrm>
          <a:prstGeom prst="rect">
            <a:avLst/>
          </a:prstGeom>
          <a:noFill/>
        </p:spPr>
        <p:txBody>
          <a:bodyPr wrap="square" lIns="0" rIns="0" tIns="0" bIns="0" anchor="t">
            <a:noAutofit/>
          </a:bodyPr>
          <a:lstStyle/>
          <a:p>
            <a:pPr algn="l">
              <a:lnSpc>
                <a:spcPct val="122000"/>
              </a:lnSpc>
            </a:pPr>
            <a:r>
              <a:rPr sz="650" b="0" i="0">
                <a:solidFill>
                  <a:srgbClr val="F4F8FC"/>
                </a:solidFill>
                <a:latin typeface="Consolas"/>
              </a:rPr>
              <a:t>kind</a:t>
            </a:r>
          </a:p>
        </p:txBody>
      </p:sp>
      <p:sp>
        <p:nvSpPr>
          <p:cNvPr id="24" name="TextBox 23"/>
          <p:cNvSpPr txBox="1"/>
          <p:nvPr/>
        </p:nvSpPr>
        <p:spPr>
          <a:xfrm>
            <a:off x="1572768" y="3264407"/>
            <a:ext cx="1609344"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Consolas"/>
              </a:rPr>
              <a:t>runtime / hypervisor</a:t>
            </a:r>
          </a:p>
        </p:txBody>
      </p:sp>
      <p:sp>
        <p:nvSpPr>
          <p:cNvPr id="25" name="TextBox 24"/>
          <p:cNvSpPr txBox="1"/>
          <p:nvPr/>
        </p:nvSpPr>
        <p:spPr>
          <a:xfrm>
            <a:off x="713232" y="3479291"/>
            <a:ext cx="822960" cy="146304"/>
          </a:xfrm>
          <a:prstGeom prst="rect">
            <a:avLst/>
          </a:prstGeom>
          <a:noFill/>
        </p:spPr>
        <p:txBody>
          <a:bodyPr wrap="square" lIns="0" rIns="0" tIns="0" bIns="0" anchor="t">
            <a:noAutofit/>
          </a:bodyPr>
          <a:lstStyle/>
          <a:p>
            <a:pPr algn="l">
              <a:lnSpc>
                <a:spcPct val="122000"/>
              </a:lnSpc>
            </a:pPr>
            <a:r>
              <a:rPr sz="650" b="0" i="0">
                <a:solidFill>
                  <a:srgbClr val="F4F8FC"/>
                </a:solidFill>
                <a:latin typeface="Consolas"/>
              </a:rPr>
              <a:t>status</a:t>
            </a:r>
          </a:p>
        </p:txBody>
      </p:sp>
      <p:sp>
        <p:nvSpPr>
          <p:cNvPr id="26" name="TextBox 25"/>
          <p:cNvSpPr txBox="1"/>
          <p:nvPr/>
        </p:nvSpPr>
        <p:spPr>
          <a:xfrm>
            <a:off x="1572768" y="3479291"/>
            <a:ext cx="1609344"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Consolas"/>
              </a:rPr>
              <a:t>5 values</a:t>
            </a:r>
          </a:p>
        </p:txBody>
      </p:sp>
      <p:sp>
        <p:nvSpPr>
          <p:cNvPr id="27" name="TextBox 26"/>
          <p:cNvSpPr txBox="1"/>
          <p:nvPr/>
        </p:nvSpPr>
        <p:spPr>
          <a:xfrm>
            <a:off x="713232" y="3694175"/>
            <a:ext cx="822960" cy="146304"/>
          </a:xfrm>
          <a:prstGeom prst="rect">
            <a:avLst/>
          </a:prstGeom>
          <a:noFill/>
        </p:spPr>
        <p:txBody>
          <a:bodyPr wrap="square" lIns="0" rIns="0" tIns="0" bIns="0" anchor="t">
            <a:noAutofit/>
          </a:bodyPr>
          <a:lstStyle/>
          <a:p>
            <a:pPr algn="l">
              <a:lnSpc>
                <a:spcPct val="122000"/>
              </a:lnSpc>
            </a:pPr>
            <a:r>
              <a:rPr sz="650" b="0" i="0">
                <a:solidFill>
                  <a:srgbClr val="F4F8FC"/>
                </a:solidFill>
                <a:latin typeface="Consolas"/>
              </a:rPr>
              <a:t>region</a:t>
            </a:r>
          </a:p>
        </p:txBody>
      </p:sp>
      <p:sp>
        <p:nvSpPr>
          <p:cNvPr id="28" name="TextBox 27"/>
          <p:cNvSpPr txBox="1"/>
          <p:nvPr/>
        </p:nvSpPr>
        <p:spPr>
          <a:xfrm>
            <a:off x="1572768" y="3694175"/>
            <a:ext cx="1609344"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Consolas"/>
              </a:rPr>
              <a:t>dc region</a:t>
            </a:r>
          </a:p>
        </p:txBody>
      </p:sp>
      <p:sp>
        <p:nvSpPr>
          <p:cNvPr id="29" name="TextBox 28"/>
          <p:cNvSpPr txBox="1"/>
          <p:nvPr/>
        </p:nvSpPr>
        <p:spPr>
          <a:xfrm>
            <a:off x="713232" y="3909059"/>
            <a:ext cx="822960" cy="146304"/>
          </a:xfrm>
          <a:prstGeom prst="rect">
            <a:avLst/>
          </a:prstGeom>
          <a:noFill/>
        </p:spPr>
        <p:txBody>
          <a:bodyPr wrap="square" lIns="0" rIns="0" tIns="0" bIns="0" anchor="t">
            <a:noAutofit/>
          </a:bodyPr>
          <a:lstStyle/>
          <a:p>
            <a:pPr algn="l">
              <a:lnSpc>
                <a:spcPct val="122000"/>
              </a:lnSpc>
            </a:pPr>
            <a:r>
              <a:rPr sz="650" b="0" i="0">
                <a:solidFill>
                  <a:srgbClr val="F4F8FC"/>
                </a:solidFill>
                <a:latin typeface="Consolas"/>
              </a:rPr>
              <a:t>owner</a:t>
            </a:r>
          </a:p>
        </p:txBody>
      </p:sp>
      <p:sp>
        <p:nvSpPr>
          <p:cNvPr id="30" name="TextBox 29"/>
          <p:cNvSpPr txBox="1"/>
          <p:nvPr/>
        </p:nvSpPr>
        <p:spPr>
          <a:xfrm>
            <a:off x="1572768" y="3909059"/>
            <a:ext cx="1609344"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Consolas"/>
              </a:rPr>
              <a:t>team</a:t>
            </a:r>
          </a:p>
        </p:txBody>
      </p:sp>
      <p:sp>
        <p:nvSpPr>
          <p:cNvPr id="31" name="TextBox 30"/>
          <p:cNvSpPr txBox="1"/>
          <p:nvPr/>
        </p:nvSpPr>
        <p:spPr>
          <a:xfrm>
            <a:off x="713232" y="4123944"/>
            <a:ext cx="822960" cy="146304"/>
          </a:xfrm>
          <a:prstGeom prst="rect">
            <a:avLst/>
          </a:prstGeom>
          <a:noFill/>
        </p:spPr>
        <p:txBody>
          <a:bodyPr wrap="square" lIns="0" rIns="0" tIns="0" bIns="0" anchor="t">
            <a:noAutofit/>
          </a:bodyPr>
          <a:lstStyle/>
          <a:p>
            <a:pPr algn="l">
              <a:lnSpc>
                <a:spcPct val="122000"/>
              </a:lnSpc>
            </a:pPr>
            <a:r>
              <a:rPr sz="650" b="0" i="0">
                <a:solidFill>
                  <a:srgbClr val="F4F8FC"/>
                </a:solidFill>
                <a:latin typeface="Consolas"/>
              </a:rPr>
              <a:t>meta</a:t>
            </a:r>
          </a:p>
        </p:txBody>
      </p:sp>
      <p:sp>
        <p:nvSpPr>
          <p:cNvPr id="32" name="TextBox 31"/>
          <p:cNvSpPr txBox="1"/>
          <p:nvPr/>
        </p:nvSpPr>
        <p:spPr>
          <a:xfrm>
            <a:off x="1572768" y="4123944"/>
            <a:ext cx="1609344"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Consolas"/>
              </a:rPr>
              <a:t>jsonb · free shape</a:t>
            </a:r>
          </a:p>
        </p:txBody>
      </p:sp>
      <p:sp>
        <p:nvSpPr>
          <p:cNvPr id="33" name="TextBox 32"/>
          <p:cNvSpPr txBox="1"/>
          <p:nvPr/>
        </p:nvSpPr>
        <p:spPr>
          <a:xfrm>
            <a:off x="713232" y="4338828"/>
            <a:ext cx="822960" cy="146304"/>
          </a:xfrm>
          <a:prstGeom prst="rect">
            <a:avLst/>
          </a:prstGeom>
          <a:noFill/>
        </p:spPr>
        <p:txBody>
          <a:bodyPr wrap="square" lIns="0" rIns="0" tIns="0" bIns="0" anchor="t">
            <a:noAutofit/>
          </a:bodyPr>
          <a:lstStyle/>
          <a:p>
            <a:pPr algn="l">
              <a:lnSpc>
                <a:spcPct val="122000"/>
              </a:lnSpc>
            </a:pPr>
            <a:r>
              <a:rPr sz="650" b="0" i="0">
                <a:solidFill>
                  <a:srgbClr val="F4F8FC"/>
                </a:solidFill>
                <a:latin typeface="Consolas"/>
              </a:rPr>
              <a:t>x, y</a:t>
            </a:r>
          </a:p>
        </p:txBody>
      </p:sp>
      <p:sp>
        <p:nvSpPr>
          <p:cNvPr id="34" name="TextBox 33"/>
          <p:cNvSpPr txBox="1"/>
          <p:nvPr/>
        </p:nvSpPr>
        <p:spPr>
          <a:xfrm>
            <a:off x="1572768" y="4338828"/>
            <a:ext cx="1609344"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Consolas"/>
              </a:rPr>
              <a:t>drag offset</a:t>
            </a:r>
          </a:p>
        </p:txBody>
      </p:sp>
      <p:sp>
        <p:nvSpPr>
          <p:cNvPr id="35" name="TextBox 34"/>
          <p:cNvSpPr txBox="1"/>
          <p:nvPr/>
        </p:nvSpPr>
        <p:spPr>
          <a:xfrm>
            <a:off x="713232" y="4553712"/>
            <a:ext cx="822960" cy="146304"/>
          </a:xfrm>
          <a:prstGeom prst="rect">
            <a:avLst/>
          </a:prstGeom>
          <a:noFill/>
        </p:spPr>
        <p:txBody>
          <a:bodyPr wrap="square" lIns="0" rIns="0" tIns="0" bIns="0" anchor="t">
            <a:noAutofit/>
          </a:bodyPr>
          <a:lstStyle/>
          <a:p>
            <a:pPr algn="l">
              <a:lnSpc>
                <a:spcPct val="122000"/>
              </a:lnSpc>
            </a:pPr>
            <a:r>
              <a:rPr sz="650" b="0" i="0">
                <a:solidFill>
                  <a:srgbClr val="F4F8FC"/>
                </a:solidFill>
                <a:latin typeface="Consolas"/>
              </a:rPr>
              <a:t>sort_order</a:t>
            </a:r>
          </a:p>
        </p:txBody>
      </p:sp>
      <p:sp>
        <p:nvSpPr>
          <p:cNvPr id="36" name="TextBox 35"/>
          <p:cNvSpPr txBox="1"/>
          <p:nvPr/>
        </p:nvSpPr>
        <p:spPr>
          <a:xfrm>
            <a:off x="1572768" y="4553712"/>
            <a:ext cx="1609344"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Consolas"/>
              </a:rPr>
              <a:t>sibling order</a:t>
            </a:r>
          </a:p>
        </p:txBody>
      </p:sp>
      <p:sp>
        <p:nvSpPr>
          <p:cNvPr id="37" name="TextBox 36"/>
          <p:cNvSpPr txBox="1"/>
          <p:nvPr/>
        </p:nvSpPr>
        <p:spPr>
          <a:xfrm>
            <a:off x="713232" y="4768596"/>
            <a:ext cx="822960" cy="146304"/>
          </a:xfrm>
          <a:prstGeom prst="rect">
            <a:avLst/>
          </a:prstGeom>
          <a:noFill/>
        </p:spPr>
        <p:txBody>
          <a:bodyPr wrap="square" lIns="0" rIns="0" tIns="0" bIns="0" anchor="t">
            <a:noAutofit/>
          </a:bodyPr>
          <a:lstStyle/>
          <a:p>
            <a:pPr algn="l">
              <a:lnSpc>
                <a:spcPct val="122000"/>
              </a:lnSpc>
            </a:pPr>
            <a:r>
              <a:rPr sz="650" b="0" i="0">
                <a:solidFill>
                  <a:srgbClr val="F4F8FC"/>
                </a:solidFill>
                <a:latin typeface="Consolas"/>
              </a:rPr>
              <a:t>collapsed</a:t>
            </a:r>
          </a:p>
        </p:txBody>
      </p:sp>
      <p:sp>
        <p:nvSpPr>
          <p:cNvPr id="38" name="TextBox 37"/>
          <p:cNvSpPr txBox="1"/>
          <p:nvPr/>
        </p:nvSpPr>
        <p:spPr>
          <a:xfrm>
            <a:off x="1572768" y="4768596"/>
            <a:ext cx="1609344"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Consolas"/>
              </a:rPr>
              <a:t>branch state</a:t>
            </a:r>
          </a:p>
        </p:txBody>
      </p:sp>
      <p:sp>
        <p:nvSpPr>
          <p:cNvPr id="39" name="TextBox 38"/>
          <p:cNvSpPr txBox="1"/>
          <p:nvPr/>
        </p:nvSpPr>
        <p:spPr>
          <a:xfrm>
            <a:off x="713232" y="5093208"/>
            <a:ext cx="2487168" cy="146304"/>
          </a:xfrm>
          <a:prstGeom prst="rect">
            <a:avLst/>
          </a:prstGeom>
          <a:noFill/>
        </p:spPr>
        <p:txBody>
          <a:bodyPr wrap="square" lIns="0" rIns="0" tIns="0" bIns="0" anchor="t">
            <a:noAutofit/>
          </a:bodyPr>
          <a:lstStyle/>
          <a:p>
            <a:pPr algn="l">
              <a:lnSpc>
                <a:spcPct val="122000"/>
              </a:lnSpc>
            </a:pPr>
            <a:r>
              <a:rPr sz="590" b="0" i="0" spc="80">
                <a:solidFill>
                  <a:srgbClr val="64748B"/>
                </a:solidFill>
                <a:latin typeface="Consolas"/>
              </a:rPr>
              <a:t>INDEX</a:t>
            </a:r>
          </a:p>
        </p:txBody>
      </p:sp>
      <p:sp>
        <p:nvSpPr>
          <p:cNvPr id="40" name="TextBox 39"/>
          <p:cNvSpPr txBox="1"/>
          <p:nvPr/>
        </p:nvSpPr>
        <p:spPr>
          <a:xfrm>
            <a:off x="713232" y="5239512"/>
            <a:ext cx="2487168" cy="274320"/>
          </a:xfrm>
          <a:prstGeom prst="rect">
            <a:avLst/>
          </a:prstGeom>
          <a:noFill/>
        </p:spPr>
        <p:txBody>
          <a:bodyPr wrap="square" lIns="0" rIns="0" tIns="0" bIns="0" anchor="t">
            <a:noAutofit/>
          </a:bodyPr>
          <a:lstStyle/>
          <a:p>
            <a:pPr algn="l">
              <a:lnSpc>
                <a:spcPct val="122000"/>
              </a:lnSpc>
            </a:pPr>
            <a:r>
              <a:rPr sz="640" b="0" i="0">
                <a:solidFill>
                  <a:srgbClr val="9DB0C6"/>
                </a:solidFill>
                <a:latin typeface="Consolas"/>
              </a:rPr>
              <a:t>parent_id · type</a:t>
            </a:r>
          </a:p>
        </p:txBody>
      </p:sp>
      <p:cxnSp>
        <p:nvCxnSpPr>
          <p:cNvPr id="41" name="Connector 40"/>
          <p:cNvCxnSpPr/>
          <p:nvPr/>
        </p:nvCxnSpPr>
        <p:spPr>
          <a:xfrm flipH="1">
            <a:off x="329184" y="2880360"/>
            <a:ext cx="237744" cy="0"/>
          </a:xfrm>
          <a:prstGeom prst="line">
            <a:avLst/>
          </a:prstGeom>
          <a:ln w="11430">
            <a:solidFill>
              <a:srgbClr val="7DD3FC">
                <a:alpha val="80000"/>
              </a:srgbClr>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29184" y="2880360"/>
            <a:ext cx="0" cy="1554480"/>
          </a:xfrm>
          <a:prstGeom prst="line">
            <a:avLst/>
          </a:prstGeom>
          <a:ln w="11430">
            <a:solidFill>
              <a:srgbClr val="7DD3FC">
                <a:alpha val="80000"/>
              </a:srgbClr>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29184" y="4434840"/>
            <a:ext cx="237744" cy="0"/>
          </a:xfrm>
          <a:prstGeom prst="line">
            <a:avLst/>
          </a:prstGeom>
          <a:ln w="11430">
            <a:solidFill>
              <a:srgbClr val="7DD3FC">
                <a:alpha val="80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8288" y="3538728"/>
            <a:ext cx="274320" cy="146304"/>
          </a:xfrm>
          <a:prstGeom prst="rect">
            <a:avLst/>
          </a:prstGeom>
          <a:noFill/>
        </p:spPr>
        <p:txBody>
          <a:bodyPr wrap="square" lIns="0" rIns="0" tIns="0" bIns="0" anchor="t">
            <a:noAutofit/>
          </a:bodyPr>
          <a:lstStyle/>
          <a:p>
            <a:pPr algn="l">
              <a:lnSpc>
                <a:spcPct val="122000"/>
              </a:lnSpc>
            </a:pPr>
            <a:r>
              <a:rPr sz="580" b="0" i="0">
                <a:solidFill>
                  <a:srgbClr val="7DD3FC"/>
                </a:solidFill>
                <a:latin typeface="Consolas"/>
              </a:rPr>
              <a:t>self</a:t>
            </a:r>
          </a:p>
        </p:txBody>
      </p:sp>
      <p:sp>
        <p:nvSpPr>
          <p:cNvPr id="45" name="TextBox 44"/>
          <p:cNvSpPr txBox="1"/>
          <p:nvPr/>
        </p:nvSpPr>
        <p:spPr>
          <a:xfrm>
            <a:off x="18288" y="3675887"/>
            <a:ext cx="274320" cy="146304"/>
          </a:xfrm>
          <a:prstGeom prst="rect">
            <a:avLst/>
          </a:prstGeom>
          <a:noFill/>
        </p:spPr>
        <p:txBody>
          <a:bodyPr wrap="square" lIns="0" rIns="0" tIns="0" bIns="0" anchor="t">
            <a:noAutofit/>
          </a:bodyPr>
          <a:lstStyle/>
          <a:p>
            <a:pPr algn="l">
              <a:lnSpc>
                <a:spcPct val="122000"/>
              </a:lnSpc>
            </a:pPr>
            <a:r>
              <a:rPr sz="580" b="0" i="0">
                <a:solidFill>
                  <a:srgbClr val="7DD3FC"/>
                </a:solidFill>
                <a:latin typeface="Consolas"/>
              </a:rPr>
              <a:t>ref</a:t>
            </a:r>
          </a:p>
        </p:txBody>
      </p:sp>
      <p:sp>
        <p:nvSpPr>
          <p:cNvPr id="46" name="Rounded Rectangle 45"/>
          <p:cNvSpPr/>
          <p:nvPr/>
        </p:nvSpPr>
        <p:spPr>
          <a:xfrm>
            <a:off x="3401568" y="1783080"/>
            <a:ext cx="2048256" cy="3877056"/>
          </a:xfrm>
          <a:prstGeom prst="roundRect">
            <a:avLst>
              <a:gd name="adj" fmla="val 3125"/>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7" name="Rectangle 46"/>
          <p:cNvSpPr/>
          <p:nvPr/>
        </p:nvSpPr>
        <p:spPr>
          <a:xfrm>
            <a:off x="3401568" y="1783080"/>
            <a:ext cx="2048256"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TextBox 47"/>
          <p:cNvSpPr txBox="1"/>
          <p:nvPr/>
        </p:nvSpPr>
        <p:spPr>
          <a:xfrm>
            <a:off x="3520440" y="1901952"/>
            <a:ext cx="1828800" cy="164592"/>
          </a:xfrm>
          <a:prstGeom prst="rect">
            <a:avLst/>
          </a:prstGeom>
          <a:noFill/>
        </p:spPr>
        <p:txBody>
          <a:bodyPr wrap="square" lIns="0" rIns="0" tIns="0" bIns="0" anchor="t">
            <a:noAutofit/>
          </a:bodyPr>
          <a:lstStyle/>
          <a:p>
            <a:pPr algn="l">
              <a:lnSpc>
                <a:spcPct val="122000"/>
              </a:lnSpc>
            </a:pPr>
            <a:r>
              <a:rPr sz="790" b="1" i="0">
                <a:solidFill>
                  <a:srgbClr val="F4F8FC"/>
                </a:solidFill>
                <a:latin typeface="Consolas"/>
              </a:rPr>
              <a:t>ops_metrics</a:t>
            </a:r>
          </a:p>
        </p:txBody>
      </p:sp>
      <p:sp>
        <p:nvSpPr>
          <p:cNvPr id="49" name="TextBox 48"/>
          <p:cNvSpPr txBox="1"/>
          <p:nvPr/>
        </p:nvSpPr>
        <p:spPr>
          <a:xfrm>
            <a:off x="3520440" y="2075688"/>
            <a:ext cx="1828800" cy="146304"/>
          </a:xfrm>
          <a:prstGeom prst="rect">
            <a:avLst/>
          </a:prstGeom>
          <a:noFill/>
        </p:spPr>
        <p:txBody>
          <a:bodyPr wrap="square" lIns="0" rIns="0" tIns="0" bIns="0" anchor="t">
            <a:noAutofit/>
          </a:bodyPr>
          <a:lstStyle/>
          <a:p>
            <a:pPr algn="l">
              <a:lnSpc>
                <a:spcPct val="122000"/>
              </a:lnSpc>
            </a:pPr>
            <a:r>
              <a:rPr sz="580" b="0" i="0" spc="60">
                <a:solidFill>
                  <a:srgbClr val="34D399"/>
                </a:solidFill>
                <a:latin typeface="Consolas"/>
              </a:rPr>
              <a:t>1 : 1 snapshot</a:t>
            </a:r>
          </a:p>
        </p:txBody>
      </p:sp>
      <p:cxnSp>
        <p:nvCxnSpPr>
          <p:cNvPr id="50" name="Connector 49"/>
          <p:cNvCxnSpPr/>
          <p:nvPr/>
        </p:nvCxnSpPr>
        <p:spPr>
          <a:xfrm>
            <a:off x="3502152" y="2258568"/>
            <a:ext cx="1847088"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520440" y="2340864"/>
            <a:ext cx="1828800"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node_id</a:t>
            </a:r>
          </a:p>
        </p:txBody>
      </p:sp>
      <p:sp>
        <p:nvSpPr>
          <p:cNvPr id="52" name="TextBox 51"/>
          <p:cNvSpPr txBox="1"/>
          <p:nvPr/>
        </p:nvSpPr>
        <p:spPr>
          <a:xfrm>
            <a:off x="3520440" y="2464308"/>
            <a:ext cx="1828800"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PK + FK</a:t>
            </a:r>
          </a:p>
        </p:txBody>
      </p:sp>
      <p:sp>
        <p:nvSpPr>
          <p:cNvPr id="53" name="TextBox 52"/>
          <p:cNvSpPr txBox="1"/>
          <p:nvPr/>
        </p:nvSpPr>
        <p:spPr>
          <a:xfrm>
            <a:off x="3520440" y="2619756"/>
            <a:ext cx="1828800"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cpu · memory · disk</a:t>
            </a:r>
          </a:p>
        </p:txBody>
      </p:sp>
      <p:sp>
        <p:nvSpPr>
          <p:cNvPr id="54" name="TextBox 53"/>
          <p:cNvSpPr txBox="1"/>
          <p:nvPr/>
        </p:nvSpPr>
        <p:spPr>
          <a:xfrm>
            <a:off x="3520440" y="2743200"/>
            <a:ext cx="1828800"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percent</a:t>
            </a:r>
          </a:p>
        </p:txBody>
      </p:sp>
      <p:sp>
        <p:nvSpPr>
          <p:cNvPr id="55" name="TextBox 54"/>
          <p:cNvSpPr txBox="1"/>
          <p:nvPr/>
        </p:nvSpPr>
        <p:spPr>
          <a:xfrm>
            <a:off x="3520440" y="2898648"/>
            <a:ext cx="1828800"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network_in / out</a:t>
            </a:r>
          </a:p>
        </p:txBody>
      </p:sp>
      <p:sp>
        <p:nvSpPr>
          <p:cNvPr id="56" name="TextBox 55"/>
          <p:cNvSpPr txBox="1"/>
          <p:nvPr/>
        </p:nvSpPr>
        <p:spPr>
          <a:xfrm>
            <a:off x="3520440" y="3022092"/>
            <a:ext cx="1828800"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MB/s</a:t>
            </a:r>
          </a:p>
        </p:txBody>
      </p:sp>
      <p:sp>
        <p:nvSpPr>
          <p:cNvPr id="57" name="TextBox 56"/>
          <p:cNvSpPr txBox="1"/>
          <p:nvPr/>
        </p:nvSpPr>
        <p:spPr>
          <a:xfrm>
            <a:off x="3520440" y="3177540"/>
            <a:ext cx="1828800"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requests_per_sec</a:t>
            </a:r>
          </a:p>
        </p:txBody>
      </p:sp>
      <p:sp>
        <p:nvSpPr>
          <p:cNvPr id="58" name="TextBox 57"/>
          <p:cNvSpPr txBox="1"/>
          <p:nvPr/>
        </p:nvSpPr>
        <p:spPr>
          <a:xfrm>
            <a:off x="3520440" y="3300984"/>
            <a:ext cx="1828800"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per interval</a:t>
            </a:r>
          </a:p>
        </p:txBody>
      </p:sp>
      <p:sp>
        <p:nvSpPr>
          <p:cNvPr id="59" name="TextBox 58"/>
          <p:cNvSpPr txBox="1"/>
          <p:nvPr/>
        </p:nvSpPr>
        <p:spPr>
          <a:xfrm>
            <a:off x="3520440" y="3456432"/>
            <a:ext cx="1828800"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error_rate</a:t>
            </a:r>
          </a:p>
        </p:txBody>
      </p:sp>
      <p:sp>
        <p:nvSpPr>
          <p:cNvPr id="60" name="TextBox 59"/>
          <p:cNvSpPr txBox="1"/>
          <p:nvPr/>
        </p:nvSpPr>
        <p:spPr>
          <a:xfrm>
            <a:off x="3520440" y="3579876"/>
            <a:ext cx="1828800"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percent</a:t>
            </a:r>
          </a:p>
        </p:txBody>
      </p:sp>
      <p:sp>
        <p:nvSpPr>
          <p:cNvPr id="61" name="TextBox 60"/>
          <p:cNvSpPr txBox="1"/>
          <p:nvPr/>
        </p:nvSpPr>
        <p:spPr>
          <a:xfrm>
            <a:off x="3520440" y="3735324"/>
            <a:ext cx="1828800"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latency_ms</a:t>
            </a:r>
          </a:p>
        </p:txBody>
      </p:sp>
      <p:sp>
        <p:nvSpPr>
          <p:cNvPr id="62" name="TextBox 61"/>
          <p:cNvSpPr txBox="1"/>
          <p:nvPr/>
        </p:nvSpPr>
        <p:spPr>
          <a:xfrm>
            <a:off x="3520440" y="3858768"/>
            <a:ext cx="1828800"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p99</a:t>
            </a:r>
          </a:p>
        </p:txBody>
      </p:sp>
      <p:sp>
        <p:nvSpPr>
          <p:cNvPr id="63" name="TextBox 62"/>
          <p:cNvSpPr txBox="1"/>
          <p:nvPr/>
        </p:nvSpPr>
        <p:spPr>
          <a:xfrm>
            <a:off x="3520440" y="4014216"/>
            <a:ext cx="1828800"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uptime_pct</a:t>
            </a:r>
          </a:p>
        </p:txBody>
      </p:sp>
      <p:sp>
        <p:nvSpPr>
          <p:cNvPr id="64" name="TextBox 63"/>
          <p:cNvSpPr txBox="1"/>
          <p:nvPr/>
        </p:nvSpPr>
        <p:spPr>
          <a:xfrm>
            <a:off x="3520440" y="4137660"/>
            <a:ext cx="1828800"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rolling</a:t>
            </a:r>
          </a:p>
        </p:txBody>
      </p:sp>
      <p:sp>
        <p:nvSpPr>
          <p:cNvPr id="65" name="TextBox 64"/>
          <p:cNvSpPr txBox="1"/>
          <p:nvPr/>
        </p:nvSpPr>
        <p:spPr>
          <a:xfrm>
            <a:off x="3520440" y="4293108"/>
            <a:ext cx="1828800"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replicas_ready / desired</a:t>
            </a:r>
          </a:p>
        </p:txBody>
      </p:sp>
      <p:sp>
        <p:nvSpPr>
          <p:cNvPr id="66" name="TextBox 65"/>
          <p:cNvSpPr txBox="1"/>
          <p:nvPr/>
        </p:nvSpPr>
        <p:spPr>
          <a:xfrm>
            <a:off x="3520440" y="4416552"/>
            <a:ext cx="1828800"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count</a:t>
            </a:r>
          </a:p>
        </p:txBody>
      </p:sp>
      <p:sp>
        <p:nvSpPr>
          <p:cNvPr id="67" name="TextBox 66"/>
          <p:cNvSpPr txBox="1"/>
          <p:nvPr/>
        </p:nvSpPr>
        <p:spPr>
          <a:xfrm>
            <a:off x="3520440" y="4572000"/>
            <a:ext cx="1828800"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source</a:t>
            </a:r>
          </a:p>
        </p:txBody>
      </p:sp>
      <p:sp>
        <p:nvSpPr>
          <p:cNvPr id="68" name="TextBox 67"/>
          <p:cNvSpPr txBox="1"/>
          <p:nvPr/>
        </p:nvSpPr>
        <p:spPr>
          <a:xfrm>
            <a:off x="3520440" y="4695444"/>
            <a:ext cx="1828800"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enum · 4 values</a:t>
            </a:r>
          </a:p>
        </p:txBody>
      </p:sp>
      <p:sp>
        <p:nvSpPr>
          <p:cNvPr id="69" name="TextBox 68"/>
          <p:cNvSpPr txBox="1"/>
          <p:nvPr/>
        </p:nvSpPr>
        <p:spPr>
          <a:xfrm>
            <a:off x="3520440" y="4850892"/>
            <a:ext cx="1828800"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updated_at</a:t>
            </a:r>
          </a:p>
        </p:txBody>
      </p:sp>
      <p:sp>
        <p:nvSpPr>
          <p:cNvPr id="70" name="TextBox 69"/>
          <p:cNvSpPr txBox="1"/>
          <p:nvPr/>
        </p:nvSpPr>
        <p:spPr>
          <a:xfrm>
            <a:off x="3520440" y="4974336"/>
            <a:ext cx="1828800"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ts</a:t>
            </a:r>
          </a:p>
        </p:txBody>
      </p:sp>
      <p:sp>
        <p:nvSpPr>
          <p:cNvPr id="71" name="TextBox 70"/>
          <p:cNvSpPr txBox="1"/>
          <p:nvPr/>
        </p:nvSpPr>
        <p:spPr>
          <a:xfrm>
            <a:off x="3520440" y="5166360"/>
            <a:ext cx="1828800" cy="438912"/>
          </a:xfrm>
          <a:prstGeom prst="rect">
            <a:avLst/>
          </a:prstGeom>
          <a:noFill/>
        </p:spPr>
        <p:txBody>
          <a:bodyPr wrap="square" lIns="0" rIns="0" tIns="0" bIns="0" anchor="t">
            <a:noAutofit/>
          </a:bodyPr>
          <a:lstStyle/>
          <a:p>
            <a:pPr algn="l">
              <a:lnSpc>
                <a:spcPct val="130000"/>
              </a:lnSpc>
            </a:pPr>
            <a:r>
              <a:rPr sz="580" b="0" i="0">
                <a:solidFill>
                  <a:srgbClr val="64748B"/>
                </a:solidFill>
                <a:latin typeface="Consolas"/>
              </a:rPr>
              <a:t>one row per monitored node — current state only</a:t>
            </a:r>
          </a:p>
        </p:txBody>
      </p:sp>
      <p:sp>
        <p:nvSpPr>
          <p:cNvPr id="72" name="Rounded Rectangle 71"/>
          <p:cNvSpPr/>
          <p:nvPr/>
        </p:nvSpPr>
        <p:spPr>
          <a:xfrm>
            <a:off x="5550408" y="1783080"/>
            <a:ext cx="1993392" cy="3877056"/>
          </a:xfrm>
          <a:prstGeom prst="roundRect">
            <a:avLst>
              <a:gd name="adj" fmla="val 3211"/>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3" name="Rectangle 72"/>
          <p:cNvSpPr/>
          <p:nvPr/>
        </p:nvSpPr>
        <p:spPr>
          <a:xfrm>
            <a:off x="5550408" y="1783080"/>
            <a:ext cx="1993392" cy="36576"/>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4" name="TextBox 73"/>
          <p:cNvSpPr txBox="1"/>
          <p:nvPr/>
        </p:nvSpPr>
        <p:spPr>
          <a:xfrm>
            <a:off x="5669280" y="1901952"/>
            <a:ext cx="1773936" cy="164592"/>
          </a:xfrm>
          <a:prstGeom prst="rect">
            <a:avLst/>
          </a:prstGeom>
          <a:noFill/>
        </p:spPr>
        <p:txBody>
          <a:bodyPr wrap="square" lIns="0" rIns="0" tIns="0" bIns="0" anchor="t">
            <a:noAutofit/>
          </a:bodyPr>
          <a:lstStyle/>
          <a:p>
            <a:pPr algn="l">
              <a:lnSpc>
                <a:spcPct val="122000"/>
              </a:lnSpc>
            </a:pPr>
            <a:r>
              <a:rPr sz="790" b="1" i="0">
                <a:solidFill>
                  <a:srgbClr val="F4F8FC"/>
                </a:solidFill>
                <a:latin typeface="Consolas"/>
              </a:rPr>
              <a:t>ops_metric_samples</a:t>
            </a:r>
          </a:p>
        </p:txBody>
      </p:sp>
      <p:sp>
        <p:nvSpPr>
          <p:cNvPr id="75" name="TextBox 74"/>
          <p:cNvSpPr txBox="1"/>
          <p:nvPr/>
        </p:nvSpPr>
        <p:spPr>
          <a:xfrm>
            <a:off x="5669280" y="2075688"/>
            <a:ext cx="1773936" cy="146304"/>
          </a:xfrm>
          <a:prstGeom prst="rect">
            <a:avLst/>
          </a:prstGeom>
          <a:noFill/>
        </p:spPr>
        <p:txBody>
          <a:bodyPr wrap="square" lIns="0" rIns="0" tIns="0" bIns="0" anchor="t">
            <a:noAutofit/>
          </a:bodyPr>
          <a:lstStyle/>
          <a:p>
            <a:pPr algn="l">
              <a:lnSpc>
                <a:spcPct val="122000"/>
              </a:lnSpc>
            </a:pPr>
            <a:r>
              <a:rPr sz="580" b="0" i="0" spc="60">
                <a:solidFill>
                  <a:srgbClr val="A78BFA"/>
                </a:solidFill>
                <a:latin typeface="Consolas"/>
              </a:rPr>
              <a:t>1 : N history</a:t>
            </a:r>
          </a:p>
        </p:txBody>
      </p:sp>
      <p:cxnSp>
        <p:nvCxnSpPr>
          <p:cNvPr id="76" name="Connector 75"/>
          <p:cNvCxnSpPr/>
          <p:nvPr/>
        </p:nvCxnSpPr>
        <p:spPr>
          <a:xfrm>
            <a:off x="5650992" y="2258568"/>
            <a:ext cx="1792224"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669280" y="2340864"/>
            <a:ext cx="1773936"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id</a:t>
            </a:r>
          </a:p>
        </p:txBody>
      </p:sp>
      <p:sp>
        <p:nvSpPr>
          <p:cNvPr id="78" name="TextBox 77"/>
          <p:cNvSpPr txBox="1"/>
          <p:nvPr/>
        </p:nvSpPr>
        <p:spPr>
          <a:xfrm>
            <a:off x="5669280" y="2464308"/>
            <a:ext cx="1773936"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serial PK</a:t>
            </a:r>
          </a:p>
        </p:txBody>
      </p:sp>
      <p:sp>
        <p:nvSpPr>
          <p:cNvPr id="79" name="TextBox 78"/>
          <p:cNvSpPr txBox="1"/>
          <p:nvPr/>
        </p:nvSpPr>
        <p:spPr>
          <a:xfrm>
            <a:off x="5669280" y="2619756"/>
            <a:ext cx="1773936"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node_id</a:t>
            </a:r>
          </a:p>
        </p:txBody>
      </p:sp>
      <p:sp>
        <p:nvSpPr>
          <p:cNvPr id="80" name="TextBox 79"/>
          <p:cNvSpPr txBox="1"/>
          <p:nvPr/>
        </p:nvSpPr>
        <p:spPr>
          <a:xfrm>
            <a:off x="5669280" y="2743200"/>
            <a:ext cx="1773936"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FK</a:t>
            </a:r>
          </a:p>
        </p:txBody>
      </p:sp>
      <p:sp>
        <p:nvSpPr>
          <p:cNvPr id="81" name="TextBox 80"/>
          <p:cNvSpPr txBox="1"/>
          <p:nvPr/>
        </p:nvSpPr>
        <p:spPr>
          <a:xfrm>
            <a:off x="5669280" y="2898648"/>
            <a:ext cx="1773936"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metric</a:t>
            </a:r>
          </a:p>
        </p:txBody>
      </p:sp>
      <p:sp>
        <p:nvSpPr>
          <p:cNvPr id="82" name="TextBox 81"/>
          <p:cNvSpPr txBox="1"/>
          <p:nvPr/>
        </p:nvSpPr>
        <p:spPr>
          <a:xfrm>
            <a:off x="5669280" y="3022092"/>
            <a:ext cx="1773936"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cpu | memory | disk</a:t>
            </a:r>
          </a:p>
        </p:txBody>
      </p:sp>
      <p:sp>
        <p:nvSpPr>
          <p:cNvPr id="83" name="TextBox 82"/>
          <p:cNvSpPr txBox="1"/>
          <p:nvPr/>
        </p:nvSpPr>
        <p:spPr>
          <a:xfrm>
            <a:off x="5669280" y="3177540"/>
            <a:ext cx="1773936"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value</a:t>
            </a:r>
          </a:p>
        </p:txBody>
      </p:sp>
      <p:sp>
        <p:nvSpPr>
          <p:cNvPr id="84" name="TextBox 83"/>
          <p:cNvSpPr txBox="1"/>
          <p:nvPr/>
        </p:nvSpPr>
        <p:spPr>
          <a:xfrm>
            <a:off x="5669280" y="3300984"/>
            <a:ext cx="1773936"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real</a:t>
            </a:r>
          </a:p>
        </p:txBody>
      </p:sp>
      <p:sp>
        <p:nvSpPr>
          <p:cNvPr id="85" name="TextBox 84"/>
          <p:cNvSpPr txBox="1"/>
          <p:nvPr/>
        </p:nvSpPr>
        <p:spPr>
          <a:xfrm>
            <a:off x="5669280" y="3456432"/>
            <a:ext cx="1773936"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ts</a:t>
            </a:r>
          </a:p>
        </p:txBody>
      </p:sp>
      <p:sp>
        <p:nvSpPr>
          <p:cNvPr id="86" name="TextBox 85"/>
          <p:cNvSpPr txBox="1"/>
          <p:nvPr/>
        </p:nvSpPr>
        <p:spPr>
          <a:xfrm>
            <a:off x="5669280" y="3579876"/>
            <a:ext cx="1773936"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timestamptz</a:t>
            </a:r>
          </a:p>
        </p:txBody>
      </p:sp>
      <p:cxnSp>
        <p:nvCxnSpPr>
          <p:cNvPr id="87" name="Connector 86"/>
          <p:cNvCxnSpPr/>
          <p:nvPr/>
        </p:nvCxnSpPr>
        <p:spPr>
          <a:xfrm>
            <a:off x="5650992" y="3995928"/>
            <a:ext cx="1792224"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5669280" y="4069080"/>
            <a:ext cx="1773936" cy="658368"/>
          </a:xfrm>
          <a:prstGeom prst="rect">
            <a:avLst/>
          </a:prstGeom>
          <a:noFill/>
        </p:spPr>
        <p:txBody>
          <a:bodyPr wrap="square" lIns="0" rIns="0" tIns="0" bIns="0" anchor="t">
            <a:noAutofit/>
          </a:bodyPr>
          <a:lstStyle/>
          <a:p>
            <a:pPr algn="l">
              <a:lnSpc>
                <a:spcPct val="135000"/>
              </a:lnSpc>
            </a:pPr>
            <a:r>
              <a:rPr sz="600" b="0" i="0">
                <a:solidFill>
                  <a:srgbClr val="9DB0C6"/>
                </a:solidFill>
                <a:latin typeface="Consolas"/>
              </a:rPr>
              <a:t>index
(node_id, metric, ts)
pruned &gt; 50 min</a:t>
            </a:r>
          </a:p>
        </p:txBody>
      </p:sp>
      <p:sp>
        <p:nvSpPr>
          <p:cNvPr id="89" name="Rounded Rectangle 88"/>
          <p:cNvSpPr/>
          <p:nvPr/>
        </p:nvSpPr>
        <p:spPr>
          <a:xfrm>
            <a:off x="7644383" y="1783080"/>
            <a:ext cx="1993392" cy="3877056"/>
          </a:xfrm>
          <a:prstGeom prst="roundRect">
            <a:avLst>
              <a:gd name="adj" fmla="val 3211"/>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0" name="Rectangle 89"/>
          <p:cNvSpPr/>
          <p:nvPr/>
        </p:nvSpPr>
        <p:spPr>
          <a:xfrm>
            <a:off x="7644383" y="1783080"/>
            <a:ext cx="1993392" cy="36576"/>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1" name="TextBox 90"/>
          <p:cNvSpPr txBox="1"/>
          <p:nvPr/>
        </p:nvSpPr>
        <p:spPr>
          <a:xfrm>
            <a:off x="7763256" y="1901952"/>
            <a:ext cx="1773936" cy="164592"/>
          </a:xfrm>
          <a:prstGeom prst="rect">
            <a:avLst/>
          </a:prstGeom>
          <a:noFill/>
        </p:spPr>
        <p:txBody>
          <a:bodyPr wrap="square" lIns="0" rIns="0" tIns="0" bIns="0" anchor="t">
            <a:noAutofit/>
          </a:bodyPr>
          <a:lstStyle/>
          <a:p>
            <a:pPr algn="l">
              <a:lnSpc>
                <a:spcPct val="122000"/>
              </a:lnSpc>
            </a:pPr>
            <a:r>
              <a:rPr sz="790" b="1" i="0">
                <a:solidFill>
                  <a:srgbClr val="F4F8FC"/>
                </a:solidFill>
                <a:latin typeface="Consolas"/>
              </a:rPr>
              <a:t>ops_events</a:t>
            </a:r>
          </a:p>
        </p:txBody>
      </p:sp>
      <p:sp>
        <p:nvSpPr>
          <p:cNvPr id="92" name="TextBox 91"/>
          <p:cNvSpPr txBox="1"/>
          <p:nvPr/>
        </p:nvSpPr>
        <p:spPr>
          <a:xfrm>
            <a:off x="7763256" y="2075688"/>
            <a:ext cx="1773936" cy="146304"/>
          </a:xfrm>
          <a:prstGeom prst="rect">
            <a:avLst/>
          </a:prstGeom>
          <a:noFill/>
        </p:spPr>
        <p:txBody>
          <a:bodyPr wrap="square" lIns="0" rIns="0" tIns="0" bIns="0" anchor="t">
            <a:noAutofit/>
          </a:bodyPr>
          <a:lstStyle/>
          <a:p>
            <a:pPr algn="l">
              <a:lnSpc>
                <a:spcPct val="122000"/>
              </a:lnSpc>
            </a:pPr>
            <a:r>
              <a:rPr sz="580" b="0" i="0" spc="60">
                <a:solidFill>
                  <a:srgbClr val="FBBF24"/>
                </a:solidFill>
                <a:latin typeface="Consolas"/>
              </a:rPr>
              <a:t>1 : N alerts</a:t>
            </a:r>
          </a:p>
        </p:txBody>
      </p:sp>
      <p:cxnSp>
        <p:nvCxnSpPr>
          <p:cNvPr id="93" name="Connector 92"/>
          <p:cNvCxnSpPr/>
          <p:nvPr/>
        </p:nvCxnSpPr>
        <p:spPr>
          <a:xfrm>
            <a:off x="7744967" y="2258568"/>
            <a:ext cx="1792225"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7763256" y="2340864"/>
            <a:ext cx="1773936"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id</a:t>
            </a:r>
          </a:p>
        </p:txBody>
      </p:sp>
      <p:sp>
        <p:nvSpPr>
          <p:cNvPr id="95" name="TextBox 94"/>
          <p:cNvSpPr txBox="1"/>
          <p:nvPr/>
        </p:nvSpPr>
        <p:spPr>
          <a:xfrm>
            <a:off x="7763256" y="2464308"/>
            <a:ext cx="1773936"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serial PK</a:t>
            </a:r>
          </a:p>
        </p:txBody>
      </p:sp>
      <p:sp>
        <p:nvSpPr>
          <p:cNvPr id="96" name="TextBox 95"/>
          <p:cNvSpPr txBox="1"/>
          <p:nvPr/>
        </p:nvSpPr>
        <p:spPr>
          <a:xfrm>
            <a:off x="7763256" y="2619756"/>
            <a:ext cx="1773936"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node_id</a:t>
            </a:r>
          </a:p>
        </p:txBody>
      </p:sp>
      <p:sp>
        <p:nvSpPr>
          <p:cNvPr id="97" name="TextBox 96"/>
          <p:cNvSpPr txBox="1"/>
          <p:nvPr/>
        </p:nvSpPr>
        <p:spPr>
          <a:xfrm>
            <a:off x="7763256" y="2743200"/>
            <a:ext cx="1773936"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FK · nullable</a:t>
            </a:r>
          </a:p>
        </p:txBody>
      </p:sp>
      <p:sp>
        <p:nvSpPr>
          <p:cNvPr id="98" name="TextBox 97"/>
          <p:cNvSpPr txBox="1"/>
          <p:nvPr/>
        </p:nvSpPr>
        <p:spPr>
          <a:xfrm>
            <a:off x="7763256" y="2898648"/>
            <a:ext cx="1773936"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severity</a:t>
            </a:r>
          </a:p>
        </p:txBody>
      </p:sp>
      <p:sp>
        <p:nvSpPr>
          <p:cNvPr id="99" name="TextBox 98"/>
          <p:cNvSpPr txBox="1"/>
          <p:nvPr/>
        </p:nvSpPr>
        <p:spPr>
          <a:xfrm>
            <a:off x="7763256" y="3022092"/>
            <a:ext cx="1773936"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info | warning | critical</a:t>
            </a:r>
          </a:p>
        </p:txBody>
      </p:sp>
      <p:sp>
        <p:nvSpPr>
          <p:cNvPr id="100" name="TextBox 99"/>
          <p:cNvSpPr txBox="1"/>
          <p:nvPr/>
        </p:nvSpPr>
        <p:spPr>
          <a:xfrm>
            <a:off x="7763256" y="3177540"/>
            <a:ext cx="1773936"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source</a:t>
            </a:r>
          </a:p>
        </p:txBody>
      </p:sp>
      <p:sp>
        <p:nvSpPr>
          <p:cNvPr id="101" name="TextBox 100"/>
          <p:cNvSpPr txBox="1"/>
          <p:nvPr/>
        </p:nvSpPr>
        <p:spPr>
          <a:xfrm>
            <a:off x="7763256" y="3300984"/>
            <a:ext cx="1773936"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collector label</a:t>
            </a:r>
          </a:p>
        </p:txBody>
      </p:sp>
      <p:sp>
        <p:nvSpPr>
          <p:cNvPr id="102" name="TextBox 101"/>
          <p:cNvSpPr txBox="1"/>
          <p:nvPr/>
        </p:nvSpPr>
        <p:spPr>
          <a:xfrm>
            <a:off x="7763256" y="3456432"/>
            <a:ext cx="1773936"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title</a:t>
            </a:r>
          </a:p>
        </p:txBody>
      </p:sp>
      <p:sp>
        <p:nvSpPr>
          <p:cNvPr id="103" name="TextBox 102"/>
          <p:cNvSpPr txBox="1"/>
          <p:nvPr/>
        </p:nvSpPr>
        <p:spPr>
          <a:xfrm>
            <a:off x="7763256" y="3579876"/>
            <a:ext cx="1773936"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headline</a:t>
            </a:r>
          </a:p>
        </p:txBody>
      </p:sp>
      <p:sp>
        <p:nvSpPr>
          <p:cNvPr id="104" name="TextBox 103"/>
          <p:cNvSpPr txBox="1"/>
          <p:nvPr/>
        </p:nvSpPr>
        <p:spPr>
          <a:xfrm>
            <a:off x="7763256" y="3735324"/>
            <a:ext cx="1773936"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detail</a:t>
            </a:r>
          </a:p>
        </p:txBody>
      </p:sp>
      <p:sp>
        <p:nvSpPr>
          <p:cNvPr id="105" name="TextBox 104"/>
          <p:cNvSpPr txBox="1"/>
          <p:nvPr/>
        </p:nvSpPr>
        <p:spPr>
          <a:xfrm>
            <a:off x="7763256" y="3858768"/>
            <a:ext cx="1773936"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context</a:t>
            </a:r>
          </a:p>
        </p:txBody>
      </p:sp>
      <p:sp>
        <p:nvSpPr>
          <p:cNvPr id="106" name="TextBox 105"/>
          <p:cNvSpPr txBox="1"/>
          <p:nvPr/>
        </p:nvSpPr>
        <p:spPr>
          <a:xfrm>
            <a:off x="7763256" y="4014216"/>
            <a:ext cx="1773936"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acknowledged</a:t>
            </a:r>
          </a:p>
        </p:txBody>
      </p:sp>
      <p:sp>
        <p:nvSpPr>
          <p:cNvPr id="107" name="TextBox 106"/>
          <p:cNvSpPr txBox="1"/>
          <p:nvPr/>
        </p:nvSpPr>
        <p:spPr>
          <a:xfrm>
            <a:off x="7763256" y="4137660"/>
            <a:ext cx="1773936"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bool</a:t>
            </a:r>
          </a:p>
        </p:txBody>
      </p:sp>
      <p:sp>
        <p:nvSpPr>
          <p:cNvPr id="108" name="TextBox 107"/>
          <p:cNvSpPr txBox="1"/>
          <p:nvPr/>
        </p:nvSpPr>
        <p:spPr>
          <a:xfrm>
            <a:off x="7763256" y="4293108"/>
            <a:ext cx="1773936"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ts</a:t>
            </a:r>
          </a:p>
        </p:txBody>
      </p:sp>
      <p:sp>
        <p:nvSpPr>
          <p:cNvPr id="109" name="TextBox 108"/>
          <p:cNvSpPr txBox="1"/>
          <p:nvPr/>
        </p:nvSpPr>
        <p:spPr>
          <a:xfrm>
            <a:off x="7763256" y="4416552"/>
            <a:ext cx="1773936"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timestamptz</a:t>
            </a:r>
          </a:p>
        </p:txBody>
      </p:sp>
      <p:sp>
        <p:nvSpPr>
          <p:cNvPr id="110" name="Rounded Rectangle 109"/>
          <p:cNvSpPr/>
          <p:nvPr/>
        </p:nvSpPr>
        <p:spPr>
          <a:xfrm>
            <a:off x="9738359" y="1783080"/>
            <a:ext cx="1883664" cy="3877056"/>
          </a:xfrm>
          <a:prstGeom prst="roundRect">
            <a:avLst>
              <a:gd name="adj" fmla="val 339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1" name="Rectangle 110"/>
          <p:cNvSpPr/>
          <p:nvPr/>
        </p:nvSpPr>
        <p:spPr>
          <a:xfrm>
            <a:off x="9738359" y="1783080"/>
            <a:ext cx="1883664" cy="36576"/>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2" name="TextBox 111"/>
          <p:cNvSpPr txBox="1"/>
          <p:nvPr/>
        </p:nvSpPr>
        <p:spPr>
          <a:xfrm>
            <a:off x="9857232" y="1901952"/>
            <a:ext cx="1664208" cy="164592"/>
          </a:xfrm>
          <a:prstGeom prst="rect">
            <a:avLst/>
          </a:prstGeom>
          <a:noFill/>
        </p:spPr>
        <p:txBody>
          <a:bodyPr wrap="square" lIns="0" rIns="0" tIns="0" bIns="0" anchor="t">
            <a:noAutofit/>
          </a:bodyPr>
          <a:lstStyle/>
          <a:p>
            <a:pPr algn="l">
              <a:lnSpc>
                <a:spcPct val="122000"/>
              </a:lnSpc>
            </a:pPr>
            <a:r>
              <a:rPr sz="790" b="1" i="0">
                <a:solidFill>
                  <a:srgbClr val="F4F8FC"/>
                </a:solidFill>
                <a:latin typeface="Consolas"/>
              </a:rPr>
              <a:t>ops_command_runs</a:t>
            </a:r>
          </a:p>
        </p:txBody>
      </p:sp>
      <p:sp>
        <p:nvSpPr>
          <p:cNvPr id="113" name="TextBox 112"/>
          <p:cNvSpPr txBox="1"/>
          <p:nvPr/>
        </p:nvSpPr>
        <p:spPr>
          <a:xfrm>
            <a:off x="9857232" y="2075688"/>
            <a:ext cx="1664208" cy="146304"/>
          </a:xfrm>
          <a:prstGeom prst="rect">
            <a:avLst/>
          </a:prstGeom>
          <a:noFill/>
        </p:spPr>
        <p:txBody>
          <a:bodyPr wrap="square" lIns="0" rIns="0" tIns="0" bIns="0" anchor="t">
            <a:noAutofit/>
          </a:bodyPr>
          <a:lstStyle/>
          <a:p>
            <a:pPr algn="l">
              <a:lnSpc>
                <a:spcPct val="122000"/>
              </a:lnSpc>
            </a:pPr>
            <a:r>
              <a:rPr sz="580" b="0" i="0" spc="60">
                <a:solidFill>
                  <a:srgbClr val="FB7185"/>
                </a:solidFill>
                <a:latin typeface="Consolas"/>
              </a:rPr>
              <a:t>1 : N audit</a:t>
            </a:r>
          </a:p>
        </p:txBody>
      </p:sp>
      <p:cxnSp>
        <p:nvCxnSpPr>
          <p:cNvPr id="114" name="Connector 113"/>
          <p:cNvCxnSpPr/>
          <p:nvPr/>
        </p:nvCxnSpPr>
        <p:spPr>
          <a:xfrm>
            <a:off x="9838943" y="2258568"/>
            <a:ext cx="1682497"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9857232" y="2340864"/>
            <a:ext cx="1664208"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id</a:t>
            </a:r>
          </a:p>
        </p:txBody>
      </p:sp>
      <p:sp>
        <p:nvSpPr>
          <p:cNvPr id="116" name="TextBox 115"/>
          <p:cNvSpPr txBox="1"/>
          <p:nvPr/>
        </p:nvSpPr>
        <p:spPr>
          <a:xfrm>
            <a:off x="9857232" y="2464308"/>
            <a:ext cx="1664208"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serial PK</a:t>
            </a:r>
          </a:p>
        </p:txBody>
      </p:sp>
      <p:sp>
        <p:nvSpPr>
          <p:cNvPr id="117" name="TextBox 116"/>
          <p:cNvSpPr txBox="1"/>
          <p:nvPr/>
        </p:nvSpPr>
        <p:spPr>
          <a:xfrm>
            <a:off x="9857232" y="2619756"/>
            <a:ext cx="1664208"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node_id</a:t>
            </a:r>
          </a:p>
        </p:txBody>
      </p:sp>
      <p:sp>
        <p:nvSpPr>
          <p:cNvPr id="118" name="TextBox 117"/>
          <p:cNvSpPr txBox="1"/>
          <p:nvPr/>
        </p:nvSpPr>
        <p:spPr>
          <a:xfrm>
            <a:off x="9857232" y="2743200"/>
            <a:ext cx="1664208"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FK</a:t>
            </a:r>
          </a:p>
        </p:txBody>
      </p:sp>
      <p:sp>
        <p:nvSpPr>
          <p:cNvPr id="119" name="TextBox 118"/>
          <p:cNvSpPr txBox="1"/>
          <p:nvPr/>
        </p:nvSpPr>
        <p:spPr>
          <a:xfrm>
            <a:off x="9857232" y="2898648"/>
            <a:ext cx="1664208"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command</a:t>
            </a:r>
          </a:p>
        </p:txBody>
      </p:sp>
      <p:sp>
        <p:nvSpPr>
          <p:cNvPr id="120" name="TextBox 119"/>
          <p:cNvSpPr txBox="1"/>
          <p:nvPr/>
        </p:nvSpPr>
        <p:spPr>
          <a:xfrm>
            <a:off x="9857232" y="3022092"/>
            <a:ext cx="1664208"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rendered runbook</a:t>
            </a:r>
          </a:p>
        </p:txBody>
      </p:sp>
      <p:sp>
        <p:nvSpPr>
          <p:cNvPr id="121" name="TextBox 120"/>
          <p:cNvSpPr txBox="1"/>
          <p:nvPr/>
        </p:nvSpPr>
        <p:spPr>
          <a:xfrm>
            <a:off x="9857232" y="3177540"/>
            <a:ext cx="1664208"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operator</a:t>
            </a:r>
          </a:p>
        </p:txBody>
      </p:sp>
      <p:sp>
        <p:nvSpPr>
          <p:cNvPr id="122" name="TextBox 121"/>
          <p:cNvSpPr txBox="1"/>
          <p:nvPr/>
        </p:nvSpPr>
        <p:spPr>
          <a:xfrm>
            <a:off x="9857232" y="3300984"/>
            <a:ext cx="1664208"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who</a:t>
            </a:r>
          </a:p>
        </p:txBody>
      </p:sp>
      <p:sp>
        <p:nvSpPr>
          <p:cNvPr id="123" name="TextBox 122"/>
          <p:cNvSpPr txBox="1"/>
          <p:nvPr/>
        </p:nvSpPr>
        <p:spPr>
          <a:xfrm>
            <a:off x="9857232" y="3456432"/>
            <a:ext cx="1664208"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status</a:t>
            </a:r>
          </a:p>
        </p:txBody>
      </p:sp>
      <p:sp>
        <p:nvSpPr>
          <p:cNvPr id="124" name="TextBox 123"/>
          <p:cNvSpPr txBox="1"/>
          <p:nvPr/>
        </p:nvSpPr>
        <p:spPr>
          <a:xfrm>
            <a:off x="9857232" y="3579876"/>
            <a:ext cx="1664208"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running | ok | failed</a:t>
            </a:r>
          </a:p>
        </p:txBody>
      </p:sp>
      <p:sp>
        <p:nvSpPr>
          <p:cNvPr id="125" name="TextBox 124"/>
          <p:cNvSpPr txBox="1"/>
          <p:nvPr/>
        </p:nvSpPr>
        <p:spPr>
          <a:xfrm>
            <a:off x="9857232" y="3735324"/>
            <a:ext cx="1664208"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exit_code</a:t>
            </a:r>
          </a:p>
        </p:txBody>
      </p:sp>
      <p:sp>
        <p:nvSpPr>
          <p:cNvPr id="126" name="TextBox 125"/>
          <p:cNvSpPr txBox="1"/>
          <p:nvPr/>
        </p:nvSpPr>
        <p:spPr>
          <a:xfrm>
            <a:off x="9857232" y="3858768"/>
            <a:ext cx="1664208"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int</a:t>
            </a:r>
          </a:p>
        </p:txBody>
      </p:sp>
      <p:sp>
        <p:nvSpPr>
          <p:cNvPr id="127" name="TextBox 126"/>
          <p:cNvSpPr txBox="1"/>
          <p:nvPr/>
        </p:nvSpPr>
        <p:spPr>
          <a:xfrm>
            <a:off x="9857232" y="4014216"/>
            <a:ext cx="1664208"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output</a:t>
            </a:r>
          </a:p>
        </p:txBody>
      </p:sp>
      <p:sp>
        <p:nvSpPr>
          <p:cNvPr id="128" name="TextBox 127"/>
          <p:cNvSpPr txBox="1"/>
          <p:nvPr/>
        </p:nvSpPr>
        <p:spPr>
          <a:xfrm>
            <a:off x="9857232" y="4137660"/>
            <a:ext cx="1664208"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full text</a:t>
            </a:r>
          </a:p>
        </p:txBody>
      </p:sp>
      <p:sp>
        <p:nvSpPr>
          <p:cNvPr id="129" name="TextBox 128"/>
          <p:cNvSpPr txBox="1"/>
          <p:nvPr/>
        </p:nvSpPr>
        <p:spPr>
          <a:xfrm>
            <a:off x="9857232" y="4293108"/>
            <a:ext cx="1664208" cy="146304"/>
          </a:xfrm>
          <a:prstGeom prst="rect">
            <a:avLst/>
          </a:prstGeom>
          <a:noFill/>
        </p:spPr>
        <p:txBody>
          <a:bodyPr wrap="square" lIns="0" rIns="0" tIns="0" bIns="0" anchor="t">
            <a:noAutofit/>
          </a:bodyPr>
          <a:lstStyle/>
          <a:p>
            <a:pPr algn="l">
              <a:lnSpc>
                <a:spcPct val="122000"/>
              </a:lnSpc>
            </a:pPr>
            <a:r>
              <a:rPr sz="610" b="0" i="0">
                <a:solidFill>
                  <a:srgbClr val="E2E8F0"/>
                </a:solidFill>
                <a:latin typeface="Consolas"/>
              </a:rPr>
              <a:t>started_at / finished_at</a:t>
            </a:r>
          </a:p>
        </p:txBody>
      </p:sp>
      <p:sp>
        <p:nvSpPr>
          <p:cNvPr id="130" name="TextBox 129"/>
          <p:cNvSpPr txBox="1"/>
          <p:nvPr/>
        </p:nvSpPr>
        <p:spPr>
          <a:xfrm>
            <a:off x="9857232" y="4416552"/>
            <a:ext cx="1664208" cy="137160"/>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ts</a:t>
            </a:r>
          </a:p>
        </p:txBody>
      </p:sp>
      <p:cxnSp>
        <p:nvCxnSpPr>
          <p:cNvPr id="131" name="Connector 130"/>
          <p:cNvCxnSpPr/>
          <p:nvPr/>
        </p:nvCxnSpPr>
        <p:spPr>
          <a:xfrm>
            <a:off x="3355848" y="3246120"/>
            <a:ext cx="18288" cy="0"/>
          </a:xfrm>
          <a:prstGeom prst="line">
            <a:avLst/>
          </a:prstGeom>
          <a:ln w="11430">
            <a:solidFill>
              <a:srgbClr val="1E2C3E">
                <a:alpha val="75000"/>
              </a:srgbClr>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3374136" y="1810512"/>
            <a:ext cx="0" cy="1435608"/>
          </a:xfrm>
          <a:prstGeom prst="line">
            <a:avLst/>
          </a:prstGeom>
          <a:ln w="11430">
            <a:solidFill>
              <a:srgbClr val="1E2C3E">
                <a:alpha val="75000"/>
              </a:srgbClr>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3355848" y="3246120"/>
            <a:ext cx="2167128" cy="0"/>
          </a:xfrm>
          <a:prstGeom prst="line">
            <a:avLst/>
          </a:prstGeom>
          <a:ln w="11430">
            <a:solidFill>
              <a:srgbClr val="1E2C3E">
                <a:alpha val="75000"/>
              </a:srgbClr>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5522976" y="1810512"/>
            <a:ext cx="0" cy="1435608"/>
          </a:xfrm>
          <a:prstGeom prst="line">
            <a:avLst/>
          </a:prstGeom>
          <a:ln w="11430">
            <a:solidFill>
              <a:srgbClr val="1E2C3E">
                <a:alpha val="75000"/>
              </a:srgbClr>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3355848" y="3246120"/>
            <a:ext cx="4261104" cy="0"/>
          </a:xfrm>
          <a:prstGeom prst="line">
            <a:avLst/>
          </a:prstGeom>
          <a:ln w="11430">
            <a:solidFill>
              <a:srgbClr val="1E2C3E">
                <a:alpha val="75000"/>
              </a:srgbClr>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7616952" y="1810512"/>
            <a:ext cx="0" cy="1435608"/>
          </a:xfrm>
          <a:prstGeom prst="line">
            <a:avLst/>
          </a:prstGeom>
          <a:ln w="11430">
            <a:solidFill>
              <a:srgbClr val="1E2C3E">
                <a:alpha val="75000"/>
              </a:srgbClr>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3355848" y="3246120"/>
            <a:ext cx="6355080" cy="0"/>
          </a:xfrm>
          <a:prstGeom prst="line">
            <a:avLst/>
          </a:prstGeom>
          <a:ln w="11430">
            <a:solidFill>
              <a:srgbClr val="1E2C3E">
                <a:alpha val="75000"/>
              </a:srgbClr>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9710928" y="1810512"/>
            <a:ext cx="0" cy="1435608"/>
          </a:xfrm>
          <a:prstGeom prst="line">
            <a:avLst/>
          </a:prstGeom>
          <a:ln w="11430">
            <a:solidFill>
              <a:srgbClr val="1E2C3E">
                <a:alpha val="75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3401568" y="3300984"/>
            <a:ext cx="566928" cy="146304"/>
          </a:xfrm>
          <a:prstGeom prst="rect">
            <a:avLst/>
          </a:prstGeom>
          <a:noFill/>
        </p:spPr>
        <p:txBody>
          <a:bodyPr wrap="square" lIns="0" rIns="0" tIns="0" bIns="0" anchor="t">
            <a:noAutofit/>
          </a:bodyPr>
          <a:lstStyle/>
          <a:p>
            <a:pPr algn="l">
              <a:lnSpc>
                <a:spcPct val="122000"/>
              </a:lnSpc>
            </a:pPr>
            <a:r>
              <a:rPr sz="620" b="0" i="0">
                <a:solidFill>
                  <a:srgbClr val="34D399"/>
                </a:solidFill>
                <a:latin typeface="Consolas"/>
              </a:rPr>
              <a:t>1 : N</a:t>
            </a:r>
          </a:p>
        </p:txBody>
      </p:sp>
      <p:sp>
        <p:nvSpPr>
          <p:cNvPr id="140" name="TextBox 139"/>
          <p:cNvSpPr txBox="1"/>
          <p:nvPr/>
        </p:nvSpPr>
        <p:spPr>
          <a:xfrm>
            <a:off x="3401568" y="3447288"/>
            <a:ext cx="658368" cy="146304"/>
          </a:xfrm>
          <a:prstGeom prst="rect">
            <a:avLst/>
          </a:prstGeom>
          <a:noFill/>
        </p:spPr>
        <p:txBody>
          <a:bodyPr wrap="square" lIns="0" rIns="0" tIns="0" bIns="0" anchor="t">
            <a:noAutofit/>
          </a:bodyPr>
          <a:lstStyle/>
          <a:p>
            <a:pPr algn="l">
              <a:lnSpc>
                <a:spcPct val="122000"/>
              </a:lnSpc>
            </a:pPr>
            <a:r>
              <a:rPr sz="550" b="0" i="0">
                <a:solidFill>
                  <a:srgbClr val="64748B"/>
                </a:solidFill>
                <a:latin typeface="Consolas"/>
              </a:rPr>
              <a:t>cascade</a:t>
            </a:r>
          </a:p>
        </p:txBody>
      </p:sp>
      <p:sp>
        <p:nvSpPr>
          <p:cNvPr id="141" name="Rounded Rectangle 140"/>
          <p:cNvSpPr/>
          <p:nvPr/>
        </p:nvSpPr>
        <p:spPr>
          <a:xfrm>
            <a:off x="566928" y="5742432"/>
            <a:ext cx="11055096" cy="512064"/>
          </a:xfrm>
          <a:prstGeom prst="roundRect">
            <a:avLst>
              <a:gd name="adj" fmla="val 10714"/>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2" name="TextBox 141"/>
          <p:cNvSpPr txBox="1"/>
          <p:nvPr/>
        </p:nvSpPr>
        <p:spPr>
          <a:xfrm>
            <a:off x="731520" y="5852160"/>
            <a:ext cx="731520" cy="146304"/>
          </a:xfrm>
          <a:prstGeom prst="rect">
            <a:avLst/>
          </a:prstGeom>
          <a:noFill/>
        </p:spPr>
        <p:txBody>
          <a:bodyPr wrap="square" lIns="0" rIns="0" tIns="0" bIns="0" anchor="t">
            <a:noAutofit/>
          </a:bodyPr>
          <a:lstStyle/>
          <a:p>
            <a:pPr algn="l">
              <a:lnSpc>
                <a:spcPct val="122000"/>
              </a:lnSpc>
            </a:pPr>
            <a:r>
              <a:rPr sz="590" b="0" i="0" spc="60">
                <a:solidFill>
                  <a:srgbClr val="64748B"/>
                </a:solidFill>
                <a:latin typeface="Consolas"/>
              </a:rPr>
              <a:t>RETENTION</a:t>
            </a:r>
          </a:p>
        </p:txBody>
      </p:sp>
      <p:sp>
        <p:nvSpPr>
          <p:cNvPr id="143" name="TextBox 142"/>
          <p:cNvSpPr txBox="1"/>
          <p:nvPr/>
        </p:nvSpPr>
        <p:spPr>
          <a:xfrm>
            <a:off x="1481328" y="5843016"/>
            <a:ext cx="1975104" cy="274320"/>
          </a:xfrm>
          <a:prstGeom prst="rect">
            <a:avLst/>
          </a:prstGeom>
          <a:noFill/>
        </p:spPr>
        <p:txBody>
          <a:bodyPr wrap="square" lIns="0" rIns="0" tIns="0" bIns="0" anchor="t">
            <a:noAutofit/>
          </a:bodyPr>
          <a:lstStyle/>
          <a:p>
            <a:pPr algn="l">
              <a:lnSpc>
                <a:spcPct val="115000"/>
              </a:lnSpc>
            </a:pPr>
            <a:r>
              <a:rPr sz="670" b="0" i="0">
                <a:solidFill>
                  <a:srgbClr val="9DB0C6"/>
                </a:solidFill>
                <a:latin typeface="Segoe UI"/>
              </a:rPr>
              <a:t>48 seed points × 30 s · pruned past 50 min</a:t>
            </a:r>
          </a:p>
        </p:txBody>
      </p:sp>
      <p:sp>
        <p:nvSpPr>
          <p:cNvPr id="144" name="TextBox 143"/>
          <p:cNvSpPr txBox="1"/>
          <p:nvPr/>
        </p:nvSpPr>
        <p:spPr>
          <a:xfrm>
            <a:off x="3502152" y="5852160"/>
            <a:ext cx="731520" cy="146304"/>
          </a:xfrm>
          <a:prstGeom prst="rect">
            <a:avLst/>
          </a:prstGeom>
          <a:noFill/>
        </p:spPr>
        <p:txBody>
          <a:bodyPr wrap="square" lIns="0" rIns="0" tIns="0" bIns="0" anchor="t">
            <a:noAutofit/>
          </a:bodyPr>
          <a:lstStyle/>
          <a:p>
            <a:pPr algn="l">
              <a:lnSpc>
                <a:spcPct val="122000"/>
              </a:lnSpc>
            </a:pPr>
            <a:r>
              <a:rPr sz="590" b="0" i="0" spc="60">
                <a:solidFill>
                  <a:srgbClr val="64748B"/>
                </a:solidFill>
                <a:latin typeface="Consolas"/>
              </a:rPr>
              <a:t>CADENCE</a:t>
            </a:r>
          </a:p>
        </p:txBody>
      </p:sp>
      <p:sp>
        <p:nvSpPr>
          <p:cNvPr id="145" name="TextBox 144"/>
          <p:cNvSpPr txBox="1"/>
          <p:nvPr/>
        </p:nvSpPr>
        <p:spPr>
          <a:xfrm>
            <a:off x="4251960" y="5843016"/>
            <a:ext cx="1975104" cy="274320"/>
          </a:xfrm>
          <a:prstGeom prst="rect">
            <a:avLst/>
          </a:prstGeom>
          <a:noFill/>
        </p:spPr>
        <p:txBody>
          <a:bodyPr wrap="square" lIns="0" rIns="0" tIns="0" bIns="0" anchor="t">
            <a:noAutofit/>
          </a:bodyPr>
          <a:lstStyle/>
          <a:p>
            <a:pPr algn="l">
              <a:lnSpc>
                <a:spcPct val="115000"/>
              </a:lnSpc>
            </a:pPr>
            <a:r>
              <a:rPr sz="670" b="0" i="0">
                <a:solidFill>
                  <a:srgbClr val="9DB0C6"/>
                </a:solidFill>
                <a:latin typeface="Segoe UI"/>
              </a:rPr>
              <a:t>snapshot 10 s · samples 30 s</a:t>
            </a:r>
          </a:p>
        </p:txBody>
      </p:sp>
      <p:sp>
        <p:nvSpPr>
          <p:cNvPr id="146" name="TextBox 145"/>
          <p:cNvSpPr txBox="1"/>
          <p:nvPr/>
        </p:nvSpPr>
        <p:spPr>
          <a:xfrm>
            <a:off x="6272783" y="5852160"/>
            <a:ext cx="731520" cy="146304"/>
          </a:xfrm>
          <a:prstGeom prst="rect">
            <a:avLst/>
          </a:prstGeom>
          <a:noFill/>
        </p:spPr>
        <p:txBody>
          <a:bodyPr wrap="square" lIns="0" rIns="0" tIns="0" bIns="0" anchor="t">
            <a:noAutofit/>
          </a:bodyPr>
          <a:lstStyle/>
          <a:p>
            <a:pPr algn="l">
              <a:lnSpc>
                <a:spcPct val="122000"/>
              </a:lnSpc>
            </a:pPr>
            <a:r>
              <a:rPr sz="590" b="0" i="0" spc="60">
                <a:solidFill>
                  <a:srgbClr val="64748B"/>
                </a:solidFill>
                <a:latin typeface="Consolas"/>
              </a:rPr>
              <a:t>DELETES</a:t>
            </a:r>
          </a:p>
        </p:txBody>
      </p:sp>
      <p:sp>
        <p:nvSpPr>
          <p:cNvPr id="147" name="TextBox 146"/>
          <p:cNvSpPr txBox="1"/>
          <p:nvPr/>
        </p:nvSpPr>
        <p:spPr>
          <a:xfrm>
            <a:off x="7022592" y="5843016"/>
            <a:ext cx="1975104" cy="274320"/>
          </a:xfrm>
          <a:prstGeom prst="rect">
            <a:avLst/>
          </a:prstGeom>
          <a:noFill/>
        </p:spPr>
        <p:txBody>
          <a:bodyPr wrap="square" lIns="0" rIns="0" tIns="0" bIns="0" anchor="t">
            <a:noAutofit/>
          </a:bodyPr>
          <a:lstStyle/>
          <a:p>
            <a:pPr algn="l">
              <a:lnSpc>
                <a:spcPct val="115000"/>
              </a:lnSpc>
            </a:pPr>
            <a:r>
              <a:rPr sz="670" b="0" i="0">
                <a:solidFill>
                  <a:srgbClr val="9DB0C6"/>
                </a:solidFill>
                <a:latin typeface="Segoe UI"/>
              </a:rPr>
              <a:t>cascade from ops_nodes</a:t>
            </a:r>
          </a:p>
        </p:txBody>
      </p:sp>
      <p:sp>
        <p:nvSpPr>
          <p:cNvPr id="148" name="TextBox 147"/>
          <p:cNvSpPr txBox="1"/>
          <p:nvPr/>
        </p:nvSpPr>
        <p:spPr>
          <a:xfrm>
            <a:off x="9043416" y="5852160"/>
            <a:ext cx="731520" cy="146304"/>
          </a:xfrm>
          <a:prstGeom prst="rect">
            <a:avLst/>
          </a:prstGeom>
          <a:noFill/>
        </p:spPr>
        <p:txBody>
          <a:bodyPr wrap="square" lIns="0" rIns="0" tIns="0" bIns="0" anchor="t">
            <a:noAutofit/>
          </a:bodyPr>
          <a:lstStyle/>
          <a:p>
            <a:pPr algn="l">
              <a:lnSpc>
                <a:spcPct val="122000"/>
              </a:lnSpc>
            </a:pPr>
            <a:r>
              <a:rPr sz="590" b="0" i="0" spc="60">
                <a:solidFill>
                  <a:srgbClr val="64748B"/>
                </a:solidFill>
                <a:latin typeface="Consolas"/>
              </a:rPr>
              <a:t>BACKUPS</a:t>
            </a:r>
          </a:p>
        </p:txBody>
      </p:sp>
      <p:sp>
        <p:nvSpPr>
          <p:cNvPr id="149" name="TextBox 148"/>
          <p:cNvSpPr txBox="1"/>
          <p:nvPr/>
        </p:nvSpPr>
        <p:spPr>
          <a:xfrm>
            <a:off x="9793224" y="5843016"/>
            <a:ext cx="1975104" cy="274320"/>
          </a:xfrm>
          <a:prstGeom prst="rect">
            <a:avLst/>
          </a:prstGeom>
          <a:noFill/>
        </p:spPr>
        <p:txBody>
          <a:bodyPr wrap="square" lIns="0" rIns="0" tIns="0" bIns="0" anchor="t">
            <a:noAutofit/>
          </a:bodyPr>
          <a:lstStyle/>
          <a:p>
            <a:pPr algn="l">
              <a:lnSpc>
                <a:spcPct val="115000"/>
              </a:lnSpc>
            </a:pPr>
            <a:r>
              <a:rPr sz="670" b="0" i="0">
                <a:solidFill>
                  <a:srgbClr val="9DB0C6"/>
                </a:solidFill>
                <a:latin typeface="Segoe UI"/>
              </a:rPr>
              <a:t>pg_dump the five ops_* tables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1.6 · REALTIME DATA-FLOW</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Bootstrap once, then tick every two seconds</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The first paint already has topology. The stream then carries only what changes: metrics, status transitions, alerts and CLI output.</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ARCHITECTURE</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10 / 27</a:t>
            </a:r>
          </a:p>
        </p:txBody>
      </p:sp>
      <p:sp>
        <p:nvSpPr>
          <p:cNvPr id="11" name="Rounded Rectangle 10"/>
          <p:cNvSpPr/>
          <p:nvPr/>
        </p:nvSpPr>
        <p:spPr>
          <a:xfrm>
            <a:off x="731520" y="1783080"/>
            <a:ext cx="1847088" cy="512064"/>
          </a:xfrm>
          <a:prstGeom prst="roundRect">
            <a:avLst>
              <a:gd name="adj" fmla="val 10714"/>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832104" y="1865376"/>
            <a:ext cx="1664208" cy="164592"/>
          </a:xfrm>
          <a:prstGeom prst="rect">
            <a:avLst/>
          </a:prstGeom>
          <a:noFill/>
        </p:spPr>
        <p:txBody>
          <a:bodyPr wrap="square" lIns="0" rIns="0" tIns="0" bIns="0" anchor="t">
            <a:noAutofit/>
          </a:bodyPr>
          <a:lstStyle/>
          <a:p>
            <a:pPr algn="l">
              <a:lnSpc>
                <a:spcPct val="122000"/>
              </a:lnSpc>
            </a:pPr>
            <a:r>
              <a:rPr sz="720" b="1" i="0">
                <a:solidFill>
                  <a:srgbClr val="7DD3FC"/>
                </a:solidFill>
                <a:latin typeface="Consolas"/>
              </a:rPr>
              <a:t>BROWSER</a:t>
            </a:r>
          </a:p>
        </p:txBody>
      </p:sp>
      <p:sp>
        <p:nvSpPr>
          <p:cNvPr id="13" name="TextBox 12"/>
          <p:cNvSpPr txBox="1"/>
          <p:nvPr/>
        </p:nvSpPr>
        <p:spPr>
          <a:xfrm>
            <a:off x="832104" y="2039112"/>
            <a:ext cx="1664208" cy="146304"/>
          </a:xfrm>
          <a:prstGeom prst="rect">
            <a:avLst/>
          </a:prstGeom>
          <a:noFill/>
        </p:spPr>
        <p:txBody>
          <a:bodyPr wrap="square" lIns="0" rIns="0" tIns="0" bIns="0" anchor="t">
            <a:noAutofit/>
          </a:bodyPr>
          <a:lstStyle/>
          <a:p>
            <a:pPr algn="l">
              <a:lnSpc>
                <a:spcPct val="122000"/>
              </a:lnSpc>
            </a:pPr>
            <a:r>
              <a:rPr sz="570" b="0" i="0">
                <a:solidFill>
                  <a:srgbClr val="64748B"/>
                </a:solidFill>
                <a:latin typeface="Consolas"/>
              </a:rPr>
              <a:t>server component + store</a:t>
            </a:r>
          </a:p>
        </p:txBody>
      </p:sp>
      <p:cxnSp>
        <p:nvCxnSpPr>
          <p:cNvPr id="14" name="Connector 13"/>
          <p:cNvCxnSpPr/>
          <p:nvPr/>
        </p:nvCxnSpPr>
        <p:spPr>
          <a:xfrm>
            <a:off x="1655064" y="2313432"/>
            <a:ext cx="0" cy="3483864"/>
          </a:xfrm>
          <a:prstGeom prst="line">
            <a:avLst/>
          </a:prstGeom>
          <a:ln w="8890">
            <a:solidFill>
              <a:srgbClr val="1E2C3E">
                <a:alpha val="50000"/>
              </a:srgbClr>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52928" y="1783080"/>
            <a:ext cx="1847088" cy="512064"/>
          </a:xfrm>
          <a:prstGeom prst="roundRect">
            <a:avLst>
              <a:gd name="adj" fmla="val 10714"/>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2953512" y="1865376"/>
            <a:ext cx="1664208" cy="164592"/>
          </a:xfrm>
          <a:prstGeom prst="rect">
            <a:avLst/>
          </a:prstGeom>
          <a:noFill/>
        </p:spPr>
        <p:txBody>
          <a:bodyPr wrap="square" lIns="0" rIns="0" tIns="0" bIns="0" anchor="t">
            <a:noAutofit/>
          </a:bodyPr>
          <a:lstStyle/>
          <a:p>
            <a:pPr algn="l">
              <a:lnSpc>
                <a:spcPct val="122000"/>
              </a:lnSpc>
            </a:pPr>
            <a:r>
              <a:rPr sz="720" b="1" i="0">
                <a:solidFill>
                  <a:srgbClr val="A78BFA"/>
                </a:solidFill>
                <a:latin typeface="Consolas"/>
              </a:rPr>
              <a:t>GET /api/topology</a:t>
            </a:r>
          </a:p>
        </p:txBody>
      </p:sp>
      <p:sp>
        <p:nvSpPr>
          <p:cNvPr id="17" name="TextBox 16"/>
          <p:cNvSpPr txBox="1"/>
          <p:nvPr/>
        </p:nvSpPr>
        <p:spPr>
          <a:xfrm>
            <a:off x="2953512" y="2039112"/>
            <a:ext cx="1664208" cy="146304"/>
          </a:xfrm>
          <a:prstGeom prst="rect">
            <a:avLst/>
          </a:prstGeom>
          <a:noFill/>
        </p:spPr>
        <p:txBody>
          <a:bodyPr wrap="square" lIns="0" rIns="0" tIns="0" bIns="0" anchor="t">
            <a:noAutofit/>
          </a:bodyPr>
          <a:lstStyle/>
          <a:p>
            <a:pPr algn="l">
              <a:lnSpc>
                <a:spcPct val="122000"/>
              </a:lnSpc>
            </a:pPr>
            <a:r>
              <a:rPr sz="570" b="0" i="0">
                <a:solidFill>
                  <a:srgbClr val="64748B"/>
                </a:solidFill>
                <a:latin typeface="Consolas"/>
              </a:rPr>
              <a:t>aggregation point</a:t>
            </a:r>
          </a:p>
        </p:txBody>
      </p:sp>
      <p:cxnSp>
        <p:nvCxnSpPr>
          <p:cNvPr id="18" name="Connector 17"/>
          <p:cNvCxnSpPr/>
          <p:nvPr/>
        </p:nvCxnSpPr>
        <p:spPr>
          <a:xfrm>
            <a:off x="3776472" y="2313432"/>
            <a:ext cx="0" cy="3483864"/>
          </a:xfrm>
          <a:prstGeom prst="line">
            <a:avLst/>
          </a:prstGeom>
          <a:ln w="8890">
            <a:solidFill>
              <a:srgbClr val="1E2C3E">
                <a:alpha val="50000"/>
              </a:srgbClr>
            </a:solidFill>
            <a:prstDash val="dash"/>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974336" y="1783080"/>
            <a:ext cx="1847088" cy="512064"/>
          </a:xfrm>
          <a:prstGeom prst="roundRect">
            <a:avLst>
              <a:gd name="adj" fmla="val 10714"/>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5074920" y="1865376"/>
            <a:ext cx="1664208" cy="164592"/>
          </a:xfrm>
          <a:prstGeom prst="rect">
            <a:avLst/>
          </a:prstGeom>
          <a:noFill/>
        </p:spPr>
        <p:txBody>
          <a:bodyPr wrap="square" lIns="0" rIns="0" tIns="0" bIns="0" anchor="t">
            <a:noAutofit/>
          </a:bodyPr>
          <a:lstStyle/>
          <a:p>
            <a:pPr algn="l">
              <a:lnSpc>
                <a:spcPct val="122000"/>
              </a:lnSpc>
            </a:pPr>
            <a:r>
              <a:rPr sz="720" b="1" i="0">
                <a:solidFill>
                  <a:srgbClr val="34D399"/>
                </a:solidFill>
                <a:latin typeface="Consolas"/>
              </a:rPr>
              <a:t>POSTGRES</a:t>
            </a:r>
          </a:p>
        </p:txBody>
      </p:sp>
      <p:sp>
        <p:nvSpPr>
          <p:cNvPr id="21" name="TextBox 20"/>
          <p:cNvSpPr txBox="1"/>
          <p:nvPr/>
        </p:nvSpPr>
        <p:spPr>
          <a:xfrm>
            <a:off x="5074920" y="2039112"/>
            <a:ext cx="1664208" cy="146304"/>
          </a:xfrm>
          <a:prstGeom prst="rect">
            <a:avLst/>
          </a:prstGeom>
          <a:noFill/>
        </p:spPr>
        <p:txBody>
          <a:bodyPr wrap="square" lIns="0" rIns="0" tIns="0" bIns="0" anchor="t">
            <a:noAutofit/>
          </a:bodyPr>
          <a:lstStyle/>
          <a:p>
            <a:pPr algn="l">
              <a:lnSpc>
                <a:spcPct val="122000"/>
              </a:lnSpc>
            </a:pPr>
            <a:r>
              <a:rPr sz="570" b="0" i="0">
                <a:solidFill>
                  <a:srgbClr val="64748B"/>
                </a:solidFill>
                <a:latin typeface="Consolas"/>
              </a:rPr>
              <a:t>five ops_* tables</a:t>
            </a:r>
          </a:p>
        </p:txBody>
      </p:sp>
      <p:cxnSp>
        <p:nvCxnSpPr>
          <p:cNvPr id="22" name="Connector 21"/>
          <p:cNvCxnSpPr/>
          <p:nvPr/>
        </p:nvCxnSpPr>
        <p:spPr>
          <a:xfrm>
            <a:off x="5897879" y="2313432"/>
            <a:ext cx="0" cy="3483864"/>
          </a:xfrm>
          <a:prstGeom prst="line">
            <a:avLst/>
          </a:prstGeom>
          <a:ln w="8890">
            <a:solidFill>
              <a:srgbClr val="1E2C3E">
                <a:alpha val="50000"/>
              </a:srgbClr>
            </a:solidFill>
            <a:prstDash val="dash"/>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095743" y="1783080"/>
            <a:ext cx="1847088" cy="512064"/>
          </a:xfrm>
          <a:prstGeom prst="roundRect">
            <a:avLst>
              <a:gd name="adj" fmla="val 10714"/>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7196327" y="1865376"/>
            <a:ext cx="1664208" cy="164592"/>
          </a:xfrm>
          <a:prstGeom prst="rect">
            <a:avLst/>
          </a:prstGeom>
          <a:noFill/>
        </p:spPr>
        <p:txBody>
          <a:bodyPr wrap="square" lIns="0" rIns="0" tIns="0" bIns="0" anchor="t">
            <a:noAutofit/>
          </a:bodyPr>
          <a:lstStyle/>
          <a:p>
            <a:pPr algn="l">
              <a:lnSpc>
                <a:spcPct val="122000"/>
              </a:lnSpc>
            </a:pPr>
            <a:r>
              <a:rPr sz="720" b="1" i="0">
                <a:solidFill>
                  <a:srgbClr val="FBBF24"/>
                </a:solidFill>
                <a:latin typeface="Consolas"/>
              </a:rPr>
              <a:t>TELEMETRY ENGINE</a:t>
            </a:r>
          </a:p>
        </p:txBody>
      </p:sp>
      <p:sp>
        <p:nvSpPr>
          <p:cNvPr id="25" name="TextBox 24"/>
          <p:cNvSpPr txBox="1"/>
          <p:nvPr/>
        </p:nvSpPr>
        <p:spPr>
          <a:xfrm>
            <a:off x="7196327" y="2039112"/>
            <a:ext cx="1664208" cy="146304"/>
          </a:xfrm>
          <a:prstGeom prst="rect">
            <a:avLst/>
          </a:prstGeom>
          <a:noFill/>
        </p:spPr>
        <p:txBody>
          <a:bodyPr wrap="square" lIns="0" rIns="0" tIns="0" bIns="0" anchor="t">
            <a:noAutofit/>
          </a:bodyPr>
          <a:lstStyle/>
          <a:p>
            <a:pPr algn="l">
              <a:lnSpc>
                <a:spcPct val="122000"/>
              </a:lnSpc>
            </a:pPr>
            <a:r>
              <a:rPr sz="570" b="0" i="0">
                <a:solidFill>
                  <a:srgbClr val="64748B"/>
                </a:solidFill>
                <a:latin typeface="Consolas"/>
              </a:rPr>
              <a:t>2 s mean reversion</a:t>
            </a:r>
          </a:p>
        </p:txBody>
      </p:sp>
      <p:cxnSp>
        <p:nvCxnSpPr>
          <p:cNvPr id="26" name="Connector 25"/>
          <p:cNvCxnSpPr/>
          <p:nvPr/>
        </p:nvCxnSpPr>
        <p:spPr>
          <a:xfrm>
            <a:off x="8019288" y="2313432"/>
            <a:ext cx="0" cy="3483864"/>
          </a:xfrm>
          <a:prstGeom prst="line">
            <a:avLst/>
          </a:prstGeom>
          <a:ln w="8890">
            <a:solidFill>
              <a:srgbClr val="1E2C3E">
                <a:alpha val="50000"/>
              </a:srgbClr>
            </a:solidFill>
            <a:prstDash val="dash"/>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217152" y="1783080"/>
            <a:ext cx="1847088" cy="512064"/>
          </a:xfrm>
          <a:prstGeom prst="roundRect">
            <a:avLst>
              <a:gd name="adj" fmla="val 10714"/>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9317736" y="1865376"/>
            <a:ext cx="1664208" cy="164592"/>
          </a:xfrm>
          <a:prstGeom prst="rect">
            <a:avLst/>
          </a:prstGeom>
          <a:noFill/>
        </p:spPr>
        <p:txBody>
          <a:bodyPr wrap="square" lIns="0" rIns="0" tIns="0" bIns="0" anchor="t">
            <a:noAutofit/>
          </a:bodyPr>
          <a:lstStyle/>
          <a:p>
            <a:pPr algn="l">
              <a:lnSpc>
                <a:spcPct val="122000"/>
              </a:lnSpc>
            </a:pPr>
            <a:r>
              <a:rPr sz="720" b="1" i="0">
                <a:solidFill>
                  <a:srgbClr val="7DD3FC"/>
                </a:solidFill>
                <a:latin typeface="Consolas"/>
              </a:rPr>
              <a:t>GET /api/stream</a:t>
            </a:r>
          </a:p>
        </p:txBody>
      </p:sp>
      <p:sp>
        <p:nvSpPr>
          <p:cNvPr id="29" name="TextBox 28"/>
          <p:cNvSpPr txBox="1"/>
          <p:nvPr/>
        </p:nvSpPr>
        <p:spPr>
          <a:xfrm>
            <a:off x="9317736" y="2039112"/>
            <a:ext cx="1664208" cy="146304"/>
          </a:xfrm>
          <a:prstGeom prst="rect">
            <a:avLst/>
          </a:prstGeom>
          <a:noFill/>
        </p:spPr>
        <p:txBody>
          <a:bodyPr wrap="square" lIns="0" rIns="0" tIns="0" bIns="0" anchor="t">
            <a:noAutofit/>
          </a:bodyPr>
          <a:lstStyle/>
          <a:p>
            <a:pPr algn="l">
              <a:lnSpc>
                <a:spcPct val="122000"/>
              </a:lnSpc>
            </a:pPr>
            <a:r>
              <a:rPr sz="570" b="0" i="0">
                <a:solidFill>
                  <a:srgbClr val="64748B"/>
                </a:solidFill>
                <a:latin typeface="Consolas"/>
              </a:rPr>
              <a:t>SSE fan-out</a:t>
            </a:r>
          </a:p>
        </p:txBody>
      </p:sp>
      <p:cxnSp>
        <p:nvCxnSpPr>
          <p:cNvPr id="30" name="Connector 29"/>
          <p:cNvCxnSpPr/>
          <p:nvPr/>
        </p:nvCxnSpPr>
        <p:spPr>
          <a:xfrm>
            <a:off x="10140696" y="2313432"/>
            <a:ext cx="0" cy="3483864"/>
          </a:xfrm>
          <a:prstGeom prst="line">
            <a:avLst/>
          </a:prstGeom>
          <a:ln w="8890">
            <a:solidFill>
              <a:srgbClr val="1E2C3E">
                <a:alpha val="50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655064" y="2615184"/>
            <a:ext cx="2121408" cy="0"/>
          </a:xfrm>
          <a:prstGeom prst="line">
            <a:avLst/>
          </a:prstGeom>
          <a:ln w="12700">
            <a:solidFill>
              <a:srgbClr val="A78BFA">
                <a:alpha val="90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1728216" y="2418588"/>
            <a:ext cx="146304" cy="146304"/>
          </a:xfrm>
          <a:prstGeom prst="ellipse">
            <a:avLst/>
          </a:prstGeom>
          <a:solidFill>
            <a:srgbClr val="A78BFA">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728216" y="2425903"/>
            <a:ext cx="146304" cy="118872"/>
          </a:xfrm>
          <a:prstGeom prst="rect">
            <a:avLst/>
          </a:prstGeom>
          <a:noFill/>
        </p:spPr>
        <p:txBody>
          <a:bodyPr wrap="square" lIns="0" rIns="0" tIns="0" bIns="0" anchor="t">
            <a:noAutofit/>
          </a:bodyPr>
          <a:lstStyle/>
          <a:p>
            <a:pPr algn="ctr">
              <a:lnSpc>
                <a:spcPct val="122000"/>
              </a:lnSpc>
            </a:pPr>
            <a:r>
              <a:rPr sz="550" b="1" i="0">
                <a:solidFill>
                  <a:srgbClr val="05070D"/>
                </a:solidFill>
                <a:latin typeface="Consolas"/>
              </a:rPr>
              <a:t>1</a:t>
            </a:r>
          </a:p>
        </p:txBody>
      </p:sp>
      <p:sp>
        <p:nvSpPr>
          <p:cNvPr id="34" name="TextBox 33"/>
          <p:cNvSpPr txBox="1"/>
          <p:nvPr/>
        </p:nvSpPr>
        <p:spPr>
          <a:xfrm>
            <a:off x="1700784" y="2400300"/>
            <a:ext cx="2029967" cy="173736"/>
          </a:xfrm>
          <a:prstGeom prst="rect">
            <a:avLst/>
          </a:prstGeom>
          <a:noFill/>
        </p:spPr>
        <p:txBody>
          <a:bodyPr wrap="square" lIns="0" rIns="0" tIns="0" bIns="0" anchor="t">
            <a:noAutofit/>
          </a:bodyPr>
          <a:lstStyle/>
          <a:p>
            <a:pPr algn="ctr">
              <a:lnSpc>
                <a:spcPct val="100000"/>
              </a:lnSpc>
            </a:pPr>
            <a:r>
              <a:rPr sz="630" b="0" i="0">
                <a:solidFill>
                  <a:srgbClr val="A78BFA"/>
                </a:solidFill>
                <a:latin typeface="Consolas"/>
              </a:rPr>
              <a:t>initial fetch · full hierarchy</a:t>
            </a:r>
          </a:p>
        </p:txBody>
      </p:sp>
      <p:cxnSp>
        <p:nvCxnSpPr>
          <p:cNvPr id="35" name="Connector 34"/>
          <p:cNvCxnSpPr/>
          <p:nvPr/>
        </p:nvCxnSpPr>
        <p:spPr>
          <a:xfrm>
            <a:off x="3776472" y="2615184"/>
            <a:ext cx="2121407" cy="0"/>
          </a:xfrm>
          <a:prstGeom prst="line">
            <a:avLst/>
          </a:prstGeom>
          <a:ln w="12700">
            <a:solidFill>
              <a:srgbClr val="34D399">
                <a:alpha val="90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3849624" y="2418588"/>
            <a:ext cx="146304" cy="146304"/>
          </a:xfrm>
          <a:prstGeom prst="ellipse">
            <a:avLst/>
          </a:prstGeom>
          <a:solidFill>
            <a:srgbClr val="34D399">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9624" y="2425903"/>
            <a:ext cx="146304" cy="118872"/>
          </a:xfrm>
          <a:prstGeom prst="rect">
            <a:avLst/>
          </a:prstGeom>
          <a:noFill/>
        </p:spPr>
        <p:txBody>
          <a:bodyPr wrap="square" lIns="0" rIns="0" tIns="0" bIns="0" anchor="t">
            <a:noAutofit/>
          </a:bodyPr>
          <a:lstStyle/>
          <a:p>
            <a:pPr algn="ctr">
              <a:lnSpc>
                <a:spcPct val="122000"/>
              </a:lnSpc>
            </a:pPr>
            <a:r>
              <a:rPr sz="550" b="1" i="0">
                <a:solidFill>
                  <a:srgbClr val="05070D"/>
                </a:solidFill>
                <a:latin typeface="Consolas"/>
              </a:rPr>
              <a:t>2</a:t>
            </a:r>
          </a:p>
        </p:txBody>
      </p:sp>
      <p:sp>
        <p:nvSpPr>
          <p:cNvPr id="38" name="TextBox 37"/>
          <p:cNvSpPr txBox="1"/>
          <p:nvPr/>
        </p:nvSpPr>
        <p:spPr>
          <a:xfrm>
            <a:off x="3822191" y="2400300"/>
            <a:ext cx="2029967" cy="173736"/>
          </a:xfrm>
          <a:prstGeom prst="rect">
            <a:avLst/>
          </a:prstGeom>
          <a:noFill/>
        </p:spPr>
        <p:txBody>
          <a:bodyPr wrap="square" lIns="0" rIns="0" tIns="0" bIns="0" anchor="t">
            <a:noAutofit/>
          </a:bodyPr>
          <a:lstStyle/>
          <a:p>
            <a:pPr algn="ctr">
              <a:lnSpc>
                <a:spcPct val="100000"/>
              </a:lnSpc>
            </a:pPr>
            <a:r>
              <a:rPr sz="630" b="0" i="0">
                <a:solidFill>
                  <a:srgbClr val="34D399"/>
                </a:solidFill>
                <a:latin typeface="Consolas"/>
              </a:rPr>
              <a:t>ensureSeeded() + select</a:t>
            </a:r>
          </a:p>
        </p:txBody>
      </p:sp>
      <p:cxnSp>
        <p:nvCxnSpPr>
          <p:cNvPr id="39" name="Connector 38"/>
          <p:cNvCxnSpPr/>
          <p:nvPr/>
        </p:nvCxnSpPr>
        <p:spPr>
          <a:xfrm flipH="1">
            <a:off x="1655064" y="3090672"/>
            <a:ext cx="2121408" cy="0"/>
          </a:xfrm>
          <a:prstGeom prst="line">
            <a:avLst/>
          </a:prstGeom>
          <a:ln w="12700">
            <a:solidFill>
              <a:srgbClr val="A78BFA">
                <a:alpha val="90000"/>
              </a:srgbClr>
            </a:solidFill>
            <a:headEnd type="triangle" w="sm" len="sm"/>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3593591" y="2894076"/>
            <a:ext cx="146304" cy="146304"/>
          </a:xfrm>
          <a:prstGeom prst="ellipse">
            <a:avLst/>
          </a:prstGeom>
          <a:solidFill>
            <a:srgbClr val="A78BFA">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93591" y="2901391"/>
            <a:ext cx="146304" cy="118872"/>
          </a:xfrm>
          <a:prstGeom prst="rect">
            <a:avLst/>
          </a:prstGeom>
          <a:noFill/>
        </p:spPr>
        <p:txBody>
          <a:bodyPr wrap="square" lIns="0" rIns="0" tIns="0" bIns="0" anchor="t">
            <a:noAutofit/>
          </a:bodyPr>
          <a:lstStyle/>
          <a:p>
            <a:pPr algn="ctr">
              <a:lnSpc>
                <a:spcPct val="122000"/>
              </a:lnSpc>
            </a:pPr>
            <a:r>
              <a:rPr sz="550" b="1" i="0">
                <a:solidFill>
                  <a:srgbClr val="05070D"/>
                </a:solidFill>
                <a:latin typeface="Consolas"/>
              </a:rPr>
              <a:t>3</a:t>
            </a:r>
          </a:p>
        </p:txBody>
      </p:sp>
      <p:sp>
        <p:nvSpPr>
          <p:cNvPr id="42" name="TextBox 41"/>
          <p:cNvSpPr txBox="1"/>
          <p:nvPr/>
        </p:nvSpPr>
        <p:spPr>
          <a:xfrm>
            <a:off x="1700784" y="2875788"/>
            <a:ext cx="2029967" cy="173736"/>
          </a:xfrm>
          <a:prstGeom prst="rect">
            <a:avLst/>
          </a:prstGeom>
          <a:noFill/>
        </p:spPr>
        <p:txBody>
          <a:bodyPr wrap="square" lIns="0" rIns="0" tIns="0" bIns="0" anchor="t">
            <a:noAutofit/>
          </a:bodyPr>
          <a:lstStyle/>
          <a:p>
            <a:pPr algn="ctr">
              <a:lnSpc>
                <a:spcPct val="100000"/>
              </a:lnSpc>
            </a:pPr>
            <a:r>
              <a:rPr sz="630" b="0" i="0">
                <a:solidFill>
                  <a:srgbClr val="A78BFA"/>
                </a:solidFill>
                <a:latin typeface="Consolas"/>
              </a:rPr>
              <a:t>TopologyPayload · parents first</a:t>
            </a:r>
          </a:p>
        </p:txBody>
      </p:sp>
      <p:cxnSp>
        <p:nvCxnSpPr>
          <p:cNvPr id="43" name="Connector 42"/>
          <p:cNvCxnSpPr/>
          <p:nvPr/>
        </p:nvCxnSpPr>
        <p:spPr>
          <a:xfrm>
            <a:off x="1655064" y="3712463"/>
            <a:ext cx="8485632" cy="0"/>
          </a:xfrm>
          <a:prstGeom prst="line">
            <a:avLst/>
          </a:prstGeom>
          <a:ln w="12700">
            <a:solidFill>
              <a:srgbClr val="7DD3FC">
                <a:alpha val="90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1728216" y="3515868"/>
            <a:ext cx="146304" cy="146304"/>
          </a:xfrm>
          <a:prstGeom prst="ellipse">
            <a:avLst/>
          </a:prstGeom>
          <a:solidFill>
            <a:srgbClr val="7DD3FC">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728216" y="3523183"/>
            <a:ext cx="146304" cy="118872"/>
          </a:xfrm>
          <a:prstGeom prst="rect">
            <a:avLst/>
          </a:prstGeom>
          <a:noFill/>
        </p:spPr>
        <p:txBody>
          <a:bodyPr wrap="square" lIns="0" rIns="0" tIns="0" bIns="0" anchor="t">
            <a:noAutofit/>
          </a:bodyPr>
          <a:lstStyle/>
          <a:p>
            <a:pPr algn="ctr">
              <a:lnSpc>
                <a:spcPct val="122000"/>
              </a:lnSpc>
            </a:pPr>
            <a:r>
              <a:rPr sz="550" b="1" i="0">
                <a:solidFill>
                  <a:srgbClr val="05070D"/>
                </a:solidFill>
                <a:latin typeface="Consolas"/>
              </a:rPr>
              <a:t>4</a:t>
            </a:r>
          </a:p>
        </p:txBody>
      </p:sp>
      <p:sp>
        <p:nvSpPr>
          <p:cNvPr id="46" name="TextBox 45"/>
          <p:cNvSpPr txBox="1"/>
          <p:nvPr/>
        </p:nvSpPr>
        <p:spPr>
          <a:xfrm>
            <a:off x="1700784" y="3497579"/>
            <a:ext cx="8394192" cy="173736"/>
          </a:xfrm>
          <a:prstGeom prst="rect">
            <a:avLst/>
          </a:prstGeom>
          <a:noFill/>
        </p:spPr>
        <p:txBody>
          <a:bodyPr wrap="square" lIns="0" rIns="0" tIns="0" bIns="0" anchor="t">
            <a:noAutofit/>
          </a:bodyPr>
          <a:lstStyle/>
          <a:p>
            <a:pPr algn="ctr">
              <a:lnSpc>
                <a:spcPct val="100000"/>
              </a:lnSpc>
            </a:pPr>
            <a:r>
              <a:rPr sz="630" b="0" i="0">
                <a:solidFill>
                  <a:srgbClr val="7DD3FC"/>
                </a:solidFill>
                <a:latin typeface="Consolas"/>
              </a:rPr>
              <a:t>EventSource connect</a:t>
            </a:r>
          </a:p>
        </p:txBody>
      </p:sp>
      <p:cxnSp>
        <p:nvCxnSpPr>
          <p:cNvPr id="47" name="Connector 46"/>
          <p:cNvCxnSpPr/>
          <p:nvPr/>
        </p:nvCxnSpPr>
        <p:spPr>
          <a:xfrm flipH="1">
            <a:off x="1655064" y="4059936"/>
            <a:ext cx="8485632" cy="0"/>
          </a:xfrm>
          <a:prstGeom prst="line">
            <a:avLst/>
          </a:prstGeom>
          <a:ln w="12700">
            <a:solidFill>
              <a:srgbClr val="7DD3FC">
                <a:alpha val="90000"/>
              </a:srgbClr>
            </a:solidFill>
            <a:headEnd type="triangle" w="sm" len="sm"/>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9957816" y="3863340"/>
            <a:ext cx="146304" cy="146304"/>
          </a:xfrm>
          <a:prstGeom prst="ellipse">
            <a:avLst/>
          </a:prstGeom>
          <a:solidFill>
            <a:srgbClr val="7DD3FC">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57816" y="3870655"/>
            <a:ext cx="146304" cy="118872"/>
          </a:xfrm>
          <a:prstGeom prst="rect">
            <a:avLst/>
          </a:prstGeom>
          <a:noFill/>
        </p:spPr>
        <p:txBody>
          <a:bodyPr wrap="square" lIns="0" rIns="0" tIns="0" bIns="0" anchor="t">
            <a:noAutofit/>
          </a:bodyPr>
          <a:lstStyle/>
          <a:p>
            <a:pPr algn="ctr">
              <a:lnSpc>
                <a:spcPct val="122000"/>
              </a:lnSpc>
            </a:pPr>
            <a:r>
              <a:rPr sz="550" b="1" i="0">
                <a:solidFill>
                  <a:srgbClr val="05070D"/>
                </a:solidFill>
                <a:latin typeface="Consolas"/>
              </a:rPr>
              <a:t>5</a:t>
            </a:r>
          </a:p>
        </p:txBody>
      </p:sp>
      <p:sp>
        <p:nvSpPr>
          <p:cNvPr id="50" name="TextBox 49"/>
          <p:cNvSpPr txBox="1"/>
          <p:nvPr/>
        </p:nvSpPr>
        <p:spPr>
          <a:xfrm>
            <a:off x="1700784" y="3845052"/>
            <a:ext cx="8394192" cy="173736"/>
          </a:xfrm>
          <a:prstGeom prst="rect">
            <a:avLst/>
          </a:prstGeom>
          <a:noFill/>
        </p:spPr>
        <p:txBody>
          <a:bodyPr wrap="square" lIns="0" rIns="0" tIns="0" bIns="0" anchor="t">
            <a:noAutofit/>
          </a:bodyPr>
          <a:lstStyle/>
          <a:p>
            <a:pPr algn="ctr">
              <a:lnSpc>
                <a:spcPct val="100000"/>
              </a:lnSpc>
            </a:pPr>
            <a:r>
              <a:rPr sz="630" b="0" i="0">
                <a:solidFill>
                  <a:srgbClr val="7DD3FC"/>
                </a:solidFill>
                <a:latin typeface="Consolas"/>
              </a:rPr>
              <a:t>hello + full snapshot</a:t>
            </a:r>
          </a:p>
        </p:txBody>
      </p:sp>
      <p:sp>
        <p:nvSpPr>
          <p:cNvPr id="51" name="Rounded Rectangle 50"/>
          <p:cNvSpPr/>
          <p:nvPr/>
        </p:nvSpPr>
        <p:spPr>
          <a:xfrm>
            <a:off x="777240" y="4315968"/>
            <a:ext cx="10241280" cy="1371600"/>
          </a:xfrm>
          <a:prstGeom prst="roundRect">
            <a:avLst>
              <a:gd name="adj" fmla="val 3333"/>
            </a:avLst>
          </a:prstGeom>
          <a:solidFill>
            <a:srgbClr val="0A1524">
              <a:alpha val="60000"/>
            </a:srgbClr>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TextBox 51"/>
          <p:cNvSpPr txBox="1"/>
          <p:nvPr/>
        </p:nvSpPr>
        <p:spPr>
          <a:xfrm>
            <a:off x="877824" y="4389120"/>
            <a:ext cx="2926080" cy="137160"/>
          </a:xfrm>
          <a:prstGeom prst="rect">
            <a:avLst/>
          </a:prstGeom>
          <a:noFill/>
        </p:spPr>
        <p:txBody>
          <a:bodyPr wrap="square" lIns="0" rIns="0" tIns="0" bIns="0" anchor="t">
            <a:noAutofit/>
          </a:bodyPr>
          <a:lstStyle/>
          <a:p>
            <a:pPr algn="l">
              <a:lnSpc>
                <a:spcPct val="122000"/>
              </a:lnSpc>
            </a:pPr>
            <a:r>
              <a:rPr sz="600" b="0" i="0" spc="110">
                <a:solidFill>
                  <a:srgbClr val="7DD3FC"/>
                </a:solidFill>
                <a:latin typeface="Consolas"/>
              </a:rPr>
              <a:t>LOOP · EVERY 2 SECONDS</a:t>
            </a:r>
          </a:p>
        </p:txBody>
      </p:sp>
      <p:sp>
        <p:nvSpPr>
          <p:cNvPr id="53" name="TextBox 52"/>
          <p:cNvSpPr txBox="1"/>
          <p:nvPr/>
        </p:nvSpPr>
        <p:spPr>
          <a:xfrm>
            <a:off x="877824" y="4553712"/>
            <a:ext cx="4206240" cy="146304"/>
          </a:xfrm>
          <a:prstGeom prst="rect">
            <a:avLst/>
          </a:prstGeom>
          <a:noFill/>
        </p:spPr>
        <p:txBody>
          <a:bodyPr wrap="square" lIns="0" rIns="0" tIns="0" bIns="0" anchor="t">
            <a:noAutofit/>
          </a:bodyPr>
          <a:lstStyle/>
          <a:p>
            <a:pPr algn="l">
              <a:lnSpc>
                <a:spcPct val="122000"/>
              </a:lnSpc>
            </a:pPr>
            <a:r>
              <a:rPr sz="620" b="0" i="0">
                <a:solidFill>
                  <a:srgbClr val="64748B"/>
                </a:solidFill>
                <a:latin typeface="Consolas"/>
              </a:rPr>
              <a:t>engine: evolve → roll up → derive status</a:t>
            </a:r>
          </a:p>
        </p:txBody>
      </p:sp>
      <p:cxnSp>
        <p:nvCxnSpPr>
          <p:cNvPr id="54" name="Connector 53"/>
          <p:cNvCxnSpPr/>
          <p:nvPr/>
        </p:nvCxnSpPr>
        <p:spPr>
          <a:xfrm flipH="1">
            <a:off x="5897879" y="5029200"/>
            <a:ext cx="2121409" cy="0"/>
          </a:xfrm>
          <a:prstGeom prst="line">
            <a:avLst/>
          </a:prstGeom>
          <a:ln w="12700">
            <a:solidFill>
              <a:srgbClr val="34D399">
                <a:alpha val="90000"/>
              </a:srgbClr>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5971031" y="4832604"/>
            <a:ext cx="146304" cy="146304"/>
          </a:xfrm>
          <a:prstGeom prst="ellipse">
            <a:avLst/>
          </a:prstGeom>
          <a:solidFill>
            <a:srgbClr val="34D399">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971031" y="4839919"/>
            <a:ext cx="146304" cy="118872"/>
          </a:xfrm>
          <a:prstGeom prst="rect">
            <a:avLst/>
          </a:prstGeom>
          <a:noFill/>
        </p:spPr>
        <p:txBody>
          <a:bodyPr wrap="square" lIns="0" rIns="0" tIns="0" bIns="0" anchor="t">
            <a:noAutofit/>
          </a:bodyPr>
          <a:lstStyle/>
          <a:p>
            <a:pPr algn="ctr">
              <a:lnSpc>
                <a:spcPct val="122000"/>
              </a:lnSpc>
            </a:pPr>
            <a:r>
              <a:rPr sz="550" b="1" i="0">
                <a:solidFill>
                  <a:srgbClr val="05070D"/>
                </a:solidFill>
                <a:latin typeface="Consolas"/>
              </a:rPr>
              <a:t>6</a:t>
            </a:r>
          </a:p>
        </p:txBody>
      </p:sp>
      <p:sp>
        <p:nvSpPr>
          <p:cNvPr id="57" name="TextBox 56"/>
          <p:cNvSpPr txBox="1"/>
          <p:nvPr/>
        </p:nvSpPr>
        <p:spPr>
          <a:xfrm>
            <a:off x="5943599" y="4814316"/>
            <a:ext cx="2029968" cy="173736"/>
          </a:xfrm>
          <a:prstGeom prst="rect">
            <a:avLst/>
          </a:prstGeom>
          <a:noFill/>
        </p:spPr>
        <p:txBody>
          <a:bodyPr wrap="square" lIns="0" rIns="0" tIns="0" bIns="0" anchor="t">
            <a:noAutofit/>
          </a:bodyPr>
          <a:lstStyle/>
          <a:p>
            <a:pPr algn="ctr">
              <a:lnSpc>
                <a:spcPct val="100000"/>
              </a:lnSpc>
            </a:pPr>
            <a:r>
              <a:rPr sz="630" b="0" i="0">
                <a:solidFill>
                  <a:srgbClr val="9DB0C6"/>
                </a:solidFill>
                <a:latin typeface="Consolas"/>
              </a:rPr>
              <a:t>persist 10 s / samples 30 s</a:t>
            </a:r>
          </a:p>
        </p:txBody>
      </p:sp>
      <p:cxnSp>
        <p:nvCxnSpPr>
          <p:cNvPr id="58" name="Connector 57"/>
          <p:cNvCxnSpPr/>
          <p:nvPr/>
        </p:nvCxnSpPr>
        <p:spPr>
          <a:xfrm>
            <a:off x="8019288" y="5394960"/>
            <a:ext cx="2121408" cy="0"/>
          </a:xfrm>
          <a:prstGeom prst="line">
            <a:avLst/>
          </a:prstGeom>
          <a:ln w="12700">
            <a:solidFill>
              <a:srgbClr val="FBBF24">
                <a:alpha val="90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8092440" y="5198364"/>
            <a:ext cx="146304" cy="146304"/>
          </a:xfrm>
          <a:prstGeom prst="ellipse">
            <a:avLst/>
          </a:prstGeom>
          <a:solidFill>
            <a:srgbClr val="FBBF24">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092440" y="5205679"/>
            <a:ext cx="146304" cy="118872"/>
          </a:xfrm>
          <a:prstGeom prst="rect">
            <a:avLst/>
          </a:prstGeom>
          <a:noFill/>
        </p:spPr>
        <p:txBody>
          <a:bodyPr wrap="square" lIns="0" rIns="0" tIns="0" bIns="0" anchor="t">
            <a:noAutofit/>
          </a:bodyPr>
          <a:lstStyle/>
          <a:p>
            <a:pPr algn="ctr">
              <a:lnSpc>
                <a:spcPct val="122000"/>
              </a:lnSpc>
            </a:pPr>
            <a:r>
              <a:rPr sz="550" b="1" i="0">
                <a:solidFill>
                  <a:srgbClr val="05070D"/>
                </a:solidFill>
                <a:latin typeface="Consolas"/>
              </a:rPr>
              <a:t>7</a:t>
            </a:r>
          </a:p>
        </p:txBody>
      </p:sp>
      <p:sp>
        <p:nvSpPr>
          <p:cNvPr id="61" name="TextBox 60"/>
          <p:cNvSpPr txBox="1"/>
          <p:nvPr/>
        </p:nvSpPr>
        <p:spPr>
          <a:xfrm>
            <a:off x="8065008" y="5180076"/>
            <a:ext cx="2029968" cy="173736"/>
          </a:xfrm>
          <a:prstGeom prst="rect">
            <a:avLst/>
          </a:prstGeom>
          <a:noFill/>
        </p:spPr>
        <p:txBody>
          <a:bodyPr wrap="square" lIns="0" rIns="0" tIns="0" bIns="0" anchor="t">
            <a:noAutofit/>
          </a:bodyPr>
          <a:lstStyle/>
          <a:p>
            <a:pPr algn="ctr">
              <a:lnSpc>
                <a:spcPct val="100000"/>
              </a:lnSpc>
            </a:pPr>
            <a:r>
              <a:rPr sz="630" b="0" i="0">
                <a:solidFill>
                  <a:srgbClr val="FBBF24"/>
                </a:solidFill>
                <a:latin typeface="Consolas"/>
              </a:rPr>
              <a:t>broadcast metrics update[]</a:t>
            </a:r>
          </a:p>
        </p:txBody>
      </p:sp>
      <p:cxnSp>
        <p:nvCxnSpPr>
          <p:cNvPr id="62" name="Connector 61"/>
          <p:cNvCxnSpPr/>
          <p:nvPr/>
        </p:nvCxnSpPr>
        <p:spPr>
          <a:xfrm flipH="1">
            <a:off x="1655064" y="5669280"/>
            <a:ext cx="8485632" cy="0"/>
          </a:xfrm>
          <a:prstGeom prst="line">
            <a:avLst/>
          </a:prstGeom>
          <a:ln w="12700">
            <a:solidFill>
              <a:srgbClr val="7DD3FC">
                <a:alpha val="90000"/>
              </a:srgbClr>
            </a:solidFill>
            <a:headEnd type="triangle" w="sm" len="sm"/>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9957816" y="5472684"/>
            <a:ext cx="146304" cy="146304"/>
          </a:xfrm>
          <a:prstGeom prst="ellipse">
            <a:avLst/>
          </a:prstGeom>
          <a:solidFill>
            <a:srgbClr val="7DD3FC">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957816" y="5479999"/>
            <a:ext cx="146304" cy="118872"/>
          </a:xfrm>
          <a:prstGeom prst="rect">
            <a:avLst/>
          </a:prstGeom>
          <a:noFill/>
        </p:spPr>
        <p:txBody>
          <a:bodyPr wrap="square" lIns="0" rIns="0" tIns="0" bIns="0" anchor="t">
            <a:noAutofit/>
          </a:bodyPr>
          <a:lstStyle/>
          <a:p>
            <a:pPr algn="ctr">
              <a:lnSpc>
                <a:spcPct val="122000"/>
              </a:lnSpc>
            </a:pPr>
            <a:r>
              <a:rPr sz="550" b="1" i="0">
                <a:solidFill>
                  <a:srgbClr val="05070D"/>
                </a:solidFill>
                <a:latin typeface="Consolas"/>
              </a:rPr>
              <a:t>8</a:t>
            </a:r>
          </a:p>
        </p:txBody>
      </p:sp>
      <p:sp>
        <p:nvSpPr>
          <p:cNvPr id="65" name="TextBox 64"/>
          <p:cNvSpPr txBox="1"/>
          <p:nvPr/>
        </p:nvSpPr>
        <p:spPr>
          <a:xfrm>
            <a:off x="1700784" y="5454396"/>
            <a:ext cx="8394192" cy="173736"/>
          </a:xfrm>
          <a:prstGeom prst="rect">
            <a:avLst/>
          </a:prstGeom>
          <a:noFill/>
        </p:spPr>
        <p:txBody>
          <a:bodyPr wrap="square" lIns="0" rIns="0" tIns="0" bIns="0" anchor="t">
            <a:noAutofit/>
          </a:bodyPr>
          <a:lstStyle/>
          <a:p>
            <a:pPr algn="ctr">
              <a:lnSpc>
                <a:spcPct val="100000"/>
              </a:lnSpc>
            </a:pPr>
            <a:r>
              <a:rPr sz="630" b="0" i="0">
                <a:solidFill>
                  <a:srgbClr val="7DD3FC"/>
                </a:solidFill>
                <a:latin typeface="Consolas"/>
              </a:rPr>
              <a:t>data: metrics (+status)</a:t>
            </a:r>
          </a:p>
        </p:txBody>
      </p:sp>
      <p:sp>
        <p:nvSpPr>
          <p:cNvPr id="66" name="Rectangle 65"/>
          <p:cNvSpPr/>
          <p:nvPr/>
        </p:nvSpPr>
        <p:spPr>
          <a:xfrm>
            <a:off x="9217152" y="5815584"/>
            <a:ext cx="1847088" cy="18288"/>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7" name="TextBox 66"/>
          <p:cNvSpPr txBox="1"/>
          <p:nvPr/>
        </p:nvSpPr>
        <p:spPr>
          <a:xfrm>
            <a:off x="731520" y="5907024"/>
            <a:ext cx="8046720" cy="182880"/>
          </a:xfrm>
          <a:prstGeom prst="rect">
            <a:avLst/>
          </a:prstGeom>
          <a:noFill/>
        </p:spPr>
        <p:txBody>
          <a:bodyPr wrap="square" lIns="0" rIns="0" tIns="0" bIns="0" anchor="t">
            <a:noAutofit/>
          </a:bodyPr>
          <a:lstStyle/>
          <a:p>
            <a:pPr algn="l">
              <a:lnSpc>
                <a:spcPct val="122000"/>
              </a:lnSpc>
            </a:pPr>
            <a:r>
              <a:rPr sz="640" b="0" i="0">
                <a:solidFill>
                  <a:srgbClr val="9DB0C6"/>
                </a:solidFill>
                <a:latin typeface="Consolas"/>
              </a:rPr>
              <a:t>MESSAGE SHAPES   hello  ·  metrics  ·  event  ·  cli        lines starting with  :  are keep-alives</a:t>
            </a:r>
          </a:p>
        </p:txBody>
      </p:sp>
      <p:sp>
        <p:nvSpPr>
          <p:cNvPr id="68" name="TextBox 67"/>
          <p:cNvSpPr txBox="1"/>
          <p:nvPr/>
        </p:nvSpPr>
        <p:spPr>
          <a:xfrm>
            <a:off x="8513064" y="5907024"/>
            <a:ext cx="3108960" cy="182880"/>
          </a:xfrm>
          <a:prstGeom prst="rect">
            <a:avLst/>
          </a:prstGeom>
          <a:noFill/>
        </p:spPr>
        <p:txBody>
          <a:bodyPr wrap="square" lIns="0" rIns="0" tIns="0" bIns="0" anchor="t">
            <a:noAutofit/>
          </a:bodyPr>
          <a:lstStyle/>
          <a:p>
            <a:pPr algn="r">
              <a:lnSpc>
                <a:spcPct val="122000"/>
              </a:lnSpc>
            </a:pPr>
            <a:r>
              <a:rPr sz="640" b="0" i="0">
                <a:solidFill>
                  <a:srgbClr val="64748B"/>
                </a:solidFill>
                <a:latin typeface="Consolas"/>
              </a:rPr>
              <a:t>ignore empty data frames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1.7 · ELK LAYOUT PIPELINE</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Layout is a structure problem, not a metric problem</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Seven steps turn the tree into nested boxes — and it only runs when structure changes: collapse, filter, direction or spacing.</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ARCHITECTURE</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11 / 27</a:t>
            </a:r>
          </a:p>
        </p:txBody>
      </p:sp>
      <p:sp>
        <p:nvSpPr>
          <p:cNvPr id="11" name="Rounded Rectangle 10"/>
          <p:cNvSpPr/>
          <p:nvPr/>
        </p:nvSpPr>
        <p:spPr>
          <a:xfrm>
            <a:off x="566928" y="1783080"/>
            <a:ext cx="2697480" cy="859536"/>
          </a:xfrm>
          <a:prstGeom prst="roundRect">
            <a:avLst>
              <a:gd name="adj" fmla="val 74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694944" y="1883664"/>
            <a:ext cx="384048" cy="164592"/>
          </a:xfrm>
          <a:prstGeom prst="rect">
            <a:avLst/>
          </a:prstGeom>
          <a:noFill/>
        </p:spPr>
        <p:txBody>
          <a:bodyPr wrap="square" lIns="0" rIns="0" tIns="0" bIns="0" anchor="t">
            <a:noAutofit/>
          </a:bodyPr>
          <a:lstStyle/>
          <a:p>
            <a:pPr algn="l">
              <a:lnSpc>
                <a:spcPct val="122000"/>
              </a:lnSpc>
            </a:pPr>
            <a:r>
              <a:rPr sz="800" b="1" i="0">
                <a:solidFill>
                  <a:srgbClr val="7DD3FC"/>
                </a:solidFill>
                <a:latin typeface="Consolas"/>
              </a:rPr>
              <a:t>01</a:t>
            </a:r>
          </a:p>
        </p:txBody>
      </p:sp>
      <p:sp>
        <p:nvSpPr>
          <p:cNvPr id="13" name="TextBox 12"/>
          <p:cNvSpPr txBox="1"/>
          <p:nvPr/>
        </p:nvSpPr>
        <p:spPr>
          <a:xfrm>
            <a:off x="1024128" y="1865376"/>
            <a:ext cx="2130552" cy="182880"/>
          </a:xfrm>
          <a:prstGeom prst="rect">
            <a:avLst/>
          </a:prstGeom>
          <a:noFill/>
        </p:spPr>
        <p:txBody>
          <a:bodyPr wrap="square" lIns="0" rIns="0" tIns="0" bIns="0" anchor="t">
            <a:noAutofit/>
          </a:bodyPr>
          <a:lstStyle/>
          <a:p>
            <a:pPr algn="l">
              <a:lnSpc>
                <a:spcPct val="122000"/>
              </a:lnSpc>
            </a:pPr>
            <a:r>
              <a:rPr sz="860" b="1" i="0">
                <a:solidFill>
                  <a:srgbClr val="F4F8FC"/>
                </a:solidFill>
                <a:latin typeface="Consolas"/>
              </a:rPr>
              <a:t>buildIndexes()</a:t>
            </a:r>
          </a:p>
        </p:txBody>
      </p:sp>
      <p:sp>
        <p:nvSpPr>
          <p:cNvPr id="14" name="TextBox 13"/>
          <p:cNvSpPr txBox="1"/>
          <p:nvPr/>
        </p:nvSpPr>
        <p:spPr>
          <a:xfrm>
            <a:off x="694944" y="2130552"/>
            <a:ext cx="2459736" cy="438912"/>
          </a:xfrm>
          <a:prstGeom prst="rect">
            <a:avLst/>
          </a:prstGeom>
          <a:noFill/>
        </p:spPr>
        <p:txBody>
          <a:bodyPr wrap="square" lIns="0" rIns="0" tIns="0" bIns="0" anchor="t">
            <a:noAutofit/>
          </a:bodyPr>
          <a:lstStyle/>
          <a:p>
            <a:pPr algn="l">
              <a:lnSpc>
                <a:spcPct val="125000"/>
              </a:lnSpc>
            </a:pPr>
            <a:r>
              <a:rPr sz="690" b="0" i="0">
                <a:solidFill>
                  <a:srgbClr val="9DB0C6"/>
                </a:solidFill>
                <a:latin typeface="Segoe UI"/>
              </a:rPr>
              <a:t>parents before children · childrenOf · depth maps</a:t>
            </a:r>
          </a:p>
        </p:txBody>
      </p:sp>
      <p:cxnSp>
        <p:nvCxnSpPr>
          <p:cNvPr id="15" name="Connector 14"/>
          <p:cNvCxnSpPr/>
          <p:nvPr/>
        </p:nvCxnSpPr>
        <p:spPr>
          <a:xfrm>
            <a:off x="3282696" y="2212848"/>
            <a:ext cx="91440"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92424" y="1783080"/>
            <a:ext cx="2697480" cy="859536"/>
          </a:xfrm>
          <a:prstGeom prst="roundRect">
            <a:avLst>
              <a:gd name="adj" fmla="val 74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3520440" y="1883664"/>
            <a:ext cx="384048" cy="164592"/>
          </a:xfrm>
          <a:prstGeom prst="rect">
            <a:avLst/>
          </a:prstGeom>
          <a:noFill/>
        </p:spPr>
        <p:txBody>
          <a:bodyPr wrap="square" lIns="0" rIns="0" tIns="0" bIns="0" anchor="t">
            <a:noAutofit/>
          </a:bodyPr>
          <a:lstStyle/>
          <a:p>
            <a:pPr algn="l">
              <a:lnSpc>
                <a:spcPct val="122000"/>
              </a:lnSpc>
            </a:pPr>
            <a:r>
              <a:rPr sz="800" b="1" i="0">
                <a:solidFill>
                  <a:srgbClr val="7DD3FC"/>
                </a:solidFill>
                <a:latin typeface="Consolas"/>
              </a:rPr>
              <a:t>02</a:t>
            </a:r>
          </a:p>
        </p:txBody>
      </p:sp>
      <p:sp>
        <p:nvSpPr>
          <p:cNvPr id="18" name="TextBox 17"/>
          <p:cNvSpPr txBox="1"/>
          <p:nvPr/>
        </p:nvSpPr>
        <p:spPr>
          <a:xfrm>
            <a:off x="3849624" y="1865376"/>
            <a:ext cx="2130552" cy="182880"/>
          </a:xfrm>
          <a:prstGeom prst="rect">
            <a:avLst/>
          </a:prstGeom>
          <a:noFill/>
        </p:spPr>
        <p:txBody>
          <a:bodyPr wrap="square" lIns="0" rIns="0" tIns="0" bIns="0" anchor="t">
            <a:noAutofit/>
          </a:bodyPr>
          <a:lstStyle/>
          <a:p>
            <a:pPr algn="l">
              <a:lnSpc>
                <a:spcPct val="122000"/>
              </a:lnSpc>
            </a:pPr>
            <a:r>
              <a:rPr sz="860" b="1" i="0">
                <a:solidFill>
                  <a:srgbClr val="F4F8FC"/>
                </a:solidFill>
                <a:latin typeface="Consolas"/>
              </a:rPr>
              <a:t>visibleChildren()</a:t>
            </a:r>
          </a:p>
        </p:txBody>
      </p:sp>
      <p:sp>
        <p:nvSpPr>
          <p:cNvPr id="19" name="TextBox 18"/>
          <p:cNvSpPr txBox="1"/>
          <p:nvPr/>
        </p:nvSpPr>
        <p:spPr>
          <a:xfrm>
            <a:off x="3520440" y="2130552"/>
            <a:ext cx="2459736" cy="438912"/>
          </a:xfrm>
          <a:prstGeom prst="rect">
            <a:avLst/>
          </a:prstGeom>
          <a:noFill/>
        </p:spPr>
        <p:txBody>
          <a:bodyPr wrap="square" lIns="0" rIns="0" tIns="0" bIns="0" anchor="t">
            <a:noAutofit/>
          </a:bodyPr>
          <a:lstStyle/>
          <a:p>
            <a:pPr algn="l">
              <a:lnSpc>
                <a:spcPct val="125000"/>
              </a:lnSpc>
            </a:pPr>
            <a:r>
              <a:rPr sz="690" b="0" i="0">
                <a:solidFill>
                  <a:srgbClr val="9DB0C6"/>
                </a:solidFill>
                <a:latin typeface="Segoe UI"/>
              </a:rPr>
              <a:t>collapse state + resource-gauge toggle</a:t>
            </a:r>
          </a:p>
        </p:txBody>
      </p:sp>
      <p:cxnSp>
        <p:nvCxnSpPr>
          <p:cNvPr id="20" name="Connector 19"/>
          <p:cNvCxnSpPr/>
          <p:nvPr/>
        </p:nvCxnSpPr>
        <p:spPr>
          <a:xfrm>
            <a:off x="6108192" y="2212848"/>
            <a:ext cx="91440"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20" y="1783080"/>
            <a:ext cx="2697480" cy="859536"/>
          </a:xfrm>
          <a:prstGeom prst="roundRect">
            <a:avLst>
              <a:gd name="adj" fmla="val 74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6345936" y="1883664"/>
            <a:ext cx="384048" cy="164592"/>
          </a:xfrm>
          <a:prstGeom prst="rect">
            <a:avLst/>
          </a:prstGeom>
          <a:noFill/>
        </p:spPr>
        <p:txBody>
          <a:bodyPr wrap="square" lIns="0" rIns="0" tIns="0" bIns="0" anchor="t">
            <a:noAutofit/>
          </a:bodyPr>
          <a:lstStyle/>
          <a:p>
            <a:pPr algn="l">
              <a:lnSpc>
                <a:spcPct val="122000"/>
              </a:lnSpc>
            </a:pPr>
            <a:r>
              <a:rPr sz="800" b="1" i="0">
                <a:solidFill>
                  <a:srgbClr val="7DD3FC"/>
                </a:solidFill>
                <a:latin typeface="Consolas"/>
              </a:rPr>
              <a:t>03</a:t>
            </a:r>
          </a:p>
        </p:txBody>
      </p:sp>
      <p:sp>
        <p:nvSpPr>
          <p:cNvPr id="23" name="TextBox 22"/>
          <p:cNvSpPr txBox="1"/>
          <p:nvPr/>
        </p:nvSpPr>
        <p:spPr>
          <a:xfrm>
            <a:off x="6675120" y="1865376"/>
            <a:ext cx="2130552" cy="182880"/>
          </a:xfrm>
          <a:prstGeom prst="rect">
            <a:avLst/>
          </a:prstGeom>
          <a:noFill/>
        </p:spPr>
        <p:txBody>
          <a:bodyPr wrap="square" lIns="0" rIns="0" tIns="0" bIns="0" anchor="t">
            <a:noAutofit/>
          </a:bodyPr>
          <a:lstStyle/>
          <a:p>
            <a:pPr algn="l">
              <a:lnSpc>
                <a:spcPct val="122000"/>
              </a:lnSpc>
            </a:pPr>
            <a:r>
              <a:rPr sz="860" b="1" i="0">
                <a:solidFill>
                  <a:srgbClr val="F4F8FC"/>
                </a:solidFill>
                <a:latin typeface="Consolas"/>
              </a:rPr>
              <a:t>buildElkNode()</a:t>
            </a:r>
          </a:p>
        </p:txBody>
      </p:sp>
      <p:sp>
        <p:nvSpPr>
          <p:cNvPr id="24" name="TextBox 23"/>
          <p:cNvSpPr txBox="1"/>
          <p:nvPr/>
        </p:nvSpPr>
        <p:spPr>
          <a:xfrm>
            <a:off x="6345936" y="2130552"/>
            <a:ext cx="2459736" cy="438912"/>
          </a:xfrm>
          <a:prstGeom prst="rect">
            <a:avLst/>
          </a:prstGeom>
          <a:noFill/>
        </p:spPr>
        <p:txBody>
          <a:bodyPr wrap="square" lIns="0" rIns="0" tIns="0" bIns="0" anchor="t">
            <a:noAutofit/>
          </a:bodyPr>
          <a:lstStyle/>
          <a:p>
            <a:pPr algn="l">
              <a:lnSpc>
                <a:spcPct val="125000"/>
              </a:lnSpc>
            </a:pPr>
            <a:r>
              <a:rPr sz="690" b="0" i="0">
                <a:solidFill>
                  <a:srgbClr val="9DB0C6"/>
                </a:solidFill>
                <a:latin typeface="Segoe UI"/>
              </a:rPr>
              <a:t>leaf size · collapsed size · header padding</a:t>
            </a:r>
          </a:p>
        </p:txBody>
      </p:sp>
      <p:cxnSp>
        <p:nvCxnSpPr>
          <p:cNvPr id="25" name="Connector 24"/>
          <p:cNvCxnSpPr/>
          <p:nvPr/>
        </p:nvCxnSpPr>
        <p:spPr>
          <a:xfrm>
            <a:off x="8933688" y="2212848"/>
            <a:ext cx="91440"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43416" y="1783080"/>
            <a:ext cx="2697480" cy="859536"/>
          </a:xfrm>
          <a:prstGeom prst="roundRect">
            <a:avLst>
              <a:gd name="adj" fmla="val 74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9171432" y="1883664"/>
            <a:ext cx="384048" cy="164592"/>
          </a:xfrm>
          <a:prstGeom prst="rect">
            <a:avLst/>
          </a:prstGeom>
          <a:noFill/>
        </p:spPr>
        <p:txBody>
          <a:bodyPr wrap="square" lIns="0" rIns="0" tIns="0" bIns="0" anchor="t">
            <a:noAutofit/>
          </a:bodyPr>
          <a:lstStyle/>
          <a:p>
            <a:pPr algn="l">
              <a:lnSpc>
                <a:spcPct val="122000"/>
              </a:lnSpc>
            </a:pPr>
            <a:r>
              <a:rPr sz="800" b="1" i="0">
                <a:solidFill>
                  <a:srgbClr val="A78BFA"/>
                </a:solidFill>
                <a:latin typeface="Consolas"/>
              </a:rPr>
              <a:t>04</a:t>
            </a:r>
          </a:p>
        </p:txBody>
      </p:sp>
      <p:sp>
        <p:nvSpPr>
          <p:cNvPr id="28" name="TextBox 27"/>
          <p:cNvSpPr txBox="1"/>
          <p:nvPr/>
        </p:nvSpPr>
        <p:spPr>
          <a:xfrm>
            <a:off x="9500616" y="1865376"/>
            <a:ext cx="2130552" cy="182880"/>
          </a:xfrm>
          <a:prstGeom prst="rect">
            <a:avLst/>
          </a:prstGeom>
          <a:noFill/>
        </p:spPr>
        <p:txBody>
          <a:bodyPr wrap="square" lIns="0" rIns="0" tIns="0" bIns="0" anchor="t">
            <a:noAutofit/>
          </a:bodyPr>
          <a:lstStyle/>
          <a:p>
            <a:pPr algn="l">
              <a:lnSpc>
                <a:spcPct val="122000"/>
              </a:lnSpc>
            </a:pPr>
            <a:r>
              <a:rPr sz="860" b="1" i="0">
                <a:solidFill>
                  <a:srgbClr val="F4F8FC"/>
                </a:solidFill>
                <a:latin typeface="Consolas"/>
              </a:rPr>
              <a:t>ELK layered</a:t>
            </a:r>
          </a:p>
        </p:txBody>
      </p:sp>
      <p:sp>
        <p:nvSpPr>
          <p:cNvPr id="29" name="TextBox 28"/>
          <p:cNvSpPr txBox="1"/>
          <p:nvPr/>
        </p:nvSpPr>
        <p:spPr>
          <a:xfrm>
            <a:off x="9171432" y="2130552"/>
            <a:ext cx="2459736" cy="438912"/>
          </a:xfrm>
          <a:prstGeom prst="rect">
            <a:avLst/>
          </a:prstGeom>
          <a:noFill/>
        </p:spPr>
        <p:txBody>
          <a:bodyPr wrap="square" lIns="0" rIns="0" tIns="0" bIns="0" anchor="t">
            <a:noAutofit/>
          </a:bodyPr>
          <a:lstStyle/>
          <a:p>
            <a:pPr algn="l">
              <a:lnSpc>
                <a:spcPct val="125000"/>
              </a:lnSpc>
            </a:pPr>
            <a:r>
              <a:rPr sz="690" b="0" i="0">
                <a:solidFill>
                  <a:srgbClr val="9DB0C6"/>
                </a:solidFill>
                <a:latin typeface="Segoe UI"/>
              </a:rPr>
              <a:t>DOWN | RIGHT · INCLUDE_CHILDREN · orthogonal</a:t>
            </a:r>
          </a:p>
        </p:txBody>
      </p:sp>
      <p:sp>
        <p:nvSpPr>
          <p:cNvPr id="30" name="Rounded Rectangle 29"/>
          <p:cNvSpPr/>
          <p:nvPr/>
        </p:nvSpPr>
        <p:spPr>
          <a:xfrm>
            <a:off x="566928" y="2788920"/>
            <a:ext cx="2697480" cy="859536"/>
          </a:xfrm>
          <a:prstGeom prst="roundRect">
            <a:avLst>
              <a:gd name="adj" fmla="val 74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694944" y="2889503"/>
            <a:ext cx="384048" cy="164592"/>
          </a:xfrm>
          <a:prstGeom prst="rect">
            <a:avLst/>
          </a:prstGeom>
          <a:noFill/>
        </p:spPr>
        <p:txBody>
          <a:bodyPr wrap="square" lIns="0" rIns="0" tIns="0" bIns="0" anchor="t">
            <a:noAutofit/>
          </a:bodyPr>
          <a:lstStyle/>
          <a:p>
            <a:pPr algn="l">
              <a:lnSpc>
                <a:spcPct val="122000"/>
              </a:lnSpc>
            </a:pPr>
            <a:r>
              <a:rPr sz="800" b="1" i="0">
                <a:solidFill>
                  <a:srgbClr val="A78BFA"/>
                </a:solidFill>
                <a:latin typeface="Consolas"/>
              </a:rPr>
              <a:t>05</a:t>
            </a:r>
          </a:p>
        </p:txBody>
      </p:sp>
      <p:sp>
        <p:nvSpPr>
          <p:cNvPr id="32" name="TextBox 31"/>
          <p:cNvSpPr txBox="1"/>
          <p:nvPr/>
        </p:nvSpPr>
        <p:spPr>
          <a:xfrm>
            <a:off x="1024128" y="2871215"/>
            <a:ext cx="2130552" cy="182880"/>
          </a:xfrm>
          <a:prstGeom prst="rect">
            <a:avLst/>
          </a:prstGeom>
          <a:noFill/>
        </p:spPr>
        <p:txBody>
          <a:bodyPr wrap="square" lIns="0" rIns="0" tIns="0" bIns="0" anchor="t">
            <a:noAutofit/>
          </a:bodyPr>
          <a:lstStyle/>
          <a:p>
            <a:pPr algn="l">
              <a:lnSpc>
                <a:spcPct val="122000"/>
              </a:lnSpc>
            </a:pPr>
            <a:r>
              <a:rPr sz="860" b="1" i="0">
                <a:solidFill>
                  <a:srgbClr val="F4F8FC"/>
                </a:solidFill>
                <a:latin typeface="Consolas"/>
              </a:rPr>
              <a:t>boxes + abs coords</a:t>
            </a:r>
          </a:p>
        </p:txBody>
      </p:sp>
      <p:sp>
        <p:nvSpPr>
          <p:cNvPr id="33" name="TextBox 32"/>
          <p:cNvSpPr txBox="1"/>
          <p:nvPr/>
        </p:nvSpPr>
        <p:spPr>
          <a:xfrm>
            <a:off x="694944" y="3136391"/>
            <a:ext cx="2459736" cy="438912"/>
          </a:xfrm>
          <a:prstGeom prst="rect">
            <a:avLst/>
          </a:prstGeom>
          <a:noFill/>
        </p:spPr>
        <p:txBody>
          <a:bodyPr wrap="square" lIns="0" rIns="0" tIns="0" bIns="0" anchor="t">
            <a:noAutofit/>
          </a:bodyPr>
          <a:lstStyle/>
          <a:p>
            <a:pPr algn="l">
              <a:lnSpc>
                <a:spcPct val="125000"/>
              </a:lnSpc>
            </a:pPr>
            <a:r>
              <a:rPr sz="690" b="0" i="0">
                <a:solidFill>
                  <a:srgbClr val="9DB0C6"/>
                </a:solidFill>
                <a:latin typeface="Segoe UI"/>
              </a:rPr>
              <a:t>x, y, w, h and header height per node</a:t>
            </a:r>
          </a:p>
        </p:txBody>
      </p:sp>
      <p:cxnSp>
        <p:nvCxnSpPr>
          <p:cNvPr id="34" name="Connector 33"/>
          <p:cNvCxnSpPr/>
          <p:nvPr/>
        </p:nvCxnSpPr>
        <p:spPr>
          <a:xfrm>
            <a:off x="3282696" y="3218687"/>
            <a:ext cx="91440"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392424" y="2788920"/>
            <a:ext cx="2697480" cy="859536"/>
          </a:xfrm>
          <a:prstGeom prst="roundRect">
            <a:avLst>
              <a:gd name="adj" fmla="val 74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3520440" y="2889503"/>
            <a:ext cx="384048" cy="164592"/>
          </a:xfrm>
          <a:prstGeom prst="rect">
            <a:avLst/>
          </a:prstGeom>
          <a:noFill/>
        </p:spPr>
        <p:txBody>
          <a:bodyPr wrap="square" lIns="0" rIns="0" tIns="0" bIns="0" anchor="t">
            <a:noAutofit/>
          </a:bodyPr>
          <a:lstStyle/>
          <a:p>
            <a:pPr algn="l">
              <a:lnSpc>
                <a:spcPct val="122000"/>
              </a:lnSpc>
            </a:pPr>
            <a:r>
              <a:rPr sz="800" b="1" i="0">
                <a:solidFill>
                  <a:srgbClr val="34D399"/>
                </a:solidFill>
                <a:latin typeface="Consolas"/>
              </a:rPr>
              <a:t>06</a:t>
            </a:r>
          </a:p>
        </p:txBody>
      </p:sp>
      <p:sp>
        <p:nvSpPr>
          <p:cNvPr id="37" name="TextBox 36"/>
          <p:cNvSpPr txBox="1"/>
          <p:nvPr/>
        </p:nvSpPr>
        <p:spPr>
          <a:xfrm>
            <a:off x="3849624" y="2871215"/>
            <a:ext cx="2130552" cy="182880"/>
          </a:xfrm>
          <a:prstGeom prst="rect">
            <a:avLst/>
          </a:prstGeom>
          <a:noFill/>
        </p:spPr>
        <p:txBody>
          <a:bodyPr wrap="square" lIns="0" rIns="0" tIns="0" bIns="0" anchor="t">
            <a:noAutofit/>
          </a:bodyPr>
          <a:lstStyle/>
          <a:p>
            <a:pPr algn="l">
              <a:lnSpc>
                <a:spcPct val="122000"/>
              </a:lnSpc>
            </a:pPr>
            <a:r>
              <a:rPr sz="860" b="1" i="0">
                <a:solidFill>
                  <a:srgbClr val="F4F8FC"/>
                </a:solidFill>
                <a:latin typeface="Consolas"/>
              </a:rPr>
              <a:t>SubFlowNode render</a:t>
            </a:r>
          </a:p>
        </p:txBody>
      </p:sp>
      <p:sp>
        <p:nvSpPr>
          <p:cNvPr id="38" name="TextBox 37"/>
          <p:cNvSpPr txBox="1"/>
          <p:nvPr/>
        </p:nvSpPr>
        <p:spPr>
          <a:xfrm>
            <a:off x="3520440" y="3136391"/>
            <a:ext cx="2459736" cy="438912"/>
          </a:xfrm>
          <a:prstGeom prst="rect">
            <a:avLst/>
          </a:prstGeom>
          <a:noFill/>
        </p:spPr>
        <p:txBody>
          <a:bodyPr wrap="square" lIns="0" rIns="0" tIns="0" bIns="0" anchor="t">
            <a:noAutofit/>
          </a:bodyPr>
          <a:lstStyle/>
          <a:p>
            <a:pPr algn="l">
              <a:lnSpc>
                <a:spcPct val="125000"/>
              </a:lnSpc>
            </a:pPr>
            <a:r>
              <a:rPr sz="690" b="0" i="0">
                <a:solidFill>
                  <a:srgbClr val="9DB0C6"/>
                </a:solidFill>
                <a:latin typeface="Segoe UI"/>
              </a:rPr>
              <a:t>relative position · extent:parent clamp</a:t>
            </a:r>
          </a:p>
        </p:txBody>
      </p:sp>
      <p:cxnSp>
        <p:nvCxnSpPr>
          <p:cNvPr id="39" name="Connector 38"/>
          <p:cNvCxnSpPr/>
          <p:nvPr/>
        </p:nvCxnSpPr>
        <p:spPr>
          <a:xfrm>
            <a:off x="6108192" y="3218687"/>
            <a:ext cx="91440"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17920" y="2788920"/>
            <a:ext cx="2697480" cy="859536"/>
          </a:xfrm>
          <a:prstGeom prst="roundRect">
            <a:avLst>
              <a:gd name="adj" fmla="val 74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1" name="TextBox 40"/>
          <p:cNvSpPr txBox="1"/>
          <p:nvPr/>
        </p:nvSpPr>
        <p:spPr>
          <a:xfrm>
            <a:off x="6345936" y="2889503"/>
            <a:ext cx="384048" cy="164592"/>
          </a:xfrm>
          <a:prstGeom prst="rect">
            <a:avLst/>
          </a:prstGeom>
          <a:noFill/>
        </p:spPr>
        <p:txBody>
          <a:bodyPr wrap="square" lIns="0" rIns="0" tIns="0" bIns="0" anchor="t">
            <a:noAutofit/>
          </a:bodyPr>
          <a:lstStyle/>
          <a:p>
            <a:pPr algn="l">
              <a:lnSpc>
                <a:spcPct val="122000"/>
              </a:lnSpc>
            </a:pPr>
            <a:r>
              <a:rPr sz="800" b="1" i="0">
                <a:solidFill>
                  <a:srgbClr val="34D399"/>
                </a:solidFill>
                <a:latin typeface="Consolas"/>
              </a:rPr>
              <a:t>07</a:t>
            </a:r>
          </a:p>
        </p:txBody>
      </p:sp>
      <p:sp>
        <p:nvSpPr>
          <p:cNvPr id="42" name="TextBox 41"/>
          <p:cNvSpPr txBox="1"/>
          <p:nvPr/>
        </p:nvSpPr>
        <p:spPr>
          <a:xfrm>
            <a:off x="6675120" y="2871215"/>
            <a:ext cx="2130552" cy="182880"/>
          </a:xfrm>
          <a:prstGeom prst="rect">
            <a:avLst/>
          </a:prstGeom>
          <a:noFill/>
        </p:spPr>
        <p:txBody>
          <a:bodyPr wrap="square" lIns="0" rIns="0" tIns="0" bIns="0" anchor="t">
            <a:noAutofit/>
          </a:bodyPr>
          <a:lstStyle/>
          <a:p>
            <a:pPr algn="l">
              <a:lnSpc>
                <a:spcPct val="122000"/>
              </a:lnSpc>
            </a:pPr>
            <a:r>
              <a:rPr sz="860" b="1" i="0">
                <a:solidFill>
                  <a:srgbClr val="F4F8FC"/>
                </a:solidFill>
                <a:latin typeface="Consolas"/>
              </a:rPr>
              <a:t>drag override</a:t>
            </a:r>
          </a:p>
        </p:txBody>
      </p:sp>
      <p:sp>
        <p:nvSpPr>
          <p:cNvPr id="43" name="TextBox 42"/>
          <p:cNvSpPr txBox="1"/>
          <p:nvPr/>
        </p:nvSpPr>
        <p:spPr>
          <a:xfrm>
            <a:off x="6345936" y="3136391"/>
            <a:ext cx="2459736" cy="438912"/>
          </a:xfrm>
          <a:prstGeom prst="rect">
            <a:avLst/>
          </a:prstGeom>
          <a:noFill/>
        </p:spPr>
        <p:txBody>
          <a:bodyPr wrap="square" lIns="0" rIns="0" tIns="0" bIns="0" anchor="t">
            <a:noAutofit/>
          </a:bodyPr>
          <a:lstStyle/>
          <a:p>
            <a:pPr algn="l">
              <a:lnSpc>
                <a:spcPct val="125000"/>
              </a:lnSpc>
            </a:pPr>
            <a:r>
              <a:rPr sz="690" b="0" i="0">
                <a:solidFill>
                  <a:srgbClr val="9DB0C6"/>
                </a:solidFill>
                <a:latin typeface="Segoe UI"/>
              </a:rPr>
              <a:t>PATCH /api/nodes/[id] persists x and y</a:t>
            </a:r>
          </a:p>
        </p:txBody>
      </p:sp>
      <p:cxnSp>
        <p:nvCxnSpPr>
          <p:cNvPr id="44" name="Connector 43"/>
          <p:cNvCxnSpPr/>
          <p:nvPr/>
        </p:nvCxnSpPr>
        <p:spPr>
          <a:xfrm>
            <a:off x="8933688" y="3218687"/>
            <a:ext cx="91440"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392156" y="2660904"/>
            <a:ext cx="0" cy="128016"/>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9043416" y="2788920"/>
            <a:ext cx="2697480" cy="859536"/>
          </a:xfrm>
          <a:prstGeom prst="roundRect">
            <a:avLst>
              <a:gd name="adj" fmla="val 7446"/>
            </a:avLst>
          </a:prstGeom>
          <a:solidFill>
            <a:srgbClr val="0A1520"/>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7" name="TextBox 46"/>
          <p:cNvSpPr txBox="1"/>
          <p:nvPr/>
        </p:nvSpPr>
        <p:spPr>
          <a:xfrm>
            <a:off x="9171432" y="2871215"/>
            <a:ext cx="2459736" cy="164592"/>
          </a:xfrm>
          <a:prstGeom prst="rect">
            <a:avLst/>
          </a:prstGeom>
          <a:noFill/>
        </p:spPr>
        <p:txBody>
          <a:bodyPr wrap="square" lIns="0" rIns="0" tIns="0" bIns="0" anchor="t">
            <a:noAutofit/>
          </a:bodyPr>
          <a:lstStyle/>
          <a:p>
            <a:pPr algn="l">
              <a:lnSpc>
                <a:spcPct val="122000"/>
              </a:lnSpc>
            </a:pPr>
            <a:r>
              <a:rPr sz="560" b="0" i="0" spc="80">
                <a:solidFill>
                  <a:srgbClr val="34D399"/>
                </a:solidFill>
                <a:latin typeface="Consolas"/>
              </a:rPr>
              <a:t>MEASURED ON THE REFERENCE ESTATE</a:t>
            </a:r>
          </a:p>
        </p:txBody>
      </p:sp>
      <p:sp>
        <p:nvSpPr>
          <p:cNvPr id="48" name="TextBox 47"/>
          <p:cNvSpPr txBox="1"/>
          <p:nvPr/>
        </p:nvSpPr>
        <p:spPr>
          <a:xfrm>
            <a:off x="9171432" y="3063239"/>
            <a:ext cx="2459736" cy="310896"/>
          </a:xfrm>
          <a:prstGeom prst="rect">
            <a:avLst/>
          </a:prstGeom>
          <a:noFill/>
        </p:spPr>
        <p:txBody>
          <a:bodyPr wrap="square" lIns="0" rIns="0" tIns="0" bIns="0" anchor="t">
            <a:noAutofit/>
          </a:bodyPr>
          <a:lstStyle/>
          <a:p>
            <a:pPr algn="l">
              <a:lnSpc>
                <a:spcPct val="100000"/>
              </a:lnSpc>
            </a:pPr>
            <a:r>
              <a:rPr sz="1700" b="1" i="0">
                <a:solidFill>
                  <a:srgbClr val="F4F8FC"/>
                </a:solidFill>
                <a:latin typeface="Consolas"/>
              </a:rPr>
              <a:t>150–600 ms</a:t>
            </a:r>
          </a:p>
        </p:txBody>
      </p:sp>
      <p:sp>
        <p:nvSpPr>
          <p:cNvPr id="49" name="TextBox 48"/>
          <p:cNvSpPr txBox="1"/>
          <p:nvPr/>
        </p:nvSpPr>
        <p:spPr>
          <a:xfrm>
            <a:off x="9171432" y="3392424"/>
            <a:ext cx="2459736" cy="201168"/>
          </a:xfrm>
          <a:prstGeom prst="rect">
            <a:avLst/>
          </a:prstGeom>
          <a:noFill/>
        </p:spPr>
        <p:txBody>
          <a:bodyPr wrap="square" lIns="0" rIns="0" tIns="0" bIns="0" anchor="t">
            <a:noAutofit/>
          </a:bodyPr>
          <a:lstStyle/>
          <a:p>
            <a:pPr algn="l">
              <a:lnSpc>
                <a:spcPct val="115000"/>
              </a:lnSpc>
            </a:pPr>
            <a:r>
              <a:rPr sz="620" b="0" i="0">
                <a:solidFill>
                  <a:srgbClr val="9DB0C6"/>
                </a:solidFill>
                <a:latin typeface="Segoe UI"/>
              </a:rPr>
              <a:t>for 456 nodes · HUD shows the last pass</a:t>
            </a:r>
          </a:p>
        </p:txBody>
      </p:sp>
      <p:sp>
        <p:nvSpPr>
          <p:cNvPr id="50" name="Rounded Rectangle 49"/>
          <p:cNvSpPr/>
          <p:nvPr/>
        </p:nvSpPr>
        <p:spPr>
          <a:xfrm>
            <a:off x="566928" y="3931920"/>
            <a:ext cx="6967728" cy="2322576"/>
          </a:xfrm>
          <a:prstGeom prst="roundRect">
            <a:avLst>
              <a:gd name="adj" fmla="val 354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1" name="TextBox 50"/>
          <p:cNvSpPr txBox="1"/>
          <p:nvPr/>
        </p:nvSpPr>
        <p:spPr>
          <a:xfrm>
            <a:off x="731520" y="4059935"/>
            <a:ext cx="3840480" cy="164592"/>
          </a:xfrm>
          <a:prstGeom prst="rect">
            <a:avLst/>
          </a:prstGeom>
          <a:noFill/>
        </p:spPr>
        <p:txBody>
          <a:bodyPr wrap="square" lIns="0" rIns="0" tIns="0" bIns="0" anchor="t">
            <a:noAutofit/>
          </a:bodyPr>
          <a:lstStyle/>
          <a:p>
            <a:pPr algn="l">
              <a:lnSpc>
                <a:spcPct val="122000"/>
              </a:lnSpc>
            </a:pPr>
            <a:r>
              <a:rPr sz="680" b="0" i="0" spc="120">
                <a:solidFill>
                  <a:srgbClr val="A78BFA"/>
                </a:solidFill>
                <a:latin typeface="Consolas"/>
              </a:rPr>
              <a:t>ELK OPTIONS THAT MATTER</a:t>
            </a:r>
          </a:p>
        </p:txBody>
      </p:sp>
      <p:sp>
        <p:nvSpPr>
          <p:cNvPr id="52" name="TextBox 51"/>
          <p:cNvSpPr txBox="1"/>
          <p:nvPr/>
        </p:nvSpPr>
        <p:spPr>
          <a:xfrm>
            <a:off x="731520" y="4297680"/>
            <a:ext cx="2798064" cy="146304"/>
          </a:xfrm>
          <a:prstGeom prst="rect">
            <a:avLst/>
          </a:prstGeom>
          <a:noFill/>
        </p:spPr>
        <p:txBody>
          <a:bodyPr wrap="square" lIns="0" rIns="0" tIns="0" bIns="0" anchor="t">
            <a:noAutofit/>
          </a:bodyPr>
          <a:lstStyle/>
          <a:p>
            <a:pPr algn="l">
              <a:lnSpc>
                <a:spcPct val="122000"/>
              </a:lnSpc>
            </a:pPr>
            <a:r>
              <a:rPr sz="630" b="0" i="0">
                <a:solidFill>
                  <a:srgbClr val="E2E8F0"/>
                </a:solidFill>
                <a:latin typeface="Consolas"/>
              </a:rPr>
              <a:t>elk.algorithm · layered</a:t>
            </a:r>
          </a:p>
        </p:txBody>
      </p:sp>
      <p:sp>
        <p:nvSpPr>
          <p:cNvPr id="53" name="TextBox 52"/>
          <p:cNvSpPr txBox="1"/>
          <p:nvPr/>
        </p:nvSpPr>
        <p:spPr>
          <a:xfrm>
            <a:off x="3621024" y="4297680"/>
            <a:ext cx="3749039"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Segoe UI"/>
              </a:rPr>
              <a:t>the only algorithm that produces the org-chart reading order</a:t>
            </a:r>
          </a:p>
        </p:txBody>
      </p:sp>
      <p:sp>
        <p:nvSpPr>
          <p:cNvPr id="54" name="TextBox 53"/>
          <p:cNvSpPr txBox="1"/>
          <p:nvPr/>
        </p:nvSpPr>
        <p:spPr>
          <a:xfrm>
            <a:off x="731520" y="4613148"/>
            <a:ext cx="2798064" cy="146304"/>
          </a:xfrm>
          <a:prstGeom prst="rect">
            <a:avLst/>
          </a:prstGeom>
          <a:noFill/>
        </p:spPr>
        <p:txBody>
          <a:bodyPr wrap="square" lIns="0" rIns="0" tIns="0" bIns="0" anchor="t">
            <a:noAutofit/>
          </a:bodyPr>
          <a:lstStyle/>
          <a:p>
            <a:pPr algn="l">
              <a:lnSpc>
                <a:spcPct val="122000"/>
              </a:lnSpc>
            </a:pPr>
            <a:r>
              <a:rPr sz="630" b="0" i="0">
                <a:solidFill>
                  <a:srgbClr val="E2E8F0"/>
                </a:solidFill>
                <a:latin typeface="Consolas"/>
              </a:rPr>
              <a:t>direction · DOWN | RIGHT</a:t>
            </a:r>
          </a:p>
        </p:txBody>
      </p:sp>
      <p:sp>
        <p:nvSpPr>
          <p:cNvPr id="55" name="TextBox 54"/>
          <p:cNvSpPr txBox="1"/>
          <p:nvPr/>
        </p:nvSpPr>
        <p:spPr>
          <a:xfrm>
            <a:off x="3621024" y="4613148"/>
            <a:ext cx="3749039"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Segoe UI"/>
              </a:rPr>
              <a:t>DOWN for org trees, RIGHT for deep service chains</a:t>
            </a:r>
          </a:p>
        </p:txBody>
      </p:sp>
      <p:sp>
        <p:nvSpPr>
          <p:cNvPr id="56" name="TextBox 55"/>
          <p:cNvSpPr txBox="1"/>
          <p:nvPr/>
        </p:nvSpPr>
        <p:spPr>
          <a:xfrm>
            <a:off x="731520" y="4928616"/>
            <a:ext cx="2798064" cy="146304"/>
          </a:xfrm>
          <a:prstGeom prst="rect">
            <a:avLst/>
          </a:prstGeom>
          <a:noFill/>
        </p:spPr>
        <p:txBody>
          <a:bodyPr wrap="square" lIns="0" rIns="0" tIns="0" bIns="0" anchor="t">
            <a:noAutofit/>
          </a:bodyPr>
          <a:lstStyle/>
          <a:p>
            <a:pPr algn="l">
              <a:lnSpc>
                <a:spcPct val="122000"/>
              </a:lnSpc>
            </a:pPr>
            <a:r>
              <a:rPr sz="630" b="0" i="0">
                <a:solidFill>
                  <a:srgbClr val="E2E8F0"/>
                </a:solidFill>
                <a:latin typeface="Consolas"/>
              </a:rPr>
              <a:t>hierarchyHandling · INCLUDE_CHILDREN</a:t>
            </a:r>
          </a:p>
        </p:txBody>
      </p:sp>
      <p:sp>
        <p:nvSpPr>
          <p:cNvPr id="57" name="TextBox 56"/>
          <p:cNvSpPr txBox="1"/>
          <p:nvPr/>
        </p:nvSpPr>
        <p:spPr>
          <a:xfrm>
            <a:off x="3621024" y="4928616"/>
            <a:ext cx="3749039"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Segoe UI"/>
              </a:rPr>
              <a:t>children are laid out inside their parent's box</a:t>
            </a:r>
          </a:p>
        </p:txBody>
      </p:sp>
      <p:sp>
        <p:nvSpPr>
          <p:cNvPr id="58" name="TextBox 57"/>
          <p:cNvSpPr txBox="1"/>
          <p:nvPr/>
        </p:nvSpPr>
        <p:spPr>
          <a:xfrm>
            <a:off x="731520" y="5244083"/>
            <a:ext cx="2798064" cy="146304"/>
          </a:xfrm>
          <a:prstGeom prst="rect">
            <a:avLst/>
          </a:prstGeom>
          <a:noFill/>
        </p:spPr>
        <p:txBody>
          <a:bodyPr wrap="square" lIns="0" rIns="0" tIns="0" bIns="0" anchor="t">
            <a:noAutofit/>
          </a:bodyPr>
          <a:lstStyle/>
          <a:p>
            <a:pPr algn="l">
              <a:lnSpc>
                <a:spcPct val="122000"/>
              </a:lnSpc>
            </a:pPr>
            <a:r>
              <a:rPr sz="630" b="0" i="0">
                <a:solidFill>
                  <a:srgbClr val="E2E8F0"/>
                </a:solidFill>
                <a:latin typeface="Consolas"/>
              </a:rPr>
              <a:t>elk.padding.top = header height</a:t>
            </a:r>
          </a:p>
        </p:txBody>
      </p:sp>
      <p:sp>
        <p:nvSpPr>
          <p:cNvPr id="59" name="TextBox 58"/>
          <p:cNvSpPr txBox="1"/>
          <p:nvPr/>
        </p:nvSpPr>
        <p:spPr>
          <a:xfrm>
            <a:off x="3621024" y="5244083"/>
            <a:ext cx="3749039"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Segoe UI"/>
              </a:rPr>
              <a:t>so children never collide with the card header</a:t>
            </a:r>
          </a:p>
        </p:txBody>
      </p:sp>
      <p:sp>
        <p:nvSpPr>
          <p:cNvPr id="60" name="TextBox 59"/>
          <p:cNvSpPr txBox="1"/>
          <p:nvPr/>
        </p:nvSpPr>
        <p:spPr>
          <a:xfrm>
            <a:off x="731520" y="5559551"/>
            <a:ext cx="2798064" cy="146304"/>
          </a:xfrm>
          <a:prstGeom prst="rect">
            <a:avLst/>
          </a:prstGeom>
          <a:noFill/>
        </p:spPr>
        <p:txBody>
          <a:bodyPr wrap="square" lIns="0" rIns="0" tIns="0" bIns="0" anchor="t">
            <a:noAutofit/>
          </a:bodyPr>
          <a:lstStyle/>
          <a:p>
            <a:pPr algn="l">
              <a:lnSpc>
                <a:spcPct val="122000"/>
              </a:lnSpc>
            </a:pPr>
            <a:r>
              <a:rPr sz="630" b="0" i="0">
                <a:solidFill>
                  <a:srgbClr val="E2E8F0"/>
                </a:solidFill>
                <a:latin typeface="Consolas"/>
              </a:rPr>
              <a:t>edgeRouting · ORTHOGONAL</a:t>
            </a:r>
          </a:p>
        </p:txBody>
      </p:sp>
      <p:sp>
        <p:nvSpPr>
          <p:cNvPr id="61" name="TextBox 60"/>
          <p:cNvSpPr txBox="1"/>
          <p:nvPr/>
        </p:nvSpPr>
        <p:spPr>
          <a:xfrm>
            <a:off x="3621024" y="5559551"/>
            <a:ext cx="3749039"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Segoe UI"/>
              </a:rPr>
              <a:t>right-angle parent links, no spaghetti</a:t>
            </a:r>
          </a:p>
        </p:txBody>
      </p:sp>
      <p:sp>
        <p:nvSpPr>
          <p:cNvPr id="62" name="TextBox 61"/>
          <p:cNvSpPr txBox="1"/>
          <p:nvPr/>
        </p:nvSpPr>
        <p:spPr>
          <a:xfrm>
            <a:off x="731520" y="5875019"/>
            <a:ext cx="2798064" cy="146304"/>
          </a:xfrm>
          <a:prstGeom prst="rect">
            <a:avLst/>
          </a:prstGeom>
          <a:noFill/>
        </p:spPr>
        <p:txBody>
          <a:bodyPr wrap="square" lIns="0" rIns="0" tIns="0" bIns="0" anchor="t">
            <a:noAutofit/>
          </a:bodyPr>
          <a:lstStyle/>
          <a:p>
            <a:pPr algn="l">
              <a:lnSpc>
                <a:spcPct val="122000"/>
              </a:lnSpc>
            </a:pPr>
            <a:r>
              <a:rPr sz="630" b="0" i="0">
                <a:solidFill>
                  <a:srgbClr val="E2E8F0"/>
                </a:solidFill>
                <a:latin typeface="Consolas"/>
              </a:rPr>
              <a:t>nodePlacement · SIMPLE</a:t>
            </a:r>
          </a:p>
        </p:txBody>
      </p:sp>
      <p:sp>
        <p:nvSpPr>
          <p:cNvPr id="63" name="TextBox 62"/>
          <p:cNvSpPr txBox="1"/>
          <p:nvPr/>
        </p:nvSpPr>
        <p:spPr>
          <a:xfrm>
            <a:off x="3621024" y="5875019"/>
            <a:ext cx="3749039" cy="146304"/>
          </a:xfrm>
          <a:prstGeom prst="rect">
            <a:avLst/>
          </a:prstGeom>
          <a:noFill/>
        </p:spPr>
        <p:txBody>
          <a:bodyPr wrap="square" lIns="0" rIns="0" tIns="0" bIns="0" anchor="t">
            <a:noAutofit/>
          </a:bodyPr>
          <a:lstStyle/>
          <a:p>
            <a:pPr algn="l">
              <a:lnSpc>
                <a:spcPct val="122000"/>
              </a:lnSpc>
            </a:pPr>
            <a:r>
              <a:rPr sz="650" b="0" i="0">
                <a:solidFill>
                  <a:srgbClr val="9DB0C6"/>
                </a:solidFill>
                <a:latin typeface="Segoe UI"/>
              </a:rPr>
              <a:t>keeps the placement pass cheap on wide layers</a:t>
            </a:r>
          </a:p>
        </p:txBody>
      </p:sp>
      <p:sp>
        <p:nvSpPr>
          <p:cNvPr id="64" name="Rounded Rectangle 63"/>
          <p:cNvSpPr/>
          <p:nvPr/>
        </p:nvSpPr>
        <p:spPr>
          <a:xfrm>
            <a:off x="7699248" y="3931920"/>
            <a:ext cx="3922776" cy="2322576"/>
          </a:xfrm>
          <a:prstGeom prst="roundRect">
            <a:avLst>
              <a:gd name="adj" fmla="val 354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5" name="TextBox 64"/>
          <p:cNvSpPr txBox="1"/>
          <p:nvPr/>
        </p:nvSpPr>
        <p:spPr>
          <a:xfrm>
            <a:off x="7863840" y="4059935"/>
            <a:ext cx="3566160" cy="164592"/>
          </a:xfrm>
          <a:prstGeom prst="rect">
            <a:avLst/>
          </a:prstGeom>
          <a:noFill/>
        </p:spPr>
        <p:txBody>
          <a:bodyPr wrap="square" lIns="0" rIns="0" tIns="0" bIns="0" anchor="t">
            <a:noAutofit/>
          </a:bodyPr>
          <a:lstStyle/>
          <a:p>
            <a:pPr algn="l">
              <a:lnSpc>
                <a:spcPct val="122000"/>
              </a:lnSpc>
            </a:pPr>
            <a:r>
              <a:rPr sz="680" b="0" i="0" spc="120">
                <a:solidFill>
                  <a:srgbClr val="7DD3FC"/>
                </a:solidFill>
                <a:latin typeface="Consolas"/>
              </a:rPr>
              <a:t>WHAT TRIGGERS A RELAYOUT</a:t>
            </a:r>
          </a:p>
        </p:txBody>
      </p:sp>
      <p:sp>
        <p:nvSpPr>
          <p:cNvPr id="66" name="Rounded Rectangle 65"/>
          <p:cNvSpPr/>
          <p:nvPr/>
        </p:nvSpPr>
        <p:spPr>
          <a:xfrm>
            <a:off x="7863840" y="4315968"/>
            <a:ext cx="512064" cy="201168"/>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7" name="TextBox 66"/>
          <p:cNvSpPr txBox="1"/>
          <p:nvPr/>
        </p:nvSpPr>
        <p:spPr>
          <a:xfrm>
            <a:off x="7918704" y="4368165"/>
            <a:ext cx="402336" cy="91439"/>
          </a:xfrm>
          <a:prstGeom prst="rect">
            <a:avLst/>
          </a:prstGeom>
          <a:noFill/>
        </p:spPr>
        <p:txBody>
          <a:bodyPr wrap="square" lIns="0" rIns="0" tIns="0" bIns="0" anchor="t">
            <a:noAutofit/>
          </a:bodyPr>
          <a:lstStyle/>
          <a:p>
            <a:pPr algn="ctr">
              <a:lnSpc>
                <a:spcPct val="100000"/>
              </a:lnSpc>
            </a:pPr>
            <a:r>
              <a:rPr sz="600" b="0" i="0">
                <a:solidFill>
                  <a:srgbClr val="34D399"/>
                </a:solidFill>
                <a:latin typeface="Consolas"/>
              </a:rPr>
              <a:t>yes</a:t>
            </a:r>
          </a:p>
        </p:txBody>
      </p:sp>
      <p:sp>
        <p:nvSpPr>
          <p:cNvPr id="68" name="TextBox 67"/>
          <p:cNvSpPr txBox="1"/>
          <p:nvPr/>
        </p:nvSpPr>
        <p:spPr>
          <a:xfrm>
            <a:off x="8467344" y="4325112"/>
            <a:ext cx="2990088" cy="493776"/>
          </a:xfrm>
          <a:prstGeom prst="rect">
            <a:avLst/>
          </a:prstGeom>
          <a:noFill/>
        </p:spPr>
        <p:txBody>
          <a:bodyPr wrap="square" lIns="0" rIns="0" tIns="0" bIns="0" anchor="t">
            <a:noAutofit/>
          </a:bodyPr>
          <a:lstStyle/>
          <a:p>
            <a:pPr algn="l">
              <a:lnSpc>
                <a:spcPct val="125000"/>
              </a:lnSpc>
            </a:pPr>
            <a:r>
              <a:rPr sz="700" b="0" i="0">
                <a:solidFill>
                  <a:srgbClr val="9DB0C6"/>
                </a:solidFill>
                <a:latin typeface="Segoe UI"/>
              </a:rPr>
              <a:t>collapse / expand · depth change · direction · spacing · viewport resize</a:t>
            </a:r>
          </a:p>
        </p:txBody>
      </p:sp>
      <p:sp>
        <p:nvSpPr>
          <p:cNvPr id="69" name="Rounded Rectangle 68"/>
          <p:cNvSpPr/>
          <p:nvPr/>
        </p:nvSpPr>
        <p:spPr>
          <a:xfrm>
            <a:off x="7863840" y="4937760"/>
            <a:ext cx="512064" cy="201168"/>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0" name="TextBox 69"/>
          <p:cNvSpPr txBox="1"/>
          <p:nvPr/>
        </p:nvSpPr>
        <p:spPr>
          <a:xfrm>
            <a:off x="7918704" y="4989957"/>
            <a:ext cx="402336" cy="91439"/>
          </a:xfrm>
          <a:prstGeom prst="rect">
            <a:avLst/>
          </a:prstGeom>
          <a:noFill/>
        </p:spPr>
        <p:txBody>
          <a:bodyPr wrap="square" lIns="0" rIns="0" tIns="0" bIns="0" anchor="t">
            <a:noAutofit/>
          </a:bodyPr>
          <a:lstStyle/>
          <a:p>
            <a:pPr algn="ctr">
              <a:lnSpc>
                <a:spcPct val="100000"/>
              </a:lnSpc>
            </a:pPr>
            <a:r>
              <a:rPr sz="600" b="0" i="0">
                <a:solidFill>
                  <a:srgbClr val="FB7185"/>
                </a:solidFill>
                <a:latin typeface="Consolas"/>
              </a:rPr>
              <a:t>no</a:t>
            </a:r>
          </a:p>
        </p:txBody>
      </p:sp>
      <p:sp>
        <p:nvSpPr>
          <p:cNvPr id="71" name="TextBox 70"/>
          <p:cNvSpPr txBox="1"/>
          <p:nvPr/>
        </p:nvSpPr>
        <p:spPr>
          <a:xfrm>
            <a:off x="8467344" y="4946904"/>
            <a:ext cx="2990088" cy="493776"/>
          </a:xfrm>
          <a:prstGeom prst="rect">
            <a:avLst/>
          </a:prstGeom>
          <a:noFill/>
        </p:spPr>
        <p:txBody>
          <a:bodyPr wrap="square" lIns="0" rIns="0" tIns="0" bIns="0" anchor="t">
            <a:noAutofit/>
          </a:bodyPr>
          <a:lstStyle/>
          <a:p>
            <a:pPr algn="l">
              <a:lnSpc>
                <a:spcPct val="125000"/>
              </a:lnSpc>
            </a:pPr>
            <a:r>
              <a:rPr sz="700" b="0" i="0">
                <a:solidFill>
                  <a:srgbClr val="9DB0C6"/>
                </a:solidFill>
                <a:latin typeface="Segoe UI"/>
              </a:rPr>
              <a:t>metric tick · status colour change · selection · hover · pan / zoom</a:t>
            </a:r>
          </a:p>
        </p:txBody>
      </p:sp>
      <p:cxnSp>
        <p:nvCxnSpPr>
          <p:cNvPr id="72" name="Connector 71"/>
          <p:cNvCxnSpPr/>
          <p:nvPr/>
        </p:nvCxnSpPr>
        <p:spPr>
          <a:xfrm>
            <a:off x="7863840" y="5559552"/>
            <a:ext cx="3593592"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7863840" y="5650992"/>
            <a:ext cx="3593592" cy="475488"/>
          </a:xfrm>
          <a:prstGeom prst="rect">
            <a:avLst/>
          </a:prstGeom>
          <a:noFill/>
        </p:spPr>
        <p:txBody>
          <a:bodyPr wrap="square" lIns="0" rIns="0" tIns="0" bIns="0" anchor="t">
            <a:noAutofit/>
          </a:bodyPr>
          <a:lstStyle/>
          <a:p>
            <a:pPr algn="l">
              <a:lnSpc>
                <a:spcPct val="125000"/>
              </a:lnSpc>
            </a:pPr>
            <a:r>
              <a:rPr sz="680" b="0" i="0">
                <a:solidFill>
                  <a:srgbClr val="64748B"/>
                </a:solidFill>
                <a:latin typeface="Segoe UI"/>
              </a:rPr>
              <a:t>Collapsed containers become fixed-size leaves, so every collapse also makes the next pass cheaper.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2 · CONTROL ROOM ANATOMY</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Six regions, one operating picture</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Every operator question has a fixed home on the screen. Learn the six regions and you can work the estate without opening a menu.</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ADMINISTRATION</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12 / 27</a:t>
            </a:r>
          </a:p>
        </p:txBody>
      </p:sp>
      <p:sp>
        <p:nvSpPr>
          <p:cNvPr id="11" name="Rounded Rectangle 10"/>
          <p:cNvSpPr/>
          <p:nvPr/>
        </p:nvSpPr>
        <p:spPr>
          <a:xfrm>
            <a:off x="566928" y="1783080"/>
            <a:ext cx="6876288" cy="4078224"/>
          </a:xfrm>
          <a:prstGeom prst="roundRect">
            <a:avLst>
              <a:gd name="adj" fmla="val 1793"/>
            </a:avLst>
          </a:prstGeom>
          <a:solidFill>
            <a:srgbClr val="070C14"/>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ounded Rectangle 11"/>
          <p:cNvSpPr/>
          <p:nvPr/>
        </p:nvSpPr>
        <p:spPr>
          <a:xfrm>
            <a:off x="621792" y="1837943"/>
            <a:ext cx="6766559" cy="420624"/>
          </a:xfrm>
          <a:prstGeom prst="roundRect">
            <a:avLst>
              <a:gd name="adj" fmla="val 8695"/>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Oval 12"/>
          <p:cNvSpPr/>
          <p:nvPr/>
        </p:nvSpPr>
        <p:spPr>
          <a:xfrm>
            <a:off x="667512" y="1892807"/>
            <a:ext cx="182880" cy="182880"/>
          </a:xfrm>
          <a:prstGeom prst="ellipse">
            <a:avLst/>
          </a:prstGeom>
          <a:solidFill>
            <a:srgbClr val="0B1A2A"/>
          </a:solidFill>
          <a:ln w="889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1924812"/>
            <a:ext cx="182880" cy="118872"/>
          </a:xfrm>
          <a:prstGeom prst="rect">
            <a:avLst/>
          </a:prstGeom>
          <a:noFill/>
        </p:spPr>
        <p:txBody>
          <a:bodyPr wrap="square" lIns="0" rIns="0" tIns="0" bIns="0" anchor="t">
            <a:noAutofit/>
          </a:bodyPr>
          <a:lstStyle/>
          <a:p>
            <a:pPr algn="ctr">
              <a:lnSpc>
                <a:spcPct val="122000"/>
              </a:lnSpc>
            </a:pPr>
            <a:r>
              <a:rPr sz="560" b="1" i="0">
                <a:solidFill>
                  <a:srgbClr val="7DD3FC"/>
                </a:solidFill>
                <a:latin typeface="Consolas"/>
              </a:rPr>
              <a:t>1</a:t>
            </a:r>
          </a:p>
        </p:txBody>
      </p:sp>
      <p:sp>
        <p:nvSpPr>
          <p:cNvPr id="15" name="Hexagon 14"/>
          <p:cNvSpPr/>
          <p:nvPr/>
        </p:nvSpPr>
        <p:spPr>
          <a:xfrm>
            <a:off x="914400" y="1929384"/>
            <a:ext cx="137160" cy="155448"/>
          </a:xfrm>
          <a:prstGeom prst="hexagon">
            <a:avLst/>
          </a:prstGeom>
          <a:solidFill>
            <a:srgbClr val="14202F"/>
          </a:solidFill>
          <a:ln w="1016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1938528"/>
            <a:ext cx="566928" cy="118872"/>
          </a:xfrm>
          <a:prstGeom prst="rect">
            <a:avLst/>
          </a:prstGeom>
          <a:noFill/>
        </p:spPr>
        <p:txBody>
          <a:bodyPr wrap="square" lIns="0" rIns="0" tIns="0" bIns="0" anchor="t">
            <a:noAutofit/>
          </a:bodyPr>
          <a:lstStyle/>
          <a:p>
            <a:pPr algn="l">
              <a:lnSpc>
                <a:spcPct val="122000"/>
              </a:lnSpc>
            </a:pPr>
            <a:r>
              <a:rPr sz="520" b="1" i="0" spc="40">
                <a:solidFill>
                  <a:srgbClr val="F4F8FC"/>
                </a:solidFill>
                <a:latin typeface="Consolas"/>
              </a:rPr>
              <a:t>HELIOS</a:t>
            </a:r>
          </a:p>
        </p:txBody>
      </p:sp>
      <p:sp>
        <p:nvSpPr>
          <p:cNvPr id="17" name="Rounded Rectangle 16"/>
          <p:cNvSpPr/>
          <p:nvPr/>
        </p:nvSpPr>
        <p:spPr>
          <a:xfrm>
            <a:off x="1737360" y="1892807"/>
            <a:ext cx="585216" cy="310896"/>
          </a:xfrm>
          <a:prstGeom prst="roundRect">
            <a:avLst>
              <a:gd name="adj" fmla="val 8823"/>
            </a:avLst>
          </a:prstGeom>
          <a:solidFill>
            <a:srgbClr val="0B1220"/>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783080" y="1920240"/>
            <a:ext cx="512064" cy="82296"/>
          </a:xfrm>
          <a:prstGeom prst="rect">
            <a:avLst/>
          </a:prstGeom>
          <a:noFill/>
        </p:spPr>
        <p:txBody>
          <a:bodyPr wrap="square" lIns="0" rIns="0" tIns="0" bIns="0" anchor="t">
            <a:noAutofit/>
          </a:bodyPr>
          <a:lstStyle/>
          <a:p>
            <a:pPr algn="l">
              <a:lnSpc>
                <a:spcPct val="122000"/>
              </a:lnSpc>
            </a:pPr>
            <a:r>
              <a:rPr sz="380" b="0" i="0">
                <a:solidFill>
                  <a:srgbClr val="64748B"/>
                </a:solidFill>
                <a:latin typeface="Consolas"/>
              </a:rPr>
              <a:t>NODES</a:t>
            </a:r>
          </a:p>
        </p:txBody>
      </p:sp>
      <p:sp>
        <p:nvSpPr>
          <p:cNvPr id="19" name="TextBox 18"/>
          <p:cNvSpPr txBox="1"/>
          <p:nvPr/>
        </p:nvSpPr>
        <p:spPr>
          <a:xfrm>
            <a:off x="1783080" y="2020824"/>
            <a:ext cx="512064" cy="118872"/>
          </a:xfrm>
          <a:prstGeom prst="rect">
            <a:avLst/>
          </a:prstGeom>
          <a:noFill/>
        </p:spPr>
        <p:txBody>
          <a:bodyPr wrap="square" lIns="0" rIns="0" tIns="0" bIns="0" anchor="t">
            <a:noAutofit/>
          </a:bodyPr>
          <a:lstStyle/>
          <a:p>
            <a:pPr algn="l">
              <a:lnSpc>
                <a:spcPct val="122000"/>
              </a:lnSpc>
            </a:pPr>
            <a:r>
              <a:rPr sz="600" b="1" i="0">
                <a:solidFill>
                  <a:srgbClr val="E2E8F0"/>
                </a:solidFill>
                <a:latin typeface="Consolas"/>
              </a:rPr>
              <a:t>456</a:t>
            </a:r>
          </a:p>
        </p:txBody>
      </p:sp>
      <p:sp>
        <p:nvSpPr>
          <p:cNvPr id="20" name="Rounded Rectangle 19"/>
          <p:cNvSpPr/>
          <p:nvPr/>
        </p:nvSpPr>
        <p:spPr>
          <a:xfrm>
            <a:off x="2350008" y="1892807"/>
            <a:ext cx="585216" cy="310896"/>
          </a:xfrm>
          <a:prstGeom prst="roundRect">
            <a:avLst>
              <a:gd name="adj" fmla="val 8823"/>
            </a:avLst>
          </a:prstGeom>
          <a:solidFill>
            <a:srgbClr val="0B1220"/>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2395727" y="1920240"/>
            <a:ext cx="512064" cy="82296"/>
          </a:xfrm>
          <a:prstGeom prst="rect">
            <a:avLst/>
          </a:prstGeom>
          <a:noFill/>
        </p:spPr>
        <p:txBody>
          <a:bodyPr wrap="square" lIns="0" rIns="0" tIns="0" bIns="0" anchor="t">
            <a:noAutofit/>
          </a:bodyPr>
          <a:lstStyle/>
          <a:p>
            <a:pPr algn="l">
              <a:lnSpc>
                <a:spcPct val="122000"/>
              </a:lnSpc>
            </a:pPr>
            <a:r>
              <a:rPr sz="380" b="0" i="0">
                <a:solidFill>
                  <a:srgbClr val="64748B"/>
                </a:solidFill>
                <a:latin typeface="Consolas"/>
              </a:rPr>
              <a:t>CRIT</a:t>
            </a:r>
          </a:p>
        </p:txBody>
      </p:sp>
      <p:sp>
        <p:nvSpPr>
          <p:cNvPr id="22" name="TextBox 21"/>
          <p:cNvSpPr txBox="1"/>
          <p:nvPr/>
        </p:nvSpPr>
        <p:spPr>
          <a:xfrm>
            <a:off x="2395727" y="2020824"/>
            <a:ext cx="512064" cy="118872"/>
          </a:xfrm>
          <a:prstGeom prst="rect">
            <a:avLst/>
          </a:prstGeom>
          <a:noFill/>
        </p:spPr>
        <p:txBody>
          <a:bodyPr wrap="square" lIns="0" rIns="0" tIns="0" bIns="0" anchor="t">
            <a:noAutofit/>
          </a:bodyPr>
          <a:lstStyle/>
          <a:p>
            <a:pPr algn="l">
              <a:lnSpc>
                <a:spcPct val="122000"/>
              </a:lnSpc>
            </a:pPr>
            <a:r>
              <a:rPr sz="600" b="1" i="0">
                <a:solidFill>
                  <a:srgbClr val="FB7185"/>
                </a:solidFill>
                <a:latin typeface="Consolas"/>
              </a:rPr>
              <a:t>1</a:t>
            </a:r>
          </a:p>
        </p:txBody>
      </p:sp>
      <p:sp>
        <p:nvSpPr>
          <p:cNvPr id="23" name="Rounded Rectangle 22"/>
          <p:cNvSpPr/>
          <p:nvPr/>
        </p:nvSpPr>
        <p:spPr>
          <a:xfrm>
            <a:off x="2962656" y="1892807"/>
            <a:ext cx="585216" cy="310896"/>
          </a:xfrm>
          <a:prstGeom prst="roundRect">
            <a:avLst>
              <a:gd name="adj" fmla="val 8823"/>
            </a:avLst>
          </a:prstGeom>
          <a:solidFill>
            <a:srgbClr val="0B1220"/>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3008375" y="1920240"/>
            <a:ext cx="512064" cy="82296"/>
          </a:xfrm>
          <a:prstGeom prst="rect">
            <a:avLst/>
          </a:prstGeom>
          <a:noFill/>
        </p:spPr>
        <p:txBody>
          <a:bodyPr wrap="square" lIns="0" rIns="0" tIns="0" bIns="0" anchor="t">
            <a:noAutofit/>
          </a:bodyPr>
          <a:lstStyle/>
          <a:p>
            <a:pPr algn="l">
              <a:lnSpc>
                <a:spcPct val="122000"/>
              </a:lnSpc>
            </a:pPr>
            <a:r>
              <a:rPr sz="380" b="0" i="0">
                <a:solidFill>
                  <a:srgbClr val="64748B"/>
                </a:solidFill>
                <a:latin typeface="Consolas"/>
              </a:rPr>
              <a:t>DEGR</a:t>
            </a:r>
          </a:p>
        </p:txBody>
      </p:sp>
      <p:sp>
        <p:nvSpPr>
          <p:cNvPr id="25" name="TextBox 24"/>
          <p:cNvSpPr txBox="1"/>
          <p:nvPr/>
        </p:nvSpPr>
        <p:spPr>
          <a:xfrm>
            <a:off x="3008375" y="2020824"/>
            <a:ext cx="512064" cy="118872"/>
          </a:xfrm>
          <a:prstGeom prst="rect">
            <a:avLst/>
          </a:prstGeom>
          <a:noFill/>
        </p:spPr>
        <p:txBody>
          <a:bodyPr wrap="square" lIns="0" rIns="0" tIns="0" bIns="0" anchor="t">
            <a:noAutofit/>
          </a:bodyPr>
          <a:lstStyle/>
          <a:p>
            <a:pPr algn="l">
              <a:lnSpc>
                <a:spcPct val="122000"/>
              </a:lnSpc>
            </a:pPr>
            <a:r>
              <a:rPr sz="600" b="1" i="0">
                <a:solidFill>
                  <a:srgbClr val="FBBF24"/>
                </a:solidFill>
                <a:latin typeface="Consolas"/>
              </a:rPr>
              <a:t>4</a:t>
            </a:r>
          </a:p>
        </p:txBody>
      </p:sp>
      <p:sp>
        <p:nvSpPr>
          <p:cNvPr id="26" name="Rounded Rectangle 25"/>
          <p:cNvSpPr/>
          <p:nvPr/>
        </p:nvSpPr>
        <p:spPr>
          <a:xfrm>
            <a:off x="3575303" y="1892807"/>
            <a:ext cx="585216" cy="310896"/>
          </a:xfrm>
          <a:prstGeom prst="roundRect">
            <a:avLst>
              <a:gd name="adj" fmla="val 8823"/>
            </a:avLst>
          </a:prstGeom>
          <a:solidFill>
            <a:srgbClr val="0B1220"/>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3621023" y="1920240"/>
            <a:ext cx="512064" cy="82296"/>
          </a:xfrm>
          <a:prstGeom prst="rect">
            <a:avLst/>
          </a:prstGeom>
          <a:noFill/>
        </p:spPr>
        <p:txBody>
          <a:bodyPr wrap="square" lIns="0" rIns="0" tIns="0" bIns="0" anchor="t">
            <a:noAutofit/>
          </a:bodyPr>
          <a:lstStyle/>
          <a:p>
            <a:pPr algn="l">
              <a:lnSpc>
                <a:spcPct val="122000"/>
              </a:lnSpc>
            </a:pPr>
            <a:r>
              <a:rPr sz="380" b="0" i="0">
                <a:solidFill>
                  <a:srgbClr val="64748B"/>
                </a:solidFill>
                <a:latin typeface="Consolas"/>
              </a:rPr>
              <a:t>HLTHY</a:t>
            </a:r>
          </a:p>
        </p:txBody>
      </p:sp>
      <p:sp>
        <p:nvSpPr>
          <p:cNvPr id="28" name="TextBox 27"/>
          <p:cNvSpPr txBox="1"/>
          <p:nvPr/>
        </p:nvSpPr>
        <p:spPr>
          <a:xfrm>
            <a:off x="3621023" y="2020824"/>
            <a:ext cx="512064" cy="118872"/>
          </a:xfrm>
          <a:prstGeom prst="rect">
            <a:avLst/>
          </a:prstGeom>
          <a:noFill/>
        </p:spPr>
        <p:txBody>
          <a:bodyPr wrap="square" lIns="0" rIns="0" tIns="0" bIns="0" anchor="t">
            <a:noAutofit/>
          </a:bodyPr>
          <a:lstStyle/>
          <a:p>
            <a:pPr algn="l">
              <a:lnSpc>
                <a:spcPct val="122000"/>
              </a:lnSpc>
            </a:pPr>
            <a:r>
              <a:rPr sz="600" b="1" i="0">
                <a:solidFill>
                  <a:srgbClr val="E2E8F0"/>
                </a:solidFill>
                <a:latin typeface="Consolas"/>
              </a:rPr>
              <a:t>291</a:t>
            </a:r>
          </a:p>
        </p:txBody>
      </p:sp>
      <p:sp>
        <p:nvSpPr>
          <p:cNvPr id="29" name="Rounded Rectangle 28"/>
          <p:cNvSpPr/>
          <p:nvPr/>
        </p:nvSpPr>
        <p:spPr>
          <a:xfrm>
            <a:off x="4187952" y="1892807"/>
            <a:ext cx="585216" cy="310896"/>
          </a:xfrm>
          <a:prstGeom prst="roundRect">
            <a:avLst>
              <a:gd name="adj" fmla="val 8823"/>
            </a:avLst>
          </a:prstGeom>
          <a:solidFill>
            <a:srgbClr val="0B1220"/>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4233672" y="1920240"/>
            <a:ext cx="512064" cy="82296"/>
          </a:xfrm>
          <a:prstGeom prst="rect">
            <a:avLst/>
          </a:prstGeom>
          <a:noFill/>
        </p:spPr>
        <p:txBody>
          <a:bodyPr wrap="square" lIns="0" rIns="0" tIns="0" bIns="0" anchor="t">
            <a:noAutofit/>
          </a:bodyPr>
          <a:lstStyle/>
          <a:p>
            <a:pPr algn="l">
              <a:lnSpc>
                <a:spcPct val="122000"/>
              </a:lnSpc>
            </a:pPr>
            <a:r>
              <a:rPr sz="380" b="0" i="0">
                <a:solidFill>
                  <a:srgbClr val="64748B"/>
                </a:solidFill>
                <a:latin typeface="Consolas"/>
              </a:rPr>
              <a:t>CPU</a:t>
            </a:r>
          </a:p>
        </p:txBody>
      </p:sp>
      <p:sp>
        <p:nvSpPr>
          <p:cNvPr id="31" name="TextBox 30"/>
          <p:cNvSpPr txBox="1"/>
          <p:nvPr/>
        </p:nvSpPr>
        <p:spPr>
          <a:xfrm>
            <a:off x="4233672" y="2020824"/>
            <a:ext cx="512064" cy="118872"/>
          </a:xfrm>
          <a:prstGeom prst="rect">
            <a:avLst/>
          </a:prstGeom>
          <a:noFill/>
        </p:spPr>
        <p:txBody>
          <a:bodyPr wrap="square" lIns="0" rIns="0" tIns="0" bIns="0" anchor="t">
            <a:noAutofit/>
          </a:bodyPr>
          <a:lstStyle/>
          <a:p>
            <a:pPr algn="l">
              <a:lnSpc>
                <a:spcPct val="122000"/>
              </a:lnSpc>
            </a:pPr>
            <a:r>
              <a:rPr sz="600" b="1" i="0">
                <a:solidFill>
                  <a:srgbClr val="E2E8F0"/>
                </a:solidFill>
                <a:latin typeface="Consolas"/>
              </a:rPr>
              <a:t>38.2</a:t>
            </a:r>
          </a:p>
        </p:txBody>
      </p:sp>
      <p:sp>
        <p:nvSpPr>
          <p:cNvPr id="32" name="Rounded Rectangle 31"/>
          <p:cNvSpPr/>
          <p:nvPr/>
        </p:nvSpPr>
        <p:spPr>
          <a:xfrm>
            <a:off x="4800600" y="1892807"/>
            <a:ext cx="585216" cy="310896"/>
          </a:xfrm>
          <a:prstGeom prst="roundRect">
            <a:avLst>
              <a:gd name="adj" fmla="val 8823"/>
            </a:avLst>
          </a:prstGeom>
          <a:solidFill>
            <a:srgbClr val="0B1220"/>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4846320" y="1920240"/>
            <a:ext cx="512064" cy="82296"/>
          </a:xfrm>
          <a:prstGeom prst="rect">
            <a:avLst/>
          </a:prstGeom>
          <a:noFill/>
        </p:spPr>
        <p:txBody>
          <a:bodyPr wrap="square" lIns="0" rIns="0" tIns="0" bIns="0" anchor="t">
            <a:noAutofit/>
          </a:bodyPr>
          <a:lstStyle/>
          <a:p>
            <a:pPr algn="l">
              <a:lnSpc>
                <a:spcPct val="122000"/>
              </a:lnSpc>
            </a:pPr>
            <a:r>
              <a:rPr sz="380" b="0" i="0">
                <a:solidFill>
                  <a:srgbClr val="64748B"/>
                </a:solidFill>
                <a:latin typeface="Consolas"/>
              </a:rPr>
              <a:t>P99</a:t>
            </a:r>
          </a:p>
        </p:txBody>
      </p:sp>
      <p:sp>
        <p:nvSpPr>
          <p:cNvPr id="34" name="TextBox 33"/>
          <p:cNvSpPr txBox="1"/>
          <p:nvPr/>
        </p:nvSpPr>
        <p:spPr>
          <a:xfrm>
            <a:off x="4846320" y="2020824"/>
            <a:ext cx="512064" cy="118872"/>
          </a:xfrm>
          <a:prstGeom prst="rect">
            <a:avLst/>
          </a:prstGeom>
          <a:noFill/>
        </p:spPr>
        <p:txBody>
          <a:bodyPr wrap="square" lIns="0" rIns="0" tIns="0" bIns="0" anchor="t">
            <a:noAutofit/>
          </a:bodyPr>
          <a:lstStyle/>
          <a:p>
            <a:pPr algn="l">
              <a:lnSpc>
                <a:spcPct val="122000"/>
              </a:lnSpc>
            </a:pPr>
            <a:r>
              <a:rPr sz="600" b="1" i="0">
                <a:solidFill>
                  <a:srgbClr val="E2E8F0"/>
                </a:solidFill>
                <a:latin typeface="Consolas"/>
              </a:rPr>
              <a:t>96</a:t>
            </a:r>
          </a:p>
        </p:txBody>
      </p:sp>
      <p:sp>
        <p:nvSpPr>
          <p:cNvPr id="35" name="Rounded Rectangle 34"/>
          <p:cNvSpPr/>
          <p:nvPr/>
        </p:nvSpPr>
        <p:spPr>
          <a:xfrm>
            <a:off x="5413248" y="1892807"/>
            <a:ext cx="585216" cy="310896"/>
          </a:xfrm>
          <a:prstGeom prst="roundRect">
            <a:avLst>
              <a:gd name="adj" fmla="val 8823"/>
            </a:avLst>
          </a:prstGeom>
          <a:solidFill>
            <a:srgbClr val="0B1220"/>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5458968" y="1920240"/>
            <a:ext cx="512064" cy="82296"/>
          </a:xfrm>
          <a:prstGeom prst="rect">
            <a:avLst/>
          </a:prstGeom>
          <a:noFill/>
        </p:spPr>
        <p:txBody>
          <a:bodyPr wrap="square" lIns="0" rIns="0" tIns="0" bIns="0" anchor="t">
            <a:noAutofit/>
          </a:bodyPr>
          <a:lstStyle/>
          <a:p>
            <a:pPr algn="l">
              <a:lnSpc>
                <a:spcPct val="122000"/>
              </a:lnSpc>
            </a:pPr>
            <a:r>
              <a:rPr sz="380" b="0" i="0">
                <a:solidFill>
                  <a:srgbClr val="64748B"/>
                </a:solidFill>
                <a:latin typeface="Consolas"/>
              </a:rPr>
              <a:t>ERR</a:t>
            </a:r>
          </a:p>
        </p:txBody>
      </p:sp>
      <p:sp>
        <p:nvSpPr>
          <p:cNvPr id="37" name="TextBox 36"/>
          <p:cNvSpPr txBox="1"/>
          <p:nvPr/>
        </p:nvSpPr>
        <p:spPr>
          <a:xfrm>
            <a:off x="5458968" y="2020824"/>
            <a:ext cx="512064" cy="118872"/>
          </a:xfrm>
          <a:prstGeom prst="rect">
            <a:avLst/>
          </a:prstGeom>
          <a:noFill/>
        </p:spPr>
        <p:txBody>
          <a:bodyPr wrap="square" lIns="0" rIns="0" tIns="0" bIns="0" anchor="t">
            <a:noAutofit/>
          </a:bodyPr>
          <a:lstStyle/>
          <a:p>
            <a:pPr algn="l">
              <a:lnSpc>
                <a:spcPct val="122000"/>
              </a:lnSpc>
            </a:pPr>
            <a:r>
              <a:rPr sz="600" b="1" i="0">
                <a:solidFill>
                  <a:srgbClr val="34D399"/>
                </a:solidFill>
                <a:latin typeface="Consolas"/>
              </a:rPr>
              <a:t>0.41</a:t>
            </a:r>
          </a:p>
        </p:txBody>
      </p:sp>
      <p:sp>
        <p:nvSpPr>
          <p:cNvPr id="38" name="Rounded Rectangle 37"/>
          <p:cNvSpPr/>
          <p:nvPr/>
        </p:nvSpPr>
        <p:spPr>
          <a:xfrm>
            <a:off x="6236207" y="1938528"/>
            <a:ext cx="438912" cy="182880"/>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6291071" y="1993265"/>
            <a:ext cx="329184" cy="67056"/>
          </a:xfrm>
          <a:prstGeom prst="rect">
            <a:avLst/>
          </a:prstGeom>
          <a:noFill/>
        </p:spPr>
        <p:txBody>
          <a:bodyPr wrap="square" lIns="0" rIns="0" tIns="0" bIns="0" anchor="t">
            <a:noAutofit/>
          </a:bodyPr>
          <a:lstStyle/>
          <a:p>
            <a:pPr algn="ctr">
              <a:lnSpc>
                <a:spcPct val="100000"/>
              </a:lnSpc>
            </a:pPr>
            <a:r>
              <a:rPr sz="440" b="0" i="0">
                <a:solidFill>
                  <a:srgbClr val="34D399"/>
                </a:solidFill>
                <a:latin typeface="Consolas"/>
              </a:rPr>
              <a:t>LIVE</a:t>
            </a:r>
          </a:p>
        </p:txBody>
      </p:sp>
      <p:sp>
        <p:nvSpPr>
          <p:cNvPr id="40" name="Rounded Rectangle 39"/>
          <p:cNvSpPr/>
          <p:nvPr/>
        </p:nvSpPr>
        <p:spPr>
          <a:xfrm>
            <a:off x="6729983" y="1938528"/>
            <a:ext cx="603504" cy="182880"/>
          </a:xfrm>
          <a:prstGeom prst="roundRect">
            <a:avLst>
              <a:gd name="adj" fmla="val 15000"/>
            </a:avLst>
          </a:prstGeom>
          <a:solidFill>
            <a:srgbClr val="0B1220"/>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1" name="TextBox 40"/>
          <p:cNvSpPr txBox="1"/>
          <p:nvPr/>
        </p:nvSpPr>
        <p:spPr>
          <a:xfrm>
            <a:off x="6766559" y="1975104"/>
            <a:ext cx="548640" cy="100584"/>
          </a:xfrm>
          <a:prstGeom prst="rect">
            <a:avLst/>
          </a:prstGeom>
          <a:noFill/>
        </p:spPr>
        <p:txBody>
          <a:bodyPr wrap="square" lIns="0" rIns="0" tIns="0" bIns="0" anchor="t">
            <a:noAutofit/>
          </a:bodyPr>
          <a:lstStyle/>
          <a:p>
            <a:pPr algn="l">
              <a:lnSpc>
                <a:spcPct val="122000"/>
              </a:lnSpc>
            </a:pPr>
            <a:r>
              <a:rPr sz="400" b="0" i="0">
                <a:solidFill>
                  <a:srgbClr val="475569"/>
                </a:solidFill>
                <a:latin typeface="Consolas"/>
              </a:rPr>
              <a:t>search…</a:t>
            </a:r>
          </a:p>
        </p:txBody>
      </p:sp>
      <p:sp>
        <p:nvSpPr>
          <p:cNvPr id="42" name="Rounded Rectangle 41"/>
          <p:cNvSpPr/>
          <p:nvPr/>
        </p:nvSpPr>
        <p:spPr>
          <a:xfrm>
            <a:off x="621792" y="2295144"/>
            <a:ext cx="6766559" cy="219456"/>
          </a:xfrm>
          <a:prstGeom prst="roundRect">
            <a:avLst>
              <a:gd name="adj" fmla="val 12500"/>
            </a:avLst>
          </a:prstGeom>
          <a:solidFill>
            <a:srgbClr val="0A101B"/>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713232" y="2359151"/>
            <a:ext cx="274320" cy="100584"/>
          </a:xfrm>
          <a:prstGeom prst="rect">
            <a:avLst/>
          </a:prstGeom>
          <a:noFill/>
        </p:spPr>
        <p:txBody>
          <a:bodyPr wrap="square" lIns="0" rIns="0" tIns="0" bIns="0" anchor="t">
            <a:noAutofit/>
          </a:bodyPr>
          <a:lstStyle/>
          <a:p>
            <a:pPr algn="ctr">
              <a:lnSpc>
                <a:spcPct val="122000"/>
              </a:lnSpc>
            </a:pPr>
            <a:r>
              <a:rPr sz="409" b="0" i="0">
                <a:solidFill>
                  <a:srgbClr val="64748B"/>
                </a:solidFill>
                <a:latin typeface="Consolas"/>
              </a:rPr>
              <a:t>ORG</a:t>
            </a:r>
          </a:p>
        </p:txBody>
      </p:sp>
      <p:sp>
        <p:nvSpPr>
          <p:cNvPr id="44" name="TextBox 43"/>
          <p:cNvSpPr txBox="1"/>
          <p:nvPr/>
        </p:nvSpPr>
        <p:spPr>
          <a:xfrm>
            <a:off x="1014983" y="2359151"/>
            <a:ext cx="274320" cy="100584"/>
          </a:xfrm>
          <a:prstGeom prst="rect">
            <a:avLst/>
          </a:prstGeom>
          <a:noFill/>
        </p:spPr>
        <p:txBody>
          <a:bodyPr wrap="square" lIns="0" rIns="0" tIns="0" bIns="0" anchor="t">
            <a:noAutofit/>
          </a:bodyPr>
          <a:lstStyle/>
          <a:p>
            <a:pPr algn="ctr">
              <a:lnSpc>
                <a:spcPct val="122000"/>
              </a:lnSpc>
            </a:pPr>
            <a:r>
              <a:rPr sz="409" b="0" i="0">
                <a:solidFill>
                  <a:srgbClr val="64748B"/>
                </a:solidFill>
                <a:latin typeface="Consolas"/>
              </a:rPr>
              <a:t>PROJ</a:t>
            </a:r>
          </a:p>
        </p:txBody>
      </p:sp>
      <p:sp>
        <p:nvSpPr>
          <p:cNvPr id="45" name="TextBox 44"/>
          <p:cNvSpPr txBox="1"/>
          <p:nvPr/>
        </p:nvSpPr>
        <p:spPr>
          <a:xfrm>
            <a:off x="1316736" y="2359151"/>
            <a:ext cx="274320" cy="100584"/>
          </a:xfrm>
          <a:prstGeom prst="rect">
            <a:avLst/>
          </a:prstGeom>
          <a:noFill/>
        </p:spPr>
        <p:txBody>
          <a:bodyPr wrap="square" lIns="0" rIns="0" tIns="0" bIns="0" anchor="t">
            <a:noAutofit/>
          </a:bodyPr>
          <a:lstStyle/>
          <a:p>
            <a:pPr algn="ctr">
              <a:lnSpc>
                <a:spcPct val="122000"/>
              </a:lnSpc>
            </a:pPr>
            <a:r>
              <a:rPr sz="409" b="0" i="0">
                <a:solidFill>
                  <a:srgbClr val="64748B"/>
                </a:solidFill>
                <a:latin typeface="Consolas"/>
              </a:rPr>
              <a:t>DC</a:t>
            </a:r>
          </a:p>
        </p:txBody>
      </p:sp>
      <p:sp>
        <p:nvSpPr>
          <p:cNvPr id="46" name="Rounded Rectangle 45"/>
          <p:cNvSpPr/>
          <p:nvPr/>
        </p:nvSpPr>
        <p:spPr>
          <a:xfrm>
            <a:off x="1591056" y="2322575"/>
            <a:ext cx="329184" cy="164592"/>
          </a:xfrm>
          <a:prstGeom prst="roundRect">
            <a:avLst>
              <a:gd name="adj" fmla="val 11111"/>
            </a:avLst>
          </a:prstGeom>
          <a:solidFill>
            <a:srgbClr val="1223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7" name="TextBox 46"/>
          <p:cNvSpPr txBox="1"/>
          <p:nvPr/>
        </p:nvSpPr>
        <p:spPr>
          <a:xfrm>
            <a:off x="1618488" y="2359151"/>
            <a:ext cx="274320" cy="100584"/>
          </a:xfrm>
          <a:prstGeom prst="rect">
            <a:avLst/>
          </a:prstGeom>
          <a:noFill/>
        </p:spPr>
        <p:txBody>
          <a:bodyPr wrap="square" lIns="0" rIns="0" tIns="0" bIns="0" anchor="t">
            <a:noAutofit/>
          </a:bodyPr>
          <a:lstStyle/>
          <a:p>
            <a:pPr algn="ctr">
              <a:lnSpc>
                <a:spcPct val="122000"/>
              </a:lnSpc>
            </a:pPr>
            <a:r>
              <a:rPr sz="409" b="0" i="0">
                <a:solidFill>
                  <a:srgbClr val="7DD3FC"/>
                </a:solidFill>
                <a:latin typeface="Consolas"/>
              </a:rPr>
              <a:t>INFRA</a:t>
            </a:r>
          </a:p>
        </p:txBody>
      </p:sp>
      <p:sp>
        <p:nvSpPr>
          <p:cNvPr id="48" name="TextBox 47"/>
          <p:cNvSpPr txBox="1"/>
          <p:nvPr/>
        </p:nvSpPr>
        <p:spPr>
          <a:xfrm>
            <a:off x="1920240" y="2359151"/>
            <a:ext cx="274320" cy="100584"/>
          </a:xfrm>
          <a:prstGeom prst="rect">
            <a:avLst/>
          </a:prstGeom>
          <a:noFill/>
        </p:spPr>
        <p:txBody>
          <a:bodyPr wrap="square" lIns="0" rIns="0" tIns="0" bIns="0" anchor="t">
            <a:noAutofit/>
          </a:bodyPr>
          <a:lstStyle/>
          <a:p>
            <a:pPr algn="ctr">
              <a:lnSpc>
                <a:spcPct val="122000"/>
              </a:lnSpc>
            </a:pPr>
            <a:r>
              <a:rPr sz="409" b="0" i="0">
                <a:solidFill>
                  <a:srgbClr val="64748B"/>
                </a:solidFill>
                <a:latin typeface="Consolas"/>
              </a:rPr>
              <a:t>GROUP</a:t>
            </a:r>
          </a:p>
        </p:txBody>
      </p:sp>
      <p:sp>
        <p:nvSpPr>
          <p:cNvPr id="49" name="TextBox 48"/>
          <p:cNvSpPr txBox="1"/>
          <p:nvPr/>
        </p:nvSpPr>
        <p:spPr>
          <a:xfrm>
            <a:off x="2221992" y="2359151"/>
            <a:ext cx="274320" cy="100584"/>
          </a:xfrm>
          <a:prstGeom prst="rect">
            <a:avLst/>
          </a:prstGeom>
          <a:noFill/>
        </p:spPr>
        <p:txBody>
          <a:bodyPr wrap="square" lIns="0" rIns="0" tIns="0" bIns="0" anchor="t">
            <a:noAutofit/>
          </a:bodyPr>
          <a:lstStyle/>
          <a:p>
            <a:pPr algn="ctr">
              <a:lnSpc>
                <a:spcPct val="122000"/>
              </a:lnSpc>
            </a:pPr>
            <a:r>
              <a:rPr sz="409" b="0" i="0">
                <a:solidFill>
                  <a:srgbClr val="64748B"/>
                </a:solidFill>
                <a:latin typeface="Consolas"/>
              </a:rPr>
              <a:t>SVC</a:t>
            </a:r>
          </a:p>
        </p:txBody>
      </p:sp>
      <p:sp>
        <p:nvSpPr>
          <p:cNvPr id="50" name="TextBox 49"/>
          <p:cNvSpPr txBox="1"/>
          <p:nvPr/>
        </p:nvSpPr>
        <p:spPr>
          <a:xfrm>
            <a:off x="2523744" y="2359151"/>
            <a:ext cx="274320" cy="100584"/>
          </a:xfrm>
          <a:prstGeom prst="rect">
            <a:avLst/>
          </a:prstGeom>
          <a:noFill/>
        </p:spPr>
        <p:txBody>
          <a:bodyPr wrap="square" lIns="0" rIns="0" tIns="0" bIns="0" anchor="t">
            <a:noAutofit/>
          </a:bodyPr>
          <a:lstStyle/>
          <a:p>
            <a:pPr algn="ctr">
              <a:lnSpc>
                <a:spcPct val="122000"/>
              </a:lnSpc>
            </a:pPr>
            <a:r>
              <a:rPr sz="409" b="0" i="0">
                <a:solidFill>
                  <a:srgbClr val="64748B"/>
                </a:solidFill>
                <a:latin typeface="Consolas"/>
              </a:rPr>
              <a:t>ALL</a:t>
            </a:r>
          </a:p>
        </p:txBody>
      </p:sp>
      <p:sp>
        <p:nvSpPr>
          <p:cNvPr id="51" name="TextBox 50"/>
          <p:cNvSpPr txBox="1"/>
          <p:nvPr/>
        </p:nvSpPr>
        <p:spPr>
          <a:xfrm>
            <a:off x="2916936" y="2359151"/>
            <a:ext cx="1188720" cy="100584"/>
          </a:xfrm>
          <a:prstGeom prst="rect">
            <a:avLst/>
          </a:prstGeom>
          <a:noFill/>
        </p:spPr>
        <p:txBody>
          <a:bodyPr wrap="square" lIns="0" rIns="0" tIns="0" bIns="0" anchor="t">
            <a:noAutofit/>
          </a:bodyPr>
          <a:lstStyle/>
          <a:p>
            <a:pPr algn="l">
              <a:lnSpc>
                <a:spcPct val="122000"/>
              </a:lnSpc>
            </a:pPr>
            <a:r>
              <a:rPr sz="409" b="0" i="0">
                <a:solidFill>
                  <a:srgbClr val="64748B"/>
                </a:solidFill>
                <a:latin typeface="Consolas"/>
              </a:rPr>
              <a:t>spacing  ▮▮▮▭▭   ·   DOWN</a:t>
            </a:r>
          </a:p>
        </p:txBody>
      </p:sp>
      <p:sp>
        <p:nvSpPr>
          <p:cNvPr id="52" name="TextBox 51"/>
          <p:cNvSpPr txBox="1"/>
          <p:nvPr/>
        </p:nvSpPr>
        <p:spPr>
          <a:xfrm>
            <a:off x="5376671" y="2359151"/>
            <a:ext cx="1097280" cy="100584"/>
          </a:xfrm>
          <a:prstGeom prst="rect">
            <a:avLst/>
          </a:prstGeom>
          <a:noFill/>
        </p:spPr>
        <p:txBody>
          <a:bodyPr wrap="square" lIns="0" rIns="0" tIns="0" bIns="0" anchor="t">
            <a:noAutofit/>
          </a:bodyPr>
          <a:lstStyle/>
          <a:p>
            <a:pPr algn="r">
              <a:lnSpc>
                <a:spcPct val="122000"/>
              </a:lnSpc>
            </a:pPr>
            <a:r>
              <a:rPr sz="409" b="0" i="0">
                <a:solidFill>
                  <a:srgbClr val="64748B"/>
                </a:solidFill>
                <a:latin typeface="Consolas"/>
              </a:rPr>
              <a:t>auto-layout   fit   reseed</a:t>
            </a:r>
          </a:p>
        </p:txBody>
      </p:sp>
      <p:sp>
        <p:nvSpPr>
          <p:cNvPr id="53" name="Oval 52"/>
          <p:cNvSpPr/>
          <p:nvPr/>
        </p:nvSpPr>
        <p:spPr>
          <a:xfrm>
            <a:off x="7168895" y="2327148"/>
            <a:ext cx="182880" cy="164592"/>
          </a:xfrm>
          <a:prstGeom prst="ellipse">
            <a:avLst/>
          </a:prstGeom>
          <a:solidFill>
            <a:srgbClr val="0B1A2A"/>
          </a:solidFill>
          <a:ln w="889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168895" y="2354579"/>
            <a:ext cx="182880" cy="118872"/>
          </a:xfrm>
          <a:prstGeom prst="rect">
            <a:avLst/>
          </a:prstGeom>
          <a:noFill/>
        </p:spPr>
        <p:txBody>
          <a:bodyPr wrap="square" lIns="0" rIns="0" tIns="0" bIns="0" anchor="t">
            <a:noAutofit/>
          </a:bodyPr>
          <a:lstStyle/>
          <a:p>
            <a:pPr algn="ctr">
              <a:lnSpc>
                <a:spcPct val="122000"/>
              </a:lnSpc>
            </a:pPr>
            <a:r>
              <a:rPr sz="560" b="1" i="0">
                <a:solidFill>
                  <a:srgbClr val="7DD3FC"/>
                </a:solidFill>
                <a:latin typeface="Consolas"/>
              </a:rPr>
              <a:t>4</a:t>
            </a:r>
          </a:p>
        </p:txBody>
      </p:sp>
      <p:sp>
        <p:nvSpPr>
          <p:cNvPr id="55" name="Rounded Rectangle 54"/>
          <p:cNvSpPr/>
          <p:nvPr/>
        </p:nvSpPr>
        <p:spPr>
          <a:xfrm>
            <a:off x="621792" y="2587752"/>
            <a:ext cx="1133856" cy="3218688"/>
          </a:xfrm>
          <a:prstGeom prst="roundRect">
            <a:avLst>
              <a:gd name="adj" fmla="val 3225"/>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6" name="Oval 55"/>
          <p:cNvSpPr/>
          <p:nvPr/>
        </p:nvSpPr>
        <p:spPr>
          <a:xfrm>
            <a:off x="676656" y="2633472"/>
            <a:ext cx="164592" cy="164592"/>
          </a:xfrm>
          <a:prstGeom prst="ellipse">
            <a:avLst/>
          </a:prstGeom>
          <a:solidFill>
            <a:srgbClr val="0B1A2A"/>
          </a:solidFill>
          <a:ln w="889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76656" y="2665476"/>
            <a:ext cx="164592" cy="109728"/>
          </a:xfrm>
          <a:prstGeom prst="rect">
            <a:avLst/>
          </a:prstGeom>
          <a:noFill/>
        </p:spPr>
        <p:txBody>
          <a:bodyPr wrap="square" lIns="0" rIns="0" tIns="0" bIns="0" anchor="t">
            <a:noAutofit/>
          </a:bodyPr>
          <a:lstStyle/>
          <a:p>
            <a:pPr algn="ctr">
              <a:lnSpc>
                <a:spcPct val="122000"/>
              </a:lnSpc>
            </a:pPr>
            <a:r>
              <a:rPr sz="520" b="1" i="0">
                <a:solidFill>
                  <a:srgbClr val="7DD3FC"/>
                </a:solidFill>
                <a:latin typeface="Consolas"/>
              </a:rPr>
              <a:t>2</a:t>
            </a:r>
          </a:p>
        </p:txBody>
      </p:sp>
      <p:sp>
        <p:nvSpPr>
          <p:cNvPr id="58" name="TextBox 57"/>
          <p:cNvSpPr txBox="1"/>
          <p:nvPr/>
        </p:nvSpPr>
        <p:spPr>
          <a:xfrm>
            <a:off x="896112" y="2660904"/>
            <a:ext cx="822959" cy="100584"/>
          </a:xfrm>
          <a:prstGeom prst="rect">
            <a:avLst/>
          </a:prstGeom>
          <a:noFill/>
        </p:spPr>
        <p:txBody>
          <a:bodyPr wrap="square" lIns="0" rIns="0" tIns="0" bIns="0" anchor="t">
            <a:noAutofit/>
          </a:bodyPr>
          <a:lstStyle/>
          <a:p>
            <a:pPr algn="l">
              <a:lnSpc>
                <a:spcPct val="122000"/>
              </a:lnSpc>
            </a:pPr>
            <a:r>
              <a:rPr sz="420" b="0" i="0" spc="30">
                <a:solidFill>
                  <a:srgbClr val="7DD3FC"/>
                </a:solidFill>
                <a:latin typeface="Consolas"/>
              </a:rPr>
              <a:t>NAVIGATOR</a:t>
            </a:r>
          </a:p>
        </p:txBody>
      </p:sp>
      <p:sp>
        <p:nvSpPr>
          <p:cNvPr id="59" name="Oval 58"/>
          <p:cNvSpPr/>
          <p:nvPr/>
        </p:nvSpPr>
        <p:spPr>
          <a:xfrm>
            <a:off x="704087" y="2854756"/>
            <a:ext cx="41148" cy="4114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86383" y="2825496"/>
            <a:ext cx="914400" cy="91440"/>
          </a:xfrm>
          <a:prstGeom prst="rect">
            <a:avLst/>
          </a:prstGeom>
          <a:noFill/>
        </p:spPr>
        <p:txBody>
          <a:bodyPr wrap="square" lIns="0" rIns="0" tIns="0" bIns="0" anchor="t">
            <a:noAutofit/>
          </a:bodyPr>
          <a:lstStyle/>
          <a:p>
            <a:pPr algn="l">
              <a:lnSpc>
                <a:spcPct val="122000"/>
              </a:lnSpc>
            </a:pPr>
            <a:r>
              <a:rPr sz="409" b="0" i="0">
                <a:solidFill>
                  <a:srgbClr val="9DB0C6"/>
                </a:solidFill>
                <a:latin typeface="Consolas"/>
              </a:rPr>
              <a:t>Helios Group</a:t>
            </a:r>
          </a:p>
        </p:txBody>
      </p:sp>
      <p:sp>
        <p:nvSpPr>
          <p:cNvPr id="61" name="Oval 60"/>
          <p:cNvSpPr/>
          <p:nvPr/>
        </p:nvSpPr>
        <p:spPr>
          <a:xfrm>
            <a:off x="786383" y="3001060"/>
            <a:ext cx="41148" cy="4114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68679" y="2971800"/>
            <a:ext cx="832104" cy="91440"/>
          </a:xfrm>
          <a:prstGeom prst="rect">
            <a:avLst/>
          </a:prstGeom>
          <a:noFill/>
        </p:spPr>
        <p:txBody>
          <a:bodyPr wrap="square" lIns="0" rIns="0" tIns="0" bIns="0" anchor="t">
            <a:noAutofit/>
          </a:bodyPr>
          <a:lstStyle/>
          <a:p>
            <a:pPr algn="l">
              <a:lnSpc>
                <a:spcPct val="122000"/>
              </a:lnSpc>
            </a:pPr>
            <a:r>
              <a:rPr sz="409" b="0" i="0">
                <a:solidFill>
                  <a:srgbClr val="9DB0C6"/>
                </a:solidFill>
                <a:latin typeface="Consolas"/>
              </a:rPr>
              <a:t>Cloud Platform</a:t>
            </a:r>
          </a:p>
        </p:txBody>
      </p:sp>
      <p:sp>
        <p:nvSpPr>
          <p:cNvPr id="63" name="Oval 62"/>
          <p:cNvSpPr/>
          <p:nvPr/>
        </p:nvSpPr>
        <p:spPr>
          <a:xfrm>
            <a:off x="868680" y="3147364"/>
            <a:ext cx="41148" cy="4114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50975" y="3118104"/>
            <a:ext cx="749808" cy="91440"/>
          </a:xfrm>
          <a:prstGeom prst="rect">
            <a:avLst/>
          </a:prstGeom>
          <a:noFill/>
        </p:spPr>
        <p:txBody>
          <a:bodyPr wrap="square" lIns="0" rIns="0" tIns="0" bIns="0" anchor="t">
            <a:noAutofit/>
          </a:bodyPr>
          <a:lstStyle/>
          <a:p>
            <a:pPr algn="l">
              <a:lnSpc>
                <a:spcPct val="122000"/>
              </a:lnSpc>
            </a:pPr>
            <a:r>
              <a:rPr sz="409" b="0" i="0">
                <a:solidFill>
                  <a:srgbClr val="9DB0C6"/>
                </a:solidFill>
                <a:latin typeface="Consolas"/>
              </a:rPr>
              <a:t>Core Commerce</a:t>
            </a:r>
          </a:p>
        </p:txBody>
      </p:sp>
      <p:sp>
        <p:nvSpPr>
          <p:cNvPr id="65" name="Oval 64"/>
          <p:cNvSpPr/>
          <p:nvPr/>
        </p:nvSpPr>
        <p:spPr>
          <a:xfrm>
            <a:off x="950976" y="3293668"/>
            <a:ext cx="41148" cy="4114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33271" y="3264408"/>
            <a:ext cx="667512" cy="91440"/>
          </a:xfrm>
          <a:prstGeom prst="rect">
            <a:avLst/>
          </a:prstGeom>
          <a:noFill/>
        </p:spPr>
        <p:txBody>
          <a:bodyPr wrap="square" lIns="0" rIns="0" tIns="0" bIns="0" anchor="t">
            <a:noAutofit/>
          </a:bodyPr>
          <a:lstStyle/>
          <a:p>
            <a:pPr algn="l">
              <a:lnSpc>
                <a:spcPct val="122000"/>
              </a:lnSpc>
            </a:pPr>
            <a:r>
              <a:rPr sz="409" b="0" i="0">
                <a:solidFill>
                  <a:srgbClr val="9DB0C6"/>
                </a:solidFill>
                <a:latin typeface="Consolas"/>
              </a:rPr>
              <a:t>Checkout Mod.</a:t>
            </a:r>
          </a:p>
        </p:txBody>
      </p:sp>
      <p:sp>
        <p:nvSpPr>
          <p:cNvPr id="67" name="Oval 66"/>
          <p:cNvSpPr/>
          <p:nvPr/>
        </p:nvSpPr>
        <p:spPr>
          <a:xfrm>
            <a:off x="950976" y="3439972"/>
            <a:ext cx="41148" cy="4114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33271" y="3410712"/>
            <a:ext cx="667512" cy="91440"/>
          </a:xfrm>
          <a:prstGeom prst="rect">
            <a:avLst/>
          </a:prstGeom>
          <a:noFill/>
        </p:spPr>
        <p:txBody>
          <a:bodyPr wrap="square" lIns="0" rIns="0" tIns="0" bIns="0" anchor="t">
            <a:noAutofit/>
          </a:bodyPr>
          <a:lstStyle/>
          <a:p>
            <a:pPr algn="l">
              <a:lnSpc>
                <a:spcPct val="122000"/>
              </a:lnSpc>
            </a:pPr>
            <a:r>
              <a:rPr sz="409" b="0" i="0">
                <a:solidFill>
                  <a:srgbClr val="9DB0C6"/>
                </a:solidFill>
                <a:latin typeface="Consolas"/>
              </a:rPr>
              <a:t>DC eu-west-1</a:t>
            </a:r>
          </a:p>
        </p:txBody>
      </p:sp>
      <p:sp>
        <p:nvSpPr>
          <p:cNvPr id="69" name="Oval 68"/>
          <p:cNvSpPr/>
          <p:nvPr/>
        </p:nvSpPr>
        <p:spPr>
          <a:xfrm>
            <a:off x="1033271" y="3586276"/>
            <a:ext cx="41148" cy="4114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115567" y="3557016"/>
            <a:ext cx="585216" cy="91440"/>
          </a:xfrm>
          <a:prstGeom prst="rect">
            <a:avLst/>
          </a:prstGeom>
          <a:noFill/>
        </p:spPr>
        <p:txBody>
          <a:bodyPr wrap="square" lIns="0" rIns="0" tIns="0" bIns="0" anchor="t">
            <a:noAutofit/>
          </a:bodyPr>
          <a:lstStyle/>
          <a:p>
            <a:pPr algn="l">
              <a:lnSpc>
                <a:spcPct val="122000"/>
              </a:lnSpc>
            </a:pPr>
            <a:r>
              <a:rPr sz="409" b="0" i="0">
                <a:solidFill>
                  <a:srgbClr val="9DB0C6"/>
                </a:solidFill>
                <a:latin typeface="Consolas"/>
              </a:rPr>
              <a:t>ns/prod</a:t>
            </a:r>
          </a:p>
        </p:txBody>
      </p:sp>
      <p:sp>
        <p:nvSpPr>
          <p:cNvPr id="71" name="Oval 70"/>
          <p:cNvSpPr/>
          <p:nvPr/>
        </p:nvSpPr>
        <p:spPr>
          <a:xfrm>
            <a:off x="1115567" y="3732580"/>
            <a:ext cx="41148" cy="4114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197863" y="3703320"/>
            <a:ext cx="502920" cy="91440"/>
          </a:xfrm>
          <a:prstGeom prst="rect">
            <a:avLst/>
          </a:prstGeom>
          <a:noFill/>
        </p:spPr>
        <p:txBody>
          <a:bodyPr wrap="square" lIns="0" rIns="0" tIns="0" bIns="0" anchor="t">
            <a:noAutofit/>
          </a:bodyPr>
          <a:lstStyle/>
          <a:p>
            <a:pPr algn="l">
              <a:lnSpc>
                <a:spcPct val="122000"/>
              </a:lnSpc>
            </a:pPr>
            <a:r>
              <a:rPr sz="409" b="0" i="0">
                <a:solidFill>
                  <a:srgbClr val="9DB0C6"/>
                </a:solidFill>
                <a:latin typeface="Consolas"/>
              </a:rPr>
              <a:t>checkout-api</a:t>
            </a:r>
          </a:p>
        </p:txBody>
      </p:sp>
      <p:sp>
        <p:nvSpPr>
          <p:cNvPr id="73" name="Oval 72"/>
          <p:cNvSpPr/>
          <p:nvPr/>
        </p:nvSpPr>
        <p:spPr>
          <a:xfrm>
            <a:off x="1197864" y="3878884"/>
            <a:ext cx="41148" cy="4114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280160" y="3849624"/>
            <a:ext cx="420623" cy="91440"/>
          </a:xfrm>
          <a:prstGeom prst="rect">
            <a:avLst/>
          </a:prstGeom>
          <a:noFill/>
        </p:spPr>
        <p:txBody>
          <a:bodyPr wrap="square" lIns="0" rIns="0" tIns="0" bIns="0" anchor="t">
            <a:noAutofit/>
          </a:bodyPr>
          <a:lstStyle/>
          <a:p>
            <a:pPr algn="l">
              <a:lnSpc>
                <a:spcPct val="122000"/>
              </a:lnSpc>
            </a:pPr>
            <a:r>
              <a:rPr sz="409" b="0" i="0">
                <a:solidFill>
                  <a:srgbClr val="9DB0C6"/>
                </a:solidFill>
                <a:latin typeface="Consolas"/>
              </a:rPr>
              <a:t>POST /session</a:t>
            </a:r>
          </a:p>
        </p:txBody>
      </p:sp>
      <p:cxnSp>
        <p:nvCxnSpPr>
          <p:cNvPr id="75" name="Connector 74"/>
          <p:cNvCxnSpPr/>
          <p:nvPr/>
        </p:nvCxnSpPr>
        <p:spPr>
          <a:xfrm>
            <a:off x="676656" y="5166359"/>
            <a:ext cx="1024128"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94943" y="5221224"/>
            <a:ext cx="1024128" cy="91440"/>
          </a:xfrm>
          <a:prstGeom prst="rect">
            <a:avLst/>
          </a:prstGeom>
          <a:noFill/>
        </p:spPr>
        <p:txBody>
          <a:bodyPr wrap="square" lIns="0" rIns="0" tIns="0" bIns="0" anchor="t">
            <a:noAutofit/>
          </a:bodyPr>
          <a:lstStyle/>
          <a:p>
            <a:pPr algn="l">
              <a:lnSpc>
                <a:spcPct val="122000"/>
              </a:lnSpc>
            </a:pPr>
            <a:r>
              <a:rPr sz="380" b="0" i="0" spc="30">
                <a:solidFill>
                  <a:srgbClr val="64748B"/>
                </a:solidFill>
                <a:latin typeface="Consolas"/>
              </a:rPr>
              <a:t>STATUS FILTER</a:t>
            </a:r>
          </a:p>
        </p:txBody>
      </p:sp>
      <p:sp>
        <p:nvSpPr>
          <p:cNvPr id="77" name="Oval 76"/>
          <p:cNvSpPr/>
          <p:nvPr/>
        </p:nvSpPr>
        <p:spPr>
          <a:xfrm>
            <a:off x="704087" y="5360212"/>
            <a:ext cx="36576" cy="36576"/>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86383" y="5340096"/>
            <a:ext cx="822960" cy="82296"/>
          </a:xfrm>
          <a:prstGeom prst="rect">
            <a:avLst/>
          </a:prstGeom>
          <a:noFill/>
        </p:spPr>
        <p:txBody>
          <a:bodyPr wrap="square" lIns="0" rIns="0" tIns="0" bIns="0" anchor="t">
            <a:noAutofit/>
          </a:bodyPr>
          <a:lstStyle/>
          <a:p>
            <a:pPr algn="l">
              <a:lnSpc>
                <a:spcPct val="122000"/>
              </a:lnSpc>
            </a:pPr>
            <a:r>
              <a:rPr sz="380" b="0" i="0">
                <a:solidFill>
                  <a:srgbClr val="64748B"/>
                </a:solidFill>
                <a:latin typeface="Consolas"/>
              </a:rPr>
              <a:t>critical</a:t>
            </a:r>
          </a:p>
        </p:txBody>
      </p:sp>
      <p:sp>
        <p:nvSpPr>
          <p:cNvPr id="79" name="Oval 78"/>
          <p:cNvSpPr/>
          <p:nvPr/>
        </p:nvSpPr>
        <p:spPr>
          <a:xfrm>
            <a:off x="704087" y="5456224"/>
            <a:ext cx="36576" cy="36576"/>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86383" y="5436108"/>
            <a:ext cx="822960" cy="82296"/>
          </a:xfrm>
          <a:prstGeom prst="rect">
            <a:avLst/>
          </a:prstGeom>
          <a:noFill/>
        </p:spPr>
        <p:txBody>
          <a:bodyPr wrap="square" lIns="0" rIns="0" tIns="0" bIns="0" anchor="t">
            <a:noAutofit/>
          </a:bodyPr>
          <a:lstStyle/>
          <a:p>
            <a:pPr algn="l">
              <a:lnSpc>
                <a:spcPct val="122000"/>
              </a:lnSpc>
            </a:pPr>
            <a:r>
              <a:rPr sz="380" b="0" i="0">
                <a:solidFill>
                  <a:srgbClr val="64748B"/>
                </a:solidFill>
                <a:latin typeface="Consolas"/>
              </a:rPr>
              <a:t>degraded</a:t>
            </a:r>
          </a:p>
        </p:txBody>
      </p:sp>
      <p:sp>
        <p:nvSpPr>
          <p:cNvPr id="81" name="Oval 80"/>
          <p:cNvSpPr/>
          <p:nvPr/>
        </p:nvSpPr>
        <p:spPr>
          <a:xfrm>
            <a:off x="704087" y="5552236"/>
            <a:ext cx="36576" cy="36576"/>
          </a:xfrm>
          <a:prstGeom prst="ellipse">
            <a:avLst/>
          </a:prstGeom>
          <a:solidFill>
            <a:srgbClr val="9DB0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86383" y="5532120"/>
            <a:ext cx="822960" cy="82296"/>
          </a:xfrm>
          <a:prstGeom prst="rect">
            <a:avLst/>
          </a:prstGeom>
          <a:noFill/>
        </p:spPr>
        <p:txBody>
          <a:bodyPr wrap="square" lIns="0" rIns="0" tIns="0" bIns="0" anchor="t">
            <a:noAutofit/>
          </a:bodyPr>
          <a:lstStyle/>
          <a:p>
            <a:pPr algn="l">
              <a:lnSpc>
                <a:spcPct val="122000"/>
              </a:lnSpc>
            </a:pPr>
            <a:r>
              <a:rPr sz="380" b="0" i="0">
                <a:solidFill>
                  <a:srgbClr val="64748B"/>
                </a:solidFill>
                <a:latin typeface="Consolas"/>
              </a:rPr>
              <a:t>offline</a:t>
            </a:r>
          </a:p>
        </p:txBody>
      </p:sp>
      <p:sp>
        <p:nvSpPr>
          <p:cNvPr id="83" name="Oval 82"/>
          <p:cNvSpPr/>
          <p:nvPr/>
        </p:nvSpPr>
        <p:spPr>
          <a:xfrm>
            <a:off x="704087" y="5648248"/>
            <a:ext cx="36576" cy="36576"/>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86383" y="5628132"/>
            <a:ext cx="822960" cy="82296"/>
          </a:xfrm>
          <a:prstGeom prst="rect">
            <a:avLst/>
          </a:prstGeom>
          <a:noFill/>
        </p:spPr>
        <p:txBody>
          <a:bodyPr wrap="square" lIns="0" rIns="0" tIns="0" bIns="0" anchor="t">
            <a:noAutofit/>
          </a:bodyPr>
          <a:lstStyle/>
          <a:p>
            <a:pPr algn="l">
              <a:lnSpc>
                <a:spcPct val="122000"/>
              </a:lnSpc>
            </a:pPr>
            <a:r>
              <a:rPr sz="380" b="0" i="0">
                <a:solidFill>
                  <a:srgbClr val="64748B"/>
                </a:solidFill>
                <a:latin typeface="Consolas"/>
              </a:rPr>
              <a:t>maintenance</a:t>
            </a:r>
          </a:p>
        </p:txBody>
      </p:sp>
      <p:sp>
        <p:nvSpPr>
          <p:cNvPr id="85" name="Oval 84"/>
          <p:cNvSpPr/>
          <p:nvPr/>
        </p:nvSpPr>
        <p:spPr>
          <a:xfrm>
            <a:off x="704087" y="5744260"/>
            <a:ext cx="36576" cy="36576"/>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86383" y="5724144"/>
            <a:ext cx="822960" cy="82296"/>
          </a:xfrm>
          <a:prstGeom prst="rect">
            <a:avLst/>
          </a:prstGeom>
          <a:noFill/>
        </p:spPr>
        <p:txBody>
          <a:bodyPr wrap="square" lIns="0" rIns="0" tIns="0" bIns="0" anchor="t">
            <a:noAutofit/>
          </a:bodyPr>
          <a:lstStyle/>
          <a:p>
            <a:pPr algn="l">
              <a:lnSpc>
                <a:spcPct val="122000"/>
              </a:lnSpc>
            </a:pPr>
            <a:r>
              <a:rPr sz="380" b="0" i="0">
                <a:solidFill>
                  <a:srgbClr val="64748B"/>
                </a:solidFill>
                <a:latin typeface="Consolas"/>
              </a:rPr>
              <a:t>healthy</a:t>
            </a:r>
          </a:p>
        </p:txBody>
      </p:sp>
      <p:sp>
        <p:nvSpPr>
          <p:cNvPr id="87" name="Rounded Rectangle 86"/>
          <p:cNvSpPr/>
          <p:nvPr/>
        </p:nvSpPr>
        <p:spPr>
          <a:xfrm>
            <a:off x="1828800" y="2587752"/>
            <a:ext cx="3913631" cy="3218688"/>
          </a:xfrm>
          <a:prstGeom prst="roundRect">
            <a:avLst>
              <a:gd name="adj" fmla="val 1136"/>
            </a:avLst>
          </a:prstGeom>
          <a:solidFill>
            <a:srgbClr val="05080F"/>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88" name="Connector 87"/>
          <p:cNvCxnSpPr/>
          <p:nvPr/>
        </p:nvCxnSpPr>
        <p:spPr>
          <a:xfrm>
            <a:off x="193852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212140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230428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248716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267004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285292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303580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321868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340156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358444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376732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395020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413308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431596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449884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468172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486460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504748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523036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541324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5596128" y="2606040"/>
            <a:ext cx="0" cy="3182112"/>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1847088" y="269748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1847088" y="288036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1847088" y="306324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847088" y="324612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1847088" y="342900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1847088" y="361188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847088" y="379476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847088" y="397764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847088" y="416052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847088" y="434340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847088" y="452628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847088" y="470916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847088" y="489204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847088" y="507492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847088" y="525780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847088" y="544068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847088" y="5623560"/>
            <a:ext cx="3877056" cy="0"/>
          </a:xfrm>
          <a:prstGeom prst="line">
            <a:avLst/>
          </a:prstGeom>
          <a:ln w="5080">
            <a:solidFill>
              <a:srgbClr val="16212F">
                <a:alpha val="50000"/>
              </a:srgbClr>
            </a:solidFill>
          </a:ln>
        </p:spPr>
        <p:style>
          <a:lnRef idx="2">
            <a:schemeClr val="accent1"/>
          </a:lnRef>
          <a:fillRef idx="0">
            <a:schemeClr val="accent1"/>
          </a:fillRef>
          <a:effectRef idx="1">
            <a:schemeClr val="accent1"/>
          </a:effectRef>
          <a:fontRef idx="minor">
            <a:schemeClr val="tx1"/>
          </a:fontRef>
        </p:style>
      </p:cxnSp>
      <p:sp>
        <p:nvSpPr>
          <p:cNvPr id="126" name="Oval 125"/>
          <p:cNvSpPr/>
          <p:nvPr/>
        </p:nvSpPr>
        <p:spPr>
          <a:xfrm>
            <a:off x="5486399" y="2642616"/>
            <a:ext cx="182880" cy="182880"/>
          </a:xfrm>
          <a:prstGeom prst="ellipse">
            <a:avLst/>
          </a:prstGeom>
          <a:solidFill>
            <a:srgbClr val="0B1A2A"/>
          </a:solidFill>
          <a:ln w="889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5486399" y="2674620"/>
            <a:ext cx="182880" cy="118872"/>
          </a:xfrm>
          <a:prstGeom prst="rect">
            <a:avLst/>
          </a:prstGeom>
          <a:noFill/>
        </p:spPr>
        <p:txBody>
          <a:bodyPr wrap="square" lIns="0" rIns="0" tIns="0" bIns="0" anchor="t">
            <a:noAutofit/>
          </a:bodyPr>
          <a:lstStyle/>
          <a:p>
            <a:pPr algn="ctr">
              <a:lnSpc>
                <a:spcPct val="122000"/>
              </a:lnSpc>
            </a:pPr>
            <a:r>
              <a:rPr sz="560" b="1" i="0">
                <a:solidFill>
                  <a:srgbClr val="7DD3FC"/>
                </a:solidFill>
                <a:latin typeface="Consolas"/>
              </a:rPr>
              <a:t>3</a:t>
            </a:r>
          </a:p>
        </p:txBody>
      </p:sp>
      <p:sp>
        <p:nvSpPr>
          <p:cNvPr id="128" name="Rounded Rectangle 127"/>
          <p:cNvSpPr/>
          <p:nvPr/>
        </p:nvSpPr>
        <p:spPr>
          <a:xfrm>
            <a:off x="1938528" y="2697480"/>
            <a:ext cx="1755648" cy="1572768"/>
          </a:xfrm>
          <a:prstGeom prst="roundRect">
            <a:avLst>
              <a:gd name="adj" fmla="val 2906"/>
            </a:avLst>
          </a:prstGeom>
          <a:solidFill>
            <a:srgbClr val="0A1420"/>
          </a:solidFill>
          <a:ln w="9525">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9" name="TextBox 128"/>
          <p:cNvSpPr txBox="1"/>
          <p:nvPr/>
        </p:nvSpPr>
        <p:spPr>
          <a:xfrm>
            <a:off x="1993392" y="2743200"/>
            <a:ext cx="1463040" cy="91440"/>
          </a:xfrm>
          <a:prstGeom prst="rect">
            <a:avLst/>
          </a:prstGeom>
          <a:noFill/>
        </p:spPr>
        <p:txBody>
          <a:bodyPr wrap="square" lIns="0" rIns="0" tIns="0" bIns="0" anchor="t">
            <a:noAutofit/>
          </a:bodyPr>
          <a:lstStyle/>
          <a:p>
            <a:pPr algn="l">
              <a:lnSpc>
                <a:spcPct val="122000"/>
              </a:lnSpc>
            </a:pPr>
            <a:r>
              <a:rPr sz="370" b="0" i="0" spc="10">
                <a:solidFill>
                  <a:srgbClr val="7DD3FC"/>
                </a:solidFill>
                <a:latin typeface="Consolas"/>
              </a:rPr>
              <a:t>ORGANIZATION · HELIOS</a:t>
            </a:r>
          </a:p>
        </p:txBody>
      </p:sp>
      <p:sp>
        <p:nvSpPr>
          <p:cNvPr id="130" name="Rounded Rectangle 129"/>
          <p:cNvSpPr/>
          <p:nvPr/>
        </p:nvSpPr>
        <p:spPr>
          <a:xfrm>
            <a:off x="2011680" y="2898648"/>
            <a:ext cx="1609344" cy="1261872"/>
          </a:xfrm>
          <a:prstGeom prst="roundRect">
            <a:avLst>
              <a:gd name="adj" fmla="val 2898"/>
            </a:avLst>
          </a:prstGeom>
          <a:solidFill>
            <a:srgbClr val="0C1726"/>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1" name="TextBox 130"/>
          <p:cNvSpPr txBox="1"/>
          <p:nvPr/>
        </p:nvSpPr>
        <p:spPr>
          <a:xfrm>
            <a:off x="2066543" y="2944368"/>
            <a:ext cx="1280160" cy="91440"/>
          </a:xfrm>
          <a:prstGeom prst="rect">
            <a:avLst/>
          </a:prstGeom>
          <a:noFill/>
        </p:spPr>
        <p:txBody>
          <a:bodyPr wrap="square" lIns="0" rIns="0" tIns="0" bIns="0" anchor="t">
            <a:noAutofit/>
          </a:bodyPr>
          <a:lstStyle/>
          <a:p>
            <a:pPr algn="l">
              <a:lnSpc>
                <a:spcPct val="122000"/>
              </a:lnSpc>
            </a:pPr>
            <a:r>
              <a:rPr sz="360" b="0" i="0" spc="10">
                <a:solidFill>
                  <a:srgbClr val="A78BFA"/>
                </a:solidFill>
                <a:latin typeface="Consolas"/>
              </a:rPr>
              <a:t>DATACENTER · EU-WEST-1</a:t>
            </a:r>
          </a:p>
        </p:txBody>
      </p:sp>
      <p:sp>
        <p:nvSpPr>
          <p:cNvPr id="132" name="Rounded Rectangle 131"/>
          <p:cNvSpPr/>
          <p:nvPr/>
        </p:nvSpPr>
        <p:spPr>
          <a:xfrm>
            <a:off x="2084832" y="3099816"/>
            <a:ext cx="1463040" cy="896112"/>
          </a:xfrm>
          <a:prstGeom prst="roundRect">
            <a:avLst>
              <a:gd name="adj" fmla="val 4081"/>
            </a:avLst>
          </a:prstGeom>
          <a:solidFill>
            <a:srgbClr val="101E2E"/>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3" name="TextBox 132"/>
          <p:cNvSpPr txBox="1"/>
          <p:nvPr/>
        </p:nvSpPr>
        <p:spPr>
          <a:xfrm>
            <a:off x="2139696" y="3145536"/>
            <a:ext cx="1097280" cy="91440"/>
          </a:xfrm>
          <a:prstGeom prst="rect">
            <a:avLst/>
          </a:prstGeom>
          <a:noFill/>
        </p:spPr>
        <p:txBody>
          <a:bodyPr wrap="square" lIns="0" rIns="0" tIns="0" bIns="0" anchor="t">
            <a:noAutofit/>
          </a:bodyPr>
          <a:lstStyle/>
          <a:p>
            <a:pPr algn="l">
              <a:lnSpc>
                <a:spcPct val="122000"/>
              </a:lnSpc>
            </a:pPr>
            <a:r>
              <a:rPr sz="360" b="0" i="0" spc="10">
                <a:solidFill>
                  <a:srgbClr val="34D399"/>
                </a:solidFill>
                <a:latin typeface="Consolas"/>
              </a:rPr>
              <a:t>POD · CHECKOUT-API</a:t>
            </a:r>
          </a:p>
        </p:txBody>
      </p:sp>
      <p:sp>
        <p:nvSpPr>
          <p:cNvPr id="134" name="Oval 133"/>
          <p:cNvSpPr/>
          <p:nvPr/>
        </p:nvSpPr>
        <p:spPr>
          <a:xfrm>
            <a:off x="3419856" y="3136392"/>
            <a:ext cx="59436" cy="59436"/>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139696" y="3264408"/>
            <a:ext cx="1097280" cy="118872"/>
          </a:xfrm>
          <a:prstGeom prst="rect">
            <a:avLst/>
          </a:prstGeom>
          <a:noFill/>
        </p:spPr>
        <p:txBody>
          <a:bodyPr wrap="square" lIns="0" rIns="0" tIns="0" bIns="0" anchor="t">
            <a:noAutofit/>
          </a:bodyPr>
          <a:lstStyle/>
          <a:p>
            <a:pPr algn="l">
              <a:lnSpc>
                <a:spcPct val="122000"/>
              </a:lnSpc>
            </a:pPr>
            <a:r>
              <a:rPr sz="600" b="1" i="0">
                <a:solidFill>
                  <a:srgbClr val="F4F8FC"/>
                </a:solidFill>
                <a:latin typeface="Segoe UI"/>
              </a:rPr>
              <a:t>checkout-api</a:t>
            </a:r>
          </a:p>
        </p:txBody>
      </p:sp>
      <p:sp>
        <p:nvSpPr>
          <p:cNvPr id="136" name="TextBox 135"/>
          <p:cNvSpPr txBox="1"/>
          <p:nvPr/>
        </p:nvSpPr>
        <p:spPr>
          <a:xfrm>
            <a:off x="2139696" y="3392424"/>
            <a:ext cx="1097280" cy="82296"/>
          </a:xfrm>
          <a:prstGeom prst="rect">
            <a:avLst/>
          </a:prstGeom>
          <a:noFill/>
        </p:spPr>
        <p:txBody>
          <a:bodyPr wrap="square" lIns="0" rIns="0" tIns="0" bIns="0" anchor="t">
            <a:noAutofit/>
          </a:bodyPr>
          <a:lstStyle/>
          <a:p>
            <a:pPr algn="l">
              <a:lnSpc>
                <a:spcPct val="122000"/>
              </a:lnSpc>
            </a:pPr>
            <a:r>
              <a:rPr sz="360" b="0" i="0">
                <a:solidFill>
                  <a:srgbClr val="64748B"/>
                </a:solidFill>
                <a:latin typeface="Consolas"/>
              </a:rPr>
              <a:t>node20 · v2.4.1</a:t>
            </a:r>
          </a:p>
        </p:txBody>
      </p:sp>
      <p:sp>
        <p:nvSpPr>
          <p:cNvPr id="137" name="TextBox 136"/>
          <p:cNvSpPr txBox="1"/>
          <p:nvPr/>
        </p:nvSpPr>
        <p:spPr>
          <a:xfrm>
            <a:off x="2139696" y="3502152"/>
            <a:ext cx="182880" cy="73152"/>
          </a:xfrm>
          <a:prstGeom prst="rect">
            <a:avLst/>
          </a:prstGeom>
          <a:noFill/>
        </p:spPr>
        <p:txBody>
          <a:bodyPr wrap="square" lIns="0" rIns="0" tIns="0" bIns="0" anchor="t">
            <a:noAutofit/>
          </a:bodyPr>
          <a:lstStyle/>
          <a:p>
            <a:pPr algn="l">
              <a:lnSpc>
                <a:spcPct val="122000"/>
              </a:lnSpc>
            </a:pPr>
            <a:r>
              <a:rPr sz="330" b="0" i="0">
                <a:solidFill>
                  <a:srgbClr val="64748B"/>
                </a:solidFill>
                <a:latin typeface="Consolas"/>
              </a:rPr>
              <a:t>cpu</a:t>
            </a:r>
          </a:p>
        </p:txBody>
      </p:sp>
      <p:sp>
        <p:nvSpPr>
          <p:cNvPr id="138" name="Rounded Rectangle 137"/>
          <p:cNvSpPr/>
          <p:nvPr/>
        </p:nvSpPr>
        <p:spPr>
          <a:xfrm>
            <a:off x="2322576" y="3529584"/>
            <a:ext cx="896112" cy="32004"/>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9" name="Rounded Rectangle 138"/>
          <p:cNvSpPr/>
          <p:nvPr/>
        </p:nvSpPr>
        <p:spPr>
          <a:xfrm>
            <a:off x="2322576" y="3529584"/>
            <a:ext cx="636239" cy="32004"/>
          </a:xfrm>
          <a:prstGeom prst="roundRect">
            <a:avLst>
              <a:gd name="adj" fmla="val 50000"/>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0" name="TextBox 139"/>
          <p:cNvSpPr txBox="1"/>
          <p:nvPr/>
        </p:nvSpPr>
        <p:spPr>
          <a:xfrm>
            <a:off x="3255264" y="3502152"/>
            <a:ext cx="219456" cy="73152"/>
          </a:xfrm>
          <a:prstGeom prst="rect">
            <a:avLst/>
          </a:prstGeom>
          <a:noFill/>
        </p:spPr>
        <p:txBody>
          <a:bodyPr wrap="square" lIns="0" rIns="0" tIns="0" bIns="0" anchor="t">
            <a:noAutofit/>
          </a:bodyPr>
          <a:lstStyle/>
          <a:p>
            <a:pPr algn="l">
              <a:lnSpc>
                <a:spcPct val="122000"/>
              </a:lnSpc>
            </a:pPr>
            <a:r>
              <a:rPr sz="330" b="0" i="0">
                <a:solidFill>
                  <a:srgbClr val="9DB0C6"/>
                </a:solidFill>
                <a:latin typeface="Consolas"/>
              </a:rPr>
              <a:t>71</a:t>
            </a:r>
          </a:p>
        </p:txBody>
      </p:sp>
      <p:sp>
        <p:nvSpPr>
          <p:cNvPr id="141" name="TextBox 140"/>
          <p:cNvSpPr txBox="1"/>
          <p:nvPr/>
        </p:nvSpPr>
        <p:spPr>
          <a:xfrm>
            <a:off x="2139696" y="3621024"/>
            <a:ext cx="182880" cy="73152"/>
          </a:xfrm>
          <a:prstGeom prst="rect">
            <a:avLst/>
          </a:prstGeom>
          <a:noFill/>
        </p:spPr>
        <p:txBody>
          <a:bodyPr wrap="square" lIns="0" rIns="0" tIns="0" bIns="0" anchor="t">
            <a:noAutofit/>
          </a:bodyPr>
          <a:lstStyle/>
          <a:p>
            <a:pPr algn="l">
              <a:lnSpc>
                <a:spcPct val="122000"/>
              </a:lnSpc>
            </a:pPr>
            <a:r>
              <a:rPr sz="330" b="0" i="0">
                <a:solidFill>
                  <a:srgbClr val="64748B"/>
                </a:solidFill>
                <a:latin typeface="Consolas"/>
              </a:rPr>
              <a:t>mem</a:t>
            </a:r>
          </a:p>
        </p:txBody>
      </p:sp>
      <p:sp>
        <p:nvSpPr>
          <p:cNvPr id="142" name="Rounded Rectangle 141"/>
          <p:cNvSpPr/>
          <p:nvPr/>
        </p:nvSpPr>
        <p:spPr>
          <a:xfrm>
            <a:off x="2322576" y="3648456"/>
            <a:ext cx="896112" cy="32004"/>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3" name="Rounded Rectangle 142"/>
          <p:cNvSpPr/>
          <p:nvPr/>
        </p:nvSpPr>
        <p:spPr>
          <a:xfrm>
            <a:off x="2322576" y="3648456"/>
            <a:ext cx="483900" cy="32004"/>
          </a:xfrm>
          <a:prstGeom prst="roundRect">
            <a:avLst>
              <a:gd name="adj" fmla="val 50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4" name="TextBox 143"/>
          <p:cNvSpPr txBox="1"/>
          <p:nvPr/>
        </p:nvSpPr>
        <p:spPr>
          <a:xfrm>
            <a:off x="3255264" y="3621024"/>
            <a:ext cx="219456" cy="73152"/>
          </a:xfrm>
          <a:prstGeom prst="rect">
            <a:avLst/>
          </a:prstGeom>
          <a:noFill/>
        </p:spPr>
        <p:txBody>
          <a:bodyPr wrap="square" lIns="0" rIns="0" tIns="0" bIns="0" anchor="t">
            <a:noAutofit/>
          </a:bodyPr>
          <a:lstStyle/>
          <a:p>
            <a:pPr algn="l">
              <a:lnSpc>
                <a:spcPct val="122000"/>
              </a:lnSpc>
            </a:pPr>
            <a:r>
              <a:rPr sz="330" b="0" i="0">
                <a:solidFill>
                  <a:srgbClr val="9DB0C6"/>
                </a:solidFill>
                <a:latin typeface="Consolas"/>
              </a:rPr>
              <a:t>54</a:t>
            </a:r>
          </a:p>
        </p:txBody>
      </p:sp>
      <p:sp>
        <p:nvSpPr>
          <p:cNvPr id="145" name="TextBox 144"/>
          <p:cNvSpPr txBox="1"/>
          <p:nvPr/>
        </p:nvSpPr>
        <p:spPr>
          <a:xfrm>
            <a:off x="2139696" y="3739896"/>
            <a:ext cx="182880" cy="73152"/>
          </a:xfrm>
          <a:prstGeom prst="rect">
            <a:avLst/>
          </a:prstGeom>
          <a:noFill/>
        </p:spPr>
        <p:txBody>
          <a:bodyPr wrap="square" lIns="0" rIns="0" tIns="0" bIns="0" anchor="t">
            <a:noAutofit/>
          </a:bodyPr>
          <a:lstStyle/>
          <a:p>
            <a:pPr algn="l">
              <a:lnSpc>
                <a:spcPct val="122000"/>
              </a:lnSpc>
            </a:pPr>
            <a:r>
              <a:rPr sz="330" b="0" i="0">
                <a:solidFill>
                  <a:srgbClr val="64748B"/>
                </a:solidFill>
                <a:latin typeface="Consolas"/>
              </a:rPr>
              <a:t>dsk</a:t>
            </a:r>
          </a:p>
        </p:txBody>
      </p:sp>
      <p:sp>
        <p:nvSpPr>
          <p:cNvPr id="146" name="Rounded Rectangle 145"/>
          <p:cNvSpPr/>
          <p:nvPr/>
        </p:nvSpPr>
        <p:spPr>
          <a:xfrm>
            <a:off x="2322576" y="3767328"/>
            <a:ext cx="896112" cy="32004"/>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7" name="Rounded Rectangle 146"/>
          <p:cNvSpPr/>
          <p:nvPr/>
        </p:nvSpPr>
        <p:spPr>
          <a:xfrm>
            <a:off x="2322576" y="3767328"/>
            <a:ext cx="340522" cy="32004"/>
          </a:xfrm>
          <a:prstGeom prst="roundRect">
            <a:avLst>
              <a:gd name="adj" fmla="val 50000"/>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8" name="TextBox 147"/>
          <p:cNvSpPr txBox="1"/>
          <p:nvPr/>
        </p:nvSpPr>
        <p:spPr>
          <a:xfrm>
            <a:off x="3255264" y="3739896"/>
            <a:ext cx="219456" cy="73152"/>
          </a:xfrm>
          <a:prstGeom prst="rect">
            <a:avLst/>
          </a:prstGeom>
          <a:noFill/>
        </p:spPr>
        <p:txBody>
          <a:bodyPr wrap="square" lIns="0" rIns="0" tIns="0" bIns="0" anchor="t">
            <a:noAutofit/>
          </a:bodyPr>
          <a:lstStyle/>
          <a:p>
            <a:pPr algn="l">
              <a:lnSpc>
                <a:spcPct val="122000"/>
              </a:lnSpc>
            </a:pPr>
            <a:r>
              <a:rPr sz="330" b="0" i="0">
                <a:solidFill>
                  <a:srgbClr val="9DB0C6"/>
                </a:solidFill>
                <a:latin typeface="Consolas"/>
              </a:rPr>
              <a:t>38</a:t>
            </a:r>
          </a:p>
        </p:txBody>
      </p:sp>
      <p:sp>
        <p:nvSpPr>
          <p:cNvPr id="149" name="Rounded Rectangle 148"/>
          <p:cNvSpPr/>
          <p:nvPr/>
        </p:nvSpPr>
        <p:spPr>
          <a:xfrm>
            <a:off x="3803904" y="2697480"/>
            <a:ext cx="1444752" cy="804672"/>
          </a:xfrm>
          <a:prstGeom prst="roundRect">
            <a:avLst>
              <a:gd name="adj" fmla="val 5681"/>
            </a:avLst>
          </a:prstGeom>
          <a:solidFill>
            <a:srgbClr val="0A1420"/>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0" name="TextBox 149"/>
          <p:cNvSpPr txBox="1"/>
          <p:nvPr/>
        </p:nvSpPr>
        <p:spPr>
          <a:xfrm>
            <a:off x="3858768" y="2743200"/>
            <a:ext cx="1188720" cy="91440"/>
          </a:xfrm>
          <a:prstGeom prst="rect">
            <a:avLst/>
          </a:prstGeom>
          <a:noFill/>
        </p:spPr>
        <p:txBody>
          <a:bodyPr wrap="square" lIns="0" rIns="0" tIns="0" bIns="0" anchor="t">
            <a:noAutofit/>
          </a:bodyPr>
          <a:lstStyle/>
          <a:p>
            <a:pPr algn="l">
              <a:lnSpc>
                <a:spcPct val="122000"/>
              </a:lnSpc>
            </a:pPr>
            <a:r>
              <a:rPr sz="360" b="0" i="0" spc="10">
                <a:solidFill>
                  <a:srgbClr val="FBBF24"/>
                </a:solidFill>
                <a:latin typeface="Consolas"/>
              </a:rPr>
              <a:t>SERVICE GROUP · COMMERCE</a:t>
            </a:r>
          </a:p>
        </p:txBody>
      </p:sp>
      <p:sp>
        <p:nvSpPr>
          <p:cNvPr id="151" name="Rounded Rectangle 150"/>
          <p:cNvSpPr/>
          <p:nvPr/>
        </p:nvSpPr>
        <p:spPr>
          <a:xfrm>
            <a:off x="3877056" y="2880360"/>
            <a:ext cx="1298448" cy="210312"/>
          </a:xfrm>
          <a:prstGeom prst="roundRect">
            <a:avLst>
              <a:gd name="adj" fmla="val 13043"/>
            </a:avLst>
          </a:prstGeom>
          <a:solidFill>
            <a:srgbClr val="14202F"/>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2" name="TextBox 151"/>
          <p:cNvSpPr txBox="1"/>
          <p:nvPr/>
        </p:nvSpPr>
        <p:spPr>
          <a:xfrm>
            <a:off x="3922776" y="2912364"/>
            <a:ext cx="731520" cy="82296"/>
          </a:xfrm>
          <a:prstGeom prst="rect">
            <a:avLst/>
          </a:prstGeom>
          <a:noFill/>
        </p:spPr>
        <p:txBody>
          <a:bodyPr wrap="square" lIns="0" rIns="0" tIns="0" bIns="0" anchor="t">
            <a:noAutofit/>
          </a:bodyPr>
          <a:lstStyle/>
          <a:p>
            <a:pPr algn="l">
              <a:lnSpc>
                <a:spcPct val="122000"/>
              </a:lnSpc>
            </a:pPr>
            <a:r>
              <a:rPr sz="390" b="0" i="0">
                <a:solidFill>
                  <a:srgbClr val="E2E8F0"/>
                </a:solidFill>
                <a:latin typeface="Consolas"/>
              </a:rPr>
              <a:t>checkout-api</a:t>
            </a:r>
          </a:p>
        </p:txBody>
      </p:sp>
      <p:sp>
        <p:nvSpPr>
          <p:cNvPr id="153" name="Rounded Rectangle 152"/>
          <p:cNvSpPr/>
          <p:nvPr/>
        </p:nvSpPr>
        <p:spPr>
          <a:xfrm>
            <a:off x="3922776" y="3012948"/>
            <a:ext cx="969264" cy="25603"/>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4" name="Rounded Rectangle 153"/>
          <p:cNvSpPr/>
          <p:nvPr/>
        </p:nvSpPr>
        <p:spPr>
          <a:xfrm>
            <a:off x="3922776" y="3012948"/>
            <a:ext cx="600943" cy="25603"/>
          </a:xfrm>
          <a:prstGeom prst="roundRect">
            <a:avLst>
              <a:gd name="adj" fmla="val 50000"/>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5" name="Rounded Rectangle 154"/>
          <p:cNvSpPr/>
          <p:nvPr/>
        </p:nvSpPr>
        <p:spPr>
          <a:xfrm>
            <a:off x="3877056" y="3136391"/>
            <a:ext cx="1298448" cy="210312"/>
          </a:xfrm>
          <a:prstGeom prst="roundRect">
            <a:avLst>
              <a:gd name="adj" fmla="val 13043"/>
            </a:avLst>
          </a:prstGeom>
          <a:solidFill>
            <a:srgbClr val="14202F"/>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6" name="TextBox 155"/>
          <p:cNvSpPr txBox="1"/>
          <p:nvPr/>
        </p:nvSpPr>
        <p:spPr>
          <a:xfrm>
            <a:off x="3922776" y="3168396"/>
            <a:ext cx="731520" cy="82296"/>
          </a:xfrm>
          <a:prstGeom prst="rect">
            <a:avLst/>
          </a:prstGeom>
          <a:noFill/>
        </p:spPr>
        <p:txBody>
          <a:bodyPr wrap="square" lIns="0" rIns="0" tIns="0" bIns="0" anchor="t">
            <a:noAutofit/>
          </a:bodyPr>
          <a:lstStyle/>
          <a:p>
            <a:pPr algn="l">
              <a:lnSpc>
                <a:spcPct val="122000"/>
              </a:lnSpc>
            </a:pPr>
            <a:r>
              <a:rPr sz="390" b="0" i="0">
                <a:solidFill>
                  <a:srgbClr val="E2E8F0"/>
                </a:solidFill>
                <a:latin typeface="Consolas"/>
              </a:rPr>
              <a:t>cart-svc</a:t>
            </a:r>
          </a:p>
        </p:txBody>
      </p:sp>
      <p:sp>
        <p:nvSpPr>
          <p:cNvPr id="157" name="Rounded Rectangle 156"/>
          <p:cNvSpPr/>
          <p:nvPr/>
        </p:nvSpPr>
        <p:spPr>
          <a:xfrm>
            <a:off x="3922776" y="3268980"/>
            <a:ext cx="969264" cy="25603"/>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8" name="Rounded Rectangle 157"/>
          <p:cNvSpPr/>
          <p:nvPr/>
        </p:nvSpPr>
        <p:spPr>
          <a:xfrm>
            <a:off x="3922776" y="3268980"/>
            <a:ext cx="397398" cy="25603"/>
          </a:xfrm>
          <a:prstGeom prst="roundRect">
            <a:avLst>
              <a:gd name="adj" fmla="val 50000"/>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9" name="Rounded Rectangle 158"/>
          <p:cNvSpPr/>
          <p:nvPr/>
        </p:nvSpPr>
        <p:spPr>
          <a:xfrm>
            <a:off x="3803904" y="3630168"/>
            <a:ext cx="1444752" cy="640080"/>
          </a:xfrm>
          <a:prstGeom prst="roundRect">
            <a:avLst>
              <a:gd name="adj" fmla="val 7142"/>
            </a:avLst>
          </a:prstGeom>
          <a:solidFill>
            <a:srgbClr val="0A1420"/>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0" name="TextBox 159"/>
          <p:cNvSpPr txBox="1"/>
          <p:nvPr/>
        </p:nvSpPr>
        <p:spPr>
          <a:xfrm>
            <a:off x="3858768" y="3675887"/>
            <a:ext cx="1188720" cy="91440"/>
          </a:xfrm>
          <a:prstGeom prst="rect">
            <a:avLst/>
          </a:prstGeom>
          <a:noFill/>
        </p:spPr>
        <p:txBody>
          <a:bodyPr wrap="square" lIns="0" rIns="0" tIns="0" bIns="0" anchor="t">
            <a:noAutofit/>
          </a:bodyPr>
          <a:lstStyle/>
          <a:p>
            <a:pPr algn="l">
              <a:lnSpc>
                <a:spcPct val="122000"/>
              </a:lnSpc>
            </a:pPr>
            <a:r>
              <a:rPr sz="360" b="0" i="0" spc="10">
                <a:solidFill>
                  <a:srgbClr val="34D399"/>
                </a:solidFill>
                <a:latin typeface="Consolas"/>
              </a:rPr>
              <a:t>ENDPOINTS · 12</a:t>
            </a:r>
          </a:p>
        </p:txBody>
      </p:sp>
      <p:sp>
        <p:nvSpPr>
          <p:cNvPr id="161" name="TextBox 160"/>
          <p:cNvSpPr txBox="1"/>
          <p:nvPr/>
        </p:nvSpPr>
        <p:spPr>
          <a:xfrm>
            <a:off x="3858768" y="3803904"/>
            <a:ext cx="1316736" cy="402336"/>
          </a:xfrm>
          <a:prstGeom prst="rect">
            <a:avLst/>
          </a:prstGeom>
          <a:noFill/>
        </p:spPr>
        <p:txBody>
          <a:bodyPr wrap="square" lIns="0" rIns="0" tIns="0" bIns="0" anchor="t">
            <a:noAutofit/>
          </a:bodyPr>
          <a:lstStyle/>
          <a:p>
            <a:pPr algn="l">
              <a:lnSpc>
                <a:spcPct val="135000"/>
              </a:lnSpc>
            </a:pPr>
            <a:r>
              <a:rPr sz="360" b="0" i="0">
                <a:solidFill>
                  <a:srgbClr val="9DB0C6"/>
                </a:solidFill>
                <a:latin typeface="Consolas"/>
              </a:rPr>
              <a:t>POST /v1/checkout/session
GET  /v1/checkout/:id
RPC  cart.v1.Merge</a:t>
            </a:r>
          </a:p>
        </p:txBody>
      </p:sp>
      <p:sp>
        <p:nvSpPr>
          <p:cNvPr id="162" name="Oval 161"/>
          <p:cNvSpPr/>
          <p:nvPr/>
        </p:nvSpPr>
        <p:spPr>
          <a:xfrm>
            <a:off x="3346704" y="3063240"/>
            <a:ext cx="210312" cy="210312"/>
          </a:xfrm>
          <a:prstGeom prst="ellipse">
            <a:avLst/>
          </a:prstGeom>
          <a:noFill/>
          <a:ln w="889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3387852" y="3104388"/>
            <a:ext cx="128016" cy="128016"/>
          </a:xfrm>
          <a:prstGeom prst="ellipse">
            <a:avLst/>
          </a:prstGeom>
          <a:noFill/>
          <a:ln w="889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ounded Rectangle 163"/>
          <p:cNvSpPr/>
          <p:nvPr/>
        </p:nvSpPr>
        <p:spPr>
          <a:xfrm>
            <a:off x="1938528" y="5038344"/>
            <a:ext cx="1133856" cy="146304"/>
          </a:xfrm>
          <a:prstGeom prst="roundRect">
            <a:avLst>
              <a:gd name="adj" fmla="val 50000"/>
            </a:avLst>
          </a:prstGeom>
          <a:solidFill>
            <a:srgbClr val="0A1520"/>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5" name="TextBox 164"/>
          <p:cNvSpPr txBox="1"/>
          <p:nvPr/>
        </p:nvSpPr>
        <p:spPr>
          <a:xfrm>
            <a:off x="1993392" y="5081365"/>
            <a:ext cx="1024128" cy="53340"/>
          </a:xfrm>
          <a:prstGeom prst="rect">
            <a:avLst/>
          </a:prstGeom>
          <a:noFill/>
        </p:spPr>
        <p:txBody>
          <a:bodyPr wrap="square" lIns="0" rIns="0" tIns="0" bIns="0" anchor="t">
            <a:noAutofit/>
          </a:bodyPr>
          <a:lstStyle/>
          <a:p>
            <a:pPr algn="ctr">
              <a:lnSpc>
                <a:spcPct val="100000"/>
              </a:lnSpc>
            </a:pPr>
            <a:r>
              <a:rPr sz="350" b="0" i="0">
                <a:solidFill>
                  <a:srgbClr val="64748B"/>
                </a:solidFill>
                <a:latin typeface="Consolas"/>
              </a:rPr>
              <a:t>elk layered · DOWN · 244</a:t>
            </a:r>
          </a:p>
        </p:txBody>
      </p:sp>
      <p:sp>
        <p:nvSpPr>
          <p:cNvPr id="166" name="TextBox 165"/>
          <p:cNvSpPr txBox="1"/>
          <p:nvPr/>
        </p:nvSpPr>
        <p:spPr>
          <a:xfrm>
            <a:off x="5065775" y="5047488"/>
            <a:ext cx="566928" cy="109728"/>
          </a:xfrm>
          <a:prstGeom prst="rect">
            <a:avLst/>
          </a:prstGeom>
          <a:noFill/>
        </p:spPr>
        <p:txBody>
          <a:bodyPr wrap="square" lIns="0" rIns="0" tIns="0" bIns="0" anchor="t">
            <a:noAutofit/>
          </a:bodyPr>
          <a:lstStyle/>
          <a:p>
            <a:pPr algn="r">
              <a:lnSpc>
                <a:spcPct val="122000"/>
              </a:lnSpc>
            </a:pPr>
            <a:r>
              <a:rPr sz="340" b="0" i="0">
                <a:solidFill>
                  <a:srgbClr val="64748B"/>
                </a:solidFill>
                <a:latin typeface="Consolas"/>
              </a:rPr>
              <a:t>−  100%  +  ⤢</a:t>
            </a:r>
          </a:p>
        </p:txBody>
      </p:sp>
      <p:sp>
        <p:nvSpPr>
          <p:cNvPr id="167" name="Rounded Rectangle 166"/>
          <p:cNvSpPr/>
          <p:nvPr/>
        </p:nvSpPr>
        <p:spPr>
          <a:xfrm>
            <a:off x="1828800" y="5221224"/>
            <a:ext cx="3913631" cy="585216"/>
          </a:xfrm>
          <a:prstGeom prst="roundRect">
            <a:avLst>
              <a:gd name="adj" fmla="val 625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8" name="Oval 167"/>
          <p:cNvSpPr/>
          <p:nvPr/>
        </p:nvSpPr>
        <p:spPr>
          <a:xfrm>
            <a:off x="5486399" y="5257800"/>
            <a:ext cx="182880" cy="164592"/>
          </a:xfrm>
          <a:prstGeom prst="ellipse">
            <a:avLst/>
          </a:prstGeom>
          <a:solidFill>
            <a:srgbClr val="0B1A2A"/>
          </a:solidFill>
          <a:ln w="889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5486399" y="5285232"/>
            <a:ext cx="182880" cy="109728"/>
          </a:xfrm>
          <a:prstGeom prst="rect">
            <a:avLst/>
          </a:prstGeom>
          <a:noFill/>
        </p:spPr>
        <p:txBody>
          <a:bodyPr wrap="square" lIns="0" rIns="0" tIns="0" bIns="0" anchor="t">
            <a:noAutofit/>
          </a:bodyPr>
          <a:lstStyle/>
          <a:p>
            <a:pPr algn="ctr">
              <a:lnSpc>
                <a:spcPct val="122000"/>
              </a:lnSpc>
            </a:pPr>
            <a:r>
              <a:rPr sz="540" b="1" i="0">
                <a:solidFill>
                  <a:srgbClr val="7DD3FC"/>
                </a:solidFill>
                <a:latin typeface="Consolas"/>
              </a:rPr>
              <a:t>5</a:t>
            </a:r>
          </a:p>
        </p:txBody>
      </p:sp>
      <p:sp>
        <p:nvSpPr>
          <p:cNvPr id="170" name="TextBox 169"/>
          <p:cNvSpPr txBox="1"/>
          <p:nvPr/>
        </p:nvSpPr>
        <p:spPr>
          <a:xfrm>
            <a:off x="1920240" y="5276088"/>
            <a:ext cx="1463040" cy="82296"/>
          </a:xfrm>
          <a:prstGeom prst="rect">
            <a:avLst/>
          </a:prstGeom>
          <a:noFill/>
        </p:spPr>
        <p:txBody>
          <a:bodyPr wrap="square" lIns="0" rIns="0" tIns="0" bIns="0" anchor="t">
            <a:noAutofit/>
          </a:bodyPr>
          <a:lstStyle/>
          <a:p>
            <a:pPr algn="l">
              <a:lnSpc>
                <a:spcPct val="122000"/>
              </a:lnSpc>
            </a:pPr>
            <a:r>
              <a:rPr sz="370" b="0" i="0" spc="20">
                <a:solidFill>
                  <a:srgbClr val="7DD3FC"/>
                </a:solidFill>
                <a:latin typeface="Consolas"/>
              </a:rPr>
              <a:t>LIVE ALERT STREAM  78</a:t>
            </a:r>
          </a:p>
        </p:txBody>
      </p:sp>
      <p:sp>
        <p:nvSpPr>
          <p:cNvPr id="171" name="TextBox 170"/>
          <p:cNvSpPr txBox="1"/>
          <p:nvPr/>
        </p:nvSpPr>
        <p:spPr>
          <a:xfrm>
            <a:off x="3200400" y="5276088"/>
            <a:ext cx="1280160" cy="82296"/>
          </a:xfrm>
          <a:prstGeom prst="rect">
            <a:avLst/>
          </a:prstGeom>
          <a:noFill/>
        </p:spPr>
        <p:txBody>
          <a:bodyPr wrap="square" lIns="0" rIns="0" tIns="0" bIns="0" anchor="t">
            <a:noAutofit/>
          </a:bodyPr>
          <a:lstStyle/>
          <a:p>
            <a:pPr algn="l">
              <a:lnSpc>
                <a:spcPct val="122000"/>
              </a:lnSpc>
            </a:pPr>
            <a:r>
              <a:rPr sz="370" b="0" i="0" spc="20">
                <a:solidFill>
                  <a:srgbClr val="64748B"/>
                </a:solidFill>
                <a:latin typeface="Consolas"/>
              </a:rPr>
              <a:t>CLI EXECUTOR LOG</a:t>
            </a:r>
          </a:p>
        </p:txBody>
      </p:sp>
      <p:sp>
        <p:nvSpPr>
          <p:cNvPr id="172" name="Rounded Rectangle 171"/>
          <p:cNvSpPr/>
          <p:nvPr/>
        </p:nvSpPr>
        <p:spPr>
          <a:xfrm>
            <a:off x="4334256" y="5262372"/>
            <a:ext cx="530352" cy="109728"/>
          </a:xfrm>
          <a:prstGeom prst="roundRect">
            <a:avLst>
              <a:gd name="adj" fmla="val 50000"/>
            </a:avLst>
          </a:prstGeom>
          <a:solidFill>
            <a:srgbClr val="0F1725"/>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3" name="TextBox 172"/>
          <p:cNvSpPr txBox="1"/>
          <p:nvPr/>
        </p:nvSpPr>
        <p:spPr>
          <a:xfrm>
            <a:off x="4389120" y="5291486"/>
            <a:ext cx="420623" cy="44195"/>
          </a:xfrm>
          <a:prstGeom prst="rect">
            <a:avLst/>
          </a:prstGeom>
          <a:noFill/>
        </p:spPr>
        <p:txBody>
          <a:bodyPr wrap="square" lIns="0" rIns="0" tIns="0" bIns="0" anchor="t">
            <a:noAutofit/>
          </a:bodyPr>
          <a:lstStyle/>
          <a:p>
            <a:pPr algn="ctr">
              <a:lnSpc>
                <a:spcPct val="100000"/>
              </a:lnSpc>
            </a:pPr>
            <a:r>
              <a:rPr sz="290" b="0" i="0">
                <a:solidFill>
                  <a:srgbClr val="FB7185"/>
                </a:solidFill>
                <a:latin typeface="Consolas"/>
              </a:rPr>
              <a:t>3 unacked</a:t>
            </a:r>
          </a:p>
        </p:txBody>
      </p:sp>
      <p:sp>
        <p:nvSpPr>
          <p:cNvPr id="174" name="Oval 173"/>
          <p:cNvSpPr/>
          <p:nvPr/>
        </p:nvSpPr>
        <p:spPr>
          <a:xfrm>
            <a:off x="1920240" y="5436108"/>
            <a:ext cx="29260" cy="2926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993392" y="5408676"/>
            <a:ext cx="237744" cy="73152"/>
          </a:xfrm>
          <a:prstGeom prst="rect">
            <a:avLst/>
          </a:prstGeom>
          <a:noFill/>
        </p:spPr>
        <p:txBody>
          <a:bodyPr wrap="square" lIns="0" rIns="0" tIns="0" bIns="0" anchor="t">
            <a:noAutofit/>
          </a:bodyPr>
          <a:lstStyle/>
          <a:p>
            <a:pPr algn="l">
              <a:lnSpc>
                <a:spcPct val="122000"/>
              </a:lnSpc>
            </a:pPr>
            <a:r>
              <a:rPr sz="310" b="0" i="0">
                <a:solidFill>
                  <a:srgbClr val="FB7185"/>
                </a:solidFill>
                <a:latin typeface="Consolas"/>
              </a:rPr>
              <a:t>crit</a:t>
            </a:r>
          </a:p>
        </p:txBody>
      </p:sp>
      <p:sp>
        <p:nvSpPr>
          <p:cNvPr id="176" name="TextBox 175"/>
          <p:cNvSpPr txBox="1"/>
          <p:nvPr/>
        </p:nvSpPr>
        <p:spPr>
          <a:xfrm>
            <a:off x="2249424" y="5408676"/>
            <a:ext cx="1828800" cy="73152"/>
          </a:xfrm>
          <a:prstGeom prst="rect">
            <a:avLst/>
          </a:prstGeom>
          <a:noFill/>
        </p:spPr>
        <p:txBody>
          <a:bodyPr wrap="square" lIns="0" rIns="0" tIns="0" bIns="0" anchor="t">
            <a:noAutofit/>
          </a:bodyPr>
          <a:lstStyle/>
          <a:p>
            <a:pPr algn="l">
              <a:lnSpc>
                <a:spcPct val="122000"/>
              </a:lnSpc>
            </a:pPr>
            <a:r>
              <a:rPr sz="330" b="0" i="0">
                <a:solidFill>
                  <a:srgbClr val="9DB0C6"/>
                </a:solidFill>
                <a:latin typeface="Consolas"/>
              </a:rPr>
              <a:t>CPU saturation above 92% for 5m</a:t>
            </a:r>
          </a:p>
        </p:txBody>
      </p:sp>
      <p:sp>
        <p:nvSpPr>
          <p:cNvPr id="177" name="Oval 176"/>
          <p:cNvSpPr/>
          <p:nvPr/>
        </p:nvSpPr>
        <p:spPr>
          <a:xfrm>
            <a:off x="1920240" y="5550408"/>
            <a:ext cx="29260" cy="29260"/>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993392" y="5522976"/>
            <a:ext cx="237744" cy="73152"/>
          </a:xfrm>
          <a:prstGeom prst="rect">
            <a:avLst/>
          </a:prstGeom>
          <a:noFill/>
        </p:spPr>
        <p:txBody>
          <a:bodyPr wrap="square" lIns="0" rIns="0" tIns="0" bIns="0" anchor="t">
            <a:noAutofit/>
          </a:bodyPr>
          <a:lstStyle/>
          <a:p>
            <a:pPr algn="l">
              <a:lnSpc>
                <a:spcPct val="122000"/>
              </a:lnSpc>
            </a:pPr>
            <a:r>
              <a:rPr sz="310" b="0" i="0">
                <a:solidFill>
                  <a:srgbClr val="FBBF24"/>
                </a:solidFill>
                <a:latin typeface="Consolas"/>
              </a:rPr>
              <a:t>warn</a:t>
            </a:r>
          </a:p>
        </p:txBody>
      </p:sp>
      <p:sp>
        <p:nvSpPr>
          <p:cNvPr id="179" name="TextBox 178"/>
          <p:cNvSpPr txBox="1"/>
          <p:nvPr/>
        </p:nvSpPr>
        <p:spPr>
          <a:xfrm>
            <a:off x="2249424" y="5522976"/>
            <a:ext cx="1828800" cy="73152"/>
          </a:xfrm>
          <a:prstGeom prst="rect">
            <a:avLst/>
          </a:prstGeom>
          <a:noFill/>
        </p:spPr>
        <p:txBody>
          <a:bodyPr wrap="square" lIns="0" rIns="0" tIns="0" bIns="0" anchor="t">
            <a:noAutofit/>
          </a:bodyPr>
          <a:lstStyle/>
          <a:p>
            <a:pPr algn="l">
              <a:lnSpc>
                <a:spcPct val="122000"/>
              </a:lnSpc>
            </a:pPr>
            <a:r>
              <a:rPr sz="330" b="0" i="0">
                <a:solidFill>
                  <a:srgbClr val="9DB0C6"/>
                </a:solidFill>
                <a:latin typeface="Consolas"/>
              </a:rPr>
              <a:t>Pod restarted 4 times in 10m</a:t>
            </a:r>
          </a:p>
        </p:txBody>
      </p:sp>
      <p:sp>
        <p:nvSpPr>
          <p:cNvPr id="180" name="Oval 179"/>
          <p:cNvSpPr/>
          <p:nvPr/>
        </p:nvSpPr>
        <p:spPr>
          <a:xfrm>
            <a:off x="1920240" y="5664708"/>
            <a:ext cx="29260" cy="29260"/>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1993392" y="5637276"/>
            <a:ext cx="237744" cy="73152"/>
          </a:xfrm>
          <a:prstGeom prst="rect">
            <a:avLst/>
          </a:prstGeom>
          <a:noFill/>
        </p:spPr>
        <p:txBody>
          <a:bodyPr wrap="square" lIns="0" rIns="0" tIns="0" bIns="0" anchor="t">
            <a:noAutofit/>
          </a:bodyPr>
          <a:lstStyle/>
          <a:p>
            <a:pPr algn="l">
              <a:lnSpc>
                <a:spcPct val="122000"/>
              </a:lnSpc>
            </a:pPr>
            <a:r>
              <a:rPr sz="310" b="0" i="0">
                <a:solidFill>
                  <a:srgbClr val="34D399"/>
                </a:solidFill>
                <a:latin typeface="Consolas"/>
              </a:rPr>
              <a:t>info</a:t>
            </a:r>
          </a:p>
        </p:txBody>
      </p:sp>
      <p:sp>
        <p:nvSpPr>
          <p:cNvPr id="182" name="TextBox 181"/>
          <p:cNvSpPr txBox="1"/>
          <p:nvPr/>
        </p:nvSpPr>
        <p:spPr>
          <a:xfrm>
            <a:off x="2249424" y="5637276"/>
            <a:ext cx="1828800" cy="73152"/>
          </a:xfrm>
          <a:prstGeom prst="rect">
            <a:avLst/>
          </a:prstGeom>
          <a:noFill/>
        </p:spPr>
        <p:txBody>
          <a:bodyPr wrap="square" lIns="0" rIns="0" tIns="0" bIns="0" anchor="t">
            <a:noAutofit/>
          </a:bodyPr>
          <a:lstStyle/>
          <a:p>
            <a:pPr algn="l">
              <a:lnSpc>
                <a:spcPct val="122000"/>
              </a:lnSpc>
            </a:pPr>
            <a:r>
              <a:rPr sz="330" b="0" i="0">
                <a:solidFill>
                  <a:srgbClr val="9DB0C6"/>
                </a:solidFill>
                <a:latin typeface="Consolas"/>
              </a:rPr>
              <a:t>Rolling update completed</a:t>
            </a:r>
          </a:p>
        </p:txBody>
      </p:sp>
      <p:sp>
        <p:nvSpPr>
          <p:cNvPr id="183" name="Rounded Rectangle 182"/>
          <p:cNvSpPr/>
          <p:nvPr/>
        </p:nvSpPr>
        <p:spPr>
          <a:xfrm>
            <a:off x="5797295" y="2587752"/>
            <a:ext cx="1591056" cy="3218688"/>
          </a:xfrm>
          <a:prstGeom prst="roundRect">
            <a:avLst>
              <a:gd name="adj" fmla="val 229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4" name="Oval 183"/>
          <p:cNvSpPr/>
          <p:nvPr/>
        </p:nvSpPr>
        <p:spPr>
          <a:xfrm>
            <a:off x="7150608" y="2624328"/>
            <a:ext cx="182880" cy="164592"/>
          </a:xfrm>
          <a:prstGeom prst="ellipse">
            <a:avLst/>
          </a:prstGeom>
          <a:solidFill>
            <a:srgbClr val="0B1A2A"/>
          </a:solidFill>
          <a:ln w="889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7150608" y="2651760"/>
            <a:ext cx="182880" cy="109728"/>
          </a:xfrm>
          <a:prstGeom prst="rect">
            <a:avLst/>
          </a:prstGeom>
          <a:noFill/>
        </p:spPr>
        <p:txBody>
          <a:bodyPr wrap="square" lIns="0" rIns="0" tIns="0" bIns="0" anchor="t">
            <a:noAutofit/>
          </a:bodyPr>
          <a:lstStyle/>
          <a:p>
            <a:pPr algn="ctr">
              <a:lnSpc>
                <a:spcPct val="122000"/>
              </a:lnSpc>
            </a:pPr>
            <a:r>
              <a:rPr sz="540" b="1" i="0">
                <a:solidFill>
                  <a:srgbClr val="7DD3FC"/>
                </a:solidFill>
                <a:latin typeface="Consolas"/>
              </a:rPr>
              <a:t>6</a:t>
            </a:r>
          </a:p>
        </p:txBody>
      </p:sp>
      <p:sp>
        <p:nvSpPr>
          <p:cNvPr id="186" name="TextBox 185"/>
          <p:cNvSpPr txBox="1"/>
          <p:nvPr/>
        </p:nvSpPr>
        <p:spPr>
          <a:xfrm>
            <a:off x="5879591" y="2642616"/>
            <a:ext cx="1225296" cy="91440"/>
          </a:xfrm>
          <a:prstGeom prst="rect">
            <a:avLst/>
          </a:prstGeom>
          <a:noFill/>
        </p:spPr>
        <p:txBody>
          <a:bodyPr wrap="square" lIns="0" rIns="0" tIns="0" bIns="0" anchor="t">
            <a:noAutofit/>
          </a:bodyPr>
          <a:lstStyle/>
          <a:p>
            <a:pPr algn="l">
              <a:lnSpc>
                <a:spcPct val="122000"/>
              </a:lnSpc>
            </a:pPr>
            <a:r>
              <a:rPr sz="400" b="0" i="0" spc="30">
                <a:solidFill>
                  <a:srgbClr val="7DD3FC"/>
                </a:solidFill>
                <a:latin typeface="Consolas"/>
              </a:rPr>
              <a:t>NODE INSPECTOR</a:t>
            </a:r>
          </a:p>
        </p:txBody>
      </p:sp>
      <p:sp>
        <p:nvSpPr>
          <p:cNvPr id="187" name="TextBox 186"/>
          <p:cNvSpPr txBox="1"/>
          <p:nvPr/>
        </p:nvSpPr>
        <p:spPr>
          <a:xfrm>
            <a:off x="5879591" y="2770632"/>
            <a:ext cx="1444752" cy="146304"/>
          </a:xfrm>
          <a:prstGeom prst="rect">
            <a:avLst/>
          </a:prstGeom>
          <a:noFill/>
        </p:spPr>
        <p:txBody>
          <a:bodyPr wrap="square" lIns="0" rIns="0" tIns="0" bIns="0" anchor="t">
            <a:noAutofit/>
          </a:bodyPr>
          <a:lstStyle/>
          <a:p>
            <a:pPr algn="l">
              <a:lnSpc>
                <a:spcPct val="122000"/>
              </a:lnSpc>
            </a:pPr>
            <a:r>
              <a:rPr sz="640" b="1" i="0">
                <a:solidFill>
                  <a:srgbClr val="F4F8FC"/>
                </a:solidFill>
                <a:latin typeface="Consolas"/>
              </a:rPr>
              <a:t>checkout-api</a:t>
            </a:r>
          </a:p>
        </p:txBody>
      </p:sp>
      <p:sp>
        <p:nvSpPr>
          <p:cNvPr id="188" name="TextBox 187"/>
          <p:cNvSpPr txBox="1"/>
          <p:nvPr/>
        </p:nvSpPr>
        <p:spPr>
          <a:xfrm>
            <a:off x="5879591" y="2953512"/>
            <a:ext cx="237744" cy="82296"/>
          </a:xfrm>
          <a:prstGeom prst="rect">
            <a:avLst/>
          </a:prstGeom>
          <a:noFill/>
        </p:spPr>
        <p:txBody>
          <a:bodyPr wrap="square" lIns="0" rIns="0" tIns="0" bIns="0" anchor="t">
            <a:noAutofit/>
          </a:bodyPr>
          <a:lstStyle/>
          <a:p>
            <a:pPr algn="l">
              <a:lnSpc>
                <a:spcPct val="122000"/>
              </a:lnSpc>
            </a:pPr>
            <a:r>
              <a:rPr sz="370" b="0" i="0">
                <a:solidFill>
                  <a:srgbClr val="7DD3FC"/>
                </a:solidFill>
                <a:latin typeface="Consolas"/>
              </a:rPr>
              <a:t>ov</a:t>
            </a:r>
          </a:p>
        </p:txBody>
      </p:sp>
      <p:sp>
        <p:nvSpPr>
          <p:cNvPr id="189" name="TextBox 188"/>
          <p:cNvSpPr txBox="1"/>
          <p:nvPr/>
        </p:nvSpPr>
        <p:spPr>
          <a:xfrm>
            <a:off x="6153911" y="2953512"/>
            <a:ext cx="237744" cy="82296"/>
          </a:xfrm>
          <a:prstGeom prst="rect">
            <a:avLst/>
          </a:prstGeom>
          <a:noFill/>
        </p:spPr>
        <p:txBody>
          <a:bodyPr wrap="square" lIns="0" rIns="0" tIns="0" bIns="0" anchor="t">
            <a:noAutofit/>
          </a:bodyPr>
          <a:lstStyle/>
          <a:p>
            <a:pPr algn="l">
              <a:lnSpc>
                <a:spcPct val="122000"/>
              </a:lnSpc>
            </a:pPr>
            <a:r>
              <a:rPr sz="370" b="0" i="0">
                <a:solidFill>
                  <a:srgbClr val="64748B"/>
                </a:solidFill>
                <a:latin typeface="Consolas"/>
              </a:rPr>
              <a:t>met</a:t>
            </a:r>
          </a:p>
        </p:txBody>
      </p:sp>
      <p:sp>
        <p:nvSpPr>
          <p:cNvPr id="190" name="TextBox 189"/>
          <p:cNvSpPr txBox="1"/>
          <p:nvPr/>
        </p:nvSpPr>
        <p:spPr>
          <a:xfrm>
            <a:off x="6428231" y="2953512"/>
            <a:ext cx="237744" cy="82296"/>
          </a:xfrm>
          <a:prstGeom prst="rect">
            <a:avLst/>
          </a:prstGeom>
          <a:noFill/>
        </p:spPr>
        <p:txBody>
          <a:bodyPr wrap="square" lIns="0" rIns="0" tIns="0" bIns="0" anchor="t">
            <a:noAutofit/>
          </a:bodyPr>
          <a:lstStyle/>
          <a:p>
            <a:pPr algn="l">
              <a:lnSpc>
                <a:spcPct val="122000"/>
              </a:lnSpc>
            </a:pPr>
            <a:r>
              <a:rPr sz="370" b="0" i="0">
                <a:solidFill>
                  <a:srgbClr val="64748B"/>
                </a:solidFill>
                <a:latin typeface="Consolas"/>
              </a:rPr>
              <a:t>chd</a:t>
            </a:r>
          </a:p>
        </p:txBody>
      </p:sp>
      <p:sp>
        <p:nvSpPr>
          <p:cNvPr id="191" name="TextBox 190"/>
          <p:cNvSpPr txBox="1"/>
          <p:nvPr/>
        </p:nvSpPr>
        <p:spPr>
          <a:xfrm>
            <a:off x="6702551" y="2953512"/>
            <a:ext cx="237744" cy="82296"/>
          </a:xfrm>
          <a:prstGeom prst="rect">
            <a:avLst/>
          </a:prstGeom>
          <a:noFill/>
        </p:spPr>
        <p:txBody>
          <a:bodyPr wrap="square" lIns="0" rIns="0" tIns="0" bIns="0" anchor="t">
            <a:noAutofit/>
          </a:bodyPr>
          <a:lstStyle/>
          <a:p>
            <a:pPr algn="l">
              <a:lnSpc>
                <a:spcPct val="122000"/>
              </a:lnSpc>
            </a:pPr>
            <a:r>
              <a:rPr sz="370" b="0" i="0">
                <a:solidFill>
                  <a:srgbClr val="64748B"/>
                </a:solidFill>
                <a:latin typeface="Consolas"/>
              </a:rPr>
              <a:t>cli</a:t>
            </a:r>
          </a:p>
        </p:txBody>
      </p:sp>
      <p:cxnSp>
        <p:nvCxnSpPr>
          <p:cNvPr id="192" name="Connector 191"/>
          <p:cNvCxnSpPr/>
          <p:nvPr/>
        </p:nvCxnSpPr>
        <p:spPr>
          <a:xfrm>
            <a:off x="5870447" y="3044952"/>
            <a:ext cx="1444753"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193" name="TextBox 192"/>
          <p:cNvSpPr txBox="1"/>
          <p:nvPr/>
        </p:nvSpPr>
        <p:spPr>
          <a:xfrm>
            <a:off x="5879591" y="3099816"/>
            <a:ext cx="530352" cy="82296"/>
          </a:xfrm>
          <a:prstGeom prst="rect">
            <a:avLst/>
          </a:prstGeom>
          <a:noFill/>
        </p:spPr>
        <p:txBody>
          <a:bodyPr wrap="square" lIns="0" rIns="0" tIns="0" bIns="0" anchor="t">
            <a:noAutofit/>
          </a:bodyPr>
          <a:lstStyle/>
          <a:p>
            <a:pPr algn="l">
              <a:lnSpc>
                <a:spcPct val="122000"/>
              </a:lnSpc>
            </a:pPr>
            <a:r>
              <a:rPr sz="360" b="0" i="0">
                <a:solidFill>
                  <a:srgbClr val="64748B"/>
                </a:solidFill>
                <a:latin typeface="Consolas"/>
              </a:rPr>
              <a:t>cpu</a:t>
            </a:r>
          </a:p>
        </p:txBody>
      </p:sp>
      <p:sp>
        <p:nvSpPr>
          <p:cNvPr id="194" name="TextBox 193"/>
          <p:cNvSpPr txBox="1"/>
          <p:nvPr/>
        </p:nvSpPr>
        <p:spPr>
          <a:xfrm>
            <a:off x="6364223" y="3099816"/>
            <a:ext cx="932688" cy="82296"/>
          </a:xfrm>
          <a:prstGeom prst="rect">
            <a:avLst/>
          </a:prstGeom>
          <a:noFill/>
        </p:spPr>
        <p:txBody>
          <a:bodyPr wrap="square" lIns="0" rIns="0" tIns="0" bIns="0" anchor="t">
            <a:noAutofit/>
          </a:bodyPr>
          <a:lstStyle/>
          <a:p>
            <a:pPr algn="r">
              <a:lnSpc>
                <a:spcPct val="122000"/>
              </a:lnSpc>
            </a:pPr>
            <a:r>
              <a:rPr sz="360" b="0" i="0">
                <a:solidFill>
                  <a:srgbClr val="E2E8F0"/>
                </a:solidFill>
                <a:latin typeface="Consolas"/>
              </a:rPr>
              <a:t>71.4%</a:t>
            </a:r>
          </a:p>
        </p:txBody>
      </p:sp>
      <p:sp>
        <p:nvSpPr>
          <p:cNvPr id="195" name="TextBox 194"/>
          <p:cNvSpPr txBox="1"/>
          <p:nvPr/>
        </p:nvSpPr>
        <p:spPr>
          <a:xfrm>
            <a:off x="5879591" y="3241548"/>
            <a:ext cx="530352" cy="82296"/>
          </a:xfrm>
          <a:prstGeom prst="rect">
            <a:avLst/>
          </a:prstGeom>
          <a:noFill/>
        </p:spPr>
        <p:txBody>
          <a:bodyPr wrap="square" lIns="0" rIns="0" tIns="0" bIns="0" anchor="t">
            <a:noAutofit/>
          </a:bodyPr>
          <a:lstStyle/>
          <a:p>
            <a:pPr algn="l">
              <a:lnSpc>
                <a:spcPct val="122000"/>
              </a:lnSpc>
            </a:pPr>
            <a:r>
              <a:rPr sz="360" b="0" i="0">
                <a:solidFill>
                  <a:srgbClr val="64748B"/>
                </a:solidFill>
                <a:latin typeface="Consolas"/>
              </a:rPr>
              <a:t>memory</a:t>
            </a:r>
          </a:p>
        </p:txBody>
      </p:sp>
      <p:sp>
        <p:nvSpPr>
          <p:cNvPr id="196" name="TextBox 195"/>
          <p:cNvSpPr txBox="1"/>
          <p:nvPr/>
        </p:nvSpPr>
        <p:spPr>
          <a:xfrm>
            <a:off x="6364223" y="3241548"/>
            <a:ext cx="932688" cy="82296"/>
          </a:xfrm>
          <a:prstGeom prst="rect">
            <a:avLst/>
          </a:prstGeom>
          <a:noFill/>
        </p:spPr>
        <p:txBody>
          <a:bodyPr wrap="square" lIns="0" rIns="0" tIns="0" bIns="0" anchor="t">
            <a:noAutofit/>
          </a:bodyPr>
          <a:lstStyle/>
          <a:p>
            <a:pPr algn="r">
              <a:lnSpc>
                <a:spcPct val="122000"/>
              </a:lnSpc>
            </a:pPr>
            <a:r>
              <a:rPr sz="360" b="0" i="0">
                <a:solidFill>
                  <a:srgbClr val="E2E8F0"/>
                </a:solidFill>
                <a:latin typeface="Consolas"/>
              </a:rPr>
              <a:t>54.2%</a:t>
            </a:r>
          </a:p>
        </p:txBody>
      </p:sp>
      <p:sp>
        <p:nvSpPr>
          <p:cNvPr id="197" name="TextBox 196"/>
          <p:cNvSpPr txBox="1"/>
          <p:nvPr/>
        </p:nvSpPr>
        <p:spPr>
          <a:xfrm>
            <a:off x="5879591" y="3383279"/>
            <a:ext cx="530352" cy="82296"/>
          </a:xfrm>
          <a:prstGeom prst="rect">
            <a:avLst/>
          </a:prstGeom>
          <a:noFill/>
        </p:spPr>
        <p:txBody>
          <a:bodyPr wrap="square" lIns="0" rIns="0" tIns="0" bIns="0" anchor="t">
            <a:noAutofit/>
          </a:bodyPr>
          <a:lstStyle/>
          <a:p>
            <a:pPr algn="l">
              <a:lnSpc>
                <a:spcPct val="122000"/>
              </a:lnSpc>
            </a:pPr>
            <a:r>
              <a:rPr sz="360" b="0" i="0">
                <a:solidFill>
                  <a:srgbClr val="64748B"/>
                </a:solidFill>
                <a:latin typeface="Consolas"/>
              </a:rPr>
              <a:t>p99</a:t>
            </a:r>
          </a:p>
        </p:txBody>
      </p:sp>
      <p:sp>
        <p:nvSpPr>
          <p:cNvPr id="198" name="TextBox 197"/>
          <p:cNvSpPr txBox="1"/>
          <p:nvPr/>
        </p:nvSpPr>
        <p:spPr>
          <a:xfrm>
            <a:off x="6364223" y="3383279"/>
            <a:ext cx="932688" cy="82296"/>
          </a:xfrm>
          <a:prstGeom prst="rect">
            <a:avLst/>
          </a:prstGeom>
          <a:noFill/>
        </p:spPr>
        <p:txBody>
          <a:bodyPr wrap="square" lIns="0" rIns="0" tIns="0" bIns="0" anchor="t">
            <a:noAutofit/>
          </a:bodyPr>
          <a:lstStyle/>
          <a:p>
            <a:pPr algn="r">
              <a:lnSpc>
                <a:spcPct val="122000"/>
              </a:lnSpc>
            </a:pPr>
            <a:r>
              <a:rPr sz="360" b="0" i="0">
                <a:solidFill>
                  <a:srgbClr val="E2E8F0"/>
                </a:solidFill>
                <a:latin typeface="Consolas"/>
              </a:rPr>
              <a:t>142 ms</a:t>
            </a:r>
          </a:p>
        </p:txBody>
      </p:sp>
      <p:sp>
        <p:nvSpPr>
          <p:cNvPr id="199" name="TextBox 198"/>
          <p:cNvSpPr txBox="1"/>
          <p:nvPr/>
        </p:nvSpPr>
        <p:spPr>
          <a:xfrm>
            <a:off x="5879591" y="3525011"/>
            <a:ext cx="530352" cy="82296"/>
          </a:xfrm>
          <a:prstGeom prst="rect">
            <a:avLst/>
          </a:prstGeom>
          <a:noFill/>
        </p:spPr>
        <p:txBody>
          <a:bodyPr wrap="square" lIns="0" rIns="0" tIns="0" bIns="0" anchor="t">
            <a:noAutofit/>
          </a:bodyPr>
          <a:lstStyle/>
          <a:p>
            <a:pPr algn="l">
              <a:lnSpc>
                <a:spcPct val="122000"/>
              </a:lnSpc>
            </a:pPr>
            <a:r>
              <a:rPr sz="360" b="0" i="0">
                <a:solidFill>
                  <a:srgbClr val="64748B"/>
                </a:solidFill>
                <a:latin typeface="Consolas"/>
              </a:rPr>
              <a:t>error</a:t>
            </a:r>
          </a:p>
        </p:txBody>
      </p:sp>
      <p:sp>
        <p:nvSpPr>
          <p:cNvPr id="200" name="TextBox 199"/>
          <p:cNvSpPr txBox="1"/>
          <p:nvPr/>
        </p:nvSpPr>
        <p:spPr>
          <a:xfrm>
            <a:off x="6364223" y="3525011"/>
            <a:ext cx="932688" cy="82296"/>
          </a:xfrm>
          <a:prstGeom prst="rect">
            <a:avLst/>
          </a:prstGeom>
          <a:noFill/>
        </p:spPr>
        <p:txBody>
          <a:bodyPr wrap="square" lIns="0" rIns="0" tIns="0" bIns="0" anchor="t">
            <a:noAutofit/>
          </a:bodyPr>
          <a:lstStyle/>
          <a:p>
            <a:pPr algn="r">
              <a:lnSpc>
                <a:spcPct val="122000"/>
              </a:lnSpc>
            </a:pPr>
            <a:r>
              <a:rPr sz="360" b="0" i="0">
                <a:solidFill>
                  <a:srgbClr val="E2E8F0"/>
                </a:solidFill>
                <a:latin typeface="Consolas"/>
              </a:rPr>
              <a:t>0.8%</a:t>
            </a:r>
          </a:p>
        </p:txBody>
      </p:sp>
      <p:sp>
        <p:nvSpPr>
          <p:cNvPr id="201" name="TextBox 200"/>
          <p:cNvSpPr txBox="1"/>
          <p:nvPr/>
        </p:nvSpPr>
        <p:spPr>
          <a:xfrm>
            <a:off x="5879591" y="3666744"/>
            <a:ext cx="530352" cy="82296"/>
          </a:xfrm>
          <a:prstGeom prst="rect">
            <a:avLst/>
          </a:prstGeom>
          <a:noFill/>
        </p:spPr>
        <p:txBody>
          <a:bodyPr wrap="square" lIns="0" rIns="0" tIns="0" bIns="0" anchor="t">
            <a:noAutofit/>
          </a:bodyPr>
          <a:lstStyle/>
          <a:p>
            <a:pPr algn="l">
              <a:lnSpc>
                <a:spcPct val="122000"/>
              </a:lnSpc>
            </a:pPr>
            <a:r>
              <a:rPr sz="360" b="0" i="0">
                <a:solidFill>
                  <a:srgbClr val="64748B"/>
                </a:solidFill>
                <a:latin typeface="Consolas"/>
              </a:rPr>
              <a:t>replicas</a:t>
            </a:r>
          </a:p>
        </p:txBody>
      </p:sp>
      <p:sp>
        <p:nvSpPr>
          <p:cNvPr id="202" name="TextBox 201"/>
          <p:cNvSpPr txBox="1"/>
          <p:nvPr/>
        </p:nvSpPr>
        <p:spPr>
          <a:xfrm>
            <a:off x="6364223" y="3666744"/>
            <a:ext cx="932688" cy="82296"/>
          </a:xfrm>
          <a:prstGeom prst="rect">
            <a:avLst/>
          </a:prstGeom>
          <a:noFill/>
        </p:spPr>
        <p:txBody>
          <a:bodyPr wrap="square" lIns="0" rIns="0" tIns="0" bIns="0" anchor="t">
            <a:noAutofit/>
          </a:bodyPr>
          <a:lstStyle/>
          <a:p>
            <a:pPr algn="r">
              <a:lnSpc>
                <a:spcPct val="122000"/>
              </a:lnSpc>
            </a:pPr>
            <a:r>
              <a:rPr sz="360" b="0" i="0">
                <a:solidFill>
                  <a:srgbClr val="E2E8F0"/>
                </a:solidFill>
                <a:latin typeface="Consolas"/>
              </a:rPr>
              <a:t>2 / 3</a:t>
            </a:r>
          </a:p>
        </p:txBody>
      </p:sp>
      <p:sp>
        <p:nvSpPr>
          <p:cNvPr id="203" name="TextBox 202"/>
          <p:cNvSpPr txBox="1"/>
          <p:nvPr/>
        </p:nvSpPr>
        <p:spPr>
          <a:xfrm>
            <a:off x="5879591" y="3808476"/>
            <a:ext cx="530352" cy="82296"/>
          </a:xfrm>
          <a:prstGeom prst="rect">
            <a:avLst/>
          </a:prstGeom>
          <a:noFill/>
        </p:spPr>
        <p:txBody>
          <a:bodyPr wrap="square" lIns="0" rIns="0" tIns="0" bIns="0" anchor="t">
            <a:noAutofit/>
          </a:bodyPr>
          <a:lstStyle/>
          <a:p>
            <a:pPr algn="l">
              <a:lnSpc>
                <a:spcPct val="122000"/>
              </a:lnSpc>
            </a:pPr>
            <a:r>
              <a:rPr sz="360" b="0" i="0">
                <a:solidFill>
                  <a:srgbClr val="64748B"/>
                </a:solidFill>
                <a:latin typeface="Consolas"/>
              </a:rPr>
              <a:t>uptime</a:t>
            </a:r>
          </a:p>
        </p:txBody>
      </p:sp>
      <p:sp>
        <p:nvSpPr>
          <p:cNvPr id="204" name="TextBox 203"/>
          <p:cNvSpPr txBox="1"/>
          <p:nvPr/>
        </p:nvSpPr>
        <p:spPr>
          <a:xfrm>
            <a:off x="6364223" y="3808476"/>
            <a:ext cx="932688" cy="82296"/>
          </a:xfrm>
          <a:prstGeom prst="rect">
            <a:avLst/>
          </a:prstGeom>
          <a:noFill/>
        </p:spPr>
        <p:txBody>
          <a:bodyPr wrap="square" lIns="0" rIns="0" tIns="0" bIns="0" anchor="t">
            <a:noAutofit/>
          </a:bodyPr>
          <a:lstStyle/>
          <a:p>
            <a:pPr algn="r">
              <a:lnSpc>
                <a:spcPct val="122000"/>
              </a:lnSpc>
            </a:pPr>
            <a:r>
              <a:rPr sz="360" b="0" i="0">
                <a:solidFill>
                  <a:srgbClr val="E2E8F0"/>
                </a:solidFill>
                <a:latin typeface="Consolas"/>
              </a:rPr>
              <a:t>99.98%</a:t>
            </a:r>
          </a:p>
        </p:txBody>
      </p:sp>
      <p:cxnSp>
        <p:nvCxnSpPr>
          <p:cNvPr id="205" name="Connector 204"/>
          <p:cNvCxnSpPr/>
          <p:nvPr/>
        </p:nvCxnSpPr>
        <p:spPr>
          <a:xfrm flipV="1">
            <a:off x="5907023" y="4352544"/>
            <a:ext cx="59635" cy="36576"/>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5966658" y="4352544"/>
            <a:ext cx="59635" cy="18287"/>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6026293" y="4315968"/>
            <a:ext cx="59635" cy="54863"/>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6085928" y="4279392"/>
            <a:ext cx="59635" cy="36576"/>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6145563" y="4279392"/>
            <a:ext cx="59634" cy="18287"/>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6205197" y="4242816"/>
            <a:ext cx="59635" cy="54863"/>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6264832" y="4242816"/>
            <a:ext cx="59635" cy="18287"/>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6324467" y="4206240"/>
            <a:ext cx="59635" cy="54863"/>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6384102" y="4206240"/>
            <a:ext cx="59635" cy="18287"/>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6443737" y="4169663"/>
            <a:ext cx="59634" cy="54864"/>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6503371" y="4169663"/>
            <a:ext cx="59635" cy="27433"/>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6563006" y="4197096"/>
            <a:ext cx="59635" cy="18287"/>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6622641" y="4160520"/>
            <a:ext cx="59635" cy="54863"/>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V="1">
            <a:off x="6682276" y="4133087"/>
            <a:ext cx="59634" cy="27433"/>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6741910" y="4133087"/>
            <a:ext cx="59635" cy="36576"/>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6801545" y="4114800"/>
            <a:ext cx="59635" cy="54863"/>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6861180" y="4114800"/>
            <a:ext cx="59635" cy="27431"/>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6920815" y="4096511"/>
            <a:ext cx="59635" cy="45720"/>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6980450" y="4096511"/>
            <a:ext cx="59634" cy="27433"/>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V="1">
            <a:off x="7040084" y="4078224"/>
            <a:ext cx="59635" cy="45720"/>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7099719" y="4078224"/>
            <a:ext cx="59635" cy="36576"/>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7159354" y="4114800"/>
            <a:ext cx="59635" cy="18287"/>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7218989" y="4096511"/>
            <a:ext cx="59635" cy="36576"/>
          </a:xfrm>
          <a:prstGeom prst="line">
            <a:avLst/>
          </a:prstGeom>
          <a:ln w="11430">
            <a:solidFill>
              <a:srgbClr val="7DD3FC"/>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5879591" y="4507992"/>
            <a:ext cx="1444752" cy="82296"/>
          </a:xfrm>
          <a:prstGeom prst="rect">
            <a:avLst/>
          </a:prstGeom>
          <a:noFill/>
        </p:spPr>
        <p:txBody>
          <a:bodyPr wrap="square" lIns="0" rIns="0" tIns="0" bIns="0" anchor="t">
            <a:noAutofit/>
          </a:bodyPr>
          <a:lstStyle/>
          <a:p>
            <a:pPr algn="l">
              <a:lnSpc>
                <a:spcPct val="122000"/>
              </a:lnSpc>
            </a:pPr>
            <a:r>
              <a:rPr sz="330" b="0" i="0">
                <a:solidFill>
                  <a:srgbClr val="64748B"/>
                </a:solidFill>
                <a:latin typeface="Consolas"/>
              </a:rPr>
              <a:t>cpu · last 24 points</a:t>
            </a:r>
          </a:p>
        </p:txBody>
      </p:sp>
      <p:cxnSp>
        <p:nvCxnSpPr>
          <p:cNvPr id="229" name="Connector 228"/>
          <p:cNvCxnSpPr/>
          <p:nvPr/>
        </p:nvCxnSpPr>
        <p:spPr>
          <a:xfrm>
            <a:off x="5870447" y="4636007"/>
            <a:ext cx="1444753"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230" name="TextBox 229"/>
          <p:cNvSpPr txBox="1"/>
          <p:nvPr/>
        </p:nvSpPr>
        <p:spPr>
          <a:xfrm>
            <a:off x="5879591" y="4690872"/>
            <a:ext cx="1444752" cy="82296"/>
          </a:xfrm>
          <a:prstGeom prst="rect">
            <a:avLst/>
          </a:prstGeom>
          <a:noFill/>
        </p:spPr>
        <p:txBody>
          <a:bodyPr wrap="square" lIns="0" rIns="0" tIns="0" bIns="0" anchor="t">
            <a:noAutofit/>
          </a:bodyPr>
          <a:lstStyle/>
          <a:p>
            <a:pPr algn="l">
              <a:lnSpc>
                <a:spcPct val="122000"/>
              </a:lnSpc>
            </a:pPr>
            <a:r>
              <a:rPr sz="330" b="0" i="0" spc="30">
                <a:solidFill>
                  <a:srgbClr val="64748B"/>
                </a:solidFill>
                <a:latin typeface="Consolas"/>
              </a:rPr>
              <a:t>SUBTREE HEALTH</a:t>
            </a:r>
          </a:p>
        </p:txBody>
      </p:sp>
      <p:sp>
        <p:nvSpPr>
          <p:cNvPr id="231" name="Oval 230"/>
          <p:cNvSpPr/>
          <p:nvPr/>
        </p:nvSpPr>
        <p:spPr>
          <a:xfrm>
            <a:off x="5879591" y="4818888"/>
            <a:ext cx="32004" cy="32004"/>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5961887" y="4791456"/>
            <a:ext cx="1335024" cy="82296"/>
          </a:xfrm>
          <a:prstGeom prst="rect">
            <a:avLst/>
          </a:prstGeom>
          <a:noFill/>
        </p:spPr>
        <p:txBody>
          <a:bodyPr wrap="square" lIns="0" rIns="0" tIns="0" bIns="0" anchor="t">
            <a:noAutofit/>
          </a:bodyPr>
          <a:lstStyle/>
          <a:p>
            <a:pPr algn="l">
              <a:lnSpc>
                <a:spcPct val="122000"/>
              </a:lnSpc>
            </a:pPr>
            <a:r>
              <a:rPr sz="330" b="0" i="0">
                <a:solidFill>
                  <a:srgbClr val="9DB0C6"/>
                </a:solidFill>
                <a:latin typeface="Consolas"/>
              </a:rPr>
              <a:t>confirm</a:t>
            </a:r>
          </a:p>
        </p:txBody>
      </p:sp>
      <p:sp>
        <p:nvSpPr>
          <p:cNvPr id="233" name="Oval 232"/>
          <p:cNvSpPr/>
          <p:nvPr/>
        </p:nvSpPr>
        <p:spPr>
          <a:xfrm>
            <a:off x="5879591" y="4946903"/>
            <a:ext cx="32004" cy="3200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5961887" y="4919472"/>
            <a:ext cx="1335024" cy="82296"/>
          </a:xfrm>
          <a:prstGeom prst="rect">
            <a:avLst/>
          </a:prstGeom>
          <a:noFill/>
        </p:spPr>
        <p:txBody>
          <a:bodyPr wrap="square" lIns="0" rIns="0" tIns="0" bIns="0" anchor="t">
            <a:noAutofit/>
          </a:bodyPr>
          <a:lstStyle/>
          <a:p>
            <a:pPr algn="l">
              <a:lnSpc>
                <a:spcPct val="122000"/>
              </a:lnSpc>
            </a:pPr>
            <a:r>
              <a:rPr sz="330" b="0" i="0">
                <a:solidFill>
                  <a:srgbClr val="9DB0C6"/>
                </a:solidFill>
                <a:latin typeface="Consolas"/>
              </a:rPr>
              <a:t>session</a:t>
            </a:r>
          </a:p>
        </p:txBody>
      </p:sp>
      <p:sp>
        <p:nvSpPr>
          <p:cNvPr id="235" name="Oval 234"/>
          <p:cNvSpPr/>
          <p:nvPr/>
        </p:nvSpPr>
        <p:spPr>
          <a:xfrm>
            <a:off x="5879591" y="5074920"/>
            <a:ext cx="32004" cy="3200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5961887" y="5047488"/>
            <a:ext cx="1335024" cy="82296"/>
          </a:xfrm>
          <a:prstGeom prst="rect">
            <a:avLst/>
          </a:prstGeom>
          <a:noFill/>
        </p:spPr>
        <p:txBody>
          <a:bodyPr wrap="square" lIns="0" rIns="0" tIns="0" bIns="0" anchor="t">
            <a:noAutofit/>
          </a:bodyPr>
          <a:lstStyle/>
          <a:p>
            <a:pPr algn="l">
              <a:lnSpc>
                <a:spcPct val="122000"/>
              </a:lnSpc>
            </a:pPr>
            <a:r>
              <a:rPr sz="330" b="0" i="0">
                <a:solidFill>
                  <a:srgbClr val="9DB0C6"/>
                </a:solidFill>
                <a:latin typeface="Consolas"/>
              </a:rPr>
              <a:t>search</a:t>
            </a:r>
          </a:p>
        </p:txBody>
      </p:sp>
      <p:sp>
        <p:nvSpPr>
          <p:cNvPr id="237" name="TextBox 236"/>
          <p:cNvSpPr txBox="1"/>
          <p:nvPr/>
        </p:nvSpPr>
        <p:spPr>
          <a:xfrm>
            <a:off x="7626096" y="1783080"/>
            <a:ext cx="3931920" cy="182880"/>
          </a:xfrm>
          <a:prstGeom prst="rect">
            <a:avLst/>
          </a:prstGeom>
          <a:noFill/>
        </p:spPr>
        <p:txBody>
          <a:bodyPr wrap="square" lIns="0" rIns="0" tIns="0" bIns="0" anchor="t">
            <a:noAutofit/>
          </a:bodyPr>
          <a:lstStyle/>
          <a:p>
            <a:pPr algn="l">
              <a:lnSpc>
                <a:spcPct val="122000"/>
              </a:lnSpc>
            </a:pPr>
            <a:r>
              <a:rPr sz="690" b="0" i="0" spc="130">
                <a:solidFill>
                  <a:srgbClr val="7DD3FC"/>
                </a:solidFill>
                <a:latin typeface="Consolas"/>
              </a:rPr>
              <a:t>SIX REGIONS</a:t>
            </a:r>
          </a:p>
        </p:txBody>
      </p:sp>
      <p:sp>
        <p:nvSpPr>
          <p:cNvPr id="238" name="Oval 237"/>
          <p:cNvSpPr/>
          <p:nvPr/>
        </p:nvSpPr>
        <p:spPr>
          <a:xfrm>
            <a:off x="7626096" y="2029967"/>
            <a:ext cx="201168" cy="201168"/>
          </a:xfrm>
          <a:prstGeom prst="ellipse">
            <a:avLst/>
          </a:prstGeom>
          <a:solidFill>
            <a:srgbClr val="0B1A2A"/>
          </a:solidFill>
          <a:ln w="1016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7626096" y="2043684"/>
            <a:ext cx="201168" cy="128016"/>
          </a:xfrm>
          <a:prstGeom prst="rect">
            <a:avLst/>
          </a:prstGeom>
          <a:noFill/>
        </p:spPr>
        <p:txBody>
          <a:bodyPr wrap="square" lIns="0" rIns="0" tIns="0" bIns="0" anchor="t">
            <a:noAutofit/>
          </a:bodyPr>
          <a:lstStyle/>
          <a:p>
            <a:pPr algn="ctr">
              <a:lnSpc>
                <a:spcPct val="122000"/>
              </a:lnSpc>
            </a:pPr>
            <a:r>
              <a:rPr sz="600" b="1" i="0">
                <a:solidFill>
                  <a:srgbClr val="7DD3FC"/>
                </a:solidFill>
                <a:latin typeface="Consolas"/>
              </a:rPr>
              <a:t>1</a:t>
            </a:r>
          </a:p>
        </p:txBody>
      </p:sp>
      <p:sp>
        <p:nvSpPr>
          <p:cNvPr id="240" name="TextBox 239"/>
          <p:cNvSpPr txBox="1"/>
          <p:nvPr/>
        </p:nvSpPr>
        <p:spPr>
          <a:xfrm>
            <a:off x="7918704" y="2020824"/>
            <a:ext cx="1188720" cy="164592"/>
          </a:xfrm>
          <a:prstGeom prst="rect">
            <a:avLst/>
          </a:prstGeom>
          <a:noFill/>
        </p:spPr>
        <p:txBody>
          <a:bodyPr wrap="square" lIns="0" rIns="0" tIns="0" bIns="0" anchor="t">
            <a:noAutofit/>
          </a:bodyPr>
          <a:lstStyle/>
          <a:p>
            <a:pPr algn="l">
              <a:lnSpc>
                <a:spcPct val="122000"/>
              </a:lnSpc>
            </a:pPr>
            <a:r>
              <a:rPr sz="880" b="1" i="0">
                <a:solidFill>
                  <a:srgbClr val="F4F8FC"/>
                </a:solidFill>
                <a:latin typeface="Segoe UI"/>
              </a:rPr>
              <a:t>Top bar</a:t>
            </a:r>
          </a:p>
        </p:txBody>
      </p:sp>
      <p:sp>
        <p:nvSpPr>
          <p:cNvPr id="241" name="TextBox 240"/>
          <p:cNvSpPr txBox="1"/>
          <p:nvPr/>
        </p:nvSpPr>
        <p:spPr>
          <a:xfrm>
            <a:off x="8997696" y="2029967"/>
            <a:ext cx="2670048" cy="310896"/>
          </a:xfrm>
          <a:prstGeom prst="rect">
            <a:avLst/>
          </a:prstGeom>
          <a:noFill/>
        </p:spPr>
        <p:txBody>
          <a:bodyPr wrap="square" lIns="0" rIns="0" tIns="0" bIns="0" anchor="t">
            <a:noAutofit/>
          </a:bodyPr>
          <a:lstStyle/>
          <a:p>
            <a:pPr algn="l">
              <a:lnSpc>
                <a:spcPct val="124000"/>
              </a:lnSpc>
            </a:pPr>
            <a:r>
              <a:rPr sz="680" b="0" i="0">
                <a:solidFill>
                  <a:srgbClr val="9DB0C6"/>
                </a:solidFill>
                <a:latin typeface="Segoe UI"/>
              </a:rPr>
              <a:t>Estate stats, LIVE pill, search, direction and spacing, relayout, reseed.</a:t>
            </a:r>
          </a:p>
        </p:txBody>
      </p:sp>
      <p:sp>
        <p:nvSpPr>
          <p:cNvPr id="242" name="Oval 241"/>
          <p:cNvSpPr/>
          <p:nvPr/>
        </p:nvSpPr>
        <p:spPr>
          <a:xfrm>
            <a:off x="7626096" y="2651760"/>
            <a:ext cx="201168" cy="201168"/>
          </a:xfrm>
          <a:prstGeom prst="ellipse">
            <a:avLst/>
          </a:prstGeom>
          <a:solidFill>
            <a:srgbClr val="0B1A2A"/>
          </a:solidFill>
          <a:ln w="1016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7626096" y="2665476"/>
            <a:ext cx="201168" cy="128016"/>
          </a:xfrm>
          <a:prstGeom prst="rect">
            <a:avLst/>
          </a:prstGeom>
          <a:noFill/>
        </p:spPr>
        <p:txBody>
          <a:bodyPr wrap="square" lIns="0" rIns="0" tIns="0" bIns="0" anchor="t">
            <a:noAutofit/>
          </a:bodyPr>
          <a:lstStyle/>
          <a:p>
            <a:pPr algn="ctr">
              <a:lnSpc>
                <a:spcPct val="122000"/>
              </a:lnSpc>
            </a:pPr>
            <a:r>
              <a:rPr sz="600" b="1" i="0">
                <a:solidFill>
                  <a:srgbClr val="7DD3FC"/>
                </a:solidFill>
                <a:latin typeface="Consolas"/>
              </a:rPr>
              <a:t>2</a:t>
            </a:r>
          </a:p>
        </p:txBody>
      </p:sp>
      <p:sp>
        <p:nvSpPr>
          <p:cNvPr id="244" name="TextBox 243"/>
          <p:cNvSpPr txBox="1"/>
          <p:nvPr/>
        </p:nvSpPr>
        <p:spPr>
          <a:xfrm>
            <a:off x="7918704" y="2642616"/>
            <a:ext cx="1188720" cy="164592"/>
          </a:xfrm>
          <a:prstGeom prst="rect">
            <a:avLst/>
          </a:prstGeom>
          <a:noFill/>
        </p:spPr>
        <p:txBody>
          <a:bodyPr wrap="square" lIns="0" rIns="0" tIns="0" bIns="0" anchor="t">
            <a:noAutofit/>
          </a:bodyPr>
          <a:lstStyle/>
          <a:p>
            <a:pPr algn="l">
              <a:lnSpc>
                <a:spcPct val="122000"/>
              </a:lnSpc>
            </a:pPr>
            <a:r>
              <a:rPr sz="880" b="1" i="0">
                <a:solidFill>
                  <a:srgbClr val="F4F8FC"/>
                </a:solidFill>
                <a:latin typeface="Segoe UI"/>
              </a:rPr>
              <a:t>Navigator</a:t>
            </a:r>
          </a:p>
        </p:txBody>
      </p:sp>
      <p:sp>
        <p:nvSpPr>
          <p:cNvPr id="245" name="TextBox 244"/>
          <p:cNvSpPr txBox="1"/>
          <p:nvPr/>
        </p:nvSpPr>
        <p:spPr>
          <a:xfrm>
            <a:off x="8997696" y="2651760"/>
            <a:ext cx="2670048" cy="310896"/>
          </a:xfrm>
          <a:prstGeom prst="rect">
            <a:avLst/>
          </a:prstGeom>
          <a:noFill/>
        </p:spPr>
        <p:txBody>
          <a:bodyPr wrap="square" lIns="0" rIns="0" tIns="0" bIns="0" anchor="t">
            <a:noAutofit/>
          </a:bodyPr>
          <a:lstStyle/>
          <a:p>
            <a:pPr algn="l">
              <a:lnSpc>
                <a:spcPct val="124000"/>
              </a:lnSpc>
            </a:pPr>
            <a:r>
              <a:rPr sz="680" b="0" i="0">
                <a:solidFill>
                  <a:srgbClr val="9DB0C6"/>
                </a:solidFill>
                <a:latin typeface="Segoe UI"/>
              </a:rPr>
              <a:t>The tree as a list. Chevron collapses, row click focuses and centres.</a:t>
            </a:r>
          </a:p>
        </p:txBody>
      </p:sp>
      <p:sp>
        <p:nvSpPr>
          <p:cNvPr id="246" name="Oval 245"/>
          <p:cNvSpPr/>
          <p:nvPr/>
        </p:nvSpPr>
        <p:spPr>
          <a:xfrm>
            <a:off x="7626096" y="3273552"/>
            <a:ext cx="201168" cy="201168"/>
          </a:xfrm>
          <a:prstGeom prst="ellipse">
            <a:avLst/>
          </a:prstGeom>
          <a:solidFill>
            <a:srgbClr val="0B1A2A"/>
          </a:solidFill>
          <a:ln w="1016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7626096" y="3287268"/>
            <a:ext cx="201168" cy="128016"/>
          </a:xfrm>
          <a:prstGeom prst="rect">
            <a:avLst/>
          </a:prstGeom>
          <a:noFill/>
        </p:spPr>
        <p:txBody>
          <a:bodyPr wrap="square" lIns="0" rIns="0" tIns="0" bIns="0" anchor="t">
            <a:noAutofit/>
          </a:bodyPr>
          <a:lstStyle/>
          <a:p>
            <a:pPr algn="ctr">
              <a:lnSpc>
                <a:spcPct val="122000"/>
              </a:lnSpc>
            </a:pPr>
            <a:r>
              <a:rPr sz="600" b="1" i="0">
                <a:solidFill>
                  <a:srgbClr val="7DD3FC"/>
                </a:solidFill>
                <a:latin typeface="Consolas"/>
              </a:rPr>
              <a:t>3</a:t>
            </a:r>
          </a:p>
        </p:txBody>
      </p:sp>
      <p:sp>
        <p:nvSpPr>
          <p:cNvPr id="248" name="TextBox 247"/>
          <p:cNvSpPr txBox="1"/>
          <p:nvPr/>
        </p:nvSpPr>
        <p:spPr>
          <a:xfrm>
            <a:off x="7918704" y="3264408"/>
            <a:ext cx="1188720" cy="164592"/>
          </a:xfrm>
          <a:prstGeom prst="rect">
            <a:avLst/>
          </a:prstGeom>
          <a:noFill/>
        </p:spPr>
        <p:txBody>
          <a:bodyPr wrap="square" lIns="0" rIns="0" tIns="0" bIns="0" anchor="t">
            <a:noAutofit/>
          </a:bodyPr>
          <a:lstStyle/>
          <a:p>
            <a:pPr algn="l">
              <a:lnSpc>
                <a:spcPct val="122000"/>
              </a:lnSpc>
            </a:pPr>
            <a:r>
              <a:rPr sz="880" b="1" i="0">
                <a:solidFill>
                  <a:srgbClr val="F4F8FC"/>
                </a:solidFill>
                <a:latin typeface="Segoe UI"/>
              </a:rPr>
              <a:t>Canvas</a:t>
            </a:r>
          </a:p>
        </p:txBody>
      </p:sp>
      <p:sp>
        <p:nvSpPr>
          <p:cNvPr id="249" name="TextBox 248"/>
          <p:cNvSpPr txBox="1"/>
          <p:nvPr/>
        </p:nvSpPr>
        <p:spPr>
          <a:xfrm>
            <a:off x="8997696" y="3273552"/>
            <a:ext cx="2670048" cy="310896"/>
          </a:xfrm>
          <a:prstGeom prst="rect">
            <a:avLst/>
          </a:prstGeom>
          <a:noFill/>
        </p:spPr>
        <p:txBody>
          <a:bodyPr wrap="square" lIns="0" rIns="0" tIns="0" bIns="0" anchor="t">
            <a:noAutofit/>
          </a:bodyPr>
          <a:lstStyle/>
          <a:p>
            <a:pPr algn="l">
              <a:lnSpc>
                <a:spcPct val="124000"/>
              </a:lnSpc>
            </a:pPr>
            <a:r>
              <a:rPr sz="680" b="0" i="0">
                <a:solidFill>
                  <a:srgbClr val="9DB0C6"/>
                </a:solidFill>
                <a:latin typeface="Segoe UI"/>
              </a:rPr>
              <a:t>Compound sub-flows. Rose pulse means critical; dimmed nodes are filtered.</a:t>
            </a:r>
          </a:p>
        </p:txBody>
      </p:sp>
      <p:sp>
        <p:nvSpPr>
          <p:cNvPr id="250" name="Oval 249"/>
          <p:cNvSpPr/>
          <p:nvPr/>
        </p:nvSpPr>
        <p:spPr>
          <a:xfrm>
            <a:off x="7626096" y="3895344"/>
            <a:ext cx="201168" cy="201168"/>
          </a:xfrm>
          <a:prstGeom prst="ellipse">
            <a:avLst/>
          </a:prstGeom>
          <a:solidFill>
            <a:srgbClr val="0B1A2A"/>
          </a:solidFill>
          <a:ln w="1016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7626096" y="3909060"/>
            <a:ext cx="201168" cy="128016"/>
          </a:xfrm>
          <a:prstGeom prst="rect">
            <a:avLst/>
          </a:prstGeom>
          <a:noFill/>
        </p:spPr>
        <p:txBody>
          <a:bodyPr wrap="square" lIns="0" rIns="0" tIns="0" bIns="0" anchor="t">
            <a:noAutofit/>
          </a:bodyPr>
          <a:lstStyle/>
          <a:p>
            <a:pPr algn="ctr">
              <a:lnSpc>
                <a:spcPct val="122000"/>
              </a:lnSpc>
            </a:pPr>
            <a:r>
              <a:rPr sz="600" b="1" i="0">
                <a:solidFill>
                  <a:srgbClr val="7DD3FC"/>
                </a:solidFill>
                <a:latin typeface="Consolas"/>
              </a:rPr>
              <a:t>4</a:t>
            </a:r>
          </a:p>
        </p:txBody>
      </p:sp>
      <p:sp>
        <p:nvSpPr>
          <p:cNvPr id="252" name="TextBox 251"/>
          <p:cNvSpPr txBox="1"/>
          <p:nvPr/>
        </p:nvSpPr>
        <p:spPr>
          <a:xfrm>
            <a:off x="7918704" y="3886200"/>
            <a:ext cx="1188720" cy="164592"/>
          </a:xfrm>
          <a:prstGeom prst="rect">
            <a:avLst/>
          </a:prstGeom>
          <a:noFill/>
        </p:spPr>
        <p:txBody>
          <a:bodyPr wrap="square" lIns="0" rIns="0" tIns="0" bIns="0" anchor="t">
            <a:noAutofit/>
          </a:bodyPr>
          <a:lstStyle/>
          <a:p>
            <a:pPr algn="l">
              <a:lnSpc>
                <a:spcPct val="122000"/>
              </a:lnSpc>
            </a:pPr>
            <a:r>
              <a:rPr sz="880" b="1" i="0">
                <a:solidFill>
                  <a:srgbClr val="F4F8FC"/>
                </a:solidFill>
                <a:latin typeface="Segoe UI"/>
              </a:rPr>
              <a:t>Depth strip</a:t>
            </a:r>
          </a:p>
        </p:txBody>
      </p:sp>
      <p:sp>
        <p:nvSpPr>
          <p:cNvPr id="253" name="TextBox 252"/>
          <p:cNvSpPr txBox="1"/>
          <p:nvPr/>
        </p:nvSpPr>
        <p:spPr>
          <a:xfrm>
            <a:off x="8997696" y="3895344"/>
            <a:ext cx="2670048" cy="310896"/>
          </a:xfrm>
          <a:prstGeom prst="rect">
            <a:avLst/>
          </a:prstGeom>
          <a:noFill/>
        </p:spPr>
        <p:txBody>
          <a:bodyPr wrap="square" lIns="0" rIns="0" tIns="0" bIns="0" anchor="t">
            <a:noAutofit/>
          </a:bodyPr>
          <a:lstStyle/>
          <a:p>
            <a:pPr algn="l">
              <a:lnSpc>
                <a:spcPct val="124000"/>
              </a:lnSpc>
            </a:pPr>
            <a:r>
              <a:rPr sz="680" b="0" i="0">
                <a:solidFill>
                  <a:srgbClr val="9DB0C6"/>
                </a:solidFill>
                <a:latin typeface="Segoe UI"/>
              </a:rPr>
              <a:t>ORG → ALL. Collapses everything deeper than the chosen depth, then fits.</a:t>
            </a:r>
          </a:p>
        </p:txBody>
      </p:sp>
      <p:sp>
        <p:nvSpPr>
          <p:cNvPr id="254" name="Oval 253"/>
          <p:cNvSpPr/>
          <p:nvPr/>
        </p:nvSpPr>
        <p:spPr>
          <a:xfrm>
            <a:off x="7626096" y="4517136"/>
            <a:ext cx="201168" cy="201168"/>
          </a:xfrm>
          <a:prstGeom prst="ellipse">
            <a:avLst/>
          </a:prstGeom>
          <a:solidFill>
            <a:srgbClr val="0B1A2A"/>
          </a:solidFill>
          <a:ln w="1016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7626096" y="4530852"/>
            <a:ext cx="201168" cy="128016"/>
          </a:xfrm>
          <a:prstGeom prst="rect">
            <a:avLst/>
          </a:prstGeom>
          <a:noFill/>
        </p:spPr>
        <p:txBody>
          <a:bodyPr wrap="square" lIns="0" rIns="0" tIns="0" bIns="0" anchor="t">
            <a:noAutofit/>
          </a:bodyPr>
          <a:lstStyle/>
          <a:p>
            <a:pPr algn="ctr">
              <a:lnSpc>
                <a:spcPct val="122000"/>
              </a:lnSpc>
            </a:pPr>
            <a:r>
              <a:rPr sz="600" b="1" i="0">
                <a:solidFill>
                  <a:srgbClr val="7DD3FC"/>
                </a:solidFill>
                <a:latin typeface="Consolas"/>
              </a:rPr>
              <a:t>5</a:t>
            </a:r>
          </a:p>
        </p:txBody>
      </p:sp>
      <p:sp>
        <p:nvSpPr>
          <p:cNvPr id="256" name="TextBox 255"/>
          <p:cNvSpPr txBox="1"/>
          <p:nvPr/>
        </p:nvSpPr>
        <p:spPr>
          <a:xfrm>
            <a:off x="7918704" y="4507992"/>
            <a:ext cx="1188720" cy="164592"/>
          </a:xfrm>
          <a:prstGeom prst="rect">
            <a:avLst/>
          </a:prstGeom>
          <a:noFill/>
        </p:spPr>
        <p:txBody>
          <a:bodyPr wrap="square" lIns="0" rIns="0" tIns="0" bIns="0" anchor="t">
            <a:noAutofit/>
          </a:bodyPr>
          <a:lstStyle/>
          <a:p>
            <a:pPr algn="l">
              <a:lnSpc>
                <a:spcPct val="122000"/>
              </a:lnSpc>
            </a:pPr>
            <a:r>
              <a:rPr sz="880" b="1" i="0">
                <a:solidFill>
                  <a:srgbClr val="F4F8FC"/>
                </a:solidFill>
                <a:latin typeface="Segoe UI"/>
              </a:rPr>
              <a:t>Alert dock</a:t>
            </a:r>
          </a:p>
        </p:txBody>
      </p:sp>
      <p:sp>
        <p:nvSpPr>
          <p:cNvPr id="257" name="TextBox 256"/>
          <p:cNvSpPr txBox="1"/>
          <p:nvPr/>
        </p:nvSpPr>
        <p:spPr>
          <a:xfrm>
            <a:off x="8997696" y="4517136"/>
            <a:ext cx="2670048" cy="310896"/>
          </a:xfrm>
          <a:prstGeom prst="rect">
            <a:avLst/>
          </a:prstGeom>
          <a:noFill/>
        </p:spPr>
        <p:txBody>
          <a:bodyPr wrap="square" lIns="0" rIns="0" tIns="0" bIns="0" anchor="t">
            <a:noAutofit/>
          </a:bodyPr>
          <a:lstStyle/>
          <a:p>
            <a:pPr algn="l">
              <a:lnSpc>
                <a:spcPct val="124000"/>
              </a:lnSpc>
            </a:pPr>
            <a:r>
              <a:rPr sz="680" b="0" i="0">
                <a:solidFill>
                  <a:srgbClr val="9DB0C6"/>
                </a:solidFill>
                <a:latin typeface="Segoe UI"/>
              </a:rPr>
              <a:t>Live events and the CLI executor log, with the unacked count always visible.</a:t>
            </a:r>
          </a:p>
        </p:txBody>
      </p:sp>
      <p:sp>
        <p:nvSpPr>
          <p:cNvPr id="258" name="Oval 257"/>
          <p:cNvSpPr/>
          <p:nvPr/>
        </p:nvSpPr>
        <p:spPr>
          <a:xfrm>
            <a:off x="7626096" y="5138927"/>
            <a:ext cx="201168" cy="201168"/>
          </a:xfrm>
          <a:prstGeom prst="ellipse">
            <a:avLst/>
          </a:prstGeom>
          <a:solidFill>
            <a:srgbClr val="0B1A2A"/>
          </a:solidFill>
          <a:ln w="1016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7626096" y="5152644"/>
            <a:ext cx="201168" cy="128016"/>
          </a:xfrm>
          <a:prstGeom prst="rect">
            <a:avLst/>
          </a:prstGeom>
          <a:noFill/>
        </p:spPr>
        <p:txBody>
          <a:bodyPr wrap="square" lIns="0" rIns="0" tIns="0" bIns="0" anchor="t">
            <a:noAutofit/>
          </a:bodyPr>
          <a:lstStyle/>
          <a:p>
            <a:pPr algn="ctr">
              <a:lnSpc>
                <a:spcPct val="122000"/>
              </a:lnSpc>
            </a:pPr>
            <a:r>
              <a:rPr sz="600" b="1" i="0">
                <a:solidFill>
                  <a:srgbClr val="7DD3FC"/>
                </a:solidFill>
                <a:latin typeface="Consolas"/>
              </a:rPr>
              <a:t>6</a:t>
            </a:r>
          </a:p>
        </p:txBody>
      </p:sp>
      <p:sp>
        <p:nvSpPr>
          <p:cNvPr id="260" name="TextBox 259"/>
          <p:cNvSpPr txBox="1"/>
          <p:nvPr/>
        </p:nvSpPr>
        <p:spPr>
          <a:xfrm>
            <a:off x="7918704" y="5129783"/>
            <a:ext cx="1188720" cy="164592"/>
          </a:xfrm>
          <a:prstGeom prst="rect">
            <a:avLst/>
          </a:prstGeom>
          <a:noFill/>
        </p:spPr>
        <p:txBody>
          <a:bodyPr wrap="square" lIns="0" rIns="0" tIns="0" bIns="0" anchor="t">
            <a:noAutofit/>
          </a:bodyPr>
          <a:lstStyle/>
          <a:p>
            <a:pPr algn="l">
              <a:lnSpc>
                <a:spcPct val="122000"/>
              </a:lnSpc>
            </a:pPr>
            <a:r>
              <a:rPr sz="880" b="1" i="0">
                <a:solidFill>
                  <a:srgbClr val="F4F8FC"/>
                </a:solidFill>
                <a:latin typeface="Segoe UI"/>
              </a:rPr>
              <a:t>Inspector</a:t>
            </a:r>
          </a:p>
        </p:txBody>
      </p:sp>
      <p:sp>
        <p:nvSpPr>
          <p:cNvPr id="261" name="TextBox 260"/>
          <p:cNvSpPr txBox="1"/>
          <p:nvPr/>
        </p:nvSpPr>
        <p:spPr>
          <a:xfrm>
            <a:off x="8997696" y="5138927"/>
            <a:ext cx="2670048" cy="310896"/>
          </a:xfrm>
          <a:prstGeom prst="rect">
            <a:avLst/>
          </a:prstGeom>
          <a:noFill/>
        </p:spPr>
        <p:txBody>
          <a:bodyPr wrap="square" lIns="0" rIns="0" tIns="0" bIns="0" anchor="t">
            <a:noAutofit/>
          </a:bodyPr>
          <a:lstStyle/>
          <a:p>
            <a:pPr algn="l">
              <a:lnSpc>
                <a:spcPct val="124000"/>
              </a:lnSpc>
            </a:pPr>
            <a:r>
              <a:rPr sz="680" b="0" i="0">
                <a:solidFill>
                  <a:srgbClr val="9DB0C6"/>
                </a:solidFill>
                <a:latin typeface="Segoe UI"/>
              </a:rPr>
              <a:t>Overview, metrics, children and CLI for the selected node — the 30-second brief.</a:t>
            </a:r>
          </a:p>
        </p:txBody>
      </p:sp>
      <p:sp>
        <p:nvSpPr>
          <p:cNvPr id="262" name="Rounded Rectangle 261"/>
          <p:cNvSpPr/>
          <p:nvPr/>
        </p:nvSpPr>
        <p:spPr>
          <a:xfrm>
            <a:off x="7626096" y="5413248"/>
            <a:ext cx="3995928" cy="786384"/>
          </a:xfrm>
          <a:prstGeom prst="roundRect">
            <a:avLst>
              <a:gd name="adj" fmla="val 8139"/>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3" name="TextBox 262"/>
          <p:cNvSpPr txBox="1"/>
          <p:nvPr/>
        </p:nvSpPr>
        <p:spPr>
          <a:xfrm>
            <a:off x="7772400" y="5495544"/>
            <a:ext cx="3657600" cy="146304"/>
          </a:xfrm>
          <a:prstGeom prst="rect">
            <a:avLst/>
          </a:prstGeom>
          <a:noFill/>
        </p:spPr>
        <p:txBody>
          <a:bodyPr wrap="square" lIns="0" rIns="0" tIns="0" bIns="0" anchor="t">
            <a:noAutofit/>
          </a:bodyPr>
          <a:lstStyle/>
          <a:p>
            <a:pPr algn="l">
              <a:lnSpc>
                <a:spcPct val="122000"/>
              </a:lnSpc>
            </a:pPr>
            <a:r>
              <a:rPr sz="620" b="0" i="0" spc="110">
                <a:solidFill>
                  <a:srgbClr val="34D399"/>
                </a:solidFill>
                <a:latin typeface="Consolas"/>
              </a:rPr>
              <a:t>DEMO PATH</a:t>
            </a:r>
          </a:p>
        </p:txBody>
      </p:sp>
      <p:sp>
        <p:nvSpPr>
          <p:cNvPr id="264" name="TextBox 263"/>
          <p:cNvSpPr txBox="1"/>
          <p:nvPr/>
        </p:nvSpPr>
        <p:spPr>
          <a:xfrm>
            <a:off x="7772400" y="5660136"/>
            <a:ext cx="3712463" cy="457200"/>
          </a:xfrm>
          <a:prstGeom prst="rect">
            <a:avLst/>
          </a:prstGeom>
          <a:noFill/>
        </p:spPr>
        <p:txBody>
          <a:bodyPr wrap="square" lIns="0" rIns="0" tIns="0" bIns="0" anchor="t">
            <a:noAutofit/>
          </a:bodyPr>
          <a:lstStyle/>
          <a:p>
            <a:pPr algn="l">
              <a:lnSpc>
                <a:spcPct val="125000"/>
              </a:lnSpc>
            </a:pPr>
            <a:r>
              <a:rPr sz="720" b="0" i="0">
                <a:solidFill>
                  <a:srgbClr val="9DB0C6"/>
                </a:solidFill>
                <a:latin typeface="Segoe UI"/>
              </a:rPr>
              <a:t>Press ALL, then INFRA, click the amber pod, open CLI. Depth, focus and action in twenty seconds.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2.1 · DAILY OPERATOR LOOP</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A shift has six steps, and a definition of done</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Same loop every shift: confirm the stream, glance at the estate, triage, inspect, act, close out. If step six is not empty, the shift is not finished.</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ADMINISTRATION</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13 / 27</a:t>
            </a:r>
          </a:p>
        </p:txBody>
      </p:sp>
      <p:sp>
        <p:nvSpPr>
          <p:cNvPr id="11" name="Rounded Rectangle 10"/>
          <p:cNvSpPr/>
          <p:nvPr/>
        </p:nvSpPr>
        <p:spPr>
          <a:xfrm>
            <a:off x="566928" y="1783080"/>
            <a:ext cx="2999232" cy="1389888"/>
          </a:xfrm>
          <a:prstGeom prst="roundRect">
            <a:avLst>
              <a:gd name="adj" fmla="val 526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566928" y="1783080"/>
            <a:ext cx="2999232" cy="32004"/>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13232" y="1911095"/>
            <a:ext cx="384048" cy="164592"/>
          </a:xfrm>
          <a:prstGeom prst="rect">
            <a:avLst/>
          </a:prstGeom>
          <a:noFill/>
        </p:spPr>
        <p:txBody>
          <a:bodyPr wrap="square" lIns="0" rIns="0" tIns="0" bIns="0" anchor="t">
            <a:noAutofit/>
          </a:bodyPr>
          <a:lstStyle/>
          <a:p>
            <a:pPr algn="l">
              <a:lnSpc>
                <a:spcPct val="122000"/>
              </a:lnSpc>
            </a:pPr>
            <a:r>
              <a:rPr sz="840" b="1" i="0">
                <a:solidFill>
                  <a:srgbClr val="7DD3FC"/>
                </a:solidFill>
                <a:latin typeface="Consolas"/>
              </a:rPr>
              <a:t>01</a:t>
            </a:r>
          </a:p>
        </p:txBody>
      </p:sp>
      <p:sp>
        <p:nvSpPr>
          <p:cNvPr id="14" name="TextBox 13"/>
          <p:cNvSpPr txBox="1"/>
          <p:nvPr/>
        </p:nvSpPr>
        <p:spPr>
          <a:xfrm>
            <a:off x="1078992" y="1892807"/>
            <a:ext cx="2359152" cy="182880"/>
          </a:xfrm>
          <a:prstGeom prst="rect">
            <a:avLst/>
          </a:prstGeom>
          <a:noFill/>
        </p:spPr>
        <p:txBody>
          <a:bodyPr wrap="square" lIns="0" rIns="0" tIns="0" bIns="0" anchor="t">
            <a:noAutofit/>
          </a:bodyPr>
          <a:lstStyle/>
          <a:p>
            <a:pPr algn="l">
              <a:lnSpc>
                <a:spcPct val="122000"/>
              </a:lnSpc>
            </a:pPr>
            <a:r>
              <a:rPr sz="1060" b="1" i="0">
                <a:solidFill>
                  <a:srgbClr val="F4F8FC"/>
                </a:solidFill>
                <a:latin typeface="Segoe UI"/>
              </a:rPr>
              <a:t>Stream check</a:t>
            </a:r>
          </a:p>
        </p:txBody>
      </p:sp>
      <p:sp>
        <p:nvSpPr>
          <p:cNvPr id="15" name="TextBox 14"/>
          <p:cNvSpPr txBox="1"/>
          <p:nvPr/>
        </p:nvSpPr>
        <p:spPr>
          <a:xfrm>
            <a:off x="1078992" y="2093976"/>
            <a:ext cx="2359152" cy="128016"/>
          </a:xfrm>
          <a:prstGeom prst="rect">
            <a:avLst/>
          </a:prstGeom>
          <a:noFill/>
        </p:spPr>
        <p:txBody>
          <a:bodyPr wrap="square" lIns="0" rIns="0" tIns="0" bIns="0" anchor="t">
            <a:noAutofit/>
          </a:bodyPr>
          <a:lstStyle/>
          <a:p>
            <a:pPr algn="l">
              <a:lnSpc>
                <a:spcPct val="122000"/>
              </a:lnSpc>
            </a:pPr>
            <a:r>
              <a:rPr sz="610" b="0" i="0" spc="60">
                <a:solidFill>
                  <a:srgbClr val="64748B"/>
                </a:solidFill>
                <a:latin typeface="Consolas"/>
              </a:rPr>
              <a:t>Top bar right</a:t>
            </a:r>
          </a:p>
        </p:txBody>
      </p:sp>
      <p:sp>
        <p:nvSpPr>
          <p:cNvPr id="16" name="TextBox 15"/>
          <p:cNvSpPr txBox="1"/>
          <p:nvPr/>
        </p:nvSpPr>
        <p:spPr>
          <a:xfrm>
            <a:off x="713232" y="2276856"/>
            <a:ext cx="2706624" cy="512064"/>
          </a:xfrm>
          <a:prstGeom prst="rect">
            <a:avLst/>
          </a:prstGeom>
          <a:noFill/>
        </p:spPr>
        <p:txBody>
          <a:bodyPr wrap="square" lIns="0" rIns="0" tIns="0" bIns="0" anchor="t">
            <a:noAutofit/>
          </a:bodyPr>
          <a:lstStyle/>
          <a:p>
            <a:pPr algn="l">
              <a:lnSpc>
                <a:spcPct val="126000"/>
              </a:lnSpc>
            </a:pPr>
            <a:r>
              <a:rPr sz="770" b="0" i="0">
                <a:solidFill>
                  <a:srgbClr val="9DB0C6"/>
                </a:solidFill>
                <a:latin typeface="Segoe UI"/>
              </a:rPr>
              <a:t>LIVE green, stream open, tick advancing every ~2 s, “last tick” in seconds.</a:t>
            </a:r>
          </a:p>
        </p:txBody>
      </p:sp>
      <p:cxnSp>
        <p:nvCxnSpPr>
          <p:cNvPr id="17" name="Connector 16"/>
          <p:cNvCxnSpPr/>
          <p:nvPr/>
        </p:nvCxnSpPr>
        <p:spPr>
          <a:xfrm>
            <a:off x="713232" y="2788920"/>
            <a:ext cx="2706624"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13232" y="2843784"/>
            <a:ext cx="2706624" cy="274320"/>
          </a:xfrm>
          <a:prstGeom prst="rect">
            <a:avLst/>
          </a:prstGeom>
          <a:noFill/>
        </p:spPr>
        <p:txBody>
          <a:bodyPr wrap="square" lIns="0" rIns="0" tIns="0" bIns="0" anchor="t">
            <a:noAutofit/>
          </a:bodyPr>
          <a:lstStyle/>
          <a:p>
            <a:pPr algn="l">
              <a:lnSpc>
                <a:spcPct val="122000"/>
              </a:lnSpc>
            </a:pPr>
            <a:r>
              <a:rPr sz="640" b="0" i="0">
                <a:solidFill>
                  <a:srgbClr val="64748B"/>
                </a:solidFill>
                <a:latin typeface="Segoe UI"/>
              </a:rPr>
              <a:t>If closed: toggle LIVE, watch the stream state, check proxy buffering.</a:t>
            </a:r>
          </a:p>
        </p:txBody>
      </p:sp>
      <p:cxnSp>
        <p:nvCxnSpPr>
          <p:cNvPr id="19" name="Connector 18"/>
          <p:cNvCxnSpPr/>
          <p:nvPr/>
        </p:nvCxnSpPr>
        <p:spPr>
          <a:xfrm>
            <a:off x="3584448" y="2478024"/>
            <a:ext cx="146304"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749039" y="1783080"/>
            <a:ext cx="2999232" cy="1389888"/>
          </a:xfrm>
          <a:prstGeom prst="roundRect">
            <a:avLst>
              <a:gd name="adj" fmla="val 526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Rectangle 20"/>
          <p:cNvSpPr/>
          <p:nvPr/>
        </p:nvSpPr>
        <p:spPr>
          <a:xfrm>
            <a:off x="3749039" y="1783080"/>
            <a:ext cx="2999232" cy="32004"/>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3895344" y="1911095"/>
            <a:ext cx="384048" cy="164592"/>
          </a:xfrm>
          <a:prstGeom prst="rect">
            <a:avLst/>
          </a:prstGeom>
          <a:noFill/>
        </p:spPr>
        <p:txBody>
          <a:bodyPr wrap="square" lIns="0" rIns="0" tIns="0" bIns="0" anchor="t">
            <a:noAutofit/>
          </a:bodyPr>
          <a:lstStyle/>
          <a:p>
            <a:pPr algn="l">
              <a:lnSpc>
                <a:spcPct val="122000"/>
              </a:lnSpc>
            </a:pPr>
            <a:r>
              <a:rPr sz="840" b="1" i="0">
                <a:solidFill>
                  <a:srgbClr val="7DD3FC"/>
                </a:solidFill>
                <a:latin typeface="Consolas"/>
              </a:rPr>
              <a:t>02</a:t>
            </a:r>
          </a:p>
        </p:txBody>
      </p:sp>
      <p:sp>
        <p:nvSpPr>
          <p:cNvPr id="23" name="TextBox 22"/>
          <p:cNvSpPr txBox="1"/>
          <p:nvPr/>
        </p:nvSpPr>
        <p:spPr>
          <a:xfrm>
            <a:off x="4261104" y="1892807"/>
            <a:ext cx="2359152" cy="182880"/>
          </a:xfrm>
          <a:prstGeom prst="rect">
            <a:avLst/>
          </a:prstGeom>
          <a:noFill/>
        </p:spPr>
        <p:txBody>
          <a:bodyPr wrap="square" lIns="0" rIns="0" tIns="0" bIns="0" anchor="t">
            <a:noAutofit/>
          </a:bodyPr>
          <a:lstStyle/>
          <a:p>
            <a:pPr algn="l">
              <a:lnSpc>
                <a:spcPct val="122000"/>
              </a:lnSpc>
            </a:pPr>
            <a:r>
              <a:rPr sz="1060" b="1" i="0">
                <a:solidFill>
                  <a:srgbClr val="F4F8FC"/>
                </a:solidFill>
                <a:latin typeface="Segoe UI"/>
              </a:rPr>
              <a:t>Estate glance</a:t>
            </a:r>
          </a:p>
        </p:txBody>
      </p:sp>
      <p:sp>
        <p:nvSpPr>
          <p:cNvPr id="24" name="TextBox 23"/>
          <p:cNvSpPr txBox="1"/>
          <p:nvPr/>
        </p:nvSpPr>
        <p:spPr>
          <a:xfrm>
            <a:off x="4261104" y="2093976"/>
            <a:ext cx="2359152" cy="128016"/>
          </a:xfrm>
          <a:prstGeom prst="rect">
            <a:avLst/>
          </a:prstGeom>
          <a:noFill/>
        </p:spPr>
        <p:txBody>
          <a:bodyPr wrap="square" lIns="0" rIns="0" tIns="0" bIns="0" anchor="t">
            <a:noAutofit/>
          </a:bodyPr>
          <a:lstStyle/>
          <a:p>
            <a:pPr algn="l">
              <a:lnSpc>
                <a:spcPct val="122000"/>
              </a:lnSpc>
            </a:pPr>
            <a:r>
              <a:rPr sz="610" b="0" i="0" spc="60">
                <a:solidFill>
                  <a:srgbClr val="64748B"/>
                </a:solidFill>
                <a:latin typeface="Consolas"/>
              </a:rPr>
              <a:t>Stat tiles</a:t>
            </a:r>
          </a:p>
        </p:txBody>
      </p:sp>
      <p:sp>
        <p:nvSpPr>
          <p:cNvPr id="25" name="TextBox 24"/>
          <p:cNvSpPr txBox="1"/>
          <p:nvPr/>
        </p:nvSpPr>
        <p:spPr>
          <a:xfrm>
            <a:off x="3895344" y="2276856"/>
            <a:ext cx="2706624" cy="512064"/>
          </a:xfrm>
          <a:prstGeom prst="rect">
            <a:avLst/>
          </a:prstGeom>
          <a:noFill/>
        </p:spPr>
        <p:txBody>
          <a:bodyPr wrap="square" lIns="0" rIns="0" tIns="0" bIns="0" anchor="t">
            <a:noAutofit/>
          </a:bodyPr>
          <a:lstStyle/>
          <a:p>
            <a:pPr algn="l">
              <a:lnSpc>
                <a:spcPct val="126000"/>
              </a:lnSpc>
            </a:pPr>
            <a:r>
              <a:rPr sz="770" b="0" i="0">
                <a:solidFill>
                  <a:srgbClr val="9DB0C6"/>
                </a:solidFill>
                <a:latin typeface="Segoe UI"/>
              </a:rPr>
              <a:t>Critical 0, degraded 0–2, avg CPU under 70%, p99 inside SLO, error rate under 0.4%.</a:t>
            </a:r>
          </a:p>
        </p:txBody>
      </p:sp>
      <p:cxnSp>
        <p:nvCxnSpPr>
          <p:cNvPr id="26" name="Connector 25"/>
          <p:cNvCxnSpPr/>
          <p:nvPr/>
        </p:nvCxnSpPr>
        <p:spPr>
          <a:xfrm>
            <a:off x="3895344" y="2788920"/>
            <a:ext cx="2706623"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895344" y="2843784"/>
            <a:ext cx="2706624" cy="274320"/>
          </a:xfrm>
          <a:prstGeom prst="rect">
            <a:avLst/>
          </a:prstGeom>
          <a:noFill/>
        </p:spPr>
        <p:txBody>
          <a:bodyPr wrap="square" lIns="0" rIns="0" tIns="0" bIns="0" anchor="t">
            <a:noAutofit/>
          </a:bodyPr>
          <a:lstStyle/>
          <a:p>
            <a:pPr algn="l">
              <a:lnSpc>
                <a:spcPct val="122000"/>
              </a:lnSpc>
            </a:pPr>
            <a:r>
              <a:rPr sz="640" b="0" i="0">
                <a:solidFill>
                  <a:srgbClr val="64748B"/>
                </a:solidFill>
                <a:latin typeface="Segoe UI"/>
              </a:rPr>
              <a:t>If critical &gt; 0: go straight to the rose node, before looking at anything else.</a:t>
            </a:r>
          </a:p>
        </p:txBody>
      </p:sp>
      <p:cxnSp>
        <p:nvCxnSpPr>
          <p:cNvPr id="28" name="Connector 27"/>
          <p:cNvCxnSpPr/>
          <p:nvPr/>
        </p:nvCxnSpPr>
        <p:spPr>
          <a:xfrm>
            <a:off x="6766559" y="2478024"/>
            <a:ext cx="146304"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931152" y="1783080"/>
            <a:ext cx="2999232" cy="1389888"/>
          </a:xfrm>
          <a:prstGeom prst="roundRect">
            <a:avLst>
              <a:gd name="adj" fmla="val 526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Rectangle 29"/>
          <p:cNvSpPr/>
          <p:nvPr/>
        </p:nvSpPr>
        <p:spPr>
          <a:xfrm>
            <a:off x="6931152" y="1783080"/>
            <a:ext cx="2999232" cy="3200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7077456" y="1911095"/>
            <a:ext cx="384048" cy="164592"/>
          </a:xfrm>
          <a:prstGeom prst="rect">
            <a:avLst/>
          </a:prstGeom>
          <a:noFill/>
        </p:spPr>
        <p:txBody>
          <a:bodyPr wrap="square" lIns="0" rIns="0" tIns="0" bIns="0" anchor="t">
            <a:noAutofit/>
          </a:bodyPr>
          <a:lstStyle/>
          <a:p>
            <a:pPr algn="l">
              <a:lnSpc>
                <a:spcPct val="122000"/>
              </a:lnSpc>
            </a:pPr>
            <a:r>
              <a:rPr sz="840" b="1" i="0">
                <a:solidFill>
                  <a:srgbClr val="FBBF24"/>
                </a:solidFill>
                <a:latin typeface="Consolas"/>
              </a:rPr>
              <a:t>03</a:t>
            </a:r>
          </a:p>
        </p:txBody>
      </p:sp>
      <p:sp>
        <p:nvSpPr>
          <p:cNvPr id="32" name="TextBox 31"/>
          <p:cNvSpPr txBox="1"/>
          <p:nvPr/>
        </p:nvSpPr>
        <p:spPr>
          <a:xfrm>
            <a:off x="7443216" y="1892807"/>
            <a:ext cx="2359152" cy="182880"/>
          </a:xfrm>
          <a:prstGeom prst="rect">
            <a:avLst/>
          </a:prstGeom>
          <a:noFill/>
        </p:spPr>
        <p:txBody>
          <a:bodyPr wrap="square" lIns="0" rIns="0" tIns="0" bIns="0" anchor="t">
            <a:noAutofit/>
          </a:bodyPr>
          <a:lstStyle/>
          <a:p>
            <a:pPr algn="l">
              <a:lnSpc>
                <a:spcPct val="122000"/>
              </a:lnSpc>
            </a:pPr>
            <a:r>
              <a:rPr sz="1060" b="1" i="0">
                <a:solidFill>
                  <a:srgbClr val="F4F8FC"/>
                </a:solidFill>
                <a:latin typeface="Segoe UI"/>
              </a:rPr>
              <a:t>Triage</a:t>
            </a:r>
          </a:p>
        </p:txBody>
      </p:sp>
      <p:sp>
        <p:nvSpPr>
          <p:cNvPr id="33" name="TextBox 32"/>
          <p:cNvSpPr txBox="1"/>
          <p:nvPr/>
        </p:nvSpPr>
        <p:spPr>
          <a:xfrm>
            <a:off x="7443216" y="2093976"/>
            <a:ext cx="2359152" cy="128016"/>
          </a:xfrm>
          <a:prstGeom prst="rect">
            <a:avLst/>
          </a:prstGeom>
          <a:noFill/>
        </p:spPr>
        <p:txBody>
          <a:bodyPr wrap="square" lIns="0" rIns="0" tIns="0" bIns="0" anchor="t">
            <a:noAutofit/>
          </a:bodyPr>
          <a:lstStyle/>
          <a:p>
            <a:pPr algn="l">
              <a:lnSpc>
                <a:spcPct val="122000"/>
              </a:lnSpc>
            </a:pPr>
            <a:r>
              <a:rPr sz="610" b="0" i="0" spc="60">
                <a:solidFill>
                  <a:srgbClr val="64748B"/>
                </a:solidFill>
                <a:latin typeface="Consolas"/>
              </a:rPr>
              <a:t>Canvas</a:t>
            </a:r>
          </a:p>
        </p:txBody>
      </p:sp>
      <p:sp>
        <p:nvSpPr>
          <p:cNvPr id="34" name="TextBox 33"/>
          <p:cNvSpPr txBox="1"/>
          <p:nvPr/>
        </p:nvSpPr>
        <p:spPr>
          <a:xfrm>
            <a:off x="7077456" y="2276856"/>
            <a:ext cx="2706624" cy="512064"/>
          </a:xfrm>
          <a:prstGeom prst="rect">
            <a:avLst/>
          </a:prstGeom>
          <a:noFill/>
        </p:spPr>
        <p:txBody>
          <a:bodyPr wrap="square" lIns="0" rIns="0" tIns="0" bIns="0" anchor="t">
            <a:noAutofit/>
          </a:bodyPr>
          <a:lstStyle/>
          <a:p>
            <a:pPr algn="l">
              <a:lnSpc>
                <a:spcPct val="126000"/>
              </a:lnSpc>
            </a:pPr>
            <a:r>
              <a:rPr sz="770" b="0" i="0">
                <a:solidFill>
                  <a:srgbClr val="9DB0C6"/>
                </a:solidFill>
                <a:latin typeface="Segoe UI"/>
              </a:rPr>
              <a:t>No rose pulse. Amber nodes get clicked first; dimmed nodes are filtered, not gone.</a:t>
            </a:r>
          </a:p>
        </p:txBody>
      </p:sp>
      <p:cxnSp>
        <p:nvCxnSpPr>
          <p:cNvPr id="35" name="Connector 34"/>
          <p:cNvCxnSpPr/>
          <p:nvPr/>
        </p:nvCxnSpPr>
        <p:spPr>
          <a:xfrm>
            <a:off x="7077456" y="2788920"/>
            <a:ext cx="2706624"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077456" y="2843784"/>
            <a:ext cx="2706624" cy="274320"/>
          </a:xfrm>
          <a:prstGeom prst="rect">
            <a:avLst/>
          </a:prstGeom>
          <a:noFill/>
        </p:spPr>
        <p:txBody>
          <a:bodyPr wrap="square" lIns="0" rIns="0" tIns="0" bIns="0" anchor="t">
            <a:noAutofit/>
          </a:bodyPr>
          <a:lstStyle/>
          <a:p>
            <a:pPr algn="l">
              <a:lnSpc>
                <a:spcPct val="122000"/>
              </a:lnSpc>
            </a:pPr>
            <a:r>
              <a:rPr sz="640" b="0" i="0">
                <a:solidFill>
                  <a:srgbClr val="64748B"/>
                </a:solidFill>
                <a:latin typeface="Segoe UI"/>
              </a:rPr>
              <a:t>If amber: note the chip (runtime, region, owner) before opening the inspector.</a:t>
            </a:r>
          </a:p>
        </p:txBody>
      </p:sp>
      <p:sp>
        <p:nvSpPr>
          <p:cNvPr id="37" name="Rounded Rectangle 36"/>
          <p:cNvSpPr/>
          <p:nvPr/>
        </p:nvSpPr>
        <p:spPr>
          <a:xfrm>
            <a:off x="566928" y="3319272"/>
            <a:ext cx="2999232" cy="1389888"/>
          </a:xfrm>
          <a:prstGeom prst="roundRect">
            <a:avLst>
              <a:gd name="adj" fmla="val 526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Rectangle 37"/>
          <p:cNvSpPr/>
          <p:nvPr/>
        </p:nvSpPr>
        <p:spPr>
          <a:xfrm>
            <a:off x="566928" y="3319272"/>
            <a:ext cx="2999232" cy="3200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713232" y="3447288"/>
            <a:ext cx="384048" cy="164592"/>
          </a:xfrm>
          <a:prstGeom prst="rect">
            <a:avLst/>
          </a:prstGeom>
          <a:noFill/>
        </p:spPr>
        <p:txBody>
          <a:bodyPr wrap="square" lIns="0" rIns="0" tIns="0" bIns="0" anchor="t">
            <a:noAutofit/>
          </a:bodyPr>
          <a:lstStyle/>
          <a:p>
            <a:pPr algn="l">
              <a:lnSpc>
                <a:spcPct val="122000"/>
              </a:lnSpc>
            </a:pPr>
            <a:r>
              <a:rPr sz="840" b="1" i="0">
                <a:solidFill>
                  <a:srgbClr val="FBBF24"/>
                </a:solidFill>
                <a:latin typeface="Consolas"/>
              </a:rPr>
              <a:t>04</a:t>
            </a:r>
          </a:p>
        </p:txBody>
      </p:sp>
      <p:sp>
        <p:nvSpPr>
          <p:cNvPr id="40" name="TextBox 39"/>
          <p:cNvSpPr txBox="1"/>
          <p:nvPr/>
        </p:nvSpPr>
        <p:spPr>
          <a:xfrm>
            <a:off x="1078992" y="3429000"/>
            <a:ext cx="2359152" cy="182880"/>
          </a:xfrm>
          <a:prstGeom prst="rect">
            <a:avLst/>
          </a:prstGeom>
          <a:noFill/>
        </p:spPr>
        <p:txBody>
          <a:bodyPr wrap="square" lIns="0" rIns="0" tIns="0" bIns="0" anchor="t">
            <a:noAutofit/>
          </a:bodyPr>
          <a:lstStyle/>
          <a:p>
            <a:pPr algn="l">
              <a:lnSpc>
                <a:spcPct val="122000"/>
              </a:lnSpc>
            </a:pPr>
            <a:r>
              <a:rPr sz="1060" b="1" i="0">
                <a:solidFill>
                  <a:srgbClr val="F4F8FC"/>
                </a:solidFill>
                <a:latin typeface="Segoe UI"/>
              </a:rPr>
              <a:t>Inspect</a:t>
            </a:r>
          </a:p>
        </p:txBody>
      </p:sp>
      <p:sp>
        <p:nvSpPr>
          <p:cNvPr id="41" name="TextBox 40"/>
          <p:cNvSpPr txBox="1"/>
          <p:nvPr/>
        </p:nvSpPr>
        <p:spPr>
          <a:xfrm>
            <a:off x="1078992" y="3630168"/>
            <a:ext cx="2359152" cy="128016"/>
          </a:xfrm>
          <a:prstGeom prst="rect">
            <a:avLst/>
          </a:prstGeom>
          <a:noFill/>
        </p:spPr>
        <p:txBody>
          <a:bodyPr wrap="square" lIns="0" rIns="0" tIns="0" bIns="0" anchor="t">
            <a:noAutofit/>
          </a:bodyPr>
          <a:lstStyle/>
          <a:p>
            <a:pPr algn="l">
              <a:lnSpc>
                <a:spcPct val="122000"/>
              </a:lnSpc>
            </a:pPr>
            <a:r>
              <a:rPr sz="610" b="0" i="0" spc="60">
                <a:solidFill>
                  <a:srgbClr val="64748B"/>
                </a:solidFill>
                <a:latin typeface="Consolas"/>
              </a:rPr>
              <a:t>Inspector · overview</a:t>
            </a:r>
          </a:p>
        </p:txBody>
      </p:sp>
      <p:sp>
        <p:nvSpPr>
          <p:cNvPr id="42" name="TextBox 41"/>
          <p:cNvSpPr txBox="1"/>
          <p:nvPr/>
        </p:nvSpPr>
        <p:spPr>
          <a:xfrm>
            <a:off x="713232" y="3813048"/>
            <a:ext cx="2706624" cy="512064"/>
          </a:xfrm>
          <a:prstGeom prst="rect">
            <a:avLst/>
          </a:prstGeom>
          <a:noFill/>
        </p:spPr>
        <p:txBody>
          <a:bodyPr wrap="square" lIns="0" rIns="0" tIns="0" bIns="0" anchor="t">
            <a:noAutofit/>
          </a:bodyPr>
          <a:lstStyle/>
          <a:p>
            <a:pPr algn="l">
              <a:lnSpc>
                <a:spcPct val="126000"/>
              </a:lnSpc>
            </a:pPr>
            <a:r>
              <a:rPr sz="770" b="0" i="0">
                <a:solidFill>
                  <a:srgbClr val="9DB0C6"/>
                </a:solidFill>
                <a:latin typeface="Segoe UI"/>
              </a:rPr>
              <a:t>Gauges and sparklines agree, subtree health lists only known offenders, update is fresh.</a:t>
            </a:r>
          </a:p>
        </p:txBody>
      </p:sp>
      <p:cxnSp>
        <p:nvCxnSpPr>
          <p:cNvPr id="43" name="Connector 42"/>
          <p:cNvCxnSpPr/>
          <p:nvPr/>
        </p:nvCxnSpPr>
        <p:spPr>
          <a:xfrm>
            <a:off x="713232" y="4325112"/>
            <a:ext cx="2706624"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13232" y="4379976"/>
            <a:ext cx="2706624" cy="274320"/>
          </a:xfrm>
          <a:prstGeom prst="rect">
            <a:avLst/>
          </a:prstGeom>
          <a:noFill/>
        </p:spPr>
        <p:txBody>
          <a:bodyPr wrap="square" lIns="0" rIns="0" tIns="0" bIns="0" anchor="t">
            <a:noAutofit/>
          </a:bodyPr>
          <a:lstStyle/>
          <a:p>
            <a:pPr algn="l">
              <a:lnSpc>
                <a:spcPct val="122000"/>
              </a:lnSpc>
            </a:pPr>
            <a:r>
              <a:rPr sz="640" b="0" i="0">
                <a:solidFill>
                  <a:srgbClr val="64748B"/>
                </a:solidFill>
                <a:latin typeface="Segoe UI"/>
              </a:rPr>
              <a:t>If stale: the collector is the suspect, not the workload. Check source and age.</a:t>
            </a:r>
          </a:p>
        </p:txBody>
      </p:sp>
      <p:cxnSp>
        <p:nvCxnSpPr>
          <p:cNvPr id="45" name="Connector 44"/>
          <p:cNvCxnSpPr/>
          <p:nvPr/>
        </p:nvCxnSpPr>
        <p:spPr>
          <a:xfrm>
            <a:off x="3584448" y="4014215"/>
            <a:ext cx="146304"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3749039" y="3319272"/>
            <a:ext cx="2999232" cy="1389888"/>
          </a:xfrm>
          <a:prstGeom prst="roundRect">
            <a:avLst>
              <a:gd name="adj" fmla="val 526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7" name="Rectangle 46"/>
          <p:cNvSpPr/>
          <p:nvPr/>
        </p:nvSpPr>
        <p:spPr>
          <a:xfrm>
            <a:off x="3749039" y="3319272"/>
            <a:ext cx="2999232" cy="3200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TextBox 47"/>
          <p:cNvSpPr txBox="1"/>
          <p:nvPr/>
        </p:nvSpPr>
        <p:spPr>
          <a:xfrm>
            <a:off x="3895344" y="3447288"/>
            <a:ext cx="384048" cy="164592"/>
          </a:xfrm>
          <a:prstGeom prst="rect">
            <a:avLst/>
          </a:prstGeom>
          <a:noFill/>
        </p:spPr>
        <p:txBody>
          <a:bodyPr wrap="square" lIns="0" rIns="0" tIns="0" bIns="0" anchor="t">
            <a:noAutofit/>
          </a:bodyPr>
          <a:lstStyle/>
          <a:p>
            <a:pPr algn="l">
              <a:lnSpc>
                <a:spcPct val="122000"/>
              </a:lnSpc>
            </a:pPr>
            <a:r>
              <a:rPr sz="840" b="1" i="0">
                <a:solidFill>
                  <a:srgbClr val="A78BFA"/>
                </a:solidFill>
                <a:latin typeface="Consolas"/>
              </a:rPr>
              <a:t>05</a:t>
            </a:r>
          </a:p>
        </p:txBody>
      </p:sp>
      <p:sp>
        <p:nvSpPr>
          <p:cNvPr id="49" name="TextBox 48"/>
          <p:cNvSpPr txBox="1"/>
          <p:nvPr/>
        </p:nvSpPr>
        <p:spPr>
          <a:xfrm>
            <a:off x="4261104" y="3429000"/>
            <a:ext cx="2359152" cy="182880"/>
          </a:xfrm>
          <a:prstGeom prst="rect">
            <a:avLst/>
          </a:prstGeom>
          <a:noFill/>
        </p:spPr>
        <p:txBody>
          <a:bodyPr wrap="square" lIns="0" rIns="0" tIns="0" bIns="0" anchor="t">
            <a:noAutofit/>
          </a:bodyPr>
          <a:lstStyle/>
          <a:p>
            <a:pPr algn="l">
              <a:lnSpc>
                <a:spcPct val="122000"/>
              </a:lnSpc>
            </a:pPr>
            <a:r>
              <a:rPr sz="1060" b="1" i="0">
                <a:solidFill>
                  <a:srgbClr val="F4F8FC"/>
                </a:solidFill>
                <a:latin typeface="Segoe UI"/>
              </a:rPr>
              <a:t>Act</a:t>
            </a:r>
          </a:p>
        </p:txBody>
      </p:sp>
      <p:sp>
        <p:nvSpPr>
          <p:cNvPr id="50" name="TextBox 49"/>
          <p:cNvSpPr txBox="1"/>
          <p:nvPr/>
        </p:nvSpPr>
        <p:spPr>
          <a:xfrm>
            <a:off x="4261104" y="3630168"/>
            <a:ext cx="2359152" cy="128016"/>
          </a:xfrm>
          <a:prstGeom prst="rect">
            <a:avLst/>
          </a:prstGeom>
          <a:noFill/>
        </p:spPr>
        <p:txBody>
          <a:bodyPr wrap="square" lIns="0" rIns="0" tIns="0" bIns="0" anchor="t">
            <a:noAutofit/>
          </a:bodyPr>
          <a:lstStyle/>
          <a:p>
            <a:pPr algn="l">
              <a:lnSpc>
                <a:spcPct val="122000"/>
              </a:lnSpc>
            </a:pPr>
            <a:r>
              <a:rPr sz="610" b="0" i="0" spc="60">
                <a:solidFill>
                  <a:srgbClr val="64748B"/>
                </a:solidFill>
                <a:latin typeface="Consolas"/>
              </a:rPr>
              <a:t>Inspector · CLI</a:t>
            </a:r>
          </a:p>
        </p:txBody>
      </p:sp>
      <p:sp>
        <p:nvSpPr>
          <p:cNvPr id="51" name="TextBox 50"/>
          <p:cNvSpPr txBox="1"/>
          <p:nvPr/>
        </p:nvSpPr>
        <p:spPr>
          <a:xfrm>
            <a:off x="3895344" y="3813048"/>
            <a:ext cx="2706624" cy="512064"/>
          </a:xfrm>
          <a:prstGeom prst="rect">
            <a:avLst/>
          </a:prstGeom>
          <a:noFill/>
        </p:spPr>
        <p:txBody>
          <a:bodyPr wrap="square" lIns="0" rIns="0" tIns="0" bIns="0" anchor="t">
            <a:noAutofit/>
          </a:bodyPr>
          <a:lstStyle/>
          <a:p>
            <a:pPr algn="l">
              <a:lnSpc>
                <a:spcPct val="126000"/>
              </a:lnSpc>
            </a:pPr>
            <a:r>
              <a:rPr sz="770" b="0" i="0">
                <a:solidFill>
                  <a:srgbClr val="9DB0C6"/>
                </a:solidFill>
                <a:latin typeface="Segoe UI"/>
              </a:rPr>
              <a:t>Snapshot before restart, scale before failover, drain before host work — watch the stream.</a:t>
            </a:r>
          </a:p>
        </p:txBody>
      </p:sp>
      <p:cxnSp>
        <p:nvCxnSpPr>
          <p:cNvPr id="52" name="Connector 51"/>
          <p:cNvCxnSpPr/>
          <p:nvPr/>
        </p:nvCxnSpPr>
        <p:spPr>
          <a:xfrm>
            <a:off x="3895344" y="4325112"/>
            <a:ext cx="2706623"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895344" y="4379976"/>
            <a:ext cx="2706624" cy="274320"/>
          </a:xfrm>
          <a:prstGeom prst="rect">
            <a:avLst/>
          </a:prstGeom>
          <a:noFill/>
        </p:spPr>
        <p:txBody>
          <a:bodyPr wrap="square" lIns="0" rIns="0" tIns="0" bIns="0" anchor="t">
            <a:noAutofit/>
          </a:bodyPr>
          <a:lstStyle/>
          <a:p>
            <a:pPr algn="l">
              <a:lnSpc>
                <a:spcPct val="122000"/>
              </a:lnSpc>
            </a:pPr>
            <a:r>
              <a:rPr sz="640" b="0" i="0">
                <a:solidFill>
                  <a:srgbClr val="64748B"/>
                </a:solidFill>
                <a:latin typeface="Segoe UI"/>
              </a:rPr>
              <a:t>If a privileged run fails: it failed closed. Nothing changed; capture the exit code.</a:t>
            </a:r>
          </a:p>
        </p:txBody>
      </p:sp>
      <p:cxnSp>
        <p:nvCxnSpPr>
          <p:cNvPr id="54" name="Connector 53"/>
          <p:cNvCxnSpPr/>
          <p:nvPr/>
        </p:nvCxnSpPr>
        <p:spPr>
          <a:xfrm>
            <a:off x="6766559" y="4014215"/>
            <a:ext cx="146304"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6931152" y="3319272"/>
            <a:ext cx="2999232" cy="1389888"/>
          </a:xfrm>
          <a:prstGeom prst="roundRect">
            <a:avLst>
              <a:gd name="adj" fmla="val 526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6" name="Rectangle 55"/>
          <p:cNvSpPr/>
          <p:nvPr/>
        </p:nvSpPr>
        <p:spPr>
          <a:xfrm>
            <a:off x="6931152" y="3319272"/>
            <a:ext cx="2999232" cy="3200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7" name="TextBox 56"/>
          <p:cNvSpPr txBox="1"/>
          <p:nvPr/>
        </p:nvSpPr>
        <p:spPr>
          <a:xfrm>
            <a:off x="7077456" y="3447288"/>
            <a:ext cx="384048" cy="164592"/>
          </a:xfrm>
          <a:prstGeom prst="rect">
            <a:avLst/>
          </a:prstGeom>
          <a:noFill/>
        </p:spPr>
        <p:txBody>
          <a:bodyPr wrap="square" lIns="0" rIns="0" tIns="0" bIns="0" anchor="t">
            <a:noAutofit/>
          </a:bodyPr>
          <a:lstStyle/>
          <a:p>
            <a:pPr algn="l">
              <a:lnSpc>
                <a:spcPct val="122000"/>
              </a:lnSpc>
            </a:pPr>
            <a:r>
              <a:rPr sz="840" b="1" i="0">
                <a:solidFill>
                  <a:srgbClr val="34D399"/>
                </a:solidFill>
                <a:latin typeface="Consolas"/>
              </a:rPr>
              <a:t>06</a:t>
            </a:r>
          </a:p>
        </p:txBody>
      </p:sp>
      <p:sp>
        <p:nvSpPr>
          <p:cNvPr id="58" name="TextBox 57"/>
          <p:cNvSpPr txBox="1"/>
          <p:nvPr/>
        </p:nvSpPr>
        <p:spPr>
          <a:xfrm>
            <a:off x="7443216" y="3429000"/>
            <a:ext cx="2359152" cy="182880"/>
          </a:xfrm>
          <a:prstGeom prst="rect">
            <a:avLst/>
          </a:prstGeom>
          <a:noFill/>
        </p:spPr>
        <p:txBody>
          <a:bodyPr wrap="square" lIns="0" rIns="0" tIns="0" bIns="0" anchor="t">
            <a:noAutofit/>
          </a:bodyPr>
          <a:lstStyle/>
          <a:p>
            <a:pPr algn="l">
              <a:lnSpc>
                <a:spcPct val="122000"/>
              </a:lnSpc>
            </a:pPr>
            <a:r>
              <a:rPr sz="1060" b="1" i="0">
                <a:solidFill>
                  <a:srgbClr val="F4F8FC"/>
                </a:solidFill>
                <a:latin typeface="Segoe UI"/>
              </a:rPr>
              <a:t>Close out</a:t>
            </a:r>
          </a:p>
        </p:txBody>
      </p:sp>
      <p:sp>
        <p:nvSpPr>
          <p:cNvPr id="59" name="TextBox 58"/>
          <p:cNvSpPr txBox="1"/>
          <p:nvPr/>
        </p:nvSpPr>
        <p:spPr>
          <a:xfrm>
            <a:off x="7443216" y="3630168"/>
            <a:ext cx="2359152" cy="128016"/>
          </a:xfrm>
          <a:prstGeom prst="rect">
            <a:avLst/>
          </a:prstGeom>
          <a:noFill/>
        </p:spPr>
        <p:txBody>
          <a:bodyPr wrap="square" lIns="0" rIns="0" tIns="0" bIns="0" anchor="t">
            <a:noAutofit/>
          </a:bodyPr>
          <a:lstStyle/>
          <a:p>
            <a:pPr algn="l">
              <a:lnSpc>
                <a:spcPct val="122000"/>
              </a:lnSpc>
            </a:pPr>
            <a:r>
              <a:rPr sz="610" b="0" i="0" spc="60">
                <a:solidFill>
                  <a:srgbClr val="64748B"/>
                </a:solidFill>
                <a:latin typeface="Consolas"/>
              </a:rPr>
              <a:t>Dock · events</a:t>
            </a:r>
          </a:p>
        </p:txBody>
      </p:sp>
      <p:sp>
        <p:nvSpPr>
          <p:cNvPr id="60" name="TextBox 59"/>
          <p:cNvSpPr txBox="1"/>
          <p:nvPr/>
        </p:nvSpPr>
        <p:spPr>
          <a:xfrm>
            <a:off x="7077456" y="3813048"/>
            <a:ext cx="2706624" cy="512064"/>
          </a:xfrm>
          <a:prstGeom prst="rect">
            <a:avLst/>
          </a:prstGeom>
          <a:noFill/>
        </p:spPr>
        <p:txBody>
          <a:bodyPr wrap="square" lIns="0" rIns="0" tIns="0" bIns="0" anchor="t">
            <a:noAutofit/>
          </a:bodyPr>
          <a:lstStyle/>
          <a:p>
            <a:pPr algn="l">
              <a:lnSpc>
                <a:spcPct val="126000"/>
              </a:lnSpc>
            </a:pPr>
            <a:r>
              <a:rPr sz="770" b="0" i="0">
                <a:solidFill>
                  <a:srgbClr val="9DB0C6"/>
                </a:solidFill>
                <a:latin typeface="Segoe UI"/>
              </a:rPr>
              <a:t>Every warning and critical acked with a self-explanatory title. Unacked count back to zero.</a:t>
            </a:r>
          </a:p>
        </p:txBody>
      </p:sp>
      <p:cxnSp>
        <p:nvCxnSpPr>
          <p:cNvPr id="61" name="Connector 60"/>
          <p:cNvCxnSpPr/>
          <p:nvPr/>
        </p:nvCxnSpPr>
        <p:spPr>
          <a:xfrm>
            <a:off x="7077456" y="4325112"/>
            <a:ext cx="2706624"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077456" y="4379976"/>
            <a:ext cx="2706624" cy="274320"/>
          </a:xfrm>
          <a:prstGeom prst="rect">
            <a:avLst/>
          </a:prstGeom>
          <a:noFill/>
        </p:spPr>
        <p:txBody>
          <a:bodyPr wrap="square" lIns="0" rIns="0" tIns="0" bIns="0" anchor="t">
            <a:noAutofit/>
          </a:bodyPr>
          <a:lstStyle/>
          <a:p>
            <a:pPr algn="l">
              <a:lnSpc>
                <a:spcPct val="122000"/>
              </a:lnSpc>
            </a:pPr>
            <a:r>
              <a:rPr sz="640" b="0" i="0">
                <a:solidFill>
                  <a:srgbClr val="64748B"/>
                </a:solidFill>
                <a:latin typeface="Segoe UI"/>
              </a:rPr>
              <a:t>If ack is not possible yet: leave it unacked and name an owner in the handover.</a:t>
            </a:r>
          </a:p>
        </p:txBody>
      </p:sp>
      <p:sp>
        <p:nvSpPr>
          <p:cNvPr id="63" name="Rounded Rectangle 62"/>
          <p:cNvSpPr/>
          <p:nvPr/>
        </p:nvSpPr>
        <p:spPr>
          <a:xfrm>
            <a:off x="566928" y="4846320"/>
            <a:ext cx="6949440" cy="1371600"/>
          </a:xfrm>
          <a:prstGeom prst="roundRect">
            <a:avLst>
              <a:gd name="adj" fmla="val 6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4" name="TextBox 63"/>
          <p:cNvSpPr txBox="1"/>
          <p:nvPr/>
        </p:nvSpPr>
        <p:spPr>
          <a:xfrm>
            <a:off x="731520" y="4946904"/>
            <a:ext cx="3657600" cy="164592"/>
          </a:xfrm>
          <a:prstGeom prst="rect">
            <a:avLst/>
          </a:prstGeom>
          <a:noFill/>
        </p:spPr>
        <p:txBody>
          <a:bodyPr wrap="square" lIns="0" rIns="0" tIns="0" bIns="0" anchor="t">
            <a:noAutofit/>
          </a:bodyPr>
          <a:lstStyle/>
          <a:p>
            <a:pPr algn="l">
              <a:lnSpc>
                <a:spcPct val="122000"/>
              </a:lnSpc>
            </a:pPr>
            <a:r>
              <a:rPr sz="680" b="0" i="0" spc="120">
                <a:solidFill>
                  <a:srgbClr val="FBBF24"/>
                </a:solidFill>
                <a:latin typeface="Consolas"/>
              </a:rPr>
              <a:t>SEVERITY HONESTY</a:t>
            </a:r>
          </a:p>
        </p:txBody>
      </p:sp>
      <p:sp>
        <p:nvSpPr>
          <p:cNvPr id="65" name="Oval 64"/>
          <p:cNvSpPr/>
          <p:nvPr/>
        </p:nvSpPr>
        <p:spPr>
          <a:xfrm>
            <a:off x="768096" y="5221224"/>
            <a:ext cx="82296" cy="82296"/>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50976" y="5175504"/>
            <a:ext cx="877824" cy="164592"/>
          </a:xfrm>
          <a:prstGeom prst="rect">
            <a:avLst/>
          </a:prstGeom>
          <a:noFill/>
        </p:spPr>
        <p:txBody>
          <a:bodyPr wrap="square" lIns="0" rIns="0" tIns="0" bIns="0" anchor="t">
            <a:noAutofit/>
          </a:bodyPr>
          <a:lstStyle/>
          <a:p>
            <a:pPr algn="l">
              <a:lnSpc>
                <a:spcPct val="122000"/>
              </a:lnSpc>
            </a:pPr>
            <a:r>
              <a:rPr sz="740" b="0" i="0" spc="50">
                <a:solidFill>
                  <a:srgbClr val="FB7185"/>
                </a:solidFill>
                <a:latin typeface="Consolas"/>
              </a:rPr>
              <a:t>CRITICAL</a:t>
            </a:r>
          </a:p>
        </p:txBody>
      </p:sp>
      <p:sp>
        <p:nvSpPr>
          <p:cNvPr id="67" name="TextBox 66"/>
          <p:cNvSpPr txBox="1"/>
          <p:nvPr/>
        </p:nvSpPr>
        <p:spPr>
          <a:xfrm>
            <a:off x="1901952" y="5175504"/>
            <a:ext cx="5394960" cy="164592"/>
          </a:xfrm>
          <a:prstGeom prst="rect">
            <a:avLst/>
          </a:prstGeom>
          <a:noFill/>
        </p:spPr>
        <p:txBody>
          <a:bodyPr wrap="square" lIns="0" rIns="0" tIns="0" bIns="0" anchor="t">
            <a:noAutofit/>
          </a:bodyPr>
          <a:lstStyle/>
          <a:p>
            <a:pPr algn="l">
              <a:lnSpc>
                <a:spcPct val="122000"/>
              </a:lnSpc>
            </a:pPr>
            <a:r>
              <a:rPr sz="760" b="0" i="0">
                <a:solidFill>
                  <a:srgbClr val="9DB0C6"/>
                </a:solidFill>
                <a:latin typeface="Segoe UI"/>
              </a:rPr>
              <a:t>page someone now</a:t>
            </a:r>
          </a:p>
        </p:txBody>
      </p:sp>
      <p:sp>
        <p:nvSpPr>
          <p:cNvPr id="68" name="Oval 67"/>
          <p:cNvSpPr/>
          <p:nvPr/>
        </p:nvSpPr>
        <p:spPr>
          <a:xfrm>
            <a:off x="768096" y="5468112"/>
            <a:ext cx="82296" cy="82296"/>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50976" y="5422392"/>
            <a:ext cx="877824" cy="164592"/>
          </a:xfrm>
          <a:prstGeom prst="rect">
            <a:avLst/>
          </a:prstGeom>
          <a:noFill/>
        </p:spPr>
        <p:txBody>
          <a:bodyPr wrap="square" lIns="0" rIns="0" tIns="0" bIns="0" anchor="t">
            <a:noAutofit/>
          </a:bodyPr>
          <a:lstStyle/>
          <a:p>
            <a:pPr algn="l">
              <a:lnSpc>
                <a:spcPct val="122000"/>
              </a:lnSpc>
            </a:pPr>
            <a:r>
              <a:rPr sz="740" b="0" i="0" spc="50">
                <a:solidFill>
                  <a:srgbClr val="FBBF24"/>
                </a:solidFill>
                <a:latin typeface="Consolas"/>
              </a:rPr>
              <a:t>DEGRADED</a:t>
            </a:r>
          </a:p>
        </p:txBody>
      </p:sp>
      <p:sp>
        <p:nvSpPr>
          <p:cNvPr id="70" name="TextBox 69"/>
          <p:cNvSpPr txBox="1"/>
          <p:nvPr/>
        </p:nvSpPr>
        <p:spPr>
          <a:xfrm>
            <a:off x="1901952" y="5422392"/>
            <a:ext cx="5394960" cy="164592"/>
          </a:xfrm>
          <a:prstGeom prst="rect">
            <a:avLst/>
          </a:prstGeom>
          <a:noFill/>
        </p:spPr>
        <p:txBody>
          <a:bodyPr wrap="square" lIns="0" rIns="0" tIns="0" bIns="0" anchor="t">
            <a:noAutofit/>
          </a:bodyPr>
          <a:lstStyle/>
          <a:p>
            <a:pPr algn="l">
              <a:lnSpc>
                <a:spcPct val="122000"/>
              </a:lnSpc>
            </a:pPr>
            <a:r>
              <a:rPr sz="760" b="0" i="0">
                <a:solidFill>
                  <a:srgbClr val="9DB0C6"/>
                </a:solidFill>
                <a:latin typeface="Segoe UI"/>
              </a:rPr>
              <a:t>watch it this shift</a:t>
            </a:r>
          </a:p>
        </p:txBody>
      </p:sp>
      <p:sp>
        <p:nvSpPr>
          <p:cNvPr id="71" name="Oval 70"/>
          <p:cNvSpPr/>
          <p:nvPr/>
        </p:nvSpPr>
        <p:spPr>
          <a:xfrm>
            <a:off x="768096" y="5714999"/>
            <a:ext cx="82296" cy="82296"/>
          </a:xfrm>
          <a:prstGeom prst="ellipse">
            <a:avLst/>
          </a:prstGeom>
          <a:solidFill>
            <a:srgbClr val="9DB0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50976" y="5669279"/>
            <a:ext cx="877824" cy="164592"/>
          </a:xfrm>
          <a:prstGeom prst="rect">
            <a:avLst/>
          </a:prstGeom>
          <a:noFill/>
        </p:spPr>
        <p:txBody>
          <a:bodyPr wrap="square" lIns="0" rIns="0" tIns="0" bIns="0" anchor="t">
            <a:noAutofit/>
          </a:bodyPr>
          <a:lstStyle/>
          <a:p>
            <a:pPr algn="l">
              <a:lnSpc>
                <a:spcPct val="122000"/>
              </a:lnSpc>
            </a:pPr>
            <a:r>
              <a:rPr sz="740" b="0" i="0" spc="50">
                <a:solidFill>
                  <a:srgbClr val="9DB0C6"/>
                </a:solidFill>
                <a:latin typeface="Consolas"/>
              </a:rPr>
              <a:t>OFFLINE</a:t>
            </a:r>
          </a:p>
        </p:txBody>
      </p:sp>
      <p:sp>
        <p:nvSpPr>
          <p:cNvPr id="73" name="TextBox 72"/>
          <p:cNvSpPr txBox="1"/>
          <p:nvPr/>
        </p:nvSpPr>
        <p:spPr>
          <a:xfrm>
            <a:off x="1901952" y="5669279"/>
            <a:ext cx="5394960" cy="164592"/>
          </a:xfrm>
          <a:prstGeom prst="rect">
            <a:avLst/>
          </a:prstGeom>
          <a:noFill/>
        </p:spPr>
        <p:txBody>
          <a:bodyPr wrap="square" lIns="0" rIns="0" tIns="0" bIns="0" anchor="t">
            <a:noAutofit/>
          </a:bodyPr>
          <a:lstStyle/>
          <a:p>
            <a:pPr algn="l">
              <a:lnSpc>
                <a:spcPct val="122000"/>
              </a:lnSpc>
            </a:pPr>
            <a:r>
              <a:rPr sz="760" b="0" i="0">
                <a:solidFill>
                  <a:srgbClr val="9DB0C6"/>
                </a:solidFill>
                <a:latin typeface="Segoe UI"/>
              </a:rPr>
              <a:t>agent silent — check the collector first</a:t>
            </a:r>
          </a:p>
        </p:txBody>
      </p:sp>
      <p:sp>
        <p:nvSpPr>
          <p:cNvPr id="74" name="Oval 73"/>
          <p:cNvSpPr/>
          <p:nvPr/>
        </p:nvSpPr>
        <p:spPr>
          <a:xfrm>
            <a:off x="768096" y="5961887"/>
            <a:ext cx="82296" cy="82296"/>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50976" y="5916167"/>
            <a:ext cx="877824" cy="164592"/>
          </a:xfrm>
          <a:prstGeom prst="rect">
            <a:avLst/>
          </a:prstGeom>
          <a:noFill/>
        </p:spPr>
        <p:txBody>
          <a:bodyPr wrap="square" lIns="0" rIns="0" tIns="0" bIns="0" anchor="t">
            <a:noAutofit/>
          </a:bodyPr>
          <a:lstStyle/>
          <a:p>
            <a:pPr algn="l">
              <a:lnSpc>
                <a:spcPct val="122000"/>
              </a:lnSpc>
            </a:pPr>
            <a:r>
              <a:rPr sz="740" b="0" i="0" spc="50">
                <a:solidFill>
                  <a:srgbClr val="A78BFA"/>
                </a:solidFill>
                <a:latin typeface="Consolas"/>
              </a:rPr>
              <a:t>MAINTENANCE</a:t>
            </a:r>
          </a:p>
        </p:txBody>
      </p:sp>
      <p:sp>
        <p:nvSpPr>
          <p:cNvPr id="76" name="TextBox 75"/>
          <p:cNvSpPr txBox="1"/>
          <p:nvPr/>
        </p:nvSpPr>
        <p:spPr>
          <a:xfrm>
            <a:off x="1901952" y="5916167"/>
            <a:ext cx="5394960" cy="164592"/>
          </a:xfrm>
          <a:prstGeom prst="rect">
            <a:avLst/>
          </a:prstGeom>
          <a:noFill/>
        </p:spPr>
        <p:txBody>
          <a:bodyPr wrap="square" lIns="0" rIns="0" tIns="0" bIns="0" anchor="t">
            <a:noAutofit/>
          </a:bodyPr>
          <a:lstStyle/>
          <a:p>
            <a:pPr algn="l">
              <a:lnSpc>
                <a:spcPct val="122000"/>
              </a:lnSpc>
            </a:pPr>
            <a:r>
              <a:rPr sz="760" b="0" i="0">
                <a:solidFill>
                  <a:srgbClr val="9DB0C6"/>
                </a:solidFill>
                <a:latin typeface="Segoe UI"/>
              </a:rPr>
              <a:t>intentional — excluded from rollups</a:t>
            </a:r>
          </a:p>
        </p:txBody>
      </p:sp>
      <p:sp>
        <p:nvSpPr>
          <p:cNvPr id="77" name="Rounded Rectangle 76"/>
          <p:cNvSpPr/>
          <p:nvPr/>
        </p:nvSpPr>
        <p:spPr>
          <a:xfrm>
            <a:off x="7699248" y="4846320"/>
            <a:ext cx="3922776" cy="1371600"/>
          </a:xfrm>
          <a:prstGeom prst="roundRect">
            <a:avLst>
              <a:gd name="adj" fmla="val 6000"/>
            </a:avLst>
          </a:prstGeom>
          <a:solidFill>
            <a:srgbClr val="0A101B"/>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8" name="TextBox 77"/>
          <p:cNvSpPr txBox="1"/>
          <p:nvPr/>
        </p:nvSpPr>
        <p:spPr>
          <a:xfrm>
            <a:off x="7863840" y="4946904"/>
            <a:ext cx="3566160" cy="164592"/>
          </a:xfrm>
          <a:prstGeom prst="rect">
            <a:avLst/>
          </a:prstGeom>
          <a:noFill/>
        </p:spPr>
        <p:txBody>
          <a:bodyPr wrap="square" lIns="0" rIns="0" tIns="0" bIns="0" anchor="t">
            <a:noAutofit/>
          </a:bodyPr>
          <a:lstStyle/>
          <a:p>
            <a:pPr algn="l">
              <a:lnSpc>
                <a:spcPct val="122000"/>
              </a:lnSpc>
            </a:pPr>
            <a:r>
              <a:rPr sz="680" b="0" i="0" spc="120">
                <a:solidFill>
                  <a:srgbClr val="34D399"/>
                </a:solidFill>
                <a:latin typeface="Consolas"/>
              </a:rPr>
              <a:t>DEFINITION OF A GOOD SHIFT</a:t>
            </a:r>
          </a:p>
        </p:txBody>
      </p:sp>
      <p:sp>
        <p:nvSpPr>
          <p:cNvPr id="79" name="TextBox 78"/>
          <p:cNvSpPr txBox="1"/>
          <p:nvPr/>
        </p:nvSpPr>
        <p:spPr>
          <a:xfrm>
            <a:off x="7863840" y="5157216"/>
            <a:ext cx="3602736" cy="932688"/>
          </a:xfrm>
          <a:prstGeom prst="rect">
            <a:avLst/>
          </a:prstGeom>
          <a:noFill/>
        </p:spPr>
        <p:txBody>
          <a:bodyPr wrap="square" lIns="0" rIns="0" tIns="0" bIns="0" anchor="t">
            <a:noAutofit/>
          </a:bodyPr>
          <a:lstStyle/>
          <a:p>
            <a:pPr algn="l">
              <a:lnSpc>
                <a:spcPct val="132000"/>
              </a:lnSpc>
            </a:pPr>
            <a:r>
              <a:rPr sz="800" b="0" i="0">
                <a:solidFill>
                  <a:srgbClr val="E2E8F0"/>
                </a:solidFill>
                <a:latin typeface="Segoe UI"/>
              </a:rPr>
              <a:t>No unacknowledged critical, every degraded node either resolved or explicitly watched, and a handover note naming the owner of each open item.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2.2 · CANVAS CONTROLS</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Depth is a lens, not a filter</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Most “where is it?” problems are depth problems. Expand-to changes how much of the tree is materialised; search and status filters change what is emphasised.</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ADMINISTRATION</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14 / 27</a:t>
            </a:r>
          </a:p>
        </p:txBody>
      </p:sp>
      <p:sp>
        <p:nvSpPr>
          <p:cNvPr id="11" name="Rounded Rectangle 10"/>
          <p:cNvSpPr/>
          <p:nvPr/>
        </p:nvSpPr>
        <p:spPr>
          <a:xfrm>
            <a:off x="566928" y="1783080"/>
            <a:ext cx="11055096" cy="370332"/>
          </a:xfrm>
          <a:prstGeom prst="roundRect">
            <a:avLst>
              <a:gd name="adj" fmla="val 7407"/>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585216" y="1874519"/>
            <a:ext cx="32004" cy="192024"/>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13232" y="1883664"/>
            <a:ext cx="2139696" cy="164592"/>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expand-to ORG…ALL</a:t>
            </a:r>
          </a:p>
        </p:txBody>
      </p:sp>
      <p:sp>
        <p:nvSpPr>
          <p:cNvPr id="14" name="TextBox 13"/>
          <p:cNvSpPr txBox="1"/>
          <p:nvPr/>
        </p:nvSpPr>
        <p:spPr>
          <a:xfrm>
            <a:off x="2926080" y="1892807"/>
            <a:ext cx="1207008" cy="155448"/>
          </a:xfrm>
          <a:prstGeom prst="rect">
            <a:avLst/>
          </a:prstGeom>
          <a:noFill/>
        </p:spPr>
        <p:txBody>
          <a:bodyPr wrap="square" lIns="0" rIns="0" tIns="0" bIns="0" anchor="t">
            <a:noAutofit/>
          </a:bodyPr>
          <a:lstStyle/>
          <a:p>
            <a:pPr algn="l">
              <a:lnSpc>
                <a:spcPct val="122000"/>
              </a:lnSpc>
            </a:pPr>
            <a:r>
              <a:rPr sz="660" b="0" i="0">
                <a:solidFill>
                  <a:srgbClr val="64748B"/>
                </a:solidFill>
                <a:latin typeface="Consolas"/>
              </a:rPr>
              <a:t>Top bar strip</a:t>
            </a:r>
          </a:p>
        </p:txBody>
      </p:sp>
      <p:sp>
        <p:nvSpPr>
          <p:cNvPr id="15" name="TextBox 14"/>
          <p:cNvSpPr txBox="1"/>
          <p:nvPr/>
        </p:nvSpPr>
        <p:spPr>
          <a:xfrm>
            <a:off x="4187952" y="1888236"/>
            <a:ext cx="7342632" cy="173736"/>
          </a:xfrm>
          <a:prstGeom prst="rect">
            <a:avLst/>
          </a:prstGeom>
          <a:noFill/>
        </p:spPr>
        <p:txBody>
          <a:bodyPr wrap="square" lIns="0" rIns="0" tIns="0" bIns="0" anchor="t">
            <a:noAutofit/>
          </a:bodyPr>
          <a:lstStyle/>
          <a:p>
            <a:pPr algn="l">
              <a:lnSpc>
                <a:spcPct val="122000"/>
              </a:lnSpc>
            </a:pPr>
            <a:r>
              <a:rPr sz="780" b="0" i="0">
                <a:solidFill>
                  <a:srgbClr val="9DB0C6"/>
                </a:solidFill>
                <a:latin typeface="Segoe UI"/>
              </a:rPr>
              <a:t>Collapses everything deeper than the chosen depth, then fits. ALL on 400+ nodes is wide — prefer INFRA or GROUP.</a:t>
            </a:r>
          </a:p>
        </p:txBody>
      </p:sp>
      <p:sp>
        <p:nvSpPr>
          <p:cNvPr id="16" name="Rectangle 15"/>
          <p:cNvSpPr/>
          <p:nvPr/>
        </p:nvSpPr>
        <p:spPr>
          <a:xfrm>
            <a:off x="585216" y="2244852"/>
            <a:ext cx="32004" cy="192024"/>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713232" y="2253996"/>
            <a:ext cx="2139696" cy="164592"/>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resource gauges</a:t>
            </a:r>
          </a:p>
        </p:txBody>
      </p:sp>
      <p:sp>
        <p:nvSpPr>
          <p:cNvPr id="18" name="TextBox 17"/>
          <p:cNvSpPr txBox="1"/>
          <p:nvPr/>
        </p:nvSpPr>
        <p:spPr>
          <a:xfrm>
            <a:off x="2926080" y="2263140"/>
            <a:ext cx="1207008" cy="155448"/>
          </a:xfrm>
          <a:prstGeom prst="rect">
            <a:avLst/>
          </a:prstGeom>
          <a:noFill/>
        </p:spPr>
        <p:txBody>
          <a:bodyPr wrap="square" lIns="0" rIns="0" tIns="0" bIns="0" anchor="t">
            <a:noAutofit/>
          </a:bodyPr>
          <a:lstStyle/>
          <a:p>
            <a:pPr algn="l">
              <a:lnSpc>
                <a:spcPct val="122000"/>
              </a:lnSpc>
            </a:pPr>
            <a:r>
              <a:rPr sz="660" b="0" i="0">
                <a:solidFill>
                  <a:srgbClr val="64748B"/>
                </a:solidFill>
                <a:latin typeface="Consolas"/>
              </a:rPr>
              <a:t>Top bar checkbox</a:t>
            </a:r>
          </a:p>
        </p:txBody>
      </p:sp>
      <p:sp>
        <p:nvSpPr>
          <p:cNvPr id="19" name="TextBox 18"/>
          <p:cNvSpPr txBox="1"/>
          <p:nvPr/>
        </p:nvSpPr>
        <p:spPr>
          <a:xfrm>
            <a:off x="4187952" y="2258568"/>
            <a:ext cx="7342632" cy="173736"/>
          </a:xfrm>
          <a:prstGeom prst="rect">
            <a:avLst/>
          </a:prstGeom>
          <a:noFill/>
        </p:spPr>
        <p:txBody>
          <a:bodyPr wrap="square" lIns="0" rIns="0" tIns="0" bIns="0" anchor="t">
            <a:noAutofit/>
          </a:bodyPr>
          <a:lstStyle/>
          <a:p>
            <a:pPr algn="l">
              <a:lnSpc>
                <a:spcPct val="122000"/>
              </a:lnSpc>
            </a:pPr>
            <a:r>
              <a:rPr sz="780" b="0" i="0">
                <a:solidFill>
                  <a:srgbClr val="9DB0C6"/>
                </a:solidFill>
                <a:latin typeface="Segoe UI"/>
              </a:rPr>
              <a:t>Shows or hides CPU / memory / disk children. Off by default; hosts still show their three-gauge strip.</a:t>
            </a:r>
          </a:p>
        </p:txBody>
      </p:sp>
      <p:sp>
        <p:nvSpPr>
          <p:cNvPr id="20" name="Rounded Rectangle 19"/>
          <p:cNvSpPr/>
          <p:nvPr/>
        </p:nvSpPr>
        <p:spPr>
          <a:xfrm>
            <a:off x="566928" y="2523744"/>
            <a:ext cx="11055096" cy="370332"/>
          </a:xfrm>
          <a:prstGeom prst="roundRect">
            <a:avLst>
              <a:gd name="adj" fmla="val 7407"/>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Rectangle 20"/>
          <p:cNvSpPr/>
          <p:nvPr/>
        </p:nvSpPr>
        <p:spPr>
          <a:xfrm>
            <a:off x="585216" y="2615184"/>
            <a:ext cx="32004" cy="19202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713232" y="2624327"/>
            <a:ext cx="2139696" cy="164592"/>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elk.direction</a:t>
            </a:r>
          </a:p>
        </p:txBody>
      </p:sp>
      <p:sp>
        <p:nvSpPr>
          <p:cNvPr id="23" name="TextBox 22"/>
          <p:cNvSpPr txBox="1"/>
          <p:nvPr/>
        </p:nvSpPr>
        <p:spPr>
          <a:xfrm>
            <a:off x="2926080" y="2633472"/>
            <a:ext cx="1207008" cy="155448"/>
          </a:xfrm>
          <a:prstGeom prst="rect">
            <a:avLst/>
          </a:prstGeom>
          <a:noFill/>
        </p:spPr>
        <p:txBody>
          <a:bodyPr wrap="square" lIns="0" rIns="0" tIns="0" bIns="0" anchor="t">
            <a:noAutofit/>
          </a:bodyPr>
          <a:lstStyle/>
          <a:p>
            <a:pPr algn="l">
              <a:lnSpc>
                <a:spcPct val="122000"/>
              </a:lnSpc>
            </a:pPr>
            <a:r>
              <a:rPr sz="660" b="0" i="0">
                <a:solidFill>
                  <a:srgbClr val="64748B"/>
                </a:solidFill>
                <a:latin typeface="Consolas"/>
              </a:rPr>
              <a:t>Top bar</a:t>
            </a:r>
          </a:p>
        </p:txBody>
      </p:sp>
      <p:sp>
        <p:nvSpPr>
          <p:cNvPr id="24" name="TextBox 23"/>
          <p:cNvSpPr txBox="1"/>
          <p:nvPr/>
        </p:nvSpPr>
        <p:spPr>
          <a:xfrm>
            <a:off x="4187952" y="2628900"/>
            <a:ext cx="7342632" cy="173736"/>
          </a:xfrm>
          <a:prstGeom prst="rect">
            <a:avLst/>
          </a:prstGeom>
          <a:noFill/>
        </p:spPr>
        <p:txBody>
          <a:bodyPr wrap="square" lIns="0" rIns="0" tIns="0" bIns="0" anchor="t">
            <a:noAutofit/>
          </a:bodyPr>
          <a:lstStyle/>
          <a:p>
            <a:pPr algn="l">
              <a:lnSpc>
                <a:spcPct val="122000"/>
              </a:lnSpc>
            </a:pPr>
            <a:r>
              <a:rPr sz="780" b="0" i="0">
                <a:solidFill>
                  <a:srgbClr val="9DB0C6"/>
                </a:solidFill>
                <a:latin typeface="Segoe UI"/>
              </a:rPr>
              <a:t>DOWN for org trees, RIGHT for deep service chains. Triggers relayout and fit.</a:t>
            </a:r>
          </a:p>
        </p:txBody>
      </p:sp>
      <p:sp>
        <p:nvSpPr>
          <p:cNvPr id="25" name="Rectangle 24"/>
          <p:cNvSpPr/>
          <p:nvPr/>
        </p:nvSpPr>
        <p:spPr>
          <a:xfrm>
            <a:off x="585216" y="2985516"/>
            <a:ext cx="32004" cy="19202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713232" y="2994660"/>
            <a:ext cx="2139696" cy="164592"/>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spacing slider</a:t>
            </a:r>
          </a:p>
        </p:txBody>
      </p:sp>
      <p:sp>
        <p:nvSpPr>
          <p:cNvPr id="27" name="TextBox 26"/>
          <p:cNvSpPr txBox="1"/>
          <p:nvPr/>
        </p:nvSpPr>
        <p:spPr>
          <a:xfrm>
            <a:off x="2926080" y="3003804"/>
            <a:ext cx="1207008" cy="155448"/>
          </a:xfrm>
          <a:prstGeom prst="rect">
            <a:avLst/>
          </a:prstGeom>
          <a:noFill/>
        </p:spPr>
        <p:txBody>
          <a:bodyPr wrap="square" lIns="0" rIns="0" tIns="0" bIns="0" anchor="t">
            <a:noAutofit/>
          </a:bodyPr>
          <a:lstStyle/>
          <a:p>
            <a:pPr algn="l">
              <a:lnSpc>
                <a:spcPct val="122000"/>
              </a:lnSpc>
            </a:pPr>
            <a:r>
              <a:rPr sz="660" b="0" i="0">
                <a:solidFill>
                  <a:srgbClr val="64748B"/>
                </a:solidFill>
                <a:latin typeface="Consolas"/>
              </a:rPr>
              <a:t>Top bar</a:t>
            </a:r>
          </a:p>
        </p:txBody>
      </p:sp>
      <p:sp>
        <p:nvSpPr>
          <p:cNvPr id="28" name="TextBox 27"/>
          <p:cNvSpPr txBox="1"/>
          <p:nvPr/>
        </p:nvSpPr>
        <p:spPr>
          <a:xfrm>
            <a:off x="4187952" y="2999232"/>
            <a:ext cx="7342632" cy="173736"/>
          </a:xfrm>
          <a:prstGeom prst="rect">
            <a:avLst/>
          </a:prstGeom>
          <a:noFill/>
        </p:spPr>
        <p:txBody>
          <a:bodyPr wrap="square" lIns="0" rIns="0" tIns="0" bIns="0" anchor="t">
            <a:noAutofit/>
          </a:bodyPr>
          <a:lstStyle/>
          <a:p>
            <a:pPr algn="l">
              <a:lnSpc>
                <a:spcPct val="122000"/>
              </a:lnSpc>
            </a:pPr>
            <a:r>
              <a:rPr sz="780" b="0" i="0">
                <a:solidFill>
                  <a:srgbClr val="9DB0C6"/>
                </a:solidFill>
                <a:latin typeface="Segoe UI"/>
              </a:rPr>
              <a:t>Node and layer gaps. Larger helps screenshots, smaller helps overviews.</a:t>
            </a:r>
          </a:p>
        </p:txBody>
      </p:sp>
      <p:sp>
        <p:nvSpPr>
          <p:cNvPr id="29" name="Rounded Rectangle 28"/>
          <p:cNvSpPr/>
          <p:nvPr/>
        </p:nvSpPr>
        <p:spPr>
          <a:xfrm>
            <a:off x="566928" y="3264408"/>
            <a:ext cx="11055096" cy="370332"/>
          </a:xfrm>
          <a:prstGeom prst="roundRect">
            <a:avLst>
              <a:gd name="adj" fmla="val 7407"/>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Rectangle 29"/>
          <p:cNvSpPr/>
          <p:nvPr/>
        </p:nvSpPr>
        <p:spPr>
          <a:xfrm>
            <a:off x="585216" y="3355848"/>
            <a:ext cx="32004" cy="19202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713232" y="3364992"/>
            <a:ext cx="2139696" cy="164592"/>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auto-layout</a:t>
            </a:r>
          </a:p>
        </p:txBody>
      </p:sp>
      <p:sp>
        <p:nvSpPr>
          <p:cNvPr id="32" name="TextBox 31"/>
          <p:cNvSpPr txBox="1"/>
          <p:nvPr/>
        </p:nvSpPr>
        <p:spPr>
          <a:xfrm>
            <a:off x="2926080" y="3374136"/>
            <a:ext cx="1207008" cy="155448"/>
          </a:xfrm>
          <a:prstGeom prst="rect">
            <a:avLst/>
          </a:prstGeom>
          <a:noFill/>
        </p:spPr>
        <p:txBody>
          <a:bodyPr wrap="square" lIns="0" rIns="0" tIns="0" bIns="0" anchor="t">
            <a:noAutofit/>
          </a:bodyPr>
          <a:lstStyle/>
          <a:p>
            <a:pPr algn="l">
              <a:lnSpc>
                <a:spcPct val="122000"/>
              </a:lnSpc>
            </a:pPr>
            <a:r>
              <a:rPr sz="660" b="0" i="0">
                <a:solidFill>
                  <a:srgbClr val="64748B"/>
                </a:solidFill>
                <a:latin typeface="Consolas"/>
              </a:rPr>
              <a:t>Top bar</a:t>
            </a:r>
          </a:p>
        </p:txBody>
      </p:sp>
      <p:sp>
        <p:nvSpPr>
          <p:cNvPr id="33" name="TextBox 32"/>
          <p:cNvSpPr txBox="1"/>
          <p:nvPr/>
        </p:nvSpPr>
        <p:spPr>
          <a:xfrm>
            <a:off x="4187952" y="3369564"/>
            <a:ext cx="7342632" cy="173736"/>
          </a:xfrm>
          <a:prstGeom prst="rect">
            <a:avLst/>
          </a:prstGeom>
          <a:noFill/>
        </p:spPr>
        <p:txBody>
          <a:bodyPr wrap="square" lIns="0" rIns="0" tIns="0" bIns="0" anchor="t">
            <a:noAutofit/>
          </a:bodyPr>
          <a:lstStyle/>
          <a:p>
            <a:pPr algn="l">
              <a:lnSpc>
                <a:spcPct val="122000"/>
              </a:lnSpc>
            </a:pPr>
            <a:r>
              <a:rPr sz="780" b="0" i="0">
                <a:solidFill>
                  <a:srgbClr val="9DB0C6"/>
                </a:solidFill>
                <a:latin typeface="Segoe UI"/>
              </a:rPr>
              <a:t>Discards manual drag offsets and re-runs ELK. Use after a messy triage session.</a:t>
            </a:r>
          </a:p>
        </p:txBody>
      </p:sp>
      <p:sp>
        <p:nvSpPr>
          <p:cNvPr id="34" name="Rectangle 33"/>
          <p:cNvSpPr/>
          <p:nvPr/>
        </p:nvSpPr>
        <p:spPr>
          <a:xfrm>
            <a:off x="585216" y="3726180"/>
            <a:ext cx="32004" cy="19202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5" name="TextBox 34"/>
          <p:cNvSpPr txBox="1"/>
          <p:nvPr/>
        </p:nvSpPr>
        <p:spPr>
          <a:xfrm>
            <a:off x="713232" y="3735324"/>
            <a:ext cx="2139696" cy="164592"/>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search</a:t>
            </a:r>
          </a:p>
        </p:txBody>
      </p:sp>
      <p:sp>
        <p:nvSpPr>
          <p:cNvPr id="36" name="TextBox 35"/>
          <p:cNvSpPr txBox="1"/>
          <p:nvPr/>
        </p:nvSpPr>
        <p:spPr>
          <a:xfrm>
            <a:off x="2926080" y="3744468"/>
            <a:ext cx="1207008" cy="155448"/>
          </a:xfrm>
          <a:prstGeom prst="rect">
            <a:avLst/>
          </a:prstGeom>
          <a:noFill/>
        </p:spPr>
        <p:txBody>
          <a:bodyPr wrap="square" lIns="0" rIns="0" tIns="0" bIns="0" anchor="t">
            <a:noAutofit/>
          </a:bodyPr>
          <a:lstStyle/>
          <a:p>
            <a:pPr algn="l">
              <a:lnSpc>
                <a:spcPct val="122000"/>
              </a:lnSpc>
            </a:pPr>
            <a:r>
              <a:rPr sz="660" b="0" i="0">
                <a:solidFill>
                  <a:srgbClr val="64748B"/>
                </a:solidFill>
                <a:latin typeface="Consolas"/>
              </a:rPr>
              <a:t>Top bar input</a:t>
            </a:r>
          </a:p>
        </p:txBody>
      </p:sp>
      <p:sp>
        <p:nvSpPr>
          <p:cNvPr id="37" name="TextBox 36"/>
          <p:cNvSpPr txBox="1"/>
          <p:nvPr/>
        </p:nvSpPr>
        <p:spPr>
          <a:xfrm>
            <a:off x="4187952" y="3739896"/>
            <a:ext cx="7342632" cy="173736"/>
          </a:xfrm>
          <a:prstGeom prst="rect">
            <a:avLst/>
          </a:prstGeom>
          <a:noFill/>
        </p:spPr>
        <p:txBody>
          <a:bodyPr wrap="square" lIns="0" rIns="0" tIns="0" bIns="0" anchor="t">
            <a:noAutofit/>
          </a:bodyPr>
          <a:lstStyle/>
          <a:p>
            <a:pPr algn="l">
              <a:lnSpc>
                <a:spcPct val="122000"/>
              </a:lnSpc>
            </a:pPr>
            <a:r>
              <a:rPr sz="780" b="0" i="0">
                <a:solidFill>
                  <a:srgbClr val="9DB0C6"/>
                </a:solidFill>
                <a:latin typeface="Segoe UI"/>
              </a:rPr>
              <a:t>Matches name, id, kind, region and owner. Canvas dims non-matches; navigator switches to a match list.</a:t>
            </a:r>
          </a:p>
        </p:txBody>
      </p:sp>
      <p:sp>
        <p:nvSpPr>
          <p:cNvPr id="38" name="Rounded Rectangle 37"/>
          <p:cNvSpPr/>
          <p:nvPr/>
        </p:nvSpPr>
        <p:spPr>
          <a:xfrm>
            <a:off x="566928" y="4005072"/>
            <a:ext cx="11055096" cy="370332"/>
          </a:xfrm>
          <a:prstGeom prst="roundRect">
            <a:avLst>
              <a:gd name="adj" fmla="val 7407"/>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Rectangle 38"/>
          <p:cNvSpPr/>
          <p:nvPr/>
        </p:nvSpPr>
        <p:spPr>
          <a:xfrm>
            <a:off x="585216" y="4096512"/>
            <a:ext cx="32004" cy="19202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TextBox 39"/>
          <p:cNvSpPr txBox="1"/>
          <p:nvPr/>
        </p:nvSpPr>
        <p:spPr>
          <a:xfrm>
            <a:off x="713232" y="4105656"/>
            <a:ext cx="2139696" cy="164592"/>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status filter</a:t>
            </a:r>
          </a:p>
        </p:txBody>
      </p:sp>
      <p:sp>
        <p:nvSpPr>
          <p:cNvPr id="41" name="TextBox 40"/>
          <p:cNvSpPr txBox="1"/>
          <p:nvPr/>
        </p:nvSpPr>
        <p:spPr>
          <a:xfrm>
            <a:off x="2926080" y="4114800"/>
            <a:ext cx="1207008" cy="155448"/>
          </a:xfrm>
          <a:prstGeom prst="rect">
            <a:avLst/>
          </a:prstGeom>
          <a:noFill/>
        </p:spPr>
        <p:txBody>
          <a:bodyPr wrap="square" lIns="0" rIns="0" tIns="0" bIns="0" anchor="t">
            <a:noAutofit/>
          </a:bodyPr>
          <a:lstStyle/>
          <a:p>
            <a:pPr algn="l">
              <a:lnSpc>
                <a:spcPct val="122000"/>
              </a:lnSpc>
            </a:pPr>
            <a:r>
              <a:rPr sz="660" b="0" i="0">
                <a:solidFill>
                  <a:srgbClr val="64748B"/>
                </a:solidFill>
                <a:latin typeface="Consolas"/>
              </a:rPr>
              <a:t>Left rail</a:t>
            </a:r>
          </a:p>
        </p:txBody>
      </p:sp>
      <p:sp>
        <p:nvSpPr>
          <p:cNvPr id="42" name="TextBox 41"/>
          <p:cNvSpPr txBox="1"/>
          <p:nvPr/>
        </p:nvSpPr>
        <p:spPr>
          <a:xfrm>
            <a:off x="4187952" y="4110228"/>
            <a:ext cx="7342632" cy="173736"/>
          </a:xfrm>
          <a:prstGeom prst="rect">
            <a:avLst/>
          </a:prstGeom>
          <a:noFill/>
        </p:spPr>
        <p:txBody>
          <a:bodyPr wrap="square" lIns="0" rIns="0" tIns="0" bIns="0" anchor="t">
            <a:noAutofit/>
          </a:bodyPr>
          <a:lstStyle/>
          <a:p>
            <a:pPr algn="l">
              <a:lnSpc>
                <a:spcPct val="122000"/>
              </a:lnSpc>
            </a:pPr>
            <a:r>
              <a:rPr sz="780" b="0" i="0">
                <a:solidFill>
                  <a:srgbClr val="9DB0C6"/>
                </a:solidFill>
                <a:latin typeface="Segoe UI"/>
              </a:rPr>
              <a:t>Dims everything outside the chosen severities. Combine with search for the on-call view.</a:t>
            </a:r>
          </a:p>
        </p:txBody>
      </p:sp>
      <p:sp>
        <p:nvSpPr>
          <p:cNvPr id="43" name="Rectangle 42"/>
          <p:cNvSpPr/>
          <p:nvPr/>
        </p:nvSpPr>
        <p:spPr>
          <a:xfrm>
            <a:off x="585216" y="4466844"/>
            <a:ext cx="32004" cy="19202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4" name="TextBox 43"/>
          <p:cNvSpPr txBox="1"/>
          <p:nvPr/>
        </p:nvSpPr>
        <p:spPr>
          <a:xfrm>
            <a:off x="713232" y="4475988"/>
            <a:ext cx="2139696" cy="164592"/>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navigator tree</a:t>
            </a:r>
          </a:p>
        </p:txBody>
      </p:sp>
      <p:sp>
        <p:nvSpPr>
          <p:cNvPr id="45" name="TextBox 44"/>
          <p:cNvSpPr txBox="1"/>
          <p:nvPr/>
        </p:nvSpPr>
        <p:spPr>
          <a:xfrm>
            <a:off x="2926080" y="4485132"/>
            <a:ext cx="1207008" cy="155448"/>
          </a:xfrm>
          <a:prstGeom prst="rect">
            <a:avLst/>
          </a:prstGeom>
          <a:noFill/>
        </p:spPr>
        <p:txBody>
          <a:bodyPr wrap="square" lIns="0" rIns="0" tIns="0" bIns="0" anchor="t">
            <a:noAutofit/>
          </a:bodyPr>
          <a:lstStyle/>
          <a:p>
            <a:pPr algn="l">
              <a:lnSpc>
                <a:spcPct val="122000"/>
              </a:lnSpc>
            </a:pPr>
            <a:r>
              <a:rPr sz="660" b="0" i="0">
                <a:solidFill>
                  <a:srgbClr val="64748B"/>
                </a:solidFill>
                <a:latin typeface="Consolas"/>
              </a:rPr>
              <a:t>Left rail</a:t>
            </a:r>
          </a:p>
        </p:txBody>
      </p:sp>
      <p:sp>
        <p:nvSpPr>
          <p:cNvPr id="46" name="TextBox 45"/>
          <p:cNvSpPr txBox="1"/>
          <p:nvPr/>
        </p:nvSpPr>
        <p:spPr>
          <a:xfrm>
            <a:off x="4187952" y="4480560"/>
            <a:ext cx="7342632" cy="173736"/>
          </a:xfrm>
          <a:prstGeom prst="rect">
            <a:avLst/>
          </a:prstGeom>
          <a:noFill/>
        </p:spPr>
        <p:txBody>
          <a:bodyPr wrap="square" lIns="0" rIns="0" tIns="0" bIns="0" anchor="t">
            <a:noAutofit/>
          </a:bodyPr>
          <a:lstStyle/>
          <a:p>
            <a:pPr algn="l">
              <a:lnSpc>
                <a:spcPct val="122000"/>
              </a:lnSpc>
            </a:pPr>
            <a:r>
              <a:rPr sz="780" b="0" i="0">
                <a:solidFill>
                  <a:srgbClr val="9DB0C6"/>
                </a:solidFill>
                <a:latin typeface="Segoe UI"/>
              </a:rPr>
              <a:t>Mirrors the canvas. Chevron collapses the sub-flow; row click focuses and centres.</a:t>
            </a:r>
          </a:p>
        </p:txBody>
      </p:sp>
      <p:sp>
        <p:nvSpPr>
          <p:cNvPr id="47" name="Rounded Rectangle 46"/>
          <p:cNvSpPr/>
          <p:nvPr/>
        </p:nvSpPr>
        <p:spPr>
          <a:xfrm>
            <a:off x="566928" y="4745736"/>
            <a:ext cx="11055096" cy="370332"/>
          </a:xfrm>
          <a:prstGeom prst="roundRect">
            <a:avLst>
              <a:gd name="adj" fmla="val 7407"/>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Rectangle 47"/>
          <p:cNvSpPr/>
          <p:nvPr/>
        </p:nvSpPr>
        <p:spPr>
          <a:xfrm>
            <a:off x="585216" y="4837176"/>
            <a:ext cx="32004" cy="19202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9" name="TextBox 48"/>
          <p:cNvSpPr txBox="1"/>
          <p:nvPr/>
        </p:nvSpPr>
        <p:spPr>
          <a:xfrm>
            <a:off x="713232" y="4846320"/>
            <a:ext cx="2139696" cy="164592"/>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drag · double-click</a:t>
            </a:r>
          </a:p>
        </p:txBody>
      </p:sp>
      <p:sp>
        <p:nvSpPr>
          <p:cNvPr id="50" name="TextBox 49"/>
          <p:cNvSpPr txBox="1"/>
          <p:nvPr/>
        </p:nvSpPr>
        <p:spPr>
          <a:xfrm>
            <a:off x="2926080" y="4855464"/>
            <a:ext cx="1207008" cy="155448"/>
          </a:xfrm>
          <a:prstGeom prst="rect">
            <a:avLst/>
          </a:prstGeom>
          <a:noFill/>
        </p:spPr>
        <p:txBody>
          <a:bodyPr wrap="square" lIns="0" rIns="0" tIns="0" bIns="0" anchor="t">
            <a:noAutofit/>
          </a:bodyPr>
          <a:lstStyle/>
          <a:p>
            <a:pPr algn="l">
              <a:lnSpc>
                <a:spcPct val="122000"/>
              </a:lnSpc>
            </a:pPr>
            <a:r>
              <a:rPr sz="660" b="0" i="0">
                <a:solidFill>
                  <a:srgbClr val="64748B"/>
                </a:solidFill>
                <a:latin typeface="Consolas"/>
              </a:rPr>
              <a:t>Canvas</a:t>
            </a:r>
          </a:p>
        </p:txBody>
      </p:sp>
      <p:sp>
        <p:nvSpPr>
          <p:cNvPr id="51" name="TextBox 50"/>
          <p:cNvSpPr txBox="1"/>
          <p:nvPr/>
        </p:nvSpPr>
        <p:spPr>
          <a:xfrm>
            <a:off x="4187952" y="4850892"/>
            <a:ext cx="7342632" cy="173736"/>
          </a:xfrm>
          <a:prstGeom prst="rect">
            <a:avLst/>
          </a:prstGeom>
          <a:noFill/>
        </p:spPr>
        <p:txBody>
          <a:bodyPr wrap="square" lIns="0" rIns="0" tIns="0" bIns="0" anchor="t">
            <a:noAutofit/>
          </a:bodyPr>
          <a:lstStyle/>
          <a:p>
            <a:pPr algn="l">
              <a:lnSpc>
                <a:spcPct val="122000"/>
              </a:lnSpc>
            </a:pPr>
            <a:r>
              <a:rPr sz="780" b="0" i="0">
                <a:solidFill>
                  <a:srgbClr val="9DB0C6"/>
                </a:solidFill>
                <a:latin typeface="Segoe UI"/>
              </a:rPr>
              <a:t>Drag moves inside the parent only. Double-click a group header collapses or expands in place.</a:t>
            </a:r>
          </a:p>
        </p:txBody>
      </p:sp>
      <p:sp>
        <p:nvSpPr>
          <p:cNvPr id="52" name="Rectangle 51"/>
          <p:cNvSpPr/>
          <p:nvPr/>
        </p:nvSpPr>
        <p:spPr>
          <a:xfrm>
            <a:off x="585216" y="5207508"/>
            <a:ext cx="32004" cy="192024"/>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3" name="TextBox 52"/>
          <p:cNvSpPr txBox="1"/>
          <p:nvPr/>
        </p:nvSpPr>
        <p:spPr>
          <a:xfrm>
            <a:off x="713232" y="5216652"/>
            <a:ext cx="2139696" cy="164592"/>
          </a:xfrm>
          <a:prstGeom prst="rect">
            <a:avLst/>
          </a:prstGeom>
          <a:noFill/>
        </p:spPr>
        <p:txBody>
          <a:bodyPr wrap="square" lIns="0" rIns="0" tIns="0" bIns="0" anchor="t">
            <a:noAutofit/>
          </a:bodyPr>
          <a:lstStyle/>
          <a:p>
            <a:pPr algn="l">
              <a:lnSpc>
                <a:spcPct val="122000"/>
              </a:lnSpc>
            </a:pPr>
            <a:r>
              <a:rPr sz="800" b="1" i="0">
                <a:solidFill>
                  <a:srgbClr val="F4F8FC"/>
                </a:solidFill>
                <a:latin typeface="Consolas"/>
              </a:rPr>
              <a:t>reseed</a:t>
            </a:r>
          </a:p>
        </p:txBody>
      </p:sp>
      <p:sp>
        <p:nvSpPr>
          <p:cNvPr id="54" name="TextBox 53"/>
          <p:cNvSpPr txBox="1"/>
          <p:nvPr/>
        </p:nvSpPr>
        <p:spPr>
          <a:xfrm>
            <a:off x="2926080" y="5225796"/>
            <a:ext cx="1207008" cy="155448"/>
          </a:xfrm>
          <a:prstGeom prst="rect">
            <a:avLst/>
          </a:prstGeom>
          <a:noFill/>
        </p:spPr>
        <p:txBody>
          <a:bodyPr wrap="square" lIns="0" rIns="0" tIns="0" bIns="0" anchor="t">
            <a:noAutofit/>
          </a:bodyPr>
          <a:lstStyle/>
          <a:p>
            <a:pPr algn="l">
              <a:lnSpc>
                <a:spcPct val="122000"/>
              </a:lnSpc>
            </a:pPr>
            <a:r>
              <a:rPr sz="660" b="0" i="0">
                <a:solidFill>
                  <a:srgbClr val="64748B"/>
                </a:solidFill>
                <a:latin typeface="Consolas"/>
              </a:rPr>
              <a:t>Top bar</a:t>
            </a:r>
          </a:p>
        </p:txBody>
      </p:sp>
      <p:sp>
        <p:nvSpPr>
          <p:cNvPr id="55" name="TextBox 54"/>
          <p:cNvSpPr txBox="1"/>
          <p:nvPr/>
        </p:nvSpPr>
        <p:spPr>
          <a:xfrm>
            <a:off x="4187952" y="5221224"/>
            <a:ext cx="7342632" cy="173736"/>
          </a:xfrm>
          <a:prstGeom prst="rect">
            <a:avLst/>
          </a:prstGeom>
          <a:noFill/>
        </p:spPr>
        <p:txBody>
          <a:bodyPr wrap="square" lIns="0" rIns="0" tIns="0" bIns="0" anchor="t">
            <a:noAutofit/>
          </a:bodyPr>
          <a:lstStyle/>
          <a:p>
            <a:pPr algn="l">
              <a:lnSpc>
                <a:spcPct val="122000"/>
              </a:lnSpc>
            </a:pPr>
            <a:r>
              <a:rPr sz="780" b="0" i="0">
                <a:solidFill>
                  <a:srgbClr val="9DB0C6"/>
                </a:solidFill>
                <a:latin typeface="Segoe UI"/>
              </a:rPr>
              <a:t>Rebuilds the 456-node reference dataset. Destroys manual edits — confirm before pressing.</a:t>
            </a:r>
          </a:p>
        </p:txBody>
      </p:sp>
      <p:sp>
        <p:nvSpPr>
          <p:cNvPr id="56" name="TextBox 55"/>
          <p:cNvSpPr txBox="1"/>
          <p:nvPr/>
        </p:nvSpPr>
        <p:spPr>
          <a:xfrm>
            <a:off x="566928" y="5870448"/>
            <a:ext cx="11055096" cy="310896"/>
          </a:xfrm>
          <a:prstGeom prst="rect">
            <a:avLst/>
          </a:prstGeom>
          <a:noFill/>
        </p:spPr>
        <p:txBody>
          <a:bodyPr wrap="square" lIns="0" rIns="0" tIns="0" bIns="0" anchor="t">
            <a:noAutofit/>
          </a:bodyPr>
          <a:lstStyle/>
          <a:p>
            <a:pPr algn="l">
              <a:lnSpc>
                <a:spcPct val="122000"/>
              </a:lnSpc>
            </a:pPr>
            <a:r>
              <a:rPr sz="740" b="0" i="0">
                <a:solidFill>
                  <a:srgbClr val="7DD3FC"/>
                </a:solidFill>
                <a:latin typeface="Consolas"/>
              </a:rPr>
              <a:t>Rule of thumb: change depth to answer “what is inside?”, change filters to answer “what should I look at?”, and never reseed during an incident.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2.3 · THE INSPECTOR</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Four tabs answer four different questions</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Overview is the brief, metrics is the evidence, children is the blame path, CLI is the action. Select a node and read left to right.</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ADMINISTRATION</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15 / 27</a:t>
            </a:r>
          </a:p>
        </p:txBody>
      </p:sp>
      <p:sp>
        <p:nvSpPr>
          <p:cNvPr id="11" name="Rounded Rectangle 10"/>
          <p:cNvSpPr/>
          <p:nvPr/>
        </p:nvSpPr>
        <p:spPr>
          <a:xfrm>
            <a:off x="566928" y="1783080"/>
            <a:ext cx="2724912" cy="1755648"/>
          </a:xfrm>
          <a:prstGeom prst="roundRect">
            <a:avLst>
              <a:gd name="adj" fmla="val 416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566928" y="1783080"/>
            <a:ext cx="2724912" cy="36576"/>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13232" y="1911095"/>
            <a:ext cx="2450592" cy="182880"/>
          </a:xfrm>
          <a:prstGeom prst="rect">
            <a:avLst/>
          </a:prstGeom>
          <a:noFill/>
        </p:spPr>
        <p:txBody>
          <a:bodyPr wrap="square" lIns="0" rIns="0" tIns="0" bIns="0" anchor="t">
            <a:noAutofit/>
          </a:bodyPr>
          <a:lstStyle/>
          <a:p>
            <a:pPr algn="l">
              <a:lnSpc>
                <a:spcPct val="122000"/>
              </a:lnSpc>
            </a:pPr>
            <a:r>
              <a:rPr sz="1160" b="1" i="0">
                <a:solidFill>
                  <a:srgbClr val="F4F8FC"/>
                </a:solidFill>
                <a:latin typeface="Segoe UI"/>
              </a:rPr>
              <a:t>Overview</a:t>
            </a:r>
          </a:p>
        </p:txBody>
      </p:sp>
      <p:sp>
        <p:nvSpPr>
          <p:cNvPr id="14" name="TextBox 13"/>
          <p:cNvSpPr txBox="1"/>
          <p:nvPr/>
        </p:nvSpPr>
        <p:spPr>
          <a:xfrm>
            <a:off x="713232" y="2130552"/>
            <a:ext cx="2450592" cy="292608"/>
          </a:xfrm>
          <a:prstGeom prst="rect">
            <a:avLst/>
          </a:prstGeom>
          <a:noFill/>
        </p:spPr>
        <p:txBody>
          <a:bodyPr wrap="square" lIns="0" rIns="0" tIns="0" bIns="0" anchor="t">
            <a:noAutofit/>
          </a:bodyPr>
          <a:lstStyle/>
          <a:p>
            <a:pPr algn="l">
              <a:lnSpc>
                <a:spcPct val="120000"/>
              </a:lnSpc>
            </a:pPr>
            <a:r>
              <a:rPr sz="720" b="0" i="0">
                <a:solidFill>
                  <a:srgbClr val="7DD3FC"/>
                </a:solidFill>
                <a:latin typeface="Consolas"/>
              </a:rPr>
              <a:t>What is this and how is it doing?</a:t>
            </a:r>
          </a:p>
        </p:txBody>
      </p:sp>
      <p:cxnSp>
        <p:nvCxnSpPr>
          <p:cNvPr id="15" name="Connector 14"/>
          <p:cNvCxnSpPr/>
          <p:nvPr/>
        </p:nvCxnSpPr>
        <p:spPr>
          <a:xfrm>
            <a:off x="694944" y="2514600"/>
            <a:ext cx="2468880"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13232" y="2624328"/>
            <a:ext cx="2432304" cy="292608"/>
          </a:xfrm>
          <a:prstGeom prst="rect">
            <a:avLst/>
          </a:prstGeom>
          <a:noFill/>
        </p:spPr>
        <p:txBody>
          <a:bodyPr wrap="square" lIns="0" rIns="0" tIns="0" bIns="0" anchor="t">
            <a:noAutofit/>
          </a:bodyPr>
          <a:lstStyle/>
          <a:p>
            <a:pPr algn="l" marL="146304" indent="-146304">
              <a:lnSpc>
                <a:spcPct val="130000"/>
              </a:lnSpc>
              <a:buClr>
                <a:srgbClr val="7DD3FC"/>
              </a:buClr>
              <a:buFont typeface="Arial"/>
              <a:buChar char="•"/>
            </a:pPr>
            <a:r>
              <a:rPr sz="720" b="0" i="0">
                <a:solidFill>
                  <a:srgbClr val="9DB0C6"/>
                </a:solidFill>
                <a:latin typeface="Segoe UI"/>
              </a:rPr>
              <a:t>Gauges, sparklines and subtree health at a glance</a:t>
            </a:r>
          </a:p>
        </p:txBody>
      </p:sp>
      <p:sp>
        <p:nvSpPr>
          <p:cNvPr id="17" name="TextBox 16"/>
          <p:cNvSpPr txBox="1"/>
          <p:nvPr/>
        </p:nvSpPr>
        <p:spPr>
          <a:xfrm>
            <a:off x="713232" y="2953512"/>
            <a:ext cx="2432304" cy="173736"/>
          </a:xfrm>
          <a:prstGeom prst="rect">
            <a:avLst/>
          </a:prstGeom>
          <a:noFill/>
        </p:spPr>
        <p:txBody>
          <a:bodyPr wrap="square" lIns="0" rIns="0" tIns="0" bIns="0" anchor="t">
            <a:noAutofit/>
          </a:bodyPr>
          <a:lstStyle/>
          <a:p>
            <a:pPr algn="l" marL="146304" indent="-146304">
              <a:lnSpc>
                <a:spcPct val="130000"/>
              </a:lnSpc>
              <a:buClr>
                <a:srgbClr val="7DD3FC"/>
              </a:buClr>
              <a:buFont typeface="Arial"/>
              <a:buChar char="•"/>
            </a:pPr>
            <a:r>
              <a:rPr sz="720" b="0" i="0">
                <a:solidFill>
                  <a:srgbClr val="9DB0C6"/>
                </a:solidFill>
                <a:latin typeface="Segoe UI"/>
              </a:rPr>
              <a:t>Owner, region, runtime, protocol and SLA</a:t>
            </a:r>
          </a:p>
        </p:txBody>
      </p:sp>
      <p:sp>
        <p:nvSpPr>
          <p:cNvPr id="18" name="TextBox 17"/>
          <p:cNvSpPr txBox="1"/>
          <p:nvPr/>
        </p:nvSpPr>
        <p:spPr>
          <a:xfrm>
            <a:off x="713232" y="3163824"/>
            <a:ext cx="2432304" cy="173736"/>
          </a:xfrm>
          <a:prstGeom prst="rect">
            <a:avLst/>
          </a:prstGeom>
          <a:noFill/>
        </p:spPr>
        <p:txBody>
          <a:bodyPr wrap="square" lIns="0" rIns="0" tIns="0" bIns="0" anchor="t">
            <a:noAutofit/>
          </a:bodyPr>
          <a:lstStyle/>
          <a:p>
            <a:pPr algn="l" marL="146304" indent="-146304">
              <a:lnSpc>
                <a:spcPct val="130000"/>
              </a:lnSpc>
              <a:buClr>
                <a:srgbClr val="7DD3FC"/>
              </a:buClr>
              <a:buFont typeface="Arial"/>
              <a:buChar char="•"/>
            </a:pPr>
            <a:r>
              <a:rPr sz="720" b="0" i="0">
                <a:solidFill>
                  <a:srgbClr val="9DB0C6"/>
                </a:solidFill>
                <a:latin typeface="Segoe UI"/>
              </a:rPr>
              <a:t>“Updated X s ago” proves the numbers are live</a:t>
            </a:r>
          </a:p>
        </p:txBody>
      </p:sp>
      <p:sp>
        <p:nvSpPr>
          <p:cNvPr id="19" name="Rounded Rectangle 18"/>
          <p:cNvSpPr/>
          <p:nvPr/>
        </p:nvSpPr>
        <p:spPr>
          <a:xfrm>
            <a:off x="3465576" y="1783080"/>
            <a:ext cx="2724912" cy="1755648"/>
          </a:xfrm>
          <a:prstGeom prst="roundRect">
            <a:avLst>
              <a:gd name="adj" fmla="val 416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ectangle 19"/>
          <p:cNvSpPr/>
          <p:nvPr/>
        </p:nvSpPr>
        <p:spPr>
          <a:xfrm>
            <a:off x="3465576" y="1783080"/>
            <a:ext cx="2724912"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3611880" y="1911095"/>
            <a:ext cx="2450592" cy="182880"/>
          </a:xfrm>
          <a:prstGeom prst="rect">
            <a:avLst/>
          </a:prstGeom>
          <a:noFill/>
        </p:spPr>
        <p:txBody>
          <a:bodyPr wrap="square" lIns="0" rIns="0" tIns="0" bIns="0" anchor="t">
            <a:noAutofit/>
          </a:bodyPr>
          <a:lstStyle/>
          <a:p>
            <a:pPr algn="l">
              <a:lnSpc>
                <a:spcPct val="122000"/>
              </a:lnSpc>
            </a:pPr>
            <a:r>
              <a:rPr sz="1160" b="1" i="0">
                <a:solidFill>
                  <a:srgbClr val="F4F8FC"/>
                </a:solidFill>
                <a:latin typeface="Segoe UI"/>
              </a:rPr>
              <a:t>Metrics</a:t>
            </a:r>
          </a:p>
        </p:txBody>
      </p:sp>
      <p:sp>
        <p:nvSpPr>
          <p:cNvPr id="22" name="TextBox 21"/>
          <p:cNvSpPr txBox="1"/>
          <p:nvPr/>
        </p:nvSpPr>
        <p:spPr>
          <a:xfrm>
            <a:off x="3611880" y="2130552"/>
            <a:ext cx="2450592" cy="292608"/>
          </a:xfrm>
          <a:prstGeom prst="rect">
            <a:avLst/>
          </a:prstGeom>
          <a:noFill/>
        </p:spPr>
        <p:txBody>
          <a:bodyPr wrap="square" lIns="0" rIns="0" tIns="0" bIns="0" anchor="t">
            <a:noAutofit/>
          </a:bodyPr>
          <a:lstStyle/>
          <a:p>
            <a:pPr algn="l">
              <a:lnSpc>
                <a:spcPct val="120000"/>
              </a:lnSpc>
            </a:pPr>
            <a:r>
              <a:rPr sz="720" b="0" i="0">
                <a:solidFill>
                  <a:srgbClr val="34D399"/>
                </a:solidFill>
                <a:latin typeface="Consolas"/>
              </a:rPr>
              <a:t>What exactly is the evidence?</a:t>
            </a:r>
          </a:p>
        </p:txBody>
      </p:sp>
      <p:cxnSp>
        <p:nvCxnSpPr>
          <p:cNvPr id="23" name="Connector 22"/>
          <p:cNvCxnSpPr/>
          <p:nvPr/>
        </p:nvCxnSpPr>
        <p:spPr>
          <a:xfrm>
            <a:off x="3593592" y="2514600"/>
            <a:ext cx="2468880"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11880" y="2624328"/>
            <a:ext cx="2432304" cy="173736"/>
          </a:xfrm>
          <a:prstGeom prst="rect">
            <a:avLst/>
          </a:prstGeom>
          <a:noFill/>
        </p:spPr>
        <p:txBody>
          <a:bodyPr wrap="square" lIns="0" rIns="0" tIns="0" bIns="0" anchor="t">
            <a:noAutofit/>
          </a:bodyPr>
          <a:lstStyle/>
          <a:p>
            <a:pPr algn="l" marL="146304" indent="-146304">
              <a:lnSpc>
                <a:spcPct val="130000"/>
              </a:lnSpc>
              <a:buClr>
                <a:srgbClr val="34D399"/>
              </a:buClr>
              <a:buFont typeface="Arial"/>
              <a:buChar char="•"/>
            </a:pPr>
            <a:r>
              <a:rPr sz="720" b="0" i="0">
                <a:solidFill>
                  <a:srgbClr val="9DB0C6"/>
                </a:solidFill>
                <a:latin typeface="Segoe UI"/>
              </a:rPr>
              <a:t>Full bars for cpu, memory, disk and network</a:t>
            </a:r>
          </a:p>
        </p:txBody>
      </p:sp>
      <p:sp>
        <p:nvSpPr>
          <p:cNvPr id="25" name="TextBox 24"/>
          <p:cNvSpPr txBox="1"/>
          <p:nvPr/>
        </p:nvSpPr>
        <p:spPr>
          <a:xfrm>
            <a:off x="3611880" y="2834640"/>
            <a:ext cx="2432304" cy="173736"/>
          </a:xfrm>
          <a:prstGeom prst="rect">
            <a:avLst/>
          </a:prstGeom>
          <a:noFill/>
        </p:spPr>
        <p:txBody>
          <a:bodyPr wrap="square" lIns="0" rIns="0" tIns="0" bIns="0" anchor="t">
            <a:noAutofit/>
          </a:bodyPr>
          <a:lstStyle/>
          <a:p>
            <a:pPr algn="l" marL="146304" indent="-146304">
              <a:lnSpc>
                <a:spcPct val="130000"/>
              </a:lnSpc>
              <a:buClr>
                <a:srgbClr val="34D399"/>
              </a:buClr>
              <a:buFont typeface="Arial"/>
              <a:buChar char="•"/>
            </a:pPr>
            <a:r>
              <a:rPr sz="720" b="0" i="0">
                <a:solidFill>
                  <a:srgbClr val="9DB0C6"/>
                </a:solidFill>
                <a:latin typeface="Segoe UI"/>
              </a:rPr>
              <a:t>RPS, p99, error rate, uptime and replicas</a:t>
            </a:r>
          </a:p>
        </p:txBody>
      </p:sp>
      <p:sp>
        <p:nvSpPr>
          <p:cNvPr id="26" name="TextBox 25"/>
          <p:cNvSpPr txBox="1"/>
          <p:nvPr/>
        </p:nvSpPr>
        <p:spPr>
          <a:xfrm>
            <a:off x="3611880" y="3044952"/>
            <a:ext cx="2432304" cy="173736"/>
          </a:xfrm>
          <a:prstGeom prst="rect">
            <a:avLst/>
          </a:prstGeom>
          <a:noFill/>
        </p:spPr>
        <p:txBody>
          <a:bodyPr wrap="square" lIns="0" rIns="0" tIns="0" bIns="0" anchor="t">
            <a:noAutofit/>
          </a:bodyPr>
          <a:lstStyle/>
          <a:p>
            <a:pPr algn="l" marL="146304" indent="-146304">
              <a:lnSpc>
                <a:spcPct val="130000"/>
              </a:lnSpc>
              <a:buClr>
                <a:srgbClr val="34D399"/>
              </a:buClr>
              <a:buFont typeface="Arial"/>
              <a:buChar char="•"/>
            </a:pPr>
            <a:r>
              <a:rPr sz="720" b="0" i="0">
                <a:solidFill>
                  <a:srgbClr val="9DB0C6"/>
                </a:solidFill>
                <a:latin typeface="Segoe UI"/>
              </a:rPr>
              <a:t>Collector source behind every number</a:t>
            </a:r>
          </a:p>
        </p:txBody>
      </p:sp>
      <p:sp>
        <p:nvSpPr>
          <p:cNvPr id="27" name="Rounded Rectangle 26"/>
          <p:cNvSpPr/>
          <p:nvPr/>
        </p:nvSpPr>
        <p:spPr>
          <a:xfrm>
            <a:off x="6364224" y="1783080"/>
            <a:ext cx="2724912" cy="1755648"/>
          </a:xfrm>
          <a:prstGeom prst="roundRect">
            <a:avLst>
              <a:gd name="adj" fmla="val 416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Rectangle 27"/>
          <p:cNvSpPr/>
          <p:nvPr/>
        </p:nvSpPr>
        <p:spPr>
          <a:xfrm>
            <a:off x="6364224" y="1783080"/>
            <a:ext cx="2724912" cy="36576"/>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6510528" y="1911095"/>
            <a:ext cx="2450592" cy="182880"/>
          </a:xfrm>
          <a:prstGeom prst="rect">
            <a:avLst/>
          </a:prstGeom>
          <a:noFill/>
        </p:spPr>
        <p:txBody>
          <a:bodyPr wrap="square" lIns="0" rIns="0" tIns="0" bIns="0" anchor="t">
            <a:noAutofit/>
          </a:bodyPr>
          <a:lstStyle/>
          <a:p>
            <a:pPr algn="l">
              <a:lnSpc>
                <a:spcPct val="122000"/>
              </a:lnSpc>
            </a:pPr>
            <a:r>
              <a:rPr sz="1160" b="1" i="0">
                <a:solidFill>
                  <a:srgbClr val="F4F8FC"/>
                </a:solidFill>
                <a:latin typeface="Segoe UI"/>
              </a:rPr>
              <a:t>Children</a:t>
            </a:r>
          </a:p>
        </p:txBody>
      </p:sp>
      <p:sp>
        <p:nvSpPr>
          <p:cNvPr id="30" name="TextBox 29"/>
          <p:cNvSpPr txBox="1"/>
          <p:nvPr/>
        </p:nvSpPr>
        <p:spPr>
          <a:xfrm>
            <a:off x="6510528" y="2130552"/>
            <a:ext cx="2450592" cy="292608"/>
          </a:xfrm>
          <a:prstGeom prst="rect">
            <a:avLst/>
          </a:prstGeom>
          <a:noFill/>
        </p:spPr>
        <p:txBody>
          <a:bodyPr wrap="square" lIns="0" rIns="0" tIns="0" bIns="0" anchor="t">
            <a:noAutofit/>
          </a:bodyPr>
          <a:lstStyle/>
          <a:p>
            <a:pPr algn="l">
              <a:lnSpc>
                <a:spcPct val="120000"/>
              </a:lnSpc>
            </a:pPr>
            <a:r>
              <a:rPr sz="720" b="0" i="0">
                <a:solidFill>
                  <a:srgbClr val="FBBF24"/>
                </a:solidFill>
                <a:latin typeface="Consolas"/>
              </a:rPr>
              <a:t>Which child is poisoning the rollup?</a:t>
            </a:r>
          </a:p>
        </p:txBody>
      </p:sp>
      <p:cxnSp>
        <p:nvCxnSpPr>
          <p:cNvPr id="31" name="Connector 30"/>
          <p:cNvCxnSpPr/>
          <p:nvPr/>
        </p:nvCxnSpPr>
        <p:spPr>
          <a:xfrm>
            <a:off x="6492240" y="2514600"/>
            <a:ext cx="2468879"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10528" y="2624328"/>
            <a:ext cx="2432304" cy="173736"/>
          </a:xfrm>
          <a:prstGeom prst="rect">
            <a:avLst/>
          </a:prstGeom>
          <a:noFill/>
        </p:spPr>
        <p:txBody>
          <a:bodyPr wrap="square" lIns="0" rIns="0" tIns="0" bIns="0" anchor="t">
            <a:noAutofit/>
          </a:bodyPr>
          <a:lstStyle/>
          <a:p>
            <a:pPr algn="l" marL="146304" indent="-146304">
              <a:lnSpc>
                <a:spcPct val="130000"/>
              </a:lnSpc>
              <a:buClr>
                <a:srgbClr val="FBBF24"/>
              </a:buClr>
              <a:buFont typeface="Arial"/>
              <a:buChar char="•"/>
            </a:pPr>
            <a:r>
              <a:rPr sz="720" b="0" i="0">
                <a:solidFill>
                  <a:srgbClr val="9DB0C6"/>
                </a:solidFill>
                <a:latin typeface="Segoe UI"/>
              </a:rPr>
              <a:t>Direct children with live CPU and RPS</a:t>
            </a:r>
          </a:p>
        </p:txBody>
      </p:sp>
      <p:sp>
        <p:nvSpPr>
          <p:cNvPr id="33" name="TextBox 32"/>
          <p:cNvSpPr txBox="1"/>
          <p:nvPr/>
        </p:nvSpPr>
        <p:spPr>
          <a:xfrm>
            <a:off x="6510528" y="2834640"/>
            <a:ext cx="2432304" cy="173736"/>
          </a:xfrm>
          <a:prstGeom prst="rect">
            <a:avLst/>
          </a:prstGeom>
          <a:noFill/>
        </p:spPr>
        <p:txBody>
          <a:bodyPr wrap="square" lIns="0" rIns="0" tIns="0" bIns="0" anchor="t">
            <a:noAutofit/>
          </a:bodyPr>
          <a:lstStyle/>
          <a:p>
            <a:pPr algn="l" marL="146304" indent="-146304">
              <a:lnSpc>
                <a:spcPct val="130000"/>
              </a:lnSpc>
              <a:buClr>
                <a:srgbClr val="FBBF24"/>
              </a:buClr>
              <a:buFont typeface="Arial"/>
              <a:buChar char="•"/>
            </a:pPr>
            <a:r>
              <a:rPr sz="720" b="0" i="0">
                <a:solidFill>
                  <a:srgbClr val="9DB0C6"/>
                </a:solidFill>
                <a:latin typeface="Segoe UI"/>
              </a:rPr>
              <a:t>Fastest way to find one bad replica</a:t>
            </a:r>
          </a:p>
        </p:txBody>
      </p:sp>
      <p:sp>
        <p:nvSpPr>
          <p:cNvPr id="34" name="TextBox 33"/>
          <p:cNvSpPr txBox="1"/>
          <p:nvPr/>
        </p:nvSpPr>
        <p:spPr>
          <a:xfrm>
            <a:off x="6510528" y="3044952"/>
            <a:ext cx="2432304" cy="173736"/>
          </a:xfrm>
          <a:prstGeom prst="rect">
            <a:avLst/>
          </a:prstGeom>
          <a:noFill/>
        </p:spPr>
        <p:txBody>
          <a:bodyPr wrap="square" lIns="0" rIns="0" tIns="0" bIns="0" anchor="t">
            <a:noAutofit/>
          </a:bodyPr>
          <a:lstStyle/>
          <a:p>
            <a:pPr algn="l" marL="146304" indent="-146304">
              <a:lnSpc>
                <a:spcPct val="130000"/>
              </a:lnSpc>
              <a:buClr>
                <a:srgbClr val="FBBF24"/>
              </a:buClr>
              <a:buFont typeface="Arial"/>
              <a:buChar char="•"/>
            </a:pPr>
            <a:r>
              <a:rPr sz="720" b="0" i="0">
                <a:solidFill>
                  <a:srgbClr val="9DB0C6"/>
                </a:solidFill>
                <a:latin typeface="Segoe UI"/>
              </a:rPr>
              <a:t>Click through to focus it on the canvas</a:t>
            </a:r>
          </a:p>
        </p:txBody>
      </p:sp>
      <p:sp>
        <p:nvSpPr>
          <p:cNvPr id="35" name="Rounded Rectangle 34"/>
          <p:cNvSpPr/>
          <p:nvPr/>
        </p:nvSpPr>
        <p:spPr>
          <a:xfrm>
            <a:off x="9262872" y="1783080"/>
            <a:ext cx="2724912" cy="1755648"/>
          </a:xfrm>
          <a:prstGeom prst="roundRect">
            <a:avLst>
              <a:gd name="adj" fmla="val 416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Rectangle 35"/>
          <p:cNvSpPr/>
          <p:nvPr/>
        </p:nvSpPr>
        <p:spPr>
          <a:xfrm>
            <a:off x="9262872" y="1783080"/>
            <a:ext cx="2724912" cy="36576"/>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TextBox 36"/>
          <p:cNvSpPr txBox="1"/>
          <p:nvPr/>
        </p:nvSpPr>
        <p:spPr>
          <a:xfrm>
            <a:off x="9409176" y="1911095"/>
            <a:ext cx="2450592" cy="182880"/>
          </a:xfrm>
          <a:prstGeom prst="rect">
            <a:avLst/>
          </a:prstGeom>
          <a:noFill/>
        </p:spPr>
        <p:txBody>
          <a:bodyPr wrap="square" lIns="0" rIns="0" tIns="0" bIns="0" anchor="t">
            <a:noAutofit/>
          </a:bodyPr>
          <a:lstStyle/>
          <a:p>
            <a:pPr algn="l">
              <a:lnSpc>
                <a:spcPct val="122000"/>
              </a:lnSpc>
            </a:pPr>
            <a:r>
              <a:rPr sz="1160" b="1" i="0">
                <a:solidFill>
                  <a:srgbClr val="F4F8FC"/>
                </a:solidFill>
                <a:latin typeface="Segoe UI"/>
              </a:rPr>
              <a:t>CLI</a:t>
            </a:r>
          </a:p>
        </p:txBody>
      </p:sp>
      <p:sp>
        <p:nvSpPr>
          <p:cNvPr id="38" name="TextBox 37"/>
          <p:cNvSpPr txBox="1"/>
          <p:nvPr/>
        </p:nvSpPr>
        <p:spPr>
          <a:xfrm>
            <a:off x="9409176" y="2130552"/>
            <a:ext cx="2450592" cy="292608"/>
          </a:xfrm>
          <a:prstGeom prst="rect">
            <a:avLst/>
          </a:prstGeom>
          <a:noFill/>
        </p:spPr>
        <p:txBody>
          <a:bodyPr wrap="square" lIns="0" rIns="0" tIns="0" bIns="0" anchor="t">
            <a:noAutofit/>
          </a:bodyPr>
          <a:lstStyle/>
          <a:p>
            <a:pPr algn="l">
              <a:lnSpc>
                <a:spcPct val="120000"/>
              </a:lnSpc>
            </a:pPr>
            <a:r>
              <a:rPr sz="720" b="0" i="0">
                <a:solidFill>
                  <a:srgbClr val="A78BFA"/>
                </a:solidFill>
                <a:latin typeface="Consolas"/>
              </a:rPr>
              <a:t>What can I safely do right now?</a:t>
            </a:r>
          </a:p>
        </p:txBody>
      </p:sp>
      <p:cxnSp>
        <p:nvCxnSpPr>
          <p:cNvPr id="39" name="Connector 38"/>
          <p:cNvCxnSpPr/>
          <p:nvPr/>
        </p:nvCxnSpPr>
        <p:spPr>
          <a:xfrm>
            <a:off x="9390888" y="2514600"/>
            <a:ext cx="2468879"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409176" y="2624328"/>
            <a:ext cx="2432304" cy="173736"/>
          </a:xfrm>
          <a:prstGeom prst="rect">
            <a:avLst/>
          </a:prstGeom>
          <a:noFill/>
        </p:spPr>
        <p:txBody>
          <a:bodyPr wrap="square" lIns="0" rIns="0" tIns="0" bIns="0" anchor="t">
            <a:noAutofit/>
          </a:bodyPr>
          <a:lstStyle/>
          <a:p>
            <a:pPr algn="l" marL="146304" indent="-146304">
              <a:lnSpc>
                <a:spcPct val="130000"/>
              </a:lnSpc>
              <a:buClr>
                <a:srgbClr val="A78BFA"/>
              </a:buClr>
              <a:buFont typeface="Arial"/>
              <a:buChar char="•"/>
            </a:pPr>
            <a:r>
              <a:rPr sz="720" b="0" i="0">
                <a:solidFill>
                  <a:srgbClr val="9DB0C6"/>
                </a:solidFill>
                <a:latin typeface="Segoe UI"/>
              </a:rPr>
              <a:t>Six runbooks, read-only or privileged</a:t>
            </a:r>
          </a:p>
        </p:txBody>
      </p:sp>
      <p:sp>
        <p:nvSpPr>
          <p:cNvPr id="41" name="TextBox 40"/>
          <p:cNvSpPr txBox="1"/>
          <p:nvPr/>
        </p:nvSpPr>
        <p:spPr>
          <a:xfrm>
            <a:off x="9409176" y="2834640"/>
            <a:ext cx="2432304" cy="173736"/>
          </a:xfrm>
          <a:prstGeom prst="rect">
            <a:avLst/>
          </a:prstGeom>
          <a:noFill/>
        </p:spPr>
        <p:txBody>
          <a:bodyPr wrap="square" lIns="0" rIns="0" tIns="0" bIns="0" anchor="t">
            <a:noAutofit/>
          </a:bodyPr>
          <a:lstStyle/>
          <a:p>
            <a:pPr algn="l" marL="146304" indent="-146304">
              <a:lnSpc>
                <a:spcPct val="130000"/>
              </a:lnSpc>
              <a:buClr>
                <a:srgbClr val="A78BFA"/>
              </a:buClr>
              <a:buFont typeface="Arial"/>
              <a:buChar char="•"/>
            </a:pPr>
            <a:r>
              <a:rPr sz="720" b="0" i="0">
                <a:solidFill>
                  <a:srgbClr val="9DB0C6"/>
                </a:solidFill>
                <a:latin typeface="Segoe UI"/>
              </a:rPr>
              <a:t>Live streaming output over SSE</a:t>
            </a:r>
          </a:p>
        </p:txBody>
      </p:sp>
      <p:sp>
        <p:nvSpPr>
          <p:cNvPr id="42" name="TextBox 41"/>
          <p:cNvSpPr txBox="1"/>
          <p:nvPr/>
        </p:nvSpPr>
        <p:spPr>
          <a:xfrm>
            <a:off x="9409176" y="3044952"/>
            <a:ext cx="2432304" cy="173736"/>
          </a:xfrm>
          <a:prstGeom prst="rect">
            <a:avLst/>
          </a:prstGeom>
          <a:noFill/>
        </p:spPr>
        <p:txBody>
          <a:bodyPr wrap="square" lIns="0" rIns="0" tIns="0" bIns="0" anchor="t">
            <a:noAutofit/>
          </a:bodyPr>
          <a:lstStyle/>
          <a:p>
            <a:pPr algn="l" marL="146304" indent="-146304">
              <a:lnSpc>
                <a:spcPct val="130000"/>
              </a:lnSpc>
              <a:buClr>
                <a:srgbClr val="A78BFA"/>
              </a:buClr>
              <a:buFont typeface="Arial"/>
              <a:buChar char="•"/>
            </a:pPr>
            <a:r>
              <a:rPr sz="720" b="0" i="0">
                <a:solidFill>
                  <a:srgbClr val="9DB0C6"/>
                </a:solidFill>
                <a:latin typeface="Segoe UI"/>
              </a:rPr>
              <a:t>Every run persisted with operator and exit code</a:t>
            </a:r>
          </a:p>
        </p:txBody>
      </p:sp>
      <p:sp>
        <p:nvSpPr>
          <p:cNvPr id="43" name="Rounded Rectangle 42"/>
          <p:cNvSpPr/>
          <p:nvPr/>
        </p:nvSpPr>
        <p:spPr>
          <a:xfrm>
            <a:off x="566928" y="3712463"/>
            <a:ext cx="11055096" cy="1042415"/>
          </a:xfrm>
          <a:prstGeom prst="roundRect">
            <a:avLst>
              <a:gd name="adj" fmla="val 7017"/>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4" name="TextBox 43"/>
          <p:cNvSpPr txBox="1"/>
          <p:nvPr/>
        </p:nvSpPr>
        <p:spPr>
          <a:xfrm>
            <a:off x="731520" y="3813048"/>
            <a:ext cx="3108960" cy="146304"/>
          </a:xfrm>
          <a:prstGeom prst="rect">
            <a:avLst/>
          </a:prstGeom>
          <a:noFill/>
        </p:spPr>
        <p:txBody>
          <a:bodyPr wrap="square" lIns="0" rIns="0" tIns="0" bIns="0" anchor="t">
            <a:noAutofit/>
          </a:bodyPr>
          <a:lstStyle/>
          <a:p>
            <a:pPr algn="l">
              <a:lnSpc>
                <a:spcPct val="122000"/>
              </a:lnSpc>
            </a:pPr>
            <a:r>
              <a:rPr sz="620" b="0" i="0" spc="110">
                <a:solidFill>
                  <a:srgbClr val="7DD3FC"/>
                </a:solidFill>
                <a:latin typeface="Consolas"/>
              </a:rPr>
              <a:t>OVERVIEW · HEADER</a:t>
            </a:r>
          </a:p>
        </p:txBody>
      </p:sp>
      <p:sp>
        <p:nvSpPr>
          <p:cNvPr id="45" name="TextBox 44"/>
          <p:cNvSpPr txBox="1"/>
          <p:nvPr/>
        </p:nvSpPr>
        <p:spPr>
          <a:xfrm>
            <a:off x="731520" y="3977639"/>
            <a:ext cx="2651760" cy="201168"/>
          </a:xfrm>
          <a:prstGeom prst="rect">
            <a:avLst/>
          </a:prstGeom>
          <a:noFill/>
        </p:spPr>
        <p:txBody>
          <a:bodyPr wrap="square" lIns="0" rIns="0" tIns="0" bIns="0" anchor="t">
            <a:noAutofit/>
          </a:bodyPr>
          <a:lstStyle/>
          <a:p>
            <a:pPr algn="l">
              <a:lnSpc>
                <a:spcPct val="122000"/>
              </a:lnSpc>
            </a:pPr>
            <a:r>
              <a:rPr sz="1140" b="1" i="0">
                <a:solidFill>
                  <a:srgbClr val="F4F8FC"/>
                </a:solidFill>
                <a:latin typeface="Segoe UI"/>
              </a:rPr>
              <a:t>checkout-api</a:t>
            </a:r>
          </a:p>
        </p:txBody>
      </p:sp>
      <p:sp>
        <p:nvSpPr>
          <p:cNvPr id="46" name="TextBox 45"/>
          <p:cNvSpPr txBox="1"/>
          <p:nvPr/>
        </p:nvSpPr>
        <p:spPr>
          <a:xfrm>
            <a:off x="731520" y="4197096"/>
            <a:ext cx="2651760" cy="146304"/>
          </a:xfrm>
          <a:prstGeom prst="rect">
            <a:avLst/>
          </a:prstGeom>
          <a:noFill/>
        </p:spPr>
        <p:txBody>
          <a:bodyPr wrap="square" lIns="0" rIns="0" tIns="0" bIns="0" anchor="t">
            <a:noAutofit/>
          </a:bodyPr>
          <a:lstStyle/>
          <a:p>
            <a:pPr algn="l">
              <a:lnSpc>
                <a:spcPct val="122000"/>
              </a:lnSpc>
            </a:pPr>
            <a:r>
              <a:rPr sz="660" b="0" i="0">
                <a:solidFill>
                  <a:srgbClr val="64748B"/>
                </a:solidFill>
                <a:latin typeface="Consolas"/>
              </a:rPr>
              <a:t>service · node20 / fastify · v2.4.1</a:t>
            </a:r>
          </a:p>
        </p:txBody>
      </p:sp>
      <p:sp>
        <p:nvSpPr>
          <p:cNvPr id="47" name="TextBox 46"/>
          <p:cNvSpPr txBox="1"/>
          <p:nvPr/>
        </p:nvSpPr>
        <p:spPr>
          <a:xfrm>
            <a:off x="731520" y="4370831"/>
            <a:ext cx="2651760" cy="146304"/>
          </a:xfrm>
          <a:prstGeom prst="rect">
            <a:avLst/>
          </a:prstGeom>
          <a:noFill/>
        </p:spPr>
        <p:txBody>
          <a:bodyPr wrap="square" lIns="0" rIns="0" tIns="0" bIns="0" anchor="t">
            <a:noAutofit/>
          </a:bodyPr>
          <a:lstStyle/>
          <a:p>
            <a:pPr algn="l">
              <a:lnSpc>
                <a:spcPct val="122000"/>
              </a:lnSpc>
            </a:pPr>
            <a:r>
              <a:rPr sz="640" b="0" i="0">
                <a:solidFill>
                  <a:srgbClr val="9DB0C6"/>
                </a:solidFill>
                <a:latin typeface="Consolas"/>
              </a:rPr>
              <a:t>SLA 250 ms · HTTP/2 · prometheus · 2 s ago</a:t>
            </a:r>
          </a:p>
        </p:txBody>
      </p:sp>
      <p:sp>
        <p:nvSpPr>
          <p:cNvPr id="48" name="TextBox 47"/>
          <p:cNvSpPr txBox="1"/>
          <p:nvPr/>
        </p:nvSpPr>
        <p:spPr>
          <a:xfrm>
            <a:off x="3584448" y="3813048"/>
            <a:ext cx="2926080" cy="146304"/>
          </a:xfrm>
          <a:prstGeom prst="rect">
            <a:avLst/>
          </a:prstGeom>
          <a:noFill/>
        </p:spPr>
        <p:txBody>
          <a:bodyPr wrap="square" lIns="0" rIns="0" tIns="0" bIns="0" anchor="t">
            <a:noAutofit/>
          </a:bodyPr>
          <a:lstStyle/>
          <a:p>
            <a:pPr algn="l">
              <a:lnSpc>
                <a:spcPct val="122000"/>
              </a:lnSpc>
            </a:pPr>
            <a:r>
              <a:rPr sz="620" b="0" i="0" spc="110">
                <a:solidFill>
                  <a:srgbClr val="7DD3FC"/>
                </a:solidFill>
                <a:latin typeface="Consolas"/>
              </a:rPr>
              <a:t>OVERVIEW · GAUGES</a:t>
            </a:r>
          </a:p>
        </p:txBody>
      </p:sp>
      <p:sp>
        <p:nvSpPr>
          <p:cNvPr id="49" name="TextBox 48"/>
          <p:cNvSpPr txBox="1"/>
          <p:nvPr/>
        </p:nvSpPr>
        <p:spPr>
          <a:xfrm>
            <a:off x="3584448" y="3986783"/>
            <a:ext cx="420624" cy="128016"/>
          </a:xfrm>
          <a:prstGeom prst="rect">
            <a:avLst/>
          </a:prstGeom>
          <a:noFill/>
        </p:spPr>
        <p:txBody>
          <a:bodyPr wrap="square" lIns="0" rIns="0" tIns="0" bIns="0" anchor="t">
            <a:noAutofit/>
          </a:bodyPr>
          <a:lstStyle/>
          <a:p>
            <a:pPr algn="l">
              <a:lnSpc>
                <a:spcPct val="122000"/>
              </a:lnSpc>
            </a:pPr>
            <a:r>
              <a:rPr sz="600" b="0" i="0">
                <a:solidFill>
                  <a:srgbClr val="64748B"/>
                </a:solidFill>
                <a:latin typeface="Consolas"/>
              </a:rPr>
              <a:t>CPU</a:t>
            </a:r>
          </a:p>
        </p:txBody>
      </p:sp>
      <p:sp>
        <p:nvSpPr>
          <p:cNvPr id="50" name="Rounded Rectangle 49"/>
          <p:cNvSpPr/>
          <p:nvPr/>
        </p:nvSpPr>
        <p:spPr>
          <a:xfrm>
            <a:off x="4041648" y="4018787"/>
            <a:ext cx="1481328" cy="68580"/>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1" name="Rounded Rectangle 50"/>
          <p:cNvSpPr/>
          <p:nvPr/>
        </p:nvSpPr>
        <p:spPr>
          <a:xfrm>
            <a:off x="4041648" y="4018787"/>
            <a:ext cx="1051742" cy="68580"/>
          </a:xfrm>
          <a:prstGeom prst="roundRect">
            <a:avLst>
              <a:gd name="adj" fmla="val 50000"/>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TextBox 51"/>
          <p:cNvSpPr txBox="1"/>
          <p:nvPr/>
        </p:nvSpPr>
        <p:spPr>
          <a:xfrm>
            <a:off x="5577840" y="3986783"/>
            <a:ext cx="457200" cy="128016"/>
          </a:xfrm>
          <a:prstGeom prst="rect">
            <a:avLst/>
          </a:prstGeom>
          <a:noFill/>
        </p:spPr>
        <p:txBody>
          <a:bodyPr wrap="square" lIns="0" rIns="0" tIns="0" bIns="0" anchor="t">
            <a:noAutofit/>
          </a:bodyPr>
          <a:lstStyle/>
          <a:p>
            <a:pPr algn="r">
              <a:lnSpc>
                <a:spcPct val="122000"/>
              </a:lnSpc>
            </a:pPr>
            <a:r>
              <a:rPr sz="600" b="0" i="0">
                <a:solidFill>
                  <a:srgbClr val="E2E8F0"/>
                </a:solidFill>
                <a:latin typeface="Consolas"/>
              </a:rPr>
              <a:t>71.4%</a:t>
            </a:r>
          </a:p>
        </p:txBody>
      </p:sp>
      <p:sp>
        <p:nvSpPr>
          <p:cNvPr id="53" name="TextBox 52"/>
          <p:cNvSpPr txBox="1"/>
          <p:nvPr/>
        </p:nvSpPr>
        <p:spPr>
          <a:xfrm>
            <a:off x="3584448" y="4206240"/>
            <a:ext cx="420624" cy="128016"/>
          </a:xfrm>
          <a:prstGeom prst="rect">
            <a:avLst/>
          </a:prstGeom>
          <a:noFill/>
        </p:spPr>
        <p:txBody>
          <a:bodyPr wrap="square" lIns="0" rIns="0" tIns="0" bIns="0" anchor="t">
            <a:noAutofit/>
          </a:bodyPr>
          <a:lstStyle/>
          <a:p>
            <a:pPr algn="l">
              <a:lnSpc>
                <a:spcPct val="122000"/>
              </a:lnSpc>
            </a:pPr>
            <a:r>
              <a:rPr sz="600" b="0" i="0">
                <a:solidFill>
                  <a:srgbClr val="64748B"/>
                </a:solidFill>
                <a:latin typeface="Consolas"/>
              </a:rPr>
              <a:t>MEM</a:t>
            </a:r>
          </a:p>
        </p:txBody>
      </p:sp>
      <p:sp>
        <p:nvSpPr>
          <p:cNvPr id="54" name="Rounded Rectangle 53"/>
          <p:cNvSpPr/>
          <p:nvPr/>
        </p:nvSpPr>
        <p:spPr>
          <a:xfrm>
            <a:off x="4041648" y="4238244"/>
            <a:ext cx="1481328" cy="68580"/>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5" name="Rounded Rectangle 54"/>
          <p:cNvSpPr/>
          <p:nvPr/>
        </p:nvSpPr>
        <p:spPr>
          <a:xfrm>
            <a:off x="4041648" y="4238244"/>
            <a:ext cx="799917" cy="68580"/>
          </a:xfrm>
          <a:prstGeom prst="roundRect">
            <a:avLst>
              <a:gd name="adj" fmla="val 50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6" name="TextBox 55"/>
          <p:cNvSpPr txBox="1"/>
          <p:nvPr/>
        </p:nvSpPr>
        <p:spPr>
          <a:xfrm>
            <a:off x="5577840" y="4206240"/>
            <a:ext cx="457200" cy="128016"/>
          </a:xfrm>
          <a:prstGeom prst="rect">
            <a:avLst/>
          </a:prstGeom>
          <a:noFill/>
        </p:spPr>
        <p:txBody>
          <a:bodyPr wrap="square" lIns="0" rIns="0" tIns="0" bIns="0" anchor="t">
            <a:noAutofit/>
          </a:bodyPr>
          <a:lstStyle/>
          <a:p>
            <a:pPr algn="r">
              <a:lnSpc>
                <a:spcPct val="122000"/>
              </a:lnSpc>
            </a:pPr>
            <a:r>
              <a:rPr sz="600" b="0" i="0">
                <a:solidFill>
                  <a:srgbClr val="E2E8F0"/>
                </a:solidFill>
                <a:latin typeface="Consolas"/>
              </a:rPr>
              <a:t>54.2%</a:t>
            </a:r>
          </a:p>
        </p:txBody>
      </p:sp>
      <p:sp>
        <p:nvSpPr>
          <p:cNvPr id="57" name="TextBox 56"/>
          <p:cNvSpPr txBox="1"/>
          <p:nvPr/>
        </p:nvSpPr>
        <p:spPr>
          <a:xfrm>
            <a:off x="3584448" y="4425696"/>
            <a:ext cx="420624" cy="128016"/>
          </a:xfrm>
          <a:prstGeom prst="rect">
            <a:avLst/>
          </a:prstGeom>
          <a:noFill/>
        </p:spPr>
        <p:txBody>
          <a:bodyPr wrap="square" lIns="0" rIns="0" tIns="0" bIns="0" anchor="t">
            <a:noAutofit/>
          </a:bodyPr>
          <a:lstStyle/>
          <a:p>
            <a:pPr algn="l">
              <a:lnSpc>
                <a:spcPct val="122000"/>
              </a:lnSpc>
            </a:pPr>
            <a:r>
              <a:rPr sz="600" b="0" i="0">
                <a:solidFill>
                  <a:srgbClr val="64748B"/>
                </a:solidFill>
                <a:latin typeface="Consolas"/>
              </a:rPr>
              <a:t>DISK</a:t>
            </a:r>
          </a:p>
        </p:txBody>
      </p:sp>
      <p:sp>
        <p:nvSpPr>
          <p:cNvPr id="58" name="Rounded Rectangle 57"/>
          <p:cNvSpPr/>
          <p:nvPr/>
        </p:nvSpPr>
        <p:spPr>
          <a:xfrm>
            <a:off x="4041648" y="4457700"/>
            <a:ext cx="1481328" cy="68580"/>
          </a:xfrm>
          <a:prstGeom prst="roundRect">
            <a:avLst>
              <a:gd name="adj" fmla="val 50000"/>
            </a:avLst>
          </a:prstGeom>
          <a:solidFill>
            <a:srgbClr val="16212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9" name="Rounded Rectangle 58"/>
          <p:cNvSpPr/>
          <p:nvPr/>
        </p:nvSpPr>
        <p:spPr>
          <a:xfrm>
            <a:off x="4041648" y="4457700"/>
            <a:ext cx="562904" cy="68580"/>
          </a:xfrm>
          <a:prstGeom prst="roundRect">
            <a:avLst>
              <a:gd name="adj" fmla="val 50000"/>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0" name="TextBox 59"/>
          <p:cNvSpPr txBox="1"/>
          <p:nvPr/>
        </p:nvSpPr>
        <p:spPr>
          <a:xfrm>
            <a:off x="5577840" y="4425696"/>
            <a:ext cx="457200" cy="128016"/>
          </a:xfrm>
          <a:prstGeom prst="rect">
            <a:avLst/>
          </a:prstGeom>
          <a:noFill/>
        </p:spPr>
        <p:txBody>
          <a:bodyPr wrap="square" lIns="0" rIns="0" tIns="0" bIns="0" anchor="t">
            <a:noAutofit/>
          </a:bodyPr>
          <a:lstStyle/>
          <a:p>
            <a:pPr algn="r">
              <a:lnSpc>
                <a:spcPct val="122000"/>
              </a:lnSpc>
            </a:pPr>
            <a:r>
              <a:rPr sz="600" b="0" i="0">
                <a:solidFill>
                  <a:srgbClr val="E2E8F0"/>
                </a:solidFill>
                <a:latin typeface="Consolas"/>
              </a:rPr>
              <a:t>38.0%</a:t>
            </a:r>
          </a:p>
        </p:txBody>
      </p:sp>
      <p:sp>
        <p:nvSpPr>
          <p:cNvPr id="61" name="TextBox 60"/>
          <p:cNvSpPr txBox="1"/>
          <p:nvPr/>
        </p:nvSpPr>
        <p:spPr>
          <a:xfrm>
            <a:off x="6199632" y="3813048"/>
            <a:ext cx="2743200" cy="146304"/>
          </a:xfrm>
          <a:prstGeom prst="rect">
            <a:avLst/>
          </a:prstGeom>
          <a:noFill/>
        </p:spPr>
        <p:txBody>
          <a:bodyPr wrap="square" lIns="0" rIns="0" tIns="0" bIns="0" anchor="t">
            <a:noAutofit/>
          </a:bodyPr>
          <a:lstStyle/>
          <a:p>
            <a:pPr algn="l">
              <a:lnSpc>
                <a:spcPct val="122000"/>
              </a:lnSpc>
            </a:pPr>
            <a:r>
              <a:rPr sz="620" b="0" i="0" spc="110">
                <a:solidFill>
                  <a:srgbClr val="7DD3FC"/>
                </a:solidFill>
                <a:latin typeface="Consolas"/>
              </a:rPr>
              <a:t>OVERVIEW · TREND</a:t>
            </a:r>
          </a:p>
        </p:txBody>
      </p:sp>
      <p:cxnSp>
        <p:nvCxnSpPr>
          <p:cNvPr id="62" name="Connector 61"/>
          <p:cNvCxnSpPr/>
          <p:nvPr/>
        </p:nvCxnSpPr>
        <p:spPr>
          <a:xfrm flipV="1">
            <a:off x="6217920" y="4343400"/>
            <a:ext cx="83488" cy="36576"/>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301408" y="4343400"/>
            <a:ext cx="83489" cy="18288"/>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384897" y="4306824"/>
            <a:ext cx="83489" cy="54864"/>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6468386" y="4270248"/>
            <a:ext cx="83488" cy="36576"/>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6551874" y="4270248"/>
            <a:ext cx="83489" cy="18288"/>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6635363" y="4233672"/>
            <a:ext cx="83489" cy="54864"/>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718852" y="4233672"/>
            <a:ext cx="83488" cy="18287"/>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6802340" y="4197096"/>
            <a:ext cx="83489" cy="54863"/>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885829" y="4197096"/>
            <a:ext cx="83489" cy="18287"/>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6969318" y="4160520"/>
            <a:ext cx="83488" cy="54863"/>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052806" y="4160520"/>
            <a:ext cx="83489" cy="27432"/>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136295" y="4187952"/>
            <a:ext cx="83489" cy="18288"/>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7219784" y="4151376"/>
            <a:ext cx="83489" cy="54864"/>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7303273" y="4123944"/>
            <a:ext cx="83488" cy="27432"/>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7386761" y="4123944"/>
            <a:ext cx="83489" cy="36576"/>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7470250" y="4105656"/>
            <a:ext cx="83489" cy="54864"/>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7553739" y="4105656"/>
            <a:ext cx="83488" cy="27431"/>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7637227" y="4087368"/>
            <a:ext cx="83489" cy="45719"/>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720716" y="4087368"/>
            <a:ext cx="83489" cy="27432"/>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7804205" y="4069080"/>
            <a:ext cx="83488" cy="45720"/>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887693" y="4069080"/>
            <a:ext cx="83489" cy="36576"/>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971182" y="4105656"/>
            <a:ext cx="83489" cy="18288"/>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8054671" y="4087368"/>
            <a:ext cx="83489" cy="36576"/>
          </a:xfrm>
          <a:prstGeom prst="line">
            <a:avLst/>
          </a:prstGeom>
          <a:ln w="13970">
            <a:solidFill>
              <a:srgbClr val="7DD3FC"/>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6217920" y="4443983"/>
            <a:ext cx="2011680" cy="128016"/>
          </a:xfrm>
          <a:prstGeom prst="rect">
            <a:avLst/>
          </a:prstGeom>
          <a:noFill/>
        </p:spPr>
        <p:txBody>
          <a:bodyPr wrap="square" lIns="0" rIns="0" tIns="0" bIns="0" anchor="t">
            <a:noAutofit/>
          </a:bodyPr>
          <a:lstStyle/>
          <a:p>
            <a:pPr algn="l">
              <a:lnSpc>
                <a:spcPct val="122000"/>
              </a:lnSpc>
            </a:pPr>
            <a:r>
              <a:rPr sz="570" b="0" i="0">
                <a:solidFill>
                  <a:srgbClr val="64748B"/>
                </a:solidFill>
                <a:latin typeface="Consolas"/>
              </a:rPr>
              <a:t>cpu · 24 points · sparkline</a:t>
            </a:r>
          </a:p>
        </p:txBody>
      </p:sp>
      <p:sp>
        <p:nvSpPr>
          <p:cNvPr id="86" name="TextBox 85"/>
          <p:cNvSpPr txBox="1"/>
          <p:nvPr/>
        </p:nvSpPr>
        <p:spPr>
          <a:xfrm>
            <a:off x="8449055" y="3813048"/>
            <a:ext cx="3291840" cy="146304"/>
          </a:xfrm>
          <a:prstGeom prst="rect">
            <a:avLst/>
          </a:prstGeom>
          <a:noFill/>
        </p:spPr>
        <p:txBody>
          <a:bodyPr wrap="square" lIns="0" rIns="0" tIns="0" bIns="0" anchor="t">
            <a:noAutofit/>
          </a:bodyPr>
          <a:lstStyle/>
          <a:p>
            <a:pPr algn="l">
              <a:lnSpc>
                <a:spcPct val="122000"/>
              </a:lnSpc>
            </a:pPr>
            <a:r>
              <a:rPr sz="620" b="0" i="0" spc="110">
                <a:solidFill>
                  <a:srgbClr val="7DD3FC"/>
                </a:solidFill>
                <a:latin typeface="Consolas"/>
              </a:rPr>
              <a:t>OVERVIEW · SUBTREE HEALTH</a:t>
            </a:r>
          </a:p>
        </p:txBody>
      </p:sp>
      <p:sp>
        <p:nvSpPr>
          <p:cNvPr id="87" name="Oval 86"/>
          <p:cNvSpPr/>
          <p:nvPr/>
        </p:nvSpPr>
        <p:spPr>
          <a:xfrm>
            <a:off x="8467344" y="4037076"/>
            <a:ext cx="54864" cy="5486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595359" y="4005072"/>
            <a:ext cx="2048256" cy="137160"/>
          </a:xfrm>
          <a:prstGeom prst="rect">
            <a:avLst/>
          </a:prstGeom>
          <a:noFill/>
        </p:spPr>
        <p:txBody>
          <a:bodyPr wrap="square" lIns="0" rIns="0" tIns="0" bIns="0" anchor="t">
            <a:noAutofit/>
          </a:bodyPr>
          <a:lstStyle/>
          <a:p>
            <a:pPr algn="l">
              <a:lnSpc>
                <a:spcPct val="122000"/>
              </a:lnSpc>
            </a:pPr>
            <a:r>
              <a:rPr sz="640" b="0" i="0">
                <a:solidFill>
                  <a:srgbClr val="9DB0C6"/>
                </a:solidFill>
                <a:latin typeface="Consolas"/>
              </a:rPr>
              <a:t>checkout-api</a:t>
            </a:r>
          </a:p>
        </p:txBody>
      </p:sp>
      <p:sp>
        <p:nvSpPr>
          <p:cNvPr id="89" name="TextBox 88"/>
          <p:cNvSpPr txBox="1"/>
          <p:nvPr/>
        </p:nvSpPr>
        <p:spPr>
          <a:xfrm>
            <a:off x="10661903" y="4005072"/>
            <a:ext cx="1188720" cy="137160"/>
          </a:xfrm>
          <a:prstGeom prst="rect">
            <a:avLst/>
          </a:prstGeom>
          <a:noFill/>
        </p:spPr>
        <p:txBody>
          <a:bodyPr wrap="square" lIns="0" rIns="0" tIns="0" bIns="0" anchor="t">
            <a:noAutofit/>
          </a:bodyPr>
          <a:lstStyle/>
          <a:p>
            <a:pPr algn="r">
              <a:lnSpc>
                <a:spcPct val="122000"/>
              </a:lnSpc>
            </a:pPr>
            <a:r>
              <a:rPr sz="640" b="0" i="0">
                <a:solidFill>
                  <a:srgbClr val="34D399"/>
                </a:solidFill>
                <a:latin typeface="Consolas"/>
              </a:rPr>
              <a:t>healthy</a:t>
            </a:r>
          </a:p>
        </p:txBody>
      </p:sp>
      <p:sp>
        <p:nvSpPr>
          <p:cNvPr id="90" name="Oval 89"/>
          <p:cNvSpPr/>
          <p:nvPr/>
        </p:nvSpPr>
        <p:spPr>
          <a:xfrm>
            <a:off x="8467344" y="4201668"/>
            <a:ext cx="54864" cy="54864"/>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595359" y="4169663"/>
            <a:ext cx="2048256" cy="137160"/>
          </a:xfrm>
          <a:prstGeom prst="rect">
            <a:avLst/>
          </a:prstGeom>
          <a:noFill/>
        </p:spPr>
        <p:txBody>
          <a:bodyPr wrap="square" lIns="0" rIns="0" tIns="0" bIns="0" anchor="t">
            <a:noAutofit/>
          </a:bodyPr>
          <a:lstStyle/>
          <a:p>
            <a:pPr algn="l">
              <a:lnSpc>
                <a:spcPct val="122000"/>
              </a:lnSpc>
            </a:pPr>
            <a:r>
              <a:rPr sz="640" b="0" i="0">
                <a:solidFill>
                  <a:srgbClr val="9DB0C6"/>
                </a:solidFill>
                <a:latin typeface="Consolas"/>
              </a:rPr>
              <a:t>POST /confirm</a:t>
            </a:r>
          </a:p>
        </p:txBody>
      </p:sp>
      <p:sp>
        <p:nvSpPr>
          <p:cNvPr id="92" name="TextBox 91"/>
          <p:cNvSpPr txBox="1"/>
          <p:nvPr/>
        </p:nvSpPr>
        <p:spPr>
          <a:xfrm>
            <a:off x="10661903" y="4169663"/>
            <a:ext cx="1188720" cy="137160"/>
          </a:xfrm>
          <a:prstGeom prst="rect">
            <a:avLst/>
          </a:prstGeom>
          <a:noFill/>
        </p:spPr>
        <p:txBody>
          <a:bodyPr wrap="square" lIns="0" rIns="0" tIns="0" bIns="0" anchor="t">
            <a:noAutofit/>
          </a:bodyPr>
          <a:lstStyle/>
          <a:p>
            <a:pPr algn="r">
              <a:lnSpc>
                <a:spcPct val="122000"/>
              </a:lnSpc>
            </a:pPr>
            <a:r>
              <a:rPr sz="640" b="0" i="0">
                <a:solidFill>
                  <a:srgbClr val="FBBF24"/>
                </a:solidFill>
                <a:latin typeface="Consolas"/>
              </a:rPr>
              <a:t>degraded</a:t>
            </a:r>
          </a:p>
        </p:txBody>
      </p:sp>
      <p:sp>
        <p:nvSpPr>
          <p:cNvPr id="93" name="Oval 92"/>
          <p:cNvSpPr/>
          <p:nvPr/>
        </p:nvSpPr>
        <p:spPr>
          <a:xfrm>
            <a:off x="8467344" y="4366260"/>
            <a:ext cx="54864" cy="5486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595359" y="4334256"/>
            <a:ext cx="2048256" cy="137160"/>
          </a:xfrm>
          <a:prstGeom prst="rect">
            <a:avLst/>
          </a:prstGeom>
          <a:noFill/>
        </p:spPr>
        <p:txBody>
          <a:bodyPr wrap="square" lIns="0" rIns="0" tIns="0" bIns="0" anchor="t">
            <a:noAutofit/>
          </a:bodyPr>
          <a:lstStyle/>
          <a:p>
            <a:pPr algn="l">
              <a:lnSpc>
                <a:spcPct val="122000"/>
              </a:lnSpc>
            </a:pPr>
            <a:r>
              <a:rPr sz="640" b="0" i="0">
                <a:solidFill>
                  <a:srgbClr val="9DB0C6"/>
                </a:solidFill>
                <a:latin typeface="Consolas"/>
              </a:rPr>
              <a:t>GET /session/:id</a:t>
            </a:r>
          </a:p>
        </p:txBody>
      </p:sp>
      <p:sp>
        <p:nvSpPr>
          <p:cNvPr id="95" name="TextBox 94"/>
          <p:cNvSpPr txBox="1"/>
          <p:nvPr/>
        </p:nvSpPr>
        <p:spPr>
          <a:xfrm>
            <a:off x="10661903" y="4334256"/>
            <a:ext cx="1188720" cy="137160"/>
          </a:xfrm>
          <a:prstGeom prst="rect">
            <a:avLst/>
          </a:prstGeom>
          <a:noFill/>
        </p:spPr>
        <p:txBody>
          <a:bodyPr wrap="square" lIns="0" rIns="0" tIns="0" bIns="0" anchor="t">
            <a:noAutofit/>
          </a:bodyPr>
          <a:lstStyle/>
          <a:p>
            <a:pPr algn="r">
              <a:lnSpc>
                <a:spcPct val="122000"/>
              </a:lnSpc>
            </a:pPr>
            <a:r>
              <a:rPr sz="640" b="0" i="0">
                <a:solidFill>
                  <a:srgbClr val="34D399"/>
                </a:solidFill>
                <a:latin typeface="Consolas"/>
              </a:rPr>
              <a:t>healthy</a:t>
            </a:r>
          </a:p>
        </p:txBody>
      </p:sp>
      <p:sp>
        <p:nvSpPr>
          <p:cNvPr id="96" name="Oval 95"/>
          <p:cNvSpPr/>
          <p:nvPr/>
        </p:nvSpPr>
        <p:spPr>
          <a:xfrm>
            <a:off x="8467344" y="4530852"/>
            <a:ext cx="54864" cy="54864"/>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595359" y="4498848"/>
            <a:ext cx="2048256" cy="137160"/>
          </a:xfrm>
          <a:prstGeom prst="rect">
            <a:avLst/>
          </a:prstGeom>
          <a:noFill/>
        </p:spPr>
        <p:txBody>
          <a:bodyPr wrap="square" lIns="0" rIns="0" tIns="0" bIns="0" anchor="t">
            <a:noAutofit/>
          </a:bodyPr>
          <a:lstStyle/>
          <a:p>
            <a:pPr algn="l">
              <a:lnSpc>
                <a:spcPct val="122000"/>
              </a:lnSpc>
            </a:pPr>
            <a:r>
              <a:rPr sz="640" b="0" i="0">
                <a:solidFill>
                  <a:srgbClr val="9DB0C6"/>
                </a:solidFill>
                <a:latin typeface="Consolas"/>
              </a:rPr>
              <a:t>pod checkout-api-6f2a</a:t>
            </a:r>
          </a:p>
        </p:txBody>
      </p:sp>
      <p:sp>
        <p:nvSpPr>
          <p:cNvPr id="98" name="TextBox 97"/>
          <p:cNvSpPr txBox="1"/>
          <p:nvPr/>
        </p:nvSpPr>
        <p:spPr>
          <a:xfrm>
            <a:off x="10661903" y="4498848"/>
            <a:ext cx="1188720" cy="137160"/>
          </a:xfrm>
          <a:prstGeom prst="rect">
            <a:avLst/>
          </a:prstGeom>
          <a:noFill/>
        </p:spPr>
        <p:txBody>
          <a:bodyPr wrap="square" lIns="0" rIns="0" tIns="0" bIns="0" anchor="t">
            <a:noAutofit/>
          </a:bodyPr>
          <a:lstStyle/>
          <a:p>
            <a:pPr algn="r">
              <a:lnSpc>
                <a:spcPct val="122000"/>
              </a:lnSpc>
            </a:pPr>
            <a:r>
              <a:rPr sz="640" b="0" i="0">
                <a:solidFill>
                  <a:srgbClr val="FBBF24"/>
                </a:solidFill>
                <a:latin typeface="Consolas"/>
              </a:rPr>
              <a:t>degraded</a:t>
            </a:r>
          </a:p>
        </p:txBody>
      </p:sp>
      <p:sp>
        <p:nvSpPr>
          <p:cNvPr id="99" name="Rounded Rectangle 98"/>
          <p:cNvSpPr/>
          <p:nvPr/>
        </p:nvSpPr>
        <p:spPr>
          <a:xfrm>
            <a:off x="566928" y="4901184"/>
            <a:ext cx="3575304" cy="1225296"/>
          </a:xfrm>
          <a:prstGeom prst="roundRect">
            <a:avLst>
              <a:gd name="adj" fmla="val 522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0" name="Rectangle 99"/>
          <p:cNvSpPr/>
          <p:nvPr/>
        </p:nvSpPr>
        <p:spPr>
          <a:xfrm>
            <a:off x="704088" y="5047488"/>
            <a:ext cx="164592" cy="23774"/>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1" name="TextBox 100"/>
          <p:cNvSpPr txBox="1"/>
          <p:nvPr/>
        </p:nvSpPr>
        <p:spPr>
          <a:xfrm>
            <a:off x="932688" y="5010912"/>
            <a:ext cx="2926080" cy="164592"/>
          </a:xfrm>
          <a:prstGeom prst="rect">
            <a:avLst/>
          </a:prstGeom>
          <a:noFill/>
        </p:spPr>
        <p:txBody>
          <a:bodyPr wrap="square" lIns="0" rIns="0" tIns="0" bIns="0" anchor="t">
            <a:noAutofit/>
          </a:bodyPr>
          <a:lstStyle/>
          <a:p>
            <a:pPr algn="l">
              <a:lnSpc>
                <a:spcPct val="122000"/>
              </a:lnSpc>
            </a:pPr>
            <a:r>
              <a:rPr sz="880" b="1" i="0">
                <a:solidFill>
                  <a:srgbClr val="F4F8FC"/>
                </a:solidFill>
                <a:latin typeface="Segoe UI"/>
              </a:rPr>
              <a:t>Read the header first</a:t>
            </a:r>
          </a:p>
        </p:txBody>
      </p:sp>
      <p:sp>
        <p:nvSpPr>
          <p:cNvPr id="102" name="TextBox 101"/>
          <p:cNvSpPr txBox="1"/>
          <p:nvPr/>
        </p:nvSpPr>
        <p:spPr>
          <a:xfrm>
            <a:off x="704088" y="5266944"/>
            <a:ext cx="3291840" cy="749808"/>
          </a:xfrm>
          <a:prstGeom prst="rect">
            <a:avLst/>
          </a:prstGeom>
          <a:noFill/>
        </p:spPr>
        <p:txBody>
          <a:bodyPr wrap="square" lIns="0" rIns="0" tIns="0" bIns="0" anchor="t">
            <a:noAutofit/>
          </a:bodyPr>
          <a:lstStyle/>
          <a:p>
            <a:pPr algn="l">
              <a:lnSpc>
                <a:spcPct val="130000"/>
              </a:lnSpc>
            </a:pPr>
            <a:r>
              <a:rPr sz="800" b="0" i="0">
                <a:solidFill>
                  <a:srgbClr val="9DB0C6"/>
                </a:solidFill>
                <a:latin typeface="Segoe UI"/>
              </a:rPr>
              <a:t>Type, runtime, version, owner and SLA tell you who cares and what “slow” means for this node.</a:t>
            </a:r>
          </a:p>
        </p:txBody>
      </p:sp>
      <p:sp>
        <p:nvSpPr>
          <p:cNvPr id="103" name="Rounded Rectangle 102"/>
          <p:cNvSpPr/>
          <p:nvPr/>
        </p:nvSpPr>
        <p:spPr>
          <a:xfrm>
            <a:off x="4306824" y="4901184"/>
            <a:ext cx="3575304" cy="1225296"/>
          </a:xfrm>
          <a:prstGeom prst="roundRect">
            <a:avLst>
              <a:gd name="adj" fmla="val 522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4" name="Rectangle 103"/>
          <p:cNvSpPr/>
          <p:nvPr/>
        </p:nvSpPr>
        <p:spPr>
          <a:xfrm>
            <a:off x="4443984" y="5047488"/>
            <a:ext cx="164592" cy="2377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5" name="TextBox 104"/>
          <p:cNvSpPr txBox="1"/>
          <p:nvPr/>
        </p:nvSpPr>
        <p:spPr>
          <a:xfrm>
            <a:off x="4672584" y="5010912"/>
            <a:ext cx="2926080" cy="164592"/>
          </a:xfrm>
          <a:prstGeom prst="rect">
            <a:avLst/>
          </a:prstGeom>
          <a:noFill/>
        </p:spPr>
        <p:txBody>
          <a:bodyPr wrap="square" lIns="0" rIns="0" tIns="0" bIns="0" anchor="t">
            <a:noAutofit/>
          </a:bodyPr>
          <a:lstStyle/>
          <a:p>
            <a:pPr algn="l">
              <a:lnSpc>
                <a:spcPct val="122000"/>
              </a:lnSpc>
            </a:pPr>
            <a:r>
              <a:rPr sz="880" b="1" i="0">
                <a:solidFill>
                  <a:srgbClr val="F4F8FC"/>
                </a:solidFill>
                <a:latin typeface="Segoe UI"/>
              </a:rPr>
              <a:t>Then the freshness</a:t>
            </a:r>
          </a:p>
        </p:txBody>
      </p:sp>
      <p:sp>
        <p:nvSpPr>
          <p:cNvPr id="106" name="TextBox 105"/>
          <p:cNvSpPr txBox="1"/>
          <p:nvPr/>
        </p:nvSpPr>
        <p:spPr>
          <a:xfrm>
            <a:off x="4443984" y="5266944"/>
            <a:ext cx="3291840" cy="749808"/>
          </a:xfrm>
          <a:prstGeom prst="rect">
            <a:avLst/>
          </a:prstGeom>
          <a:noFill/>
        </p:spPr>
        <p:txBody>
          <a:bodyPr wrap="square" lIns="0" rIns="0" tIns="0" bIns="0" anchor="t">
            <a:noAutofit/>
          </a:bodyPr>
          <a:lstStyle/>
          <a:p>
            <a:pPr algn="l">
              <a:lnSpc>
                <a:spcPct val="130000"/>
              </a:lnSpc>
            </a:pPr>
            <a:r>
              <a:rPr sz="800" b="0" i="0">
                <a:solidFill>
                  <a:srgbClr val="9DB0C6"/>
                </a:solidFill>
                <a:latin typeface="Segoe UI"/>
              </a:rPr>
              <a:t>If “updated” is not seconds old, stop profiling the workload and check the collector.</a:t>
            </a:r>
          </a:p>
        </p:txBody>
      </p:sp>
      <p:sp>
        <p:nvSpPr>
          <p:cNvPr id="107" name="Rounded Rectangle 106"/>
          <p:cNvSpPr/>
          <p:nvPr/>
        </p:nvSpPr>
        <p:spPr>
          <a:xfrm>
            <a:off x="8046719" y="4901184"/>
            <a:ext cx="3575304" cy="1225296"/>
          </a:xfrm>
          <a:prstGeom prst="roundRect">
            <a:avLst>
              <a:gd name="adj" fmla="val 522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8" name="Rectangle 107"/>
          <p:cNvSpPr/>
          <p:nvPr/>
        </p:nvSpPr>
        <p:spPr>
          <a:xfrm>
            <a:off x="8183879" y="5047488"/>
            <a:ext cx="164592" cy="2377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9" name="TextBox 108"/>
          <p:cNvSpPr txBox="1"/>
          <p:nvPr/>
        </p:nvSpPr>
        <p:spPr>
          <a:xfrm>
            <a:off x="8412480" y="5010912"/>
            <a:ext cx="2926080" cy="164592"/>
          </a:xfrm>
          <a:prstGeom prst="rect">
            <a:avLst/>
          </a:prstGeom>
          <a:noFill/>
        </p:spPr>
        <p:txBody>
          <a:bodyPr wrap="square" lIns="0" rIns="0" tIns="0" bIns="0" anchor="t">
            <a:noAutofit/>
          </a:bodyPr>
          <a:lstStyle/>
          <a:p>
            <a:pPr algn="l">
              <a:lnSpc>
                <a:spcPct val="122000"/>
              </a:lnSpc>
            </a:pPr>
            <a:r>
              <a:rPr sz="880" b="1" i="0">
                <a:solidFill>
                  <a:srgbClr val="F4F8FC"/>
                </a:solidFill>
                <a:latin typeface="Segoe UI"/>
              </a:rPr>
              <a:t>Then the subtree</a:t>
            </a:r>
          </a:p>
        </p:txBody>
      </p:sp>
      <p:sp>
        <p:nvSpPr>
          <p:cNvPr id="110" name="TextBox 109"/>
          <p:cNvSpPr txBox="1"/>
          <p:nvPr/>
        </p:nvSpPr>
        <p:spPr>
          <a:xfrm>
            <a:off x="8183879" y="5266944"/>
            <a:ext cx="3291840" cy="749808"/>
          </a:xfrm>
          <a:prstGeom prst="rect">
            <a:avLst/>
          </a:prstGeom>
          <a:noFill/>
        </p:spPr>
        <p:txBody>
          <a:bodyPr wrap="square" lIns="0" rIns="0" tIns="0" bIns="0" anchor="t">
            <a:noAutofit/>
          </a:bodyPr>
          <a:lstStyle/>
          <a:p>
            <a:pPr algn="l">
              <a:lnSpc>
                <a:spcPct val="130000"/>
              </a:lnSpc>
            </a:pPr>
            <a:r>
              <a:rPr sz="800" b="0" i="0">
                <a:solidFill>
                  <a:srgbClr val="9DB0C6"/>
                </a:solidFill>
                <a:latin typeface="Segoe UI"/>
              </a:rPr>
              <a:t>Only known offenders are listed. A green parent with a red child is still a red incident.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2.4 · RUNBOOKS</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Six actions, three of them privileged</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Each runbook renders a real command template against the selected node, streams output line by line, and records the result. Risky runs can fail closed.</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ADMINISTRATION</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16 / 27</a:t>
            </a:r>
          </a:p>
        </p:txBody>
      </p:sp>
      <p:sp>
        <p:nvSpPr>
          <p:cNvPr id="11" name="Rounded Rectangle 10"/>
          <p:cNvSpPr/>
          <p:nvPr/>
        </p:nvSpPr>
        <p:spPr>
          <a:xfrm>
            <a:off x="566928" y="1783080"/>
            <a:ext cx="11055096" cy="512064"/>
          </a:xfrm>
          <a:prstGeom prst="roundRect">
            <a:avLst>
              <a:gd name="adj" fmla="val 892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713232" y="1874519"/>
            <a:ext cx="1920240" cy="164592"/>
          </a:xfrm>
          <a:prstGeom prst="rect">
            <a:avLst/>
          </a:prstGeom>
          <a:noFill/>
        </p:spPr>
        <p:txBody>
          <a:bodyPr wrap="square" lIns="0" rIns="0" tIns="0" bIns="0" anchor="t">
            <a:noAutofit/>
          </a:bodyPr>
          <a:lstStyle/>
          <a:p>
            <a:pPr algn="l">
              <a:lnSpc>
                <a:spcPct val="122000"/>
              </a:lnSpc>
            </a:pPr>
            <a:r>
              <a:rPr sz="790" b="1" i="0">
                <a:solidFill>
                  <a:srgbClr val="F4F8FC"/>
                </a:solidFill>
                <a:latin typeface="Segoe UI"/>
              </a:rPr>
              <a:t>capture resource snapshot</a:t>
            </a:r>
          </a:p>
        </p:txBody>
      </p:sp>
      <p:sp>
        <p:nvSpPr>
          <p:cNvPr id="13" name="Rounded Rectangle 12"/>
          <p:cNvSpPr/>
          <p:nvPr/>
        </p:nvSpPr>
        <p:spPr>
          <a:xfrm>
            <a:off x="2706624" y="1874519"/>
            <a:ext cx="749808" cy="201168"/>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2761488" y="1928177"/>
            <a:ext cx="640080" cy="88391"/>
          </a:xfrm>
          <a:prstGeom prst="rect">
            <a:avLst/>
          </a:prstGeom>
          <a:noFill/>
        </p:spPr>
        <p:txBody>
          <a:bodyPr wrap="square" lIns="0" rIns="0" tIns="0" bIns="0" anchor="t">
            <a:noAutofit/>
          </a:bodyPr>
          <a:lstStyle/>
          <a:p>
            <a:pPr algn="ctr">
              <a:lnSpc>
                <a:spcPct val="100000"/>
              </a:lnSpc>
            </a:pPr>
            <a:r>
              <a:rPr sz="580" b="0" i="0">
                <a:solidFill>
                  <a:srgbClr val="34D399"/>
                </a:solidFill>
                <a:latin typeface="Consolas"/>
              </a:rPr>
              <a:t>read-only</a:t>
            </a:r>
          </a:p>
        </p:txBody>
      </p:sp>
      <p:sp>
        <p:nvSpPr>
          <p:cNvPr id="15" name="TextBox 14"/>
          <p:cNvSpPr txBox="1"/>
          <p:nvPr/>
        </p:nvSpPr>
        <p:spPr>
          <a:xfrm>
            <a:off x="3584448" y="1856231"/>
            <a:ext cx="3749039" cy="384048"/>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No change. Dumps cpu / mem / disk / net / RPS / latency into the run log.</a:t>
            </a:r>
          </a:p>
        </p:txBody>
      </p:sp>
      <p:sp>
        <p:nvSpPr>
          <p:cNvPr id="16" name="TextBox 15"/>
          <p:cNvSpPr txBox="1"/>
          <p:nvPr/>
        </p:nvSpPr>
        <p:spPr>
          <a:xfrm>
            <a:off x="7479792" y="1856231"/>
            <a:ext cx="4041648" cy="402336"/>
          </a:xfrm>
          <a:prstGeom prst="rect">
            <a:avLst/>
          </a:prstGeom>
          <a:noFill/>
        </p:spPr>
        <p:txBody>
          <a:bodyPr wrap="square" lIns="0" rIns="0" tIns="0" bIns="0" anchor="t">
            <a:noAutofit/>
          </a:bodyPr>
          <a:lstStyle/>
          <a:p>
            <a:pPr algn="l">
              <a:lnSpc>
                <a:spcPct val="122000"/>
              </a:lnSpc>
            </a:pPr>
            <a:r>
              <a:rPr sz="650" b="0" i="0">
                <a:solidFill>
                  <a:srgbClr val="7DD3FC"/>
                </a:solidFill>
                <a:latin typeface="Consolas"/>
              </a:rPr>
              <a:t>top -b -n1 · df -h · free -m</a:t>
            </a:r>
          </a:p>
        </p:txBody>
      </p:sp>
      <p:sp>
        <p:nvSpPr>
          <p:cNvPr id="17" name="Rounded Rectangle 16"/>
          <p:cNvSpPr/>
          <p:nvPr/>
        </p:nvSpPr>
        <p:spPr>
          <a:xfrm>
            <a:off x="566928" y="2350008"/>
            <a:ext cx="11055096" cy="512064"/>
          </a:xfrm>
          <a:prstGeom prst="roundRect">
            <a:avLst>
              <a:gd name="adj" fmla="val 8928"/>
            </a:avLst>
          </a:prstGeom>
          <a:solidFill>
            <a:srgbClr val="080D16"/>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713232" y="2441448"/>
            <a:ext cx="1920240" cy="164592"/>
          </a:xfrm>
          <a:prstGeom prst="rect">
            <a:avLst/>
          </a:prstGeom>
          <a:noFill/>
        </p:spPr>
        <p:txBody>
          <a:bodyPr wrap="square" lIns="0" rIns="0" tIns="0" bIns="0" anchor="t">
            <a:noAutofit/>
          </a:bodyPr>
          <a:lstStyle/>
          <a:p>
            <a:pPr algn="l">
              <a:lnSpc>
                <a:spcPct val="122000"/>
              </a:lnSpc>
            </a:pPr>
            <a:r>
              <a:rPr sz="790" b="1" i="0">
                <a:solidFill>
                  <a:srgbClr val="F4F8FC"/>
                </a:solidFill>
                <a:latin typeface="Segoe UI"/>
              </a:rPr>
              <a:t>tail last 200 log lines</a:t>
            </a:r>
          </a:p>
        </p:txBody>
      </p:sp>
      <p:sp>
        <p:nvSpPr>
          <p:cNvPr id="19" name="Rounded Rectangle 18"/>
          <p:cNvSpPr/>
          <p:nvPr/>
        </p:nvSpPr>
        <p:spPr>
          <a:xfrm>
            <a:off x="2706624" y="2441448"/>
            <a:ext cx="749808" cy="201168"/>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2761488" y="2495105"/>
            <a:ext cx="640080" cy="88391"/>
          </a:xfrm>
          <a:prstGeom prst="rect">
            <a:avLst/>
          </a:prstGeom>
          <a:noFill/>
        </p:spPr>
        <p:txBody>
          <a:bodyPr wrap="square" lIns="0" rIns="0" tIns="0" bIns="0" anchor="t">
            <a:noAutofit/>
          </a:bodyPr>
          <a:lstStyle/>
          <a:p>
            <a:pPr algn="ctr">
              <a:lnSpc>
                <a:spcPct val="100000"/>
              </a:lnSpc>
            </a:pPr>
            <a:r>
              <a:rPr sz="580" b="0" i="0">
                <a:solidFill>
                  <a:srgbClr val="34D399"/>
                </a:solidFill>
                <a:latin typeface="Consolas"/>
              </a:rPr>
              <a:t>read-only</a:t>
            </a:r>
          </a:p>
        </p:txBody>
      </p:sp>
      <p:sp>
        <p:nvSpPr>
          <p:cNvPr id="21" name="TextBox 20"/>
          <p:cNvSpPr txBox="1"/>
          <p:nvPr/>
        </p:nvSpPr>
        <p:spPr>
          <a:xfrm>
            <a:off x="3584448" y="2423160"/>
            <a:ext cx="3749039" cy="384048"/>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No change. Streams recent logs for triage.</a:t>
            </a:r>
          </a:p>
        </p:txBody>
      </p:sp>
      <p:sp>
        <p:nvSpPr>
          <p:cNvPr id="22" name="TextBox 21"/>
          <p:cNvSpPr txBox="1"/>
          <p:nvPr/>
        </p:nvSpPr>
        <p:spPr>
          <a:xfrm>
            <a:off x="7479792" y="2423160"/>
            <a:ext cx="4041648" cy="402336"/>
          </a:xfrm>
          <a:prstGeom prst="rect">
            <a:avLst/>
          </a:prstGeom>
          <a:noFill/>
        </p:spPr>
        <p:txBody>
          <a:bodyPr wrap="square" lIns="0" rIns="0" tIns="0" bIns="0" anchor="t">
            <a:noAutofit/>
          </a:bodyPr>
          <a:lstStyle/>
          <a:p>
            <a:pPr algn="l">
              <a:lnSpc>
                <a:spcPct val="122000"/>
              </a:lnSpc>
            </a:pPr>
            <a:r>
              <a:rPr sz="650" b="0" i="0">
                <a:solidFill>
                  <a:srgbClr val="7DD3FC"/>
                </a:solidFill>
                <a:latin typeface="Consolas"/>
              </a:rPr>
              <a:t>journalctl -u {name} -n 200</a:t>
            </a:r>
          </a:p>
        </p:txBody>
      </p:sp>
      <p:sp>
        <p:nvSpPr>
          <p:cNvPr id="23" name="Rounded Rectangle 22"/>
          <p:cNvSpPr/>
          <p:nvPr/>
        </p:nvSpPr>
        <p:spPr>
          <a:xfrm>
            <a:off x="566928" y="2916936"/>
            <a:ext cx="11055096" cy="512064"/>
          </a:xfrm>
          <a:prstGeom prst="roundRect">
            <a:avLst>
              <a:gd name="adj" fmla="val 892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713232" y="3008376"/>
            <a:ext cx="1920240" cy="164592"/>
          </a:xfrm>
          <a:prstGeom prst="rect">
            <a:avLst/>
          </a:prstGeom>
          <a:noFill/>
        </p:spPr>
        <p:txBody>
          <a:bodyPr wrap="square" lIns="0" rIns="0" tIns="0" bIns="0" anchor="t">
            <a:noAutofit/>
          </a:bodyPr>
          <a:lstStyle/>
          <a:p>
            <a:pPr algn="l">
              <a:lnSpc>
                <a:spcPct val="122000"/>
              </a:lnSpc>
            </a:pPr>
            <a:r>
              <a:rPr sz="790" b="1" i="0">
                <a:solidFill>
                  <a:srgbClr val="F4F8FC"/>
                </a:solidFill>
                <a:latin typeface="Segoe UI"/>
              </a:rPr>
              <a:t>scale replicas +2</a:t>
            </a:r>
          </a:p>
        </p:txBody>
      </p:sp>
      <p:sp>
        <p:nvSpPr>
          <p:cNvPr id="25" name="Rounded Rectangle 24"/>
          <p:cNvSpPr/>
          <p:nvPr/>
        </p:nvSpPr>
        <p:spPr>
          <a:xfrm>
            <a:off x="2706624" y="3008376"/>
            <a:ext cx="749808" cy="201168"/>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2761488" y="3062033"/>
            <a:ext cx="640080" cy="88391"/>
          </a:xfrm>
          <a:prstGeom prst="rect">
            <a:avLst/>
          </a:prstGeom>
          <a:noFill/>
        </p:spPr>
        <p:txBody>
          <a:bodyPr wrap="square" lIns="0" rIns="0" tIns="0" bIns="0" anchor="t">
            <a:noAutofit/>
          </a:bodyPr>
          <a:lstStyle/>
          <a:p>
            <a:pPr algn="ctr">
              <a:lnSpc>
                <a:spcPct val="100000"/>
              </a:lnSpc>
            </a:pPr>
            <a:r>
              <a:rPr sz="580" b="0" i="0">
                <a:solidFill>
                  <a:srgbClr val="7DD3FC"/>
                </a:solidFill>
                <a:latin typeface="Consolas"/>
              </a:rPr>
              <a:t>standard</a:t>
            </a:r>
          </a:p>
        </p:txBody>
      </p:sp>
      <p:sp>
        <p:nvSpPr>
          <p:cNvPr id="27" name="TextBox 26"/>
          <p:cNvSpPr txBox="1"/>
          <p:nvPr/>
        </p:nvSpPr>
        <p:spPr>
          <a:xfrm>
            <a:off x="3584448" y="2990088"/>
            <a:ext cx="3749039" cy="384048"/>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Bumps replicasDesired and replicasReady by 2 on the live snapshot.</a:t>
            </a:r>
          </a:p>
        </p:txBody>
      </p:sp>
      <p:sp>
        <p:nvSpPr>
          <p:cNvPr id="28" name="TextBox 27"/>
          <p:cNvSpPr txBox="1"/>
          <p:nvPr/>
        </p:nvSpPr>
        <p:spPr>
          <a:xfrm>
            <a:off x="7479792" y="2990088"/>
            <a:ext cx="4041648" cy="402336"/>
          </a:xfrm>
          <a:prstGeom prst="rect">
            <a:avLst/>
          </a:prstGeom>
          <a:noFill/>
        </p:spPr>
        <p:txBody>
          <a:bodyPr wrap="square" lIns="0" rIns="0" tIns="0" bIns="0" anchor="t">
            <a:noAutofit/>
          </a:bodyPr>
          <a:lstStyle/>
          <a:p>
            <a:pPr algn="l">
              <a:lnSpc>
                <a:spcPct val="122000"/>
              </a:lnSpc>
            </a:pPr>
            <a:r>
              <a:rPr sz="650" b="0" i="0">
                <a:solidFill>
                  <a:srgbClr val="7DD3FC"/>
                </a:solidFill>
                <a:latin typeface="Consolas"/>
              </a:rPr>
              <a:t>kubectl scale deploy/{name} --replicas={n}</a:t>
            </a:r>
          </a:p>
        </p:txBody>
      </p:sp>
      <p:sp>
        <p:nvSpPr>
          <p:cNvPr id="29" name="Rounded Rectangle 28"/>
          <p:cNvSpPr/>
          <p:nvPr/>
        </p:nvSpPr>
        <p:spPr>
          <a:xfrm>
            <a:off x="566928" y="3483864"/>
            <a:ext cx="11055096" cy="548640"/>
          </a:xfrm>
          <a:prstGeom prst="roundRect">
            <a:avLst>
              <a:gd name="adj" fmla="val 8333"/>
            </a:avLst>
          </a:prstGeom>
          <a:solidFill>
            <a:srgbClr val="080D16"/>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713232" y="3575304"/>
            <a:ext cx="1920240" cy="164592"/>
          </a:xfrm>
          <a:prstGeom prst="rect">
            <a:avLst/>
          </a:prstGeom>
          <a:noFill/>
        </p:spPr>
        <p:txBody>
          <a:bodyPr wrap="square" lIns="0" rIns="0" tIns="0" bIns="0" anchor="t">
            <a:noAutofit/>
          </a:bodyPr>
          <a:lstStyle/>
          <a:p>
            <a:pPr algn="l">
              <a:lnSpc>
                <a:spcPct val="122000"/>
              </a:lnSpc>
            </a:pPr>
            <a:r>
              <a:rPr sz="790" b="1" i="0">
                <a:solidFill>
                  <a:srgbClr val="F4F8FC"/>
                </a:solidFill>
                <a:latin typeface="Segoe UI"/>
              </a:rPr>
              <a:t>restart workload</a:t>
            </a:r>
          </a:p>
        </p:txBody>
      </p:sp>
      <p:sp>
        <p:nvSpPr>
          <p:cNvPr id="31" name="Rounded Rectangle 30"/>
          <p:cNvSpPr/>
          <p:nvPr/>
        </p:nvSpPr>
        <p:spPr>
          <a:xfrm>
            <a:off x="2706624" y="3575304"/>
            <a:ext cx="749808" cy="201168"/>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2761488" y="3628961"/>
            <a:ext cx="640080" cy="88391"/>
          </a:xfrm>
          <a:prstGeom prst="rect">
            <a:avLst/>
          </a:prstGeom>
          <a:noFill/>
        </p:spPr>
        <p:txBody>
          <a:bodyPr wrap="square" lIns="0" rIns="0" tIns="0" bIns="0" anchor="t">
            <a:noAutofit/>
          </a:bodyPr>
          <a:lstStyle/>
          <a:p>
            <a:pPr algn="ctr">
              <a:lnSpc>
                <a:spcPct val="100000"/>
              </a:lnSpc>
            </a:pPr>
            <a:r>
              <a:rPr sz="580" b="0" i="0">
                <a:solidFill>
                  <a:srgbClr val="FB7185"/>
                </a:solidFill>
                <a:latin typeface="Consolas"/>
              </a:rPr>
              <a:t>privileged</a:t>
            </a:r>
          </a:p>
        </p:txBody>
      </p:sp>
      <p:sp>
        <p:nvSpPr>
          <p:cNvPr id="33" name="TextBox 32"/>
          <p:cNvSpPr txBox="1"/>
          <p:nvPr/>
        </p:nvSpPr>
        <p:spPr>
          <a:xfrm>
            <a:off x="3584448" y="3557016"/>
            <a:ext cx="3749039" cy="384048"/>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Halves CPU and memory operating targets and clears the error rate — the node returns to healthy.</a:t>
            </a:r>
          </a:p>
        </p:txBody>
      </p:sp>
      <p:sp>
        <p:nvSpPr>
          <p:cNvPr id="34" name="TextBox 33"/>
          <p:cNvSpPr txBox="1"/>
          <p:nvPr/>
        </p:nvSpPr>
        <p:spPr>
          <a:xfrm>
            <a:off x="7479792" y="3557016"/>
            <a:ext cx="4041648" cy="402336"/>
          </a:xfrm>
          <a:prstGeom prst="rect">
            <a:avLst/>
          </a:prstGeom>
          <a:noFill/>
        </p:spPr>
        <p:txBody>
          <a:bodyPr wrap="square" lIns="0" rIns="0" tIns="0" bIns="0" anchor="t">
            <a:noAutofit/>
          </a:bodyPr>
          <a:lstStyle/>
          <a:p>
            <a:pPr algn="l">
              <a:lnSpc>
                <a:spcPct val="122000"/>
              </a:lnSpc>
            </a:pPr>
            <a:r>
              <a:rPr sz="650" b="0" i="0">
                <a:solidFill>
                  <a:srgbClr val="7DD3FC"/>
                </a:solidFill>
                <a:latin typeface="Consolas"/>
              </a:rPr>
              <a:t>systemctl restart {name} &amp;&amp; is-active</a:t>
            </a:r>
          </a:p>
        </p:txBody>
      </p:sp>
      <p:sp>
        <p:nvSpPr>
          <p:cNvPr id="35" name="Rounded Rectangle 34"/>
          <p:cNvSpPr/>
          <p:nvPr/>
        </p:nvSpPr>
        <p:spPr>
          <a:xfrm>
            <a:off x="566928" y="4087368"/>
            <a:ext cx="11055096" cy="548640"/>
          </a:xfrm>
          <a:prstGeom prst="roundRect">
            <a:avLst>
              <a:gd name="adj" fmla="val 833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713232" y="4178807"/>
            <a:ext cx="1920240" cy="164592"/>
          </a:xfrm>
          <a:prstGeom prst="rect">
            <a:avLst/>
          </a:prstGeom>
          <a:noFill/>
        </p:spPr>
        <p:txBody>
          <a:bodyPr wrap="square" lIns="0" rIns="0" tIns="0" bIns="0" anchor="t">
            <a:noAutofit/>
          </a:bodyPr>
          <a:lstStyle/>
          <a:p>
            <a:pPr algn="l">
              <a:lnSpc>
                <a:spcPct val="122000"/>
              </a:lnSpc>
            </a:pPr>
            <a:r>
              <a:rPr sz="790" b="1" i="0">
                <a:solidFill>
                  <a:srgbClr val="F4F8FC"/>
                </a:solidFill>
                <a:latin typeface="Segoe UI"/>
              </a:rPr>
              <a:t>cordon + drain host</a:t>
            </a:r>
          </a:p>
        </p:txBody>
      </p:sp>
      <p:sp>
        <p:nvSpPr>
          <p:cNvPr id="37" name="Rounded Rectangle 36"/>
          <p:cNvSpPr/>
          <p:nvPr/>
        </p:nvSpPr>
        <p:spPr>
          <a:xfrm>
            <a:off x="2706624" y="4178807"/>
            <a:ext cx="749808" cy="201168"/>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TextBox 37"/>
          <p:cNvSpPr txBox="1"/>
          <p:nvPr/>
        </p:nvSpPr>
        <p:spPr>
          <a:xfrm>
            <a:off x="2761488" y="4232465"/>
            <a:ext cx="640080" cy="88391"/>
          </a:xfrm>
          <a:prstGeom prst="rect">
            <a:avLst/>
          </a:prstGeom>
          <a:noFill/>
        </p:spPr>
        <p:txBody>
          <a:bodyPr wrap="square" lIns="0" rIns="0" tIns="0" bIns="0" anchor="t">
            <a:noAutofit/>
          </a:bodyPr>
          <a:lstStyle/>
          <a:p>
            <a:pPr algn="ctr">
              <a:lnSpc>
                <a:spcPct val="100000"/>
              </a:lnSpc>
            </a:pPr>
            <a:r>
              <a:rPr sz="580" b="0" i="0">
                <a:solidFill>
                  <a:srgbClr val="FB7185"/>
                </a:solidFill>
                <a:latin typeface="Consolas"/>
              </a:rPr>
              <a:t>privileged</a:t>
            </a:r>
          </a:p>
        </p:txBody>
      </p:sp>
      <p:sp>
        <p:nvSpPr>
          <p:cNvPr id="39" name="TextBox 38"/>
          <p:cNvSpPr txBox="1"/>
          <p:nvPr/>
        </p:nvSpPr>
        <p:spPr>
          <a:xfrm>
            <a:off x="3584448" y="4160520"/>
            <a:ext cx="3749039" cy="384048"/>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Sets maintenance (sticky, excluded from rollups) and evicts workloads.</a:t>
            </a:r>
          </a:p>
        </p:txBody>
      </p:sp>
      <p:sp>
        <p:nvSpPr>
          <p:cNvPr id="40" name="TextBox 39"/>
          <p:cNvSpPr txBox="1"/>
          <p:nvPr/>
        </p:nvSpPr>
        <p:spPr>
          <a:xfrm>
            <a:off x="7479792" y="4160520"/>
            <a:ext cx="4041648" cy="402336"/>
          </a:xfrm>
          <a:prstGeom prst="rect">
            <a:avLst/>
          </a:prstGeom>
          <a:noFill/>
        </p:spPr>
        <p:txBody>
          <a:bodyPr wrap="square" lIns="0" rIns="0" tIns="0" bIns="0" anchor="t">
            <a:noAutofit/>
          </a:bodyPr>
          <a:lstStyle/>
          <a:p>
            <a:pPr algn="l">
              <a:lnSpc>
                <a:spcPct val="122000"/>
              </a:lnSpc>
            </a:pPr>
            <a:r>
              <a:rPr sz="650" b="0" i="0">
                <a:solidFill>
                  <a:srgbClr val="7DD3FC"/>
                </a:solidFill>
                <a:latin typeface="Consolas"/>
              </a:rPr>
              <a:t>kubectl cordon {name} &amp;&amp; kubectl drain …</a:t>
            </a:r>
          </a:p>
        </p:txBody>
      </p:sp>
      <p:sp>
        <p:nvSpPr>
          <p:cNvPr id="41" name="Rounded Rectangle 40"/>
          <p:cNvSpPr/>
          <p:nvPr/>
        </p:nvSpPr>
        <p:spPr>
          <a:xfrm>
            <a:off x="566928" y="4690872"/>
            <a:ext cx="11055096" cy="548640"/>
          </a:xfrm>
          <a:prstGeom prst="roundRect">
            <a:avLst>
              <a:gd name="adj" fmla="val 8333"/>
            </a:avLst>
          </a:prstGeom>
          <a:solidFill>
            <a:srgbClr val="080D16"/>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TextBox 41"/>
          <p:cNvSpPr txBox="1"/>
          <p:nvPr/>
        </p:nvSpPr>
        <p:spPr>
          <a:xfrm>
            <a:off x="713232" y="4782312"/>
            <a:ext cx="1920240" cy="164592"/>
          </a:xfrm>
          <a:prstGeom prst="rect">
            <a:avLst/>
          </a:prstGeom>
          <a:noFill/>
        </p:spPr>
        <p:txBody>
          <a:bodyPr wrap="square" lIns="0" rIns="0" tIns="0" bIns="0" anchor="t">
            <a:noAutofit/>
          </a:bodyPr>
          <a:lstStyle/>
          <a:p>
            <a:pPr algn="l">
              <a:lnSpc>
                <a:spcPct val="122000"/>
              </a:lnSpc>
            </a:pPr>
            <a:r>
              <a:rPr sz="790" b="1" i="0">
                <a:solidFill>
                  <a:srgbClr val="F4F8FC"/>
                </a:solidFill>
                <a:latin typeface="Segoe UI"/>
              </a:rPr>
              <a:t>failover to standby</a:t>
            </a:r>
          </a:p>
        </p:txBody>
      </p:sp>
      <p:sp>
        <p:nvSpPr>
          <p:cNvPr id="43" name="Rounded Rectangle 42"/>
          <p:cNvSpPr/>
          <p:nvPr/>
        </p:nvSpPr>
        <p:spPr>
          <a:xfrm>
            <a:off x="2706624" y="4782312"/>
            <a:ext cx="749808" cy="201168"/>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4" name="TextBox 43"/>
          <p:cNvSpPr txBox="1"/>
          <p:nvPr/>
        </p:nvSpPr>
        <p:spPr>
          <a:xfrm>
            <a:off x="2761488" y="4835969"/>
            <a:ext cx="640080" cy="88391"/>
          </a:xfrm>
          <a:prstGeom prst="rect">
            <a:avLst/>
          </a:prstGeom>
          <a:noFill/>
        </p:spPr>
        <p:txBody>
          <a:bodyPr wrap="square" lIns="0" rIns="0" tIns="0" bIns="0" anchor="t">
            <a:noAutofit/>
          </a:bodyPr>
          <a:lstStyle/>
          <a:p>
            <a:pPr algn="ctr">
              <a:lnSpc>
                <a:spcPct val="100000"/>
              </a:lnSpc>
            </a:pPr>
            <a:r>
              <a:rPr sz="580" b="0" i="0">
                <a:solidFill>
                  <a:srgbClr val="FB7185"/>
                </a:solidFill>
                <a:latin typeface="Consolas"/>
              </a:rPr>
              <a:t>privileged</a:t>
            </a:r>
          </a:p>
        </p:txBody>
      </p:sp>
      <p:sp>
        <p:nvSpPr>
          <p:cNvPr id="45" name="TextBox 44"/>
          <p:cNvSpPr txBox="1"/>
          <p:nvPr/>
        </p:nvSpPr>
        <p:spPr>
          <a:xfrm>
            <a:off x="3584448" y="4764024"/>
            <a:ext cx="3749039" cy="384048"/>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Marks healthy after the traffic shift and raises a cli-executor audit event.</a:t>
            </a:r>
          </a:p>
        </p:txBody>
      </p:sp>
      <p:sp>
        <p:nvSpPr>
          <p:cNvPr id="46" name="TextBox 45"/>
          <p:cNvSpPr txBox="1"/>
          <p:nvPr/>
        </p:nvSpPr>
        <p:spPr>
          <a:xfrm>
            <a:off x="7479792" y="4764024"/>
            <a:ext cx="4041648" cy="402336"/>
          </a:xfrm>
          <a:prstGeom prst="rect">
            <a:avLst/>
          </a:prstGeom>
          <a:noFill/>
        </p:spPr>
        <p:txBody>
          <a:bodyPr wrap="square" lIns="0" rIns="0" tIns="0" bIns="0" anchor="t">
            <a:noAutofit/>
          </a:bodyPr>
          <a:lstStyle/>
          <a:p>
            <a:pPr algn="l">
              <a:lnSpc>
                <a:spcPct val="122000"/>
              </a:lnSpc>
            </a:pPr>
            <a:r>
              <a:rPr sz="650" b="0" i="0">
                <a:solidFill>
                  <a:srgbClr val="7DD3FC"/>
                </a:solidFill>
                <a:latin typeface="Consolas"/>
              </a:rPr>
              <a:t>runbook failover --service {name} …</a:t>
            </a:r>
          </a:p>
        </p:txBody>
      </p:sp>
      <p:sp>
        <p:nvSpPr>
          <p:cNvPr id="47" name="Rounded Rectangle 46"/>
          <p:cNvSpPr/>
          <p:nvPr/>
        </p:nvSpPr>
        <p:spPr>
          <a:xfrm>
            <a:off x="566928" y="5394960"/>
            <a:ext cx="7260336" cy="804672"/>
          </a:xfrm>
          <a:prstGeom prst="roundRect">
            <a:avLst>
              <a:gd name="adj" fmla="val 7954"/>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TextBox 47"/>
          <p:cNvSpPr txBox="1"/>
          <p:nvPr/>
        </p:nvSpPr>
        <p:spPr>
          <a:xfrm>
            <a:off x="731520" y="5486400"/>
            <a:ext cx="3657600" cy="146304"/>
          </a:xfrm>
          <a:prstGeom prst="rect">
            <a:avLst/>
          </a:prstGeom>
          <a:noFill/>
        </p:spPr>
        <p:txBody>
          <a:bodyPr wrap="square" lIns="0" rIns="0" tIns="0" bIns="0" anchor="t">
            <a:noAutofit/>
          </a:bodyPr>
          <a:lstStyle/>
          <a:p>
            <a:pPr algn="l">
              <a:lnSpc>
                <a:spcPct val="122000"/>
              </a:lnSpc>
            </a:pPr>
            <a:r>
              <a:rPr sz="620" b="0" i="0" spc="110">
                <a:solidFill>
                  <a:srgbClr val="7DD3FC"/>
                </a:solidFill>
                <a:latin typeface="Consolas"/>
              </a:rPr>
              <a:t>EVERY RUN PRODUCES</a:t>
            </a:r>
          </a:p>
        </p:txBody>
      </p:sp>
      <p:sp>
        <p:nvSpPr>
          <p:cNvPr id="49" name="TextBox 48"/>
          <p:cNvSpPr txBox="1"/>
          <p:nvPr/>
        </p:nvSpPr>
        <p:spPr>
          <a:xfrm>
            <a:off x="731520" y="5669280"/>
            <a:ext cx="6949440" cy="438912"/>
          </a:xfrm>
          <a:prstGeom prst="rect">
            <a:avLst/>
          </a:prstGeom>
          <a:noFill/>
        </p:spPr>
        <p:txBody>
          <a:bodyPr wrap="square" lIns="0" rIns="0" tIns="0" bIns="0" anchor="t">
            <a:noAutofit/>
          </a:bodyPr>
          <a:lstStyle/>
          <a:p>
            <a:pPr algn="l">
              <a:lnSpc>
                <a:spcPct val="125000"/>
              </a:lnSpc>
            </a:pPr>
            <a:r>
              <a:rPr sz="740" b="0" i="0">
                <a:solidFill>
                  <a:srgbClr val="9DB0C6"/>
                </a:solidFill>
                <a:latin typeface="Segoe UI"/>
              </a:rPr>
              <a:t>an ops_command_runs row: node, command, operator, status, exit code, full output, start and finish time — plus SSE lines in the dock.</a:t>
            </a:r>
          </a:p>
        </p:txBody>
      </p:sp>
      <p:sp>
        <p:nvSpPr>
          <p:cNvPr id="50" name="Rounded Rectangle 49"/>
          <p:cNvSpPr/>
          <p:nvPr/>
        </p:nvSpPr>
        <p:spPr>
          <a:xfrm>
            <a:off x="7918704" y="5394960"/>
            <a:ext cx="3703320" cy="804672"/>
          </a:xfrm>
          <a:prstGeom prst="roundRect">
            <a:avLst>
              <a:gd name="adj" fmla="val 7954"/>
            </a:avLst>
          </a:prstGeom>
          <a:solidFill>
            <a:srgbClr val="140B12"/>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1" name="TextBox 50"/>
          <p:cNvSpPr txBox="1"/>
          <p:nvPr/>
        </p:nvSpPr>
        <p:spPr>
          <a:xfrm>
            <a:off x="8083296" y="5486400"/>
            <a:ext cx="3291840" cy="146304"/>
          </a:xfrm>
          <a:prstGeom prst="rect">
            <a:avLst/>
          </a:prstGeom>
          <a:noFill/>
        </p:spPr>
        <p:txBody>
          <a:bodyPr wrap="square" lIns="0" rIns="0" tIns="0" bIns="0" anchor="t">
            <a:noAutofit/>
          </a:bodyPr>
          <a:lstStyle/>
          <a:p>
            <a:pPr algn="l">
              <a:lnSpc>
                <a:spcPct val="122000"/>
              </a:lnSpc>
            </a:pPr>
            <a:r>
              <a:rPr sz="620" b="0" i="0" spc="110">
                <a:solidFill>
                  <a:srgbClr val="FBBF24"/>
                </a:solidFill>
                <a:latin typeface="Consolas"/>
              </a:rPr>
              <a:t>FAIL CLOSED</a:t>
            </a:r>
          </a:p>
        </p:txBody>
      </p:sp>
      <p:sp>
        <p:nvSpPr>
          <p:cNvPr id="52" name="TextBox 51"/>
          <p:cNvSpPr txBox="1"/>
          <p:nvPr/>
        </p:nvSpPr>
        <p:spPr>
          <a:xfrm>
            <a:off x="8083296" y="5669280"/>
            <a:ext cx="3383280" cy="438912"/>
          </a:xfrm>
          <a:prstGeom prst="rect">
            <a:avLst/>
          </a:prstGeom>
          <a:noFill/>
        </p:spPr>
        <p:txBody>
          <a:bodyPr wrap="square" lIns="0" rIns="0" tIns="0" bIns="0" anchor="t">
            <a:noAutofit/>
          </a:bodyPr>
          <a:lstStyle/>
          <a:p>
            <a:pPr algn="l">
              <a:lnSpc>
                <a:spcPct val="125000"/>
              </a:lnSpc>
            </a:pPr>
            <a:r>
              <a:rPr sz="720" b="0" i="0">
                <a:solidFill>
                  <a:srgbClr val="9DB0C6"/>
                </a:solidFill>
                <a:latin typeface="Segoe UI"/>
              </a:rPr>
              <a:t>A privileged run can fail on purpose — exit 1, a failed status, and an audit event. The topology is left untouched.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2.5 · DATA, ENVIRONMENT &amp; TROUBLESHOOTING</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Operate the data plane, then fix the classics</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Seeding, cadence, persistence and backups on the left; the recurring failure modes and their fixes on the right.</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ADMINISTRATION</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17 / 27</a:t>
            </a:r>
          </a:p>
        </p:txBody>
      </p:sp>
      <p:sp>
        <p:nvSpPr>
          <p:cNvPr id="11" name="Rounded Rectangle 10"/>
          <p:cNvSpPr/>
          <p:nvPr/>
        </p:nvSpPr>
        <p:spPr>
          <a:xfrm>
            <a:off x="566928" y="1783080"/>
            <a:ext cx="4992624" cy="4261104"/>
          </a:xfrm>
          <a:prstGeom prst="roundRect">
            <a:avLst>
              <a:gd name="adj" fmla="val 1931"/>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731520" y="1920240"/>
            <a:ext cx="4206240" cy="164592"/>
          </a:xfrm>
          <a:prstGeom prst="rect">
            <a:avLst/>
          </a:prstGeom>
          <a:noFill/>
        </p:spPr>
        <p:txBody>
          <a:bodyPr wrap="square" lIns="0" rIns="0" tIns="0" bIns="0" anchor="t">
            <a:noAutofit/>
          </a:bodyPr>
          <a:lstStyle/>
          <a:p>
            <a:pPr algn="l">
              <a:lnSpc>
                <a:spcPct val="122000"/>
              </a:lnSpc>
            </a:pPr>
            <a:r>
              <a:rPr sz="680" b="0" i="0" spc="120">
                <a:solidFill>
                  <a:srgbClr val="7DD3FC"/>
                </a:solidFill>
                <a:latin typeface="Consolas"/>
              </a:rPr>
              <a:t>DATA PLANE</a:t>
            </a:r>
          </a:p>
        </p:txBody>
      </p:sp>
      <p:sp>
        <p:nvSpPr>
          <p:cNvPr id="13" name="TextBox 12"/>
          <p:cNvSpPr txBox="1"/>
          <p:nvPr/>
        </p:nvSpPr>
        <p:spPr>
          <a:xfrm>
            <a:off x="731520" y="2185416"/>
            <a:ext cx="969264" cy="146304"/>
          </a:xfrm>
          <a:prstGeom prst="rect">
            <a:avLst/>
          </a:prstGeom>
          <a:noFill/>
        </p:spPr>
        <p:txBody>
          <a:bodyPr wrap="square" lIns="0" rIns="0" tIns="0" bIns="0" anchor="t">
            <a:noAutofit/>
          </a:bodyPr>
          <a:lstStyle/>
          <a:p>
            <a:pPr algn="l">
              <a:lnSpc>
                <a:spcPct val="122000"/>
              </a:lnSpc>
            </a:pPr>
            <a:r>
              <a:rPr sz="640" b="0" i="0">
                <a:solidFill>
                  <a:srgbClr val="34D399"/>
                </a:solidFill>
                <a:latin typeface="Consolas"/>
              </a:rPr>
              <a:t>seed</a:t>
            </a:r>
          </a:p>
        </p:txBody>
      </p:sp>
      <p:sp>
        <p:nvSpPr>
          <p:cNvPr id="14" name="TextBox 13"/>
          <p:cNvSpPr txBox="1"/>
          <p:nvPr/>
        </p:nvSpPr>
        <p:spPr>
          <a:xfrm>
            <a:off x="1773936" y="2176272"/>
            <a:ext cx="3621024" cy="258876"/>
          </a:xfrm>
          <a:prstGeom prst="rect">
            <a:avLst/>
          </a:prstGeom>
          <a:noFill/>
        </p:spPr>
        <p:txBody>
          <a:bodyPr wrap="square" lIns="0" rIns="0" tIns="0" bIns="0" anchor="t">
            <a:noAutofit/>
          </a:bodyPr>
          <a:lstStyle/>
          <a:p>
            <a:pPr algn="l">
              <a:lnSpc>
                <a:spcPct val="128000"/>
              </a:lnSpc>
            </a:pPr>
            <a:r>
              <a:rPr sz="740" b="0" i="0">
                <a:solidFill>
                  <a:srgbClr val="9DB0C6"/>
                </a:solidFill>
                <a:latin typeface="Segoe UI"/>
              </a:rPr>
              <a:t>First /api/topology call seeds 456 nodes, baselines, 48 history points and 46 events.</a:t>
            </a:r>
          </a:p>
        </p:txBody>
      </p:sp>
      <p:sp>
        <p:nvSpPr>
          <p:cNvPr id="15" name="TextBox 14"/>
          <p:cNvSpPr txBox="1"/>
          <p:nvPr/>
        </p:nvSpPr>
        <p:spPr>
          <a:xfrm>
            <a:off x="731520" y="2554020"/>
            <a:ext cx="969264" cy="146304"/>
          </a:xfrm>
          <a:prstGeom prst="rect">
            <a:avLst/>
          </a:prstGeom>
          <a:noFill/>
        </p:spPr>
        <p:txBody>
          <a:bodyPr wrap="square" lIns="0" rIns="0" tIns="0" bIns="0" anchor="t">
            <a:noAutofit/>
          </a:bodyPr>
          <a:lstStyle/>
          <a:p>
            <a:pPr algn="l">
              <a:lnSpc>
                <a:spcPct val="122000"/>
              </a:lnSpc>
            </a:pPr>
            <a:r>
              <a:rPr sz="640" b="0" i="0">
                <a:solidFill>
                  <a:srgbClr val="34D399"/>
                </a:solidFill>
                <a:latin typeface="Consolas"/>
              </a:rPr>
              <a:t>DATABASE_URL</a:t>
            </a:r>
          </a:p>
        </p:txBody>
      </p:sp>
      <p:sp>
        <p:nvSpPr>
          <p:cNvPr id="16" name="TextBox 15"/>
          <p:cNvSpPr txBox="1"/>
          <p:nvPr/>
        </p:nvSpPr>
        <p:spPr>
          <a:xfrm>
            <a:off x="1773936" y="2544876"/>
            <a:ext cx="3621024" cy="138582"/>
          </a:xfrm>
          <a:prstGeom prst="rect">
            <a:avLst/>
          </a:prstGeom>
          <a:noFill/>
        </p:spPr>
        <p:txBody>
          <a:bodyPr wrap="square" lIns="0" rIns="0" tIns="0" bIns="0" anchor="t">
            <a:noAutofit/>
          </a:bodyPr>
          <a:lstStyle/>
          <a:p>
            <a:pPr algn="l">
              <a:lnSpc>
                <a:spcPct val="128000"/>
              </a:lnSpc>
            </a:pPr>
            <a:r>
              <a:rPr sz="740" b="0" i="0">
                <a:solidFill>
                  <a:srgbClr val="9DB0C6"/>
                </a:solidFill>
                <a:latin typeface="Segoe UI"/>
              </a:rPr>
              <a:t>Postgres connection string in .env. Probe with GET /api/health → {ok:true}.</a:t>
            </a:r>
          </a:p>
        </p:txBody>
      </p:sp>
      <p:sp>
        <p:nvSpPr>
          <p:cNvPr id="17" name="TextBox 16"/>
          <p:cNvSpPr txBox="1"/>
          <p:nvPr/>
        </p:nvSpPr>
        <p:spPr>
          <a:xfrm>
            <a:off x="731520" y="2802331"/>
            <a:ext cx="969264" cy="146304"/>
          </a:xfrm>
          <a:prstGeom prst="rect">
            <a:avLst/>
          </a:prstGeom>
          <a:noFill/>
        </p:spPr>
        <p:txBody>
          <a:bodyPr wrap="square" lIns="0" rIns="0" tIns="0" bIns="0" anchor="t">
            <a:noAutofit/>
          </a:bodyPr>
          <a:lstStyle/>
          <a:p>
            <a:pPr algn="l">
              <a:lnSpc>
                <a:spcPct val="122000"/>
              </a:lnSpc>
            </a:pPr>
            <a:r>
              <a:rPr sz="640" b="0" i="0">
                <a:solidFill>
                  <a:srgbClr val="34D399"/>
                </a:solidFill>
                <a:latin typeface="Consolas"/>
              </a:rPr>
              <a:t>cadence</a:t>
            </a:r>
          </a:p>
        </p:txBody>
      </p:sp>
      <p:sp>
        <p:nvSpPr>
          <p:cNvPr id="18" name="TextBox 17"/>
          <p:cNvSpPr txBox="1"/>
          <p:nvPr/>
        </p:nvSpPr>
        <p:spPr>
          <a:xfrm>
            <a:off x="1773936" y="2793187"/>
            <a:ext cx="3621024" cy="258876"/>
          </a:xfrm>
          <a:prstGeom prst="rect">
            <a:avLst/>
          </a:prstGeom>
          <a:noFill/>
        </p:spPr>
        <p:txBody>
          <a:bodyPr wrap="square" lIns="0" rIns="0" tIns="0" bIns="0" anchor="t">
            <a:noAutofit/>
          </a:bodyPr>
          <a:lstStyle/>
          <a:p>
            <a:pPr algn="l">
              <a:lnSpc>
                <a:spcPct val="128000"/>
              </a:lnSpc>
            </a:pPr>
            <a:r>
              <a:rPr sz="740" b="0" i="0">
                <a:solidFill>
                  <a:srgbClr val="9DB0C6"/>
                </a:solidFill>
                <a:latin typeface="Segoe UI"/>
              </a:rPr>
              <a:t>Snapshots every 10 s, sparkline samples every 30 s, pruned beyond 50 minutes.</a:t>
            </a:r>
          </a:p>
        </p:txBody>
      </p:sp>
      <p:sp>
        <p:nvSpPr>
          <p:cNvPr id="19" name="TextBox 18"/>
          <p:cNvSpPr txBox="1"/>
          <p:nvPr/>
        </p:nvSpPr>
        <p:spPr>
          <a:xfrm>
            <a:off x="731520" y="3170936"/>
            <a:ext cx="969264" cy="146304"/>
          </a:xfrm>
          <a:prstGeom prst="rect">
            <a:avLst/>
          </a:prstGeom>
          <a:noFill/>
        </p:spPr>
        <p:txBody>
          <a:bodyPr wrap="square" lIns="0" rIns="0" tIns="0" bIns="0" anchor="t">
            <a:noAutofit/>
          </a:bodyPr>
          <a:lstStyle/>
          <a:p>
            <a:pPr algn="l">
              <a:lnSpc>
                <a:spcPct val="122000"/>
              </a:lnSpc>
            </a:pPr>
            <a:r>
              <a:rPr sz="640" b="0" i="0">
                <a:solidFill>
                  <a:srgbClr val="34D399"/>
                </a:solidFill>
                <a:latin typeface="Consolas"/>
              </a:rPr>
              <a:t>persistence</a:t>
            </a:r>
          </a:p>
        </p:txBody>
      </p:sp>
      <p:sp>
        <p:nvSpPr>
          <p:cNvPr id="20" name="TextBox 19"/>
          <p:cNvSpPr txBox="1"/>
          <p:nvPr/>
        </p:nvSpPr>
        <p:spPr>
          <a:xfrm>
            <a:off x="1773936" y="3161792"/>
            <a:ext cx="3621024" cy="258876"/>
          </a:xfrm>
          <a:prstGeom prst="rect">
            <a:avLst/>
          </a:prstGeom>
          <a:noFill/>
        </p:spPr>
        <p:txBody>
          <a:bodyPr wrap="square" lIns="0" rIns="0" tIns="0" bIns="0" anchor="t">
            <a:noAutofit/>
          </a:bodyPr>
          <a:lstStyle/>
          <a:p>
            <a:pPr algn="l">
              <a:lnSpc>
                <a:spcPct val="128000"/>
              </a:lnSpc>
            </a:pPr>
            <a:r>
              <a:rPr sz="740" b="0" i="0">
                <a:solidFill>
                  <a:srgbClr val="9DB0C6"/>
                </a:solidFill>
                <a:latin typeface="Segoe UI"/>
              </a:rPr>
              <a:t>Drag, collapse and manual status persist per node through PATCH /api/nodes/[id].</a:t>
            </a:r>
          </a:p>
        </p:txBody>
      </p:sp>
      <p:sp>
        <p:nvSpPr>
          <p:cNvPr id="21" name="TextBox 20"/>
          <p:cNvSpPr txBox="1"/>
          <p:nvPr/>
        </p:nvSpPr>
        <p:spPr>
          <a:xfrm>
            <a:off x="731520" y="3539540"/>
            <a:ext cx="969264" cy="146304"/>
          </a:xfrm>
          <a:prstGeom prst="rect">
            <a:avLst/>
          </a:prstGeom>
          <a:noFill/>
        </p:spPr>
        <p:txBody>
          <a:bodyPr wrap="square" lIns="0" rIns="0" tIns="0" bIns="0" anchor="t">
            <a:noAutofit/>
          </a:bodyPr>
          <a:lstStyle/>
          <a:p>
            <a:pPr algn="l">
              <a:lnSpc>
                <a:spcPct val="122000"/>
              </a:lnSpc>
            </a:pPr>
            <a:r>
              <a:rPr sz="640" b="0" i="0">
                <a:solidFill>
                  <a:srgbClr val="34D399"/>
                </a:solidFill>
                <a:latin typeface="Consolas"/>
              </a:rPr>
              <a:t>ack</a:t>
            </a:r>
          </a:p>
        </p:txBody>
      </p:sp>
      <p:sp>
        <p:nvSpPr>
          <p:cNvPr id="22" name="TextBox 21"/>
          <p:cNvSpPr txBox="1"/>
          <p:nvPr/>
        </p:nvSpPr>
        <p:spPr>
          <a:xfrm>
            <a:off x="1773936" y="3530396"/>
            <a:ext cx="3621024" cy="258876"/>
          </a:xfrm>
          <a:prstGeom prst="rect">
            <a:avLst/>
          </a:prstGeom>
          <a:noFill/>
        </p:spPr>
        <p:txBody>
          <a:bodyPr wrap="square" lIns="0" rIns="0" tIns="0" bIns="0" anchor="t">
            <a:noAutofit/>
          </a:bodyPr>
          <a:lstStyle/>
          <a:p>
            <a:pPr algn="l">
              <a:lnSpc>
                <a:spcPct val="128000"/>
              </a:lnSpc>
            </a:pPr>
            <a:r>
              <a:rPr sz="740" b="0" i="0">
                <a:solidFill>
                  <a:srgbClr val="9DB0C6"/>
                </a:solidFill>
                <a:latin typeface="Segoe UI"/>
              </a:rPr>
              <a:t>POST /api/events with {id} or {all:true}. Unacked count is the shift's open work.</a:t>
            </a:r>
          </a:p>
        </p:txBody>
      </p:sp>
      <p:sp>
        <p:nvSpPr>
          <p:cNvPr id="23" name="TextBox 22"/>
          <p:cNvSpPr txBox="1"/>
          <p:nvPr/>
        </p:nvSpPr>
        <p:spPr>
          <a:xfrm>
            <a:off x="731520" y="3908145"/>
            <a:ext cx="969264" cy="146304"/>
          </a:xfrm>
          <a:prstGeom prst="rect">
            <a:avLst/>
          </a:prstGeom>
          <a:noFill/>
        </p:spPr>
        <p:txBody>
          <a:bodyPr wrap="square" lIns="0" rIns="0" tIns="0" bIns="0" anchor="t">
            <a:noAutofit/>
          </a:bodyPr>
          <a:lstStyle/>
          <a:p>
            <a:pPr algn="l">
              <a:lnSpc>
                <a:spcPct val="122000"/>
              </a:lnSpc>
            </a:pPr>
            <a:r>
              <a:rPr sz="640" b="0" i="0">
                <a:solidFill>
                  <a:srgbClr val="34D399"/>
                </a:solidFill>
                <a:latin typeface="Consolas"/>
              </a:rPr>
              <a:t>backups</a:t>
            </a:r>
          </a:p>
        </p:txBody>
      </p:sp>
      <p:sp>
        <p:nvSpPr>
          <p:cNvPr id="24" name="TextBox 23"/>
          <p:cNvSpPr txBox="1"/>
          <p:nvPr/>
        </p:nvSpPr>
        <p:spPr>
          <a:xfrm>
            <a:off x="1773936" y="3899001"/>
            <a:ext cx="3621024" cy="258876"/>
          </a:xfrm>
          <a:prstGeom prst="rect">
            <a:avLst/>
          </a:prstGeom>
          <a:noFill/>
        </p:spPr>
        <p:txBody>
          <a:bodyPr wrap="square" lIns="0" rIns="0" tIns="0" bIns="0" anchor="t">
            <a:noAutofit/>
          </a:bodyPr>
          <a:lstStyle/>
          <a:p>
            <a:pPr algn="l">
              <a:lnSpc>
                <a:spcPct val="128000"/>
              </a:lnSpc>
            </a:pPr>
            <a:r>
              <a:rPr sz="740" b="0" i="0">
                <a:solidFill>
                  <a:srgbClr val="9DB0C6"/>
                </a:solidFill>
                <a:latin typeface="Segoe UI"/>
              </a:rPr>
              <a:t>pg_dump of the five ops_* tables is complete. Reseed regenerates reference data.</a:t>
            </a:r>
          </a:p>
        </p:txBody>
      </p:sp>
      <p:sp>
        <p:nvSpPr>
          <p:cNvPr id="25" name="Rounded Rectangle 24"/>
          <p:cNvSpPr/>
          <p:nvPr/>
        </p:nvSpPr>
        <p:spPr>
          <a:xfrm>
            <a:off x="731520" y="4498848"/>
            <a:ext cx="4663440" cy="658368"/>
          </a:xfrm>
          <a:prstGeom prst="roundRect">
            <a:avLst>
              <a:gd name="adj" fmla="val 6944"/>
            </a:avLst>
          </a:prstGeom>
          <a:solidFill>
            <a:srgbClr val="05090F"/>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841247" y="4562856"/>
            <a:ext cx="4443984" cy="621792"/>
          </a:xfrm>
          <a:prstGeom prst="rect">
            <a:avLst/>
          </a:prstGeom>
          <a:noFill/>
        </p:spPr>
        <p:txBody>
          <a:bodyPr wrap="square" lIns="0" rIns="0" tIns="0" bIns="0" anchor="t">
            <a:noAutofit/>
          </a:bodyPr>
          <a:lstStyle/>
          <a:p>
            <a:pPr algn="l">
              <a:lnSpc>
                <a:spcPct val="135000"/>
              </a:lnSpc>
            </a:pPr>
            <a:r>
              <a:rPr sz="590" b="0" i="0">
                <a:solidFill>
                  <a:srgbClr val="34D399"/>
                </a:solidFill>
                <a:latin typeface="Consolas"/>
              </a:rPr>
              <a:t>curl -s localhost:3000/api/health
curl -s -X POST localhost:3000/api/events -H 'content-type: application/json' -d '{"all":true}'
curl -s -X POST localhost:3000/api/admin/reseed</a:t>
            </a:r>
          </a:p>
        </p:txBody>
      </p:sp>
      <p:sp>
        <p:nvSpPr>
          <p:cNvPr id="27" name="Rounded Rectangle 26"/>
          <p:cNvSpPr/>
          <p:nvPr/>
        </p:nvSpPr>
        <p:spPr>
          <a:xfrm>
            <a:off x="731520" y="5266944"/>
            <a:ext cx="4663440" cy="713232"/>
          </a:xfrm>
          <a:prstGeom prst="roundRect">
            <a:avLst>
              <a:gd name="adj" fmla="val 7692"/>
            </a:avLst>
          </a:prstGeom>
          <a:solidFill>
            <a:srgbClr val="0A1520"/>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859536" y="5340096"/>
            <a:ext cx="4389120" cy="137160"/>
          </a:xfrm>
          <a:prstGeom prst="rect">
            <a:avLst/>
          </a:prstGeom>
          <a:noFill/>
        </p:spPr>
        <p:txBody>
          <a:bodyPr wrap="square" lIns="0" rIns="0" tIns="0" bIns="0" anchor="t">
            <a:noAutofit/>
          </a:bodyPr>
          <a:lstStyle/>
          <a:p>
            <a:pPr algn="l">
              <a:lnSpc>
                <a:spcPct val="122000"/>
              </a:lnSpc>
            </a:pPr>
            <a:r>
              <a:rPr sz="590" b="0" i="0" spc="110">
                <a:solidFill>
                  <a:srgbClr val="A78BFA"/>
                </a:solidFill>
                <a:latin typeface="Consolas"/>
              </a:rPr>
              <a:t>CAPACITY NOTE</a:t>
            </a:r>
          </a:p>
        </p:txBody>
      </p:sp>
      <p:sp>
        <p:nvSpPr>
          <p:cNvPr id="29" name="TextBox 28"/>
          <p:cNvSpPr txBox="1"/>
          <p:nvPr/>
        </p:nvSpPr>
        <p:spPr>
          <a:xfrm>
            <a:off x="859536" y="5495544"/>
            <a:ext cx="4389120" cy="438912"/>
          </a:xfrm>
          <a:prstGeom prst="rect">
            <a:avLst/>
          </a:prstGeom>
          <a:noFill/>
        </p:spPr>
        <p:txBody>
          <a:bodyPr wrap="square" lIns="0" rIns="0" tIns="0" bIns="0" anchor="t">
            <a:noAutofit/>
          </a:bodyPr>
          <a:lstStyle/>
          <a:p>
            <a:pPr algn="l">
              <a:lnSpc>
                <a:spcPct val="125000"/>
              </a:lnSpc>
            </a:pPr>
            <a:r>
              <a:rPr sz="680" b="0" i="0">
                <a:solidFill>
                  <a:srgbClr val="9DB0C6"/>
                </a:solidFill>
                <a:latin typeface="Segoe UI"/>
              </a:rPr>
              <a:t>This model is sized for hundreds to low thousands of nodes. Beyond that, move samples to time-series storage and replace the full snapshot with topology deltas.</a:t>
            </a:r>
          </a:p>
        </p:txBody>
      </p:sp>
      <p:sp>
        <p:nvSpPr>
          <p:cNvPr id="30" name="TextBox 29"/>
          <p:cNvSpPr txBox="1"/>
          <p:nvPr/>
        </p:nvSpPr>
        <p:spPr>
          <a:xfrm>
            <a:off x="5742432" y="1783080"/>
            <a:ext cx="5879592" cy="182880"/>
          </a:xfrm>
          <a:prstGeom prst="rect">
            <a:avLst/>
          </a:prstGeom>
          <a:noFill/>
        </p:spPr>
        <p:txBody>
          <a:bodyPr wrap="square" lIns="0" rIns="0" tIns="0" bIns="0" anchor="t">
            <a:noAutofit/>
          </a:bodyPr>
          <a:lstStyle/>
          <a:p>
            <a:pPr algn="l">
              <a:lnSpc>
                <a:spcPct val="122000"/>
              </a:lnSpc>
            </a:pPr>
            <a:r>
              <a:rPr sz="680" b="0" i="0" spc="120">
                <a:solidFill>
                  <a:srgbClr val="FBBF24"/>
                </a:solidFill>
                <a:latin typeface="Consolas"/>
              </a:rPr>
              <a:t>THE SIX CLASSICS</a:t>
            </a:r>
          </a:p>
        </p:txBody>
      </p:sp>
      <p:sp>
        <p:nvSpPr>
          <p:cNvPr id="31" name="Rounded Rectangle 30"/>
          <p:cNvSpPr/>
          <p:nvPr/>
        </p:nvSpPr>
        <p:spPr>
          <a:xfrm>
            <a:off x="5742432" y="2039112"/>
            <a:ext cx="5879592" cy="603504"/>
          </a:xfrm>
          <a:prstGeom prst="roundRect">
            <a:avLst>
              <a:gd name="adj" fmla="val 7575"/>
            </a:avLst>
          </a:prstGeom>
          <a:solidFill>
            <a:srgbClr val="0A101B"/>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Rectangle 31"/>
          <p:cNvSpPr/>
          <p:nvPr/>
        </p:nvSpPr>
        <p:spPr>
          <a:xfrm>
            <a:off x="5742432" y="2039112"/>
            <a:ext cx="32004" cy="603504"/>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5888736" y="2112264"/>
            <a:ext cx="5605272" cy="164592"/>
          </a:xfrm>
          <a:prstGeom prst="rect">
            <a:avLst/>
          </a:prstGeom>
          <a:noFill/>
        </p:spPr>
        <p:txBody>
          <a:bodyPr wrap="square" lIns="0" rIns="0" tIns="0" bIns="0" anchor="t">
            <a:noAutofit/>
          </a:bodyPr>
          <a:lstStyle/>
          <a:p>
            <a:pPr algn="l">
              <a:lnSpc>
                <a:spcPct val="122000"/>
              </a:lnSpc>
            </a:pPr>
            <a:r>
              <a:rPr sz="780" b="1" i="0">
                <a:solidFill>
                  <a:srgbClr val="F4F8FC"/>
                </a:solidFill>
                <a:latin typeface="Segoe UI"/>
              </a:rPr>
              <a:t>canvas empty or loading forever</a:t>
            </a:r>
          </a:p>
        </p:txBody>
      </p:sp>
      <p:sp>
        <p:nvSpPr>
          <p:cNvPr id="34" name="TextBox 33"/>
          <p:cNvSpPr txBox="1"/>
          <p:nvPr/>
        </p:nvSpPr>
        <p:spPr>
          <a:xfrm>
            <a:off x="5888736" y="2286000"/>
            <a:ext cx="5586983" cy="127825"/>
          </a:xfrm>
          <a:prstGeom prst="rect">
            <a:avLst/>
          </a:prstGeom>
          <a:noFill/>
        </p:spPr>
        <p:txBody>
          <a:bodyPr wrap="square" lIns="0" rIns="0" tIns="0" bIns="0" anchor="t">
            <a:noAutofit/>
          </a:bodyPr>
          <a:lstStyle/>
          <a:p>
            <a:pPr algn="l">
              <a:lnSpc>
                <a:spcPct val="125000"/>
              </a:lnSpc>
            </a:pPr>
            <a:r>
              <a:rPr sz="690" b="0" i="0">
                <a:solidFill>
                  <a:srgbClr val="9DB0C6"/>
                </a:solidFill>
                <a:latin typeface="Segoe UI"/>
              </a:rPr>
              <a:t>topology failing → check DATABASE_URL, GET /api/health, server logs for [telemetry] errors.</a:t>
            </a:r>
          </a:p>
        </p:txBody>
      </p:sp>
      <p:sp>
        <p:nvSpPr>
          <p:cNvPr id="35" name="Rounded Rectangle 34"/>
          <p:cNvSpPr/>
          <p:nvPr/>
        </p:nvSpPr>
        <p:spPr>
          <a:xfrm>
            <a:off x="5742432" y="2711196"/>
            <a:ext cx="5879592" cy="603504"/>
          </a:xfrm>
          <a:prstGeom prst="roundRect">
            <a:avLst>
              <a:gd name="adj" fmla="val 7575"/>
            </a:avLst>
          </a:prstGeom>
          <a:solidFill>
            <a:srgbClr val="0A101B"/>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Rectangle 35"/>
          <p:cNvSpPr/>
          <p:nvPr/>
        </p:nvSpPr>
        <p:spPr>
          <a:xfrm>
            <a:off x="5742432" y="2711196"/>
            <a:ext cx="32004" cy="60350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TextBox 36"/>
          <p:cNvSpPr txBox="1"/>
          <p:nvPr/>
        </p:nvSpPr>
        <p:spPr>
          <a:xfrm>
            <a:off x="5888736" y="2784348"/>
            <a:ext cx="5605272" cy="164592"/>
          </a:xfrm>
          <a:prstGeom prst="rect">
            <a:avLst/>
          </a:prstGeom>
          <a:noFill/>
        </p:spPr>
        <p:txBody>
          <a:bodyPr wrap="square" lIns="0" rIns="0" tIns="0" bIns="0" anchor="t">
            <a:noAutofit/>
          </a:bodyPr>
          <a:lstStyle/>
          <a:p>
            <a:pPr algn="l">
              <a:lnSpc>
                <a:spcPct val="122000"/>
              </a:lnSpc>
            </a:pPr>
            <a:r>
              <a:rPr sz="780" b="1" i="0">
                <a:solidFill>
                  <a:srgbClr val="F4F8FC"/>
                </a:solidFill>
                <a:latin typeface="Segoe UI"/>
              </a:rPr>
              <a:t>stream stuck on connecting</a:t>
            </a:r>
          </a:p>
        </p:txBody>
      </p:sp>
      <p:sp>
        <p:nvSpPr>
          <p:cNvPr id="38" name="TextBox 37"/>
          <p:cNvSpPr txBox="1"/>
          <p:nvPr/>
        </p:nvSpPr>
        <p:spPr>
          <a:xfrm>
            <a:off x="5888736" y="2958084"/>
            <a:ext cx="5586983" cy="127825"/>
          </a:xfrm>
          <a:prstGeom prst="rect">
            <a:avLst/>
          </a:prstGeom>
          <a:noFill/>
        </p:spPr>
        <p:txBody>
          <a:bodyPr wrap="square" lIns="0" rIns="0" tIns="0" bIns="0" anchor="t">
            <a:noAutofit/>
          </a:bodyPr>
          <a:lstStyle/>
          <a:p>
            <a:pPr algn="l">
              <a:lnSpc>
                <a:spcPct val="125000"/>
              </a:lnSpc>
            </a:pPr>
            <a:r>
              <a:rPr sz="690" b="0" i="0">
                <a:solidFill>
                  <a:srgbClr val="9DB0C6"/>
                </a:solidFill>
                <a:latin typeface="Segoe UI"/>
              </a:rPr>
              <a:t>proxy buffering SSE → ensure X-Accel-Buffering: no passes; toggle LIVE off and on to reconnect.</a:t>
            </a:r>
          </a:p>
        </p:txBody>
      </p:sp>
      <p:sp>
        <p:nvSpPr>
          <p:cNvPr id="39" name="Rounded Rectangle 38"/>
          <p:cNvSpPr/>
          <p:nvPr/>
        </p:nvSpPr>
        <p:spPr>
          <a:xfrm>
            <a:off x="5742432" y="3383279"/>
            <a:ext cx="5879592" cy="603504"/>
          </a:xfrm>
          <a:prstGeom prst="roundRect">
            <a:avLst>
              <a:gd name="adj" fmla="val 7575"/>
            </a:avLst>
          </a:prstGeom>
          <a:solidFill>
            <a:srgbClr val="0A101B"/>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Rectangle 39"/>
          <p:cNvSpPr/>
          <p:nvPr/>
        </p:nvSpPr>
        <p:spPr>
          <a:xfrm>
            <a:off x="5742432" y="3383279"/>
            <a:ext cx="32004" cy="60350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1" name="TextBox 40"/>
          <p:cNvSpPr txBox="1"/>
          <p:nvPr/>
        </p:nvSpPr>
        <p:spPr>
          <a:xfrm>
            <a:off x="5888736" y="3456432"/>
            <a:ext cx="5605272" cy="164592"/>
          </a:xfrm>
          <a:prstGeom prst="rect">
            <a:avLst/>
          </a:prstGeom>
          <a:noFill/>
        </p:spPr>
        <p:txBody>
          <a:bodyPr wrap="square" lIns="0" rIns="0" tIns="0" bIns="0" anchor="t">
            <a:noAutofit/>
          </a:bodyPr>
          <a:lstStyle/>
          <a:p>
            <a:pPr algn="l">
              <a:lnSpc>
                <a:spcPct val="122000"/>
              </a:lnSpc>
            </a:pPr>
            <a:r>
              <a:rPr sz="780" b="1" i="0">
                <a:solidFill>
                  <a:srgbClr val="F4F8FC"/>
                </a:solidFill>
                <a:latin typeface="Segoe UI"/>
              </a:rPr>
              <a:t>metrics frozen, stream open</a:t>
            </a:r>
          </a:p>
        </p:txBody>
      </p:sp>
      <p:sp>
        <p:nvSpPr>
          <p:cNvPr id="42" name="TextBox 41"/>
          <p:cNvSpPr txBox="1"/>
          <p:nvPr/>
        </p:nvSpPr>
        <p:spPr>
          <a:xfrm>
            <a:off x="5888736" y="3630168"/>
            <a:ext cx="5586983" cy="127825"/>
          </a:xfrm>
          <a:prstGeom prst="rect">
            <a:avLst/>
          </a:prstGeom>
          <a:noFill/>
        </p:spPr>
        <p:txBody>
          <a:bodyPr wrap="square" lIns="0" rIns="0" tIns="0" bIns="0" anchor="t">
            <a:noAutofit/>
          </a:bodyPr>
          <a:lstStyle/>
          <a:p>
            <a:pPr algn="l">
              <a:lnSpc>
                <a:spcPct val="125000"/>
              </a:lnSpc>
            </a:pPr>
            <a:r>
              <a:rPr sz="690" b="0" i="0">
                <a:solidFill>
                  <a:srgbClr val="9DB0C6"/>
                </a:solidFill>
                <a:latin typeface="Segoe UI"/>
              </a:rPr>
              <a:t>engine not ticking → restart the app; the simulator ticks every 2 s and unrefs its timer.</a:t>
            </a:r>
          </a:p>
        </p:txBody>
      </p:sp>
      <p:sp>
        <p:nvSpPr>
          <p:cNvPr id="43" name="Rounded Rectangle 42"/>
          <p:cNvSpPr/>
          <p:nvPr/>
        </p:nvSpPr>
        <p:spPr>
          <a:xfrm>
            <a:off x="5742432" y="4055363"/>
            <a:ext cx="5879592" cy="603504"/>
          </a:xfrm>
          <a:prstGeom prst="roundRect">
            <a:avLst>
              <a:gd name="adj" fmla="val 7575"/>
            </a:avLst>
          </a:prstGeom>
          <a:solidFill>
            <a:srgbClr val="0A101B"/>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4" name="Rectangle 43"/>
          <p:cNvSpPr/>
          <p:nvPr/>
        </p:nvSpPr>
        <p:spPr>
          <a:xfrm>
            <a:off x="5742432" y="4055363"/>
            <a:ext cx="32004" cy="603504"/>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5" name="TextBox 44"/>
          <p:cNvSpPr txBox="1"/>
          <p:nvPr/>
        </p:nvSpPr>
        <p:spPr>
          <a:xfrm>
            <a:off x="5888736" y="4128515"/>
            <a:ext cx="5605272" cy="164592"/>
          </a:xfrm>
          <a:prstGeom prst="rect">
            <a:avLst/>
          </a:prstGeom>
          <a:noFill/>
        </p:spPr>
        <p:txBody>
          <a:bodyPr wrap="square" lIns="0" rIns="0" tIns="0" bIns="0" anchor="t">
            <a:noAutofit/>
          </a:bodyPr>
          <a:lstStyle/>
          <a:p>
            <a:pPr algn="l">
              <a:lnSpc>
                <a:spcPct val="122000"/>
              </a:lnSpc>
            </a:pPr>
            <a:r>
              <a:rPr sz="780" b="1" i="0">
                <a:solidFill>
                  <a:srgbClr val="F4F8FC"/>
                </a:solidFill>
                <a:latin typeface="Segoe UI"/>
              </a:rPr>
              <a:t>node missing after ingest</a:t>
            </a:r>
          </a:p>
        </p:txBody>
      </p:sp>
      <p:sp>
        <p:nvSpPr>
          <p:cNvPr id="46" name="TextBox 45"/>
          <p:cNvSpPr txBox="1"/>
          <p:nvPr/>
        </p:nvSpPr>
        <p:spPr>
          <a:xfrm>
            <a:off x="5888736" y="4302252"/>
            <a:ext cx="5586983" cy="127825"/>
          </a:xfrm>
          <a:prstGeom prst="rect">
            <a:avLst/>
          </a:prstGeom>
          <a:noFill/>
        </p:spPr>
        <p:txBody>
          <a:bodyPr wrap="square" lIns="0" rIns="0" tIns="0" bIns="0" anchor="t">
            <a:noAutofit/>
          </a:bodyPr>
          <a:lstStyle/>
          <a:p>
            <a:pPr algn="l">
              <a:lnSpc>
                <a:spcPct val="125000"/>
              </a:lnSpc>
            </a:pPr>
            <a:r>
              <a:rPr sz="690" b="0" i="0">
                <a:solidFill>
                  <a:srgbClr val="9DB0C6"/>
                </a:solidFill>
                <a:latin typeface="Segoe UI"/>
              </a:rPr>
              <a:t>child registered before parent → re-POST parents first; unknown parentId returns 400 by design.</a:t>
            </a:r>
          </a:p>
        </p:txBody>
      </p:sp>
      <p:sp>
        <p:nvSpPr>
          <p:cNvPr id="47" name="Rounded Rectangle 46"/>
          <p:cNvSpPr/>
          <p:nvPr/>
        </p:nvSpPr>
        <p:spPr>
          <a:xfrm>
            <a:off x="5742432" y="4727448"/>
            <a:ext cx="5879592" cy="603504"/>
          </a:xfrm>
          <a:prstGeom prst="roundRect">
            <a:avLst>
              <a:gd name="adj" fmla="val 7575"/>
            </a:avLst>
          </a:prstGeom>
          <a:solidFill>
            <a:srgbClr val="0A101B"/>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Rectangle 47"/>
          <p:cNvSpPr/>
          <p:nvPr/>
        </p:nvSpPr>
        <p:spPr>
          <a:xfrm>
            <a:off x="5742432" y="4727448"/>
            <a:ext cx="32004" cy="60350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9" name="TextBox 48"/>
          <p:cNvSpPr txBox="1"/>
          <p:nvPr/>
        </p:nvSpPr>
        <p:spPr>
          <a:xfrm>
            <a:off x="5888736" y="4800600"/>
            <a:ext cx="5605272" cy="164592"/>
          </a:xfrm>
          <a:prstGeom prst="rect">
            <a:avLst/>
          </a:prstGeom>
          <a:noFill/>
        </p:spPr>
        <p:txBody>
          <a:bodyPr wrap="square" lIns="0" rIns="0" tIns="0" bIns="0" anchor="t">
            <a:noAutofit/>
          </a:bodyPr>
          <a:lstStyle/>
          <a:p>
            <a:pPr algn="l">
              <a:lnSpc>
                <a:spcPct val="122000"/>
              </a:lnSpc>
            </a:pPr>
            <a:r>
              <a:rPr sz="780" b="1" i="0">
                <a:solidFill>
                  <a:srgbClr val="F4F8FC"/>
                </a:solidFill>
                <a:latin typeface="Segoe UI"/>
              </a:rPr>
              <a:t>absurd RPS or network numbers</a:t>
            </a:r>
          </a:p>
        </p:txBody>
      </p:sp>
      <p:sp>
        <p:nvSpPr>
          <p:cNvPr id="50" name="TextBox 49"/>
          <p:cNvSpPr txBox="1"/>
          <p:nvPr/>
        </p:nvSpPr>
        <p:spPr>
          <a:xfrm>
            <a:off x="5888736" y="4974336"/>
            <a:ext cx="5586983" cy="127825"/>
          </a:xfrm>
          <a:prstGeom prst="rect">
            <a:avLst/>
          </a:prstGeom>
          <a:noFill/>
        </p:spPr>
        <p:txBody>
          <a:bodyPr wrap="square" lIns="0" rIns="0" tIns="0" bIns="0" anchor="t">
            <a:noAutofit/>
          </a:bodyPr>
          <a:lstStyle/>
          <a:p>
            <a:pPr algn="l">
              <a:lnSpc>
                <a:spcPct val="125000"/>
              </a:lnSpc>
            </a:pPr>
            <a:r>
              <a:rPr sz="690" b="0" i="0">
                <a:solidFill>
                  <a:srgbClr val="9DB0C6"/>
                </a:solidFill>
                <a:latin typeface="Segoe UI"/>
              </a:rPr>
              <a:t>old build persisted recursive sums → POST /api/admin/reseed once; current rollups use averages.</a:t>
            </a:r>
          </a:p>
        </p:txBody>
      </p:sp>
      <p:sp>
        <p:nvSpPr>
          <p:cNvPr id="51" name="Rounded Rectangle 50"/>
          <p:cNvSpPr/>
          <p:nvPr/>
        </p:nvSpPr>
        <p:spPr>
          <a:xfrm>
            <a:off x="5742432" y="5399532"/>
            <a:ext cx="5879592" cy="603504"/>
          </a:xfrm>
          <a:prstGeom prst="roundRect">
            <a:avLst>
              <a:gd name="adj" fmla="val 7575"/>
            </a:avLst>
          </a:prstGeom>
          <a:solidFill>
            <a:srgbClr val="0A101B"/>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Rectangle 51"/>
          <p:cNvSpPr/>
          <p:nvPr/>
        </p:nvSpPr>
        <p:spPr>
          <a:xfrm>
            <a:off x="5742432" y="5399532"/>
            <a:ext cx="32004" cy="60350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3" name="TextBox 52"/>
          <p:cNvSpPr txBox="1"/>
          <p:nvPr/>
        </p:nvSpPr>
        <p:spPr>
          <a:xfrm>
            <a:off x="5888736" y="5472684"/>
            <a:ext cx="5605272" cy="164592"/>
          </a:xfrm>
          <a:prstGeom prst="rect">
            <a:avLst/>
          </a:prstGeom>
          <a:noFill/>
        </p:spPr>
        <p:txBody>
          <a:bodyPr wrap="square" lIns="0" rIns="0" tIns="0" bIns="0" anchor="t">
            <a:noAutofit/>
          </a:bodyPr>
          <a:lstStyle/>
          <a:p>
            <a:pPr algn="l">
              <a:lnSpc>
                <a:spcPct val="122000"/>
              </a:lnSpc>
            </a:pPr>
            <a:r>
              <a:rPr sz="780" b="1" i="0">
                <a:solidFill>
                  <a:srgbClr val="F4F8FC"/>
                </a:solidFill>
                <a:latin typeface="Segoe UI"/>
              </a:rPr>
              <a:t>layout takes seconds</a:t>
            </a:r>
          </a:p>
        </p:txBody>
      </p:sp>
      <p:sp>
        <p:nvSpPr>
          <p:cNvPr id="54" name="TextBox 53"/>
          <p:cNvSpPr txBox="1"/>
          <p:nvPr/>
        </p:nvSpPr>
        <p:spPr>
          <a:xfrm>
            <a:off x="5888736" y="5646420"/>
            <a:ext cx="5586983" cy="127825"/>
          </a:xfrm>
          <a:prstGeom prst="rect">
            <a:avLst/>
          </a:prstGeom>
          <a:noFill/>
        </p:spPr>
        <p:txBody>
          <a:bodyPr wrap="square" lIns="0" rIns="0" tIns="0" bIns="0" anchor="t">
            <a:noAutofit/>
          </a:bodyPr>
          <a:lstStyle/>
          <a:p>
            <a:pPr algn="l">
              <a:lnSpc>
                <a:spcPct val="125000"/>
              </a:lnSpc>
            </a:pPr>
            <a:r>
              <a:rPr sz="690" b="0" i="0">
                <a:solidFill>
                  <a:srgbClr val="9DB0C6"/>
                </a:solidFill>
                <a:latin typeface="Segoe UI"/>
              </a:rPr>
              <a:t>ALL depth plus gauges on 400+ nodes → drop to GROUP depth, hide resource nodes, then fit.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3 · INTEGRATION PATTERN</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Three verbs, one read-back</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Register the shape, push the signals, raise what matters — then read the estate back. Every stack in the estate uses the same four calls.</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INTEGRATION</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18 / 27</a:t>
            </a:r>
          </a:p>
        </p:txBody>
      </p:sp>
      <p:sp>
        <p:nvSpPr>
          <p:cNvPr id="11" name="Rounded Rectangle 10"/>
          <p:cNvSpPr/>
          <p:nvPr/>
        </p:nvSpPr>
        <p:spPr>
          <a:xfrm>
            <a:off x="566928" y="1783080"/>
            <a:ext cx="2724912" cy="2615184"/>
          </a:xfrm>
          <a:prstGeom prst="roundRect">
            <a:avLst>
              <a:gd name="adj" fmla="val 31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566928" y="1783080"/>
            <a:ext cx="2724912" cy="41148"/>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22376" y="1929384"/>
            <a:ext cx="402336" cy="182880"/>
          </a:xfrm>
          <a:prstGeom prst="rect">
            <a:avLst/>
          </a:prstGeom>
          <a:noFill/>
        </p:spPr>
        <p:txBody>
          <a:bodyPr wrap="square" lIns="0" rIns="0" tIns="0" bIns="0" anchor="t">
            <a:noAutofit/>
          </a:bodyPr>
          <a:lstStyle/>
          <a:p>
            <a:pPr algn="l">
              <a:lnSpc>
                <a:spcPct val="122000"/>
              </a:lnSpc>
            </a:pPr>
            <a:r>
              <a:rPr sz="860" b="1" i="0">
                <a:solidFill>
                  <a:srgbClr val="7DD3FC"/>
                </a:solidFill>
                <a:latin typeface="Consolas"/>
              </a:rPr>
              <a:t>01</a:t>
            </a:r>
          </a:p>
        </p:txBody>
      </p:sp>
      <p:sp>
        <p:nvSpPr>
          <p:cNvPr id="14" name="TextBox 13"/>
          <p:cNvSpPr txBox="1"/>
          <p:nvPr/>
        </p:nvSpPr>
        <p:spPr>
          <a:xfrm>
            <a:off x="1133856" y="1892807"/>
            <a:ext cx="1993391" cy="219456"/>
          </a:xfrm>
          <a:prstGeom prst="rect">
            <a:avLst/>
          </a:prstGeom>
          <a:noFill/>
        </p:spPr>
        <p:txBody>
          <a:bodyPr wrap="square" lIns="0" rIns="0" tIns="0" bIns="0" anchor="t">
            <a:noAutofit/>
          </a:bodyPr>
          <a:lstStyle/>
          <a:p>
            <a:pPr algn="l">
              <a:lnSpc>
                <a:spcPct val="122000"/>
              </a:lnSpc>
            </a:pPr>
            <a:r>
              <a:rPr sz="1220" b="1" i="0" spc="40">
                <a:solidFill>
                  <a:srgbClr val="F4F8FC"/>
                </a:solidFill>
                <a:latin typeface="Segoe UI"/>
              </a:rPr>
              <a:t>REGISTER</a:t>
            </a:r>
          </a:p>
        </p:txBody>
      </p:sp>
      <p:sp>
        <p:nvSpPr>
          <p:cNvPr id="15" name="TextBox 14"/>
          <p:cNvSpPr txBox="1"/>
          <p:nvPr/>
        </p:nvSpPr>
        <p:spPr>
          <a:xfrm>
            <a:off x="722376" y="2148840"/>
            <a:ext cx="2414016" cy="146304"/>
          </a:xfrm>
          <a:prstGeom prst="rect">
            <a:avLst/>
          </a:prstGeom>
          <a:noFill/>
        </p:spPr>
        <p:txBody>
          <a:bodyPr wrap="square" lIns="0" rIns="0" tIns="0" bIns="0" anchor="t">
            <a:noAutofit/>
          </a:bodyPr>
          <a:lstStyle/>
          <a:p>
            <a:pPr algn="l">
              <a:lnSpc>
                <a:spcPct val="122000"/>
              </a:lnSpc>
            </a:pPr>
            <a:r>
              <a:rPr sz="660" b="0" i="0" spc="70">
                <a:solidFill>
                  <a:srgbClr val="64748B"/>
                </a:solidFill>
                <a:latin typeface="Consolas"/>
              </a:rPr>
              <a:t>the shape</a:t>
            </a:r>
          </a:p>
        </p:txBody>
      </p:sp>
      <p:sp>
        <p:nvSpPr>
          <p:cNvPr id="16" name="Rounded Rectangle 15"/>
          <p:cNvSpPr/>
          <p:nvPr/>
        </p:nvSpPr>
        <p:spPr>
          <a:xfrm>
            <a:off x="722376" y="2386584"/>
            <a:ext cx="2414016" cy="237744"/>
          </a:xfrm>
          <a:prstGeom prst="roundRect">
            <a:avLst>
              <a:gd name="adj" fmla="val 50000"/>
            </a:avLst>
          </a:prstGeom>
          <a:solidFill>
            <a:srgbClr val="080D16"/>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777240" y="2457069"/>
            <a:ext cx="2304288" cy="91439"/>
          </a:xfrm>
          <a:prstGeom prst="rect">
            <a:avLst/>
          </a:prstGeom>
          <a:noFill/>
        </p:spPr>
        <p:txBody>
          <a:bodyPr wrap="square" lIns="0" rIns="0" tIns="0" bIns="0" anchor="t">
            <a:noAutofit/>
          </a:bodyPr>
          <a:lstStyle/>
          <a:p>
            <a:pPr algn="ctr">
              <a:lnSpc>
                <a:spcPct val="100000"/>
              </a:lnSpc>
            </a:pPr>
            <a:r>
              <a:rPr sz="600" b="0" i="0">
                <a:solidFill>
                  <a:srgbClr val="7DD3FC"/>
                </a:solidFill>
                <a:latin typeface="Consolas"/>
              </a:rPr>
              <a:t>POST /api/ingest/nodes</a:t>
            </a:r>
          </a:p>
        </p:txBody>
      </p:sp>
      <p:cxnSp>
        <p:nvCxnSpPr>
          <p:cNvPr id="18" name="Connector 17"/>
          <p:cNvCxnSpPr/>
          <p:nvPr/>
        </p:nvCxnSpPr>
        <p:spPr>
          <a:xfrm>
            <a:off x="722376" y="2715768"/>
            <a:ext cx="2414016"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22376" y="2825496"/>
            <a:ext cx="2432304" cy="295910"/>
          </a:xfrm>
          <a:prstGeom prst="rect">
            <a:avLst/>
          </a:prstGeom>
          <a:noFill/>
        </p:spPr>
        <p:txBody>
          <a:bodyPr wrap="square" lIns="0" rIns="0" tIns="0" bIns="0" anchor="t">
            <a:noAutofit/>
          </a:bodyPr>
          <a:lstStyle/>
          <a:p>
            <a:pPr algn="l" marL="146304" indent="-146304">
              <a:lnSpc>
                <a:spcPct val="130000"/>
              </a:lnSpc>
              <a:buClr>
                <a:srgbClr val="7DD3FC"/>
              </a:buClr>
              <a:buFont typeface="Arial"/>
              <a:buChar char="•"/>
            </a:pPr>
            <a:r>
              <a:rPr sz="730" b="0" i="0">
                <a:solidFill>
                  <a:srgbClr val="9DB0C6"/>
                </a:solidFill>
                <a:latin typeface="Segoe UI"/>
              </a:rPr>
              <a:t>Idempotent upsert by id — safe to call at every boot.</a:t>
            </a:r>
          </a:p>
        </p:txBody>
      </p:sp>
      <p:sp>
        <p:nvSpPr>
          <p:cNvPr id="20" name="TextBox 19"/>
          <p:cNvSpPr txBox="1"/>
          <p:nvPr/>
        </p:nvSpPr>
        <p:spPr>
          <a:xfrm>
            <a:off x="722376" y="3157982"/>
            <a:ext cx="2432304" cy="295910"/>
          </a:xfrm>
          <a:prstGeom prst="rect">
            <a:avLst/>
          </a:prstGeom>
          <a:noFill/>
        </p:spPr>
        <p:txBody>
          <a:bodyPr wrap="square" lIns="0" rIns="0" tIns="0" bIns="0" anchor="t">
            <a:noAutofit/>
          </a:bodyPr>
          <a:lstStyle/>
          <a:p>
            <a:pPr algn="l" marL="146304" indent="-146304">
              <a:lnSpc>
                <a:spcPct val="130000"/>
              </a:lnSpc>
              <a:buClr>
                <a:srgbClr val="7DD3FC"/>
              </a:buClr>
              <a:buFont typeface="Arial"/>
              <a:buChar char="•"/>
            </a:pPr>
            <a:r>
              <a:rPr sz="730" b="0" i="0">
                <a:solidFill>
                  <a:srgbClr val="9DB0C6"/>
                </a:solidFill>
                <a:latin typeface="Segoe UI"/>
              </a:rPr>
              <a:t>Parents must already exist; unknown parentId returns 400.</a:t>
            </a:r>
          </a:p>
        </p:txBody>
      </p:sp>
      <p:sp>
        <p:nvSpPr>
          <p:cNvPr id="21" name="TextBox 20"/>
          <p:cNvSpPr txBox="1"/>
          <p:nvPr/>
        </p:nvSpPr>
        <p:spPr>
          <a:xfrm>
            <a:off x="722376" y="3490468"/>
            <a:ext cx="2432304" cy="295910"/>
          </a:xfrm>
          <a:prstGeom prst="rect">
            <a:avLst/>
          </a:prstGeom>
          <a:noFill/>
        </p:spPr>
        <p:txBody>
          <a:bodyPr wrap="square" lIns="0" rIns="0" tIns="0" bIns="0" anchor="t">
            <a:noAutofit/>
          </a:bodyPr>
          <a:lstStyle/>
          <a:p>
            <a:pPr algn="l" marL="146304" indent="-146304">
              <a:lnSpc>
                <a:spcPct val="130000"/>
              </a:lnSpc>
              <a:buClr>
                <a:srgbClr val="7DD3FC"/>
              </a:buClr>
              <a:buFont typeface="Arial"/>
              <a:buChar char="•"/>
            </a:pPr>
            <a:r>
              <a:rPr sz="730" b="0" i="0">
                <a:solidFill>
                  <a:srgbClr val="9DB0C6"/>
                </a:solidFill>
                <a:latin typeface="Segoe UI"/>
              </a:rPr>
              <a:t>Carries name, type, kind, region, owner and free-form meta.</a:t>
            </a:r>
          </a:p>
        </p:txBody>
      </p:sp>
      <p:cxnSp>
        <p:nvCxnSpPr>
          <p:cNvPr id="22" name="Connector 21"/>
          <p:cNvCxnSpPr/>
          <p:nvPr/>
        </p:nvCxnSpPr>
        <p:spPr>
          <a:xfrm>
            <a:off x="3310128" y="3172968"/>
            <a:ext cx="137160"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465576" y="1783080"/>
            <a:ext cx="2724912" cy="2615184"/>
          </a:xfrm>
          <a:prstGeom prst="roundRect">
            <a:avLst>
              <a:gd name="adj" fmla="val 31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Rectangle 23"/>
          <p:cNvSpPr/>
          <p:nvPr/>
        </p:nvSpPr>
        <p:spPr>
          <a:xfrm>
            <a:off x="3465576" y="1783080"/>
            <a:ext cx="2724912" cy="4114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3621024" y="1929384"/>
            <a:ext cx="402336" cy="182880"/>
          </a:xfrm>
          <a:prstGeom prst="rect">
            <a:avLst/>
          </a:prstGeom>
          <a:noFill/>
        </p:spPr>
        <p:txBody>
          <a:bodyPr wrap="square" lIns="0" rIns="0" tIns="0" bIns="0" anchor="t">
            <a:noAutofit/>
          </a:bodyPr>
          <a:lstStyle/>
          <a:p>
            <a:pPr algn="l">
              <a:lnSpc>
                <a:spcPct val="122000"/>
              </a:lnSpc>
            </a:pPr>
            <a:r>
              <a:rPr sz="860" b="1" i="0">
                <a:solidFill>
                  <a:srgbClr val="34D399"/>
                </a:solidFill>
                <a:latin typeface="Consolas"/>
              </a:rPr>
              <a:t>02</a:t>
            </a:r>
          </a:p>
        </p:txBody>
      </p:sp>
      <p:sp>
        <p:nvSpPr>
          <p:cNvPr id="26" name="TextBox 25"/>
          <p:cNvSpPr txBox="1"/>
          <p:nvPr/>
        </p:nvSpPr>
        <p:spPr>
          <a:xfrm>
            <a:off x="4032504" y="1892807"/>
            <a:ext cx="1993391" cy="219456"/>
          </a:xfrm>
          <a:prstGeom prst="rect">
            <a:avLst/>
          </a:prstGeom>
          <a:noFill/>
        </p:spPr>
        <p:txBody>
          <a:bodyPr wrap="square" lIns="0" rIns="0" tIns="0" bIns="0" anchor="t">
            <a:noAutofit/>
          </a:bodyPr>
          <a:lstStyle/>
          <a:p>
            <a:pPr algn="l">
              <a:lnSpc>
                <a:spcPct val="122000"/>
              </a:lnSpc>
            </a:pPr>
            <a:r>
              <a:rPr sz="1220" b="1" i="0" spc="40">
                <a:solidFill>
                  <a:srgbClr val="F4F8FC"/>
                </a:solidFill>
                <a:latin typeface="Segoe UI"/>
              </a:rPr>
              <a:t>PUSH</a:t>
            </a:r>
          </a:p>
        </p:txBody>
      </p:sp>
      <p:sp>
        <p:nvSpPr>
          <p:cNvPr id="27" name="TextBox 26"/>
          <p:cNvSpPr txBox="1"/>
          <p:nvPr/>
        </p:nvSpPr>
        <p:spPr>
          <a:xfrm>
            <a:off x="3621024" y="2148840"/>
            <a:ext cx="2414016" cy="146304"/>
          </a:xfrm>
          <a:prstGeom prst="rect">
            <a:avLst/>
          </a:prstGeom>
          <a:noFill/>
        </p:spPr>
        <p:txBody>
          <a:bodyPr wrap="square" lIns="0" rIns="0" tIns="0" bIns="0" anchor="t">
            <a:noAutofit/>
          </a:bodyPr>
          <a:lstStyle/>
          <a:p>
            <a:pPr algn="l">
              <a:lnSpc>
                <a:spcPct val="122000"/>
              </a:lnSpc>
            </a:pPr>
            <a:r>
              <a:rPr sz="660" b="0" i="0" spc="70">
                <a:solidFill>
                  <a:srgbClr val="64748B"/>
                </a:solidFill>
                <a:latin typeface="Consolas"/>
              </a:rPr>
              <a:t>the signals</a:t>
            </a:r>
          </a:p>
        </p:txBody>
      </p:sp>
      <p:sp>
        <p:nvSpPr>
          <p:cNvPr id="28" name="Rounded Rectangle 27"/>
          <p:cNvSpPr/>
          <p:nvPr/>
        </p:nvSpPr>
        <p:spPr>
          <a:xfrm>
            <a:off x="3621024" y="2386584"/>
            <a:ext cx="2414016" cy="237744"/>
          </a:xfrm>
          <a:prstGeom prst="roundRect">
            <a:avLst>
              <a:gd name="adj" fmla="val 50000"/>
            </a:avLst>
          </a:prstGeom>
          <a:solidFill>
            <a:srgbClr val="080D16"/>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3675887" y="2457069"/>
            <a:ext cx="2304288" cy="91439"/>
          </a:xfrm>
          <a:prstGeom prst="rect">
            <a:avLst/>
          </a:prstGeom>
          <a:noFill/>
        </p:spPr>
        <p:txBody>
          <a:bodyPr wrap="square" lIns="0" rIns="0" tIns="0" bIns="0" anchor="t">
            <a:noAutofit/>
          </a:bodyPr>
          <a:lstStyle/>
          <a:p>
            <a:pPr algn="ctr">
              <a:lnSpc>
                <a:spcPct val="100000"/>
              </a:lnSpc>
            </a:pPr>
            <a:r>
              <a:rPr sz="600" b="0" i="0">
                <a:solidFill>
                  <a:srgbClr val="34D399"/>
                </a:solidFill>
                <a:latin typeface="Consolas"/>
              </a:rPr>
              <a:t>POST /api/ingest/metrics</a:t>
            </a:r>
          </a:p>
        </p:txBody>
      </p:sp>
      <p:cxnSp>
        <p:nvCxnSpPr>
          <p:cNvPr id="30" name="Connector 29"/>
          <p:cNvCxnSpPr/>
          <p:nvPr/>
        </p:nvCxnSpPr>
        <p:spPr>
          <a:xfrm>
            <a:off x="3621024" y="2715768"/>
            <a:ext cx="2414016"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621024" y="2825496"/>
            <a:ext cx="2432304" cy="295910"/>
          </a:xfrm>
          <a:prstGeom prst="rect">
            <a:avLst/>
          </a:prstGeom>
          <a:noFill/>
        </p:spPr>
        <p:txBody>
          <a:bodyPr wrap="square" lIns="0" rIns="0" tIns="0" bIns="0" anchor="t">
            <a:noAutofit/>
          </a:bodyPr>
          <a:lstStyle/>
          <a:p>
            <a:pPr algn="l" marL="146304" indent="-146304">
              <a:lnSpc>
                <a:spcPct val="130000"/>
              </a:lnSpc>
              <a:buClr>
                <a:srgbClr val="34D399"/>
              </a:buClr>
              <a:buFont typeface="Arial"/>
              <a:buChar char="•"/>
            </a:pPr>
            <a:r>
              <a:rPr sz="730" b="0" i="0">
                <a:solidFill>
                  <a:srgbClr val="9DB0C6"/>
                </a:solidFill>
                <a:latin typeface="Segoe UI"/>
              </a:rPr>
              <a:t>One snapshot per node per heartbeat, every 15–60 s.</a:t>
            </a:r>
          </a:p>
        </p:txBody>
      </p:sp>
      <p:sp>
        <p:nvSpPr>
          <p:cNvPr id="32" name="TextBox 31"/>
          <p:cNvSpPr txBox="1"/>
          <p:nvPr/>
        </p:nvSpPr>
        <p:spPr>
          <a:xfrm>
            <a:off x="3621024" y="3157982"/>
            <a:ext cx="2432304" cy="295910"/>
          </a:xfrm>
          <a:prstGeom prst="rect">
            <a:avLst/>
          </a:prstGeom>
          <a:noFill/>
        </p:spPr>
        <p:txBody>
          <a:bodyPr wrap="square" lIns="0" rIns="0" tIns="0" bIns="0" anchor="t">
            <a:noAutofit/>
          </a:bodyPr>
          <a:lstStyle/>
          <a:p>
            <a:pPr algn="l" marL="146304" indent="-146304">
              <a:lnSpc>
                <a:spcPct val="130000"/>
              </a:lnSpc>
              <a:buClr>
                <a:srgbClr val="34D399"/>
              </a:buClr>
              <a:buFont typeface="Arial"/>
              <a:buChar char="•"/>
            </a:pPr>
            <a:r>
              <a:rPr sz="730" b="0" i="0">
                <a:solidFill>
                  <a:srgbClr val="9DB0C6"/>
                </a:solidFill>
                <a:latin typeface="Segoe UI"/>
              </a:rPr>
              <a:t>cpu, memory, disk, network, rps, errorRate, latencyMs, uptime.</a:t>
            </a:r>
          </a:p>
        </p:txBody>
      </p:sp>
      <p:sp>
        <p:nvSpPr>
          <p:cNvPr id="33" name="TextBox 32"/>
          <p:cNvSpPr txBox="1"/>
          <p:nvPr/>
        </p:nvSpPr>
        <p:spPr>
          <a:xfrm>
            <a:off x="3621024" y="3490468"/>
            <a:ext cx="2432304" cy="295910"/>
          </a:xfrm>
          <a:prstGeom prst="rect">
            <a:avLst/>
          </a:prstGeom>
          <a:noFill/>
        </p:spPr>
        <p:txBody>
          <a:bodyPr wrap="square" lIns="0" rIns="0" tIns="0" bIns="0" anchor="t">
            <a:noAutofit/>
          </a:bodyPr>
          <a:lstStyle/>
          <a:p>
            <a:pPr algn="l" marL="146304" indent="-146304">
              <a:lnSpc>
                <a:spcPct val="130000"/>
              </a:lnSpc>
              <a:buClr>
                <a:srgbClr val="34D399"/>
              </a:buClr>
              <a:buFont typeface="Arial"/>
              <a:buChar char="•"/>
            </a:pPr>
            <a:r>
              <a:rPr sz="730" b="0" i="0">
                <a:solidFill>
                  <a:srgbClr val="9DB0C6"/>
                </a:solidFill>
                <a:latin typeface="Segoe UI"/>
              </a:rPr>
              <a:t>Values are clamped server-side; unknown nodeId returns 404.</a:t>
            </a:r>
          </a:p>
        </p:txBody>
      </p:sp>
      <p:cxnSp>
        <p:nvCxnSpPr>
          <p:cNvPr id="34" name="Connector 33"/>
          <p:cNvCxnSpPr/>
          <p:nvPr/>
        </p:nvCxnSpPr>
        <p:spPr>
          <a:xfrm>
            <a:off x="6208775" y="3172968"/>
            <a:ext cx="137161"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364224" y="1783080"/>
            <a:ext cx="2724912" cy="2615184"/>
          </a:xfrm>
          <a:prstGeom prst="roundRect">
            <a:avLst>
              <a:gd name="adj" fmla="val 31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Rectangle 35"/>
          <p:cNvSpPr/>
          <p:nvPr/>
        </p:nvSpPr>
        <p:spPr>
          <a:xfrm>
            <a:off x="6364224" y="1783080"/>
            <a:ext cx="2724912" cy="4114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TextBox 36"/>
          <p:cNvSpPr txBox="1"/>
          <p:nvPr/>
        </p:nvSpPr>
        <p:spPr>
          <a:xfrm>
            <a:off x="6519672" y="1929384"/>
            <a:ext cx="402336" cy="182880"/>
          </a:xfrm>
          <a:prstGeom prst="rect">
            <a:avLst/>
          </a:prstGeom>
          <a:noFill/>
        </p:spPr>
        <p:txBody>
          <a:bodyPr wrap="square" lIns="0" rIns="0" tIns="0" bIns="0" anchor="t">
            <a:noAutofit/>
          </a:bodyPr>
          <a:lstStyle/>
          <a:p>
            <a:pPr algn="l">
              <a:lnSpc>
                <a:spcPct val="122000"/>
              </a:lnSpc>
            </a:pPr>
            <a:r>
              <a:rPr sz="860" b="1" i="0">
                <a:solidFill>
                  <a:srgbClr val="FBBF24"/>
                </a:solidFill>
                <a:latin typeface="Consolas"/>
              </a:rPr>
              <a:t>03</a:t>
            </a:r>
          </a:p>
        </p:txBody>
      </p:sp>
      <p:sp>
        <p:nvSpPr>
          <p:cNvPr id="38" name="TextBox 37"/>
          <p:cNvSpPr txBox="1"/>
          <p:nvPr/>
        </p:nvSpPr>
        <p:spPr>
          <a:xfrm>
            <a:off x="6931152" y="1892807"/>
            <a:ext cx="1993391" cy="219456"/>
          </a:xfrm>
          <a:prstGeom prst="rect">
            <a:avLst/>
          </a:prstGeom>
          <a:noFill/>
        </p:spPr>
        <p:txBody>
          <a:bodyPr wrap="square" lIns="0" rIns="0" tIns="0" bIns="0" anchor="t">
            <a:noAutofit/>
          </a:bodyPr>
          <a:lstStyle/>
          <a:p>
            <a:pPr algn="l">
              <a:lnSpc>
                <a:spcPct val="122000"/>
              </a:lnSpc>
            </a:pPr>
            <a:r>
              <a:rPr sz="1220" b="1" i="0" spc="40">
                <a:solidFill>
                  <a:srgbClr val="F4F8FC"/>
                </a:solidFill>
                <a:latin typeface="Segoe UI"/>
              </a:rPr>
              <a:t>RAISE</a:t>
            </a:r>
          </a:p>
        </p:txBody>
      </p:sp>
      <p:sp>
        <p:nvSpPr>
          <p:cNvPr id="39" name="TextBox 38"/>
          <p:cNvSpPr txBox="1"/>
          <p:nvPr/>
        </p:nvSpPr>
        <p:spPr>
          <a:xfrm>
            <a:off x="6519672" y="2148840"/>
            <a:ext cx="2414016" cy="146304"/>
          </a:xfrm>
          <a:prstGeom prst="rect">
            <a:avLst/>
          </a:prstGeom>
          <a:noFill/>
        </p:spPr>
        <p:txBody>
          <a:bodyPr wrap="square" lIns="0" rIns="0" tIns="0" bIns="0" anchor="t">
            <a:noAutofit/>
          </a:bodyPr>
          <a:lstStyle/>
          <a:p>
            <a:pPr algn="l">
              <a:lnSpc>
                <a:spcPct val="122000"/>
              </a:lnSpc>
            </a:pPr>
            <a:r>
              <a:rPr sz="660" b="0" i="0" spc="70">
                <a:solidFill>
                  <a:srgbClr val="64748B"/>
                </a:solidFill>
                <a:latin typeface="Consolas"/>
              </a:rPr>
              <a:t>what matters</a:t>
            </a:r>
          </a:p>
        </p:txBody>
      </p:sp>
      <p:sp>
        <p:nvSpPr>
          <p:cNvPr id="40" name="Rounded Rectangle 39"/>
          <p:cNvSpPr/>
          <p:nvPr/>
        </p:nvSpPr>
        <p:spPr>
          <a:xfrm>
            <a:off x="6519672" y="2386584"/>
            <a:ext cx="2414016" cy="237744"/>
          </a:xfrm>
          <a:prstGeom prst="roundRect">
            <a:avLst>
              <a:gd name="adj" fmla="val 50000"/>
            </a:avLst>
          </a:prstGeom>
          <a:solidFill>
            <a:srgbClr val="080D16"/>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1" name="TextBox 40"/>
          <p:cNvSpPr txBox="1"/>
          <p:nvPr/>
        </p:nvSpPr>
        <p:spPr>
          <a:xfrm>
            <a:off x="6574536" y="2457069"/>
            <a:ext cx="2304288" cy="91439"/>
          </a:xfrm>
          <a:prstGeom prst="rect">
            <a:avLst/>
          </a:prstGeom>
          <a:noFill/>
        </p:spPr>
        <p:txBody>
          <a:bodyPr wrap="square" lIns="0" rIns="0" tIns="0" bIns="0" anchor="t">
            <a:noAutofit/>
          </a:bodyPr>
          <a:lstStyle/>
          <a:p>
            <a:pPr algn="ctr">
              <a:lnSpc>
                <a:spcPct val="100000"/>
              </a:lnSpc>
            </a:pPr>
            <a:r>
              <a:rPr sz="600" b="0" i="0">
                <a:solidFill>
                  <a:srgbClr val="FBBF24"/>
                </a:solidFill>
                <a:latin typeface="Consolas"/>
              </a:rPr>
              <a:t>POST /api/ingest/events</a:t>
            </a:r>
          </a:p>
        </p:txBody>
      </p:sp>
      <p:cxnSp>
        <p:nvCxnSpPr>
          <p:cNvPr id="42" name="Connector 41"/>
          <p:cNvCxnSpPr/>
          <p:nvPr/>
        </p:nvCxnSpPr>
        <p:spPr>
          <a:xfrm>
            <a:off x="6519672" y="2715768"/>
            <a:ext cx="2414016"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519672" y="2825496"/>
            <a:ext cx="2432304" cy="175387"/>
          </a:xfrm>
          <a:prstGeom prst="rect">
            <a:avLst/>
          </a:prstGeom>
          <a:noFill/>
        </p:spPr>
        <p:txBody>
          <a:bodyPr wrap="square" lIns="0" rIns="0" tIns="0" bIns="0" anchor="t">
            <a:noAutofit/>
          </a:bodyPr>
          <a:lstStyle/>
          <a:p>
            <a:pPr algn="l" marL="146304" indent="-146304">
              <a:lnSpc>
                <a:spcPct val="130000"/>
              </a:lnSpc>
              <a:buClr>
                <a:srgbClr val="FBBF24"/>
              </a:buClr>
              <a:buFont typeface="Arial"/>
              <a:buChar char="•"/>
            </a:pPr>
            <a:r>
              <a:rPr sz="730" b="0" i="0">
                <a:solidFill>
                  <a:srgbClr val="9DB0C6"/>
                </a:solidFill>
                <a:latin typeface="Segoe UI"/>
              </a:rPr>
              <a:t>Deploys, exceptions, slow queries, audit notes.</a:t>
            </a:r>
          </a:p>
        </p:txBody>
      </p:sp>
      <p:sp>
        <p:nvSpPr>
          <p:cNvPr id="44" name="TextBox 43"/>
          <p:cNvSpPr txBox="1"/>
          <p:nvPr/>
        </p:nvSpPr>
        <p:spPr>
          <a:xfrm>
            <a:off x="6519672" y="3037458"/>
            <a:ext cx="2432304" cy="295910"/>
          </a:xfrm>
          <a:prstGeom prst="rect">
            <a:avLst/>
          </a:prstGeom>
          <a:noFill/>
        </p:spPr>
        <p:txBody>
          <a:bodyPr wrap="square" lIns="0" rIns="0" tIns="0" bIns="0" anchor="t">
            <a:noAutofit/>
          </a:bodyPr>
          <a:lstStyle/>
          <a:p>
            <a:pPr algn="l" marL="146304" indent="-146304">
              <a:lnSpc>
                <a:spcPct val="130000"/>
              </a:lnSpc>
              <a:buClr>
                <a:srgbClr val="FBBF24"/>
              </a:buClr>
              <a:buFont typeface="Arial"/>
              <a:buChar char="•"/>
            </a:pPr>
            <a:r>
              <a:rPr sz="730" b="0" i="0">
                <a:solidFill>
                  <a:srgbClr val="9DB0C6"/>
                </a:solidFill>
                <a:latin typeface="Segoe UI"/>
              </a:rPr>
              <a:t>severity info | warning | critical; critical also escalates the node.</a:t>
            </a:r>
          </a:p>
        </p:txBody>
      </p:sp>
      <p:sp>
        <p:nvSpPr>
          <p:cNvPr id="45" name="TextBox 44"/>
          <p:cNvSpPr txBox="1"/>
          <p:nvPr/>
        </p:nvSpPr>
        <p:spPr>
          <a:xfrm>
            <a:off x="6519672" y="3369944"/>
            <a:ext cx="2432304" cy="295910"/>
          </a:xfrm>
          <a:prstGeom prst="rect">
            <a:avLst/>
          </a:prstGeom>
          <a:noFill/>
        </p:spPr>
        <p:txBody>
          <a:bodyPr wrap="square" lIns="0" rIns="0" tIns="0" bIns="0" anchor="t">
            <a:noAutofit/>
          </a:bodyPr>
          <a:lstStyle/>
          <a:p>
            <a:pPr algn="l" marL="146304" indent="-146304">
              <a:lnSpc>
                <a:spcPct val="130000"/>
              </a:lnSpc>
              <a:buClr>
                <a:srgbClr val="FBBF24"/>
              </a:buClr>
              <a:buFont typeface="Arial"/>
              <a:buChar char="•"/>
            </a:pPr>
            <a:r>
              <a:rPr sz="730" b="0" i="0">
                <a:solidFill>
                  <a:srgbClr val="9DB0C6"/>
                </a:solidFill>
                <a:latin typeface="Segoe UI"/>
              </a:rPr>
              <a:t>Optional nodeId makes the dock row clickable to focus.</a:t>
            </a:r>
          </a:p>
        </p:txBody>
      </p:sp>
      <p:cxnSp>
        <p:nvCxnSpPr>
          <p:cNvPr id="46" name="Connector 45"/>
          <p:cNvCxnSpPr/>
          <p:nvPr/>
        </p:nvCxnSpPr>
        <p:spPr>
          <a:xfrm>
            <a:off x="9107424" y="3172968"/>
            <a:ext cx="137160"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262872" y="1783080"/>
            <a:ext cx="2724912" cy="2615184"/>
          </a:xfrm>
          <a:prstGeom prst="roundRect">
            <a:avLst>
              <a:gd name="adj" fmla="val 31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Rectangle 47"/>
          <p:cNvSpPr/>
          <p:nvPr/>
        </p:nvSpPr>
        <p:spPr>
          <a:xfrm>
            <a:off x="9262872" y="1783080"/>
            <a:ext cx="2724912" cy="4114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9" name="TextBox 48"/>
          <p:cNvSpPr txBox="1"/>
          <p:nvPr/>
        </p:nvSpPr>
        <p:spPr>
          <a:xfrm>
            <a:off x="9418319" y="1929384"/>
            <a:ext cx="402336" cy="182880"/>
          </a:xfrm>
          <a:prstGeom prst="rect">
            <a:avLst/>
          </a:prstGeom>
          <a:noFill/>
        </p:spPr>
        <p:txBody>
          <a:bodyPr wrap="square" lIns="0" rIns="0" tIns="0" bIns="0" anchor="t">
            <a:noAutofit/>
          </a:bodyPr>
          <a:lstStyle/>
          <a:p>
            <a:pPr algn="l">
              <a:lnSpc>
                <a:spcPct val="122000"/>
              </a:lnSpc>
            </a:pPr>
            <a:r>
              <a:rPr sz="860" b="1" i="0">
                <a:solidFill>
                  <a:srgbClr val="A78BFA"/>
                </a:solidFill>
                <a:latin typeface="Consolas"/>
              </a:rPr>
              <a:t>04</a:t>
            </a:r>
          </a:p>
        </p:txBody>
      </p:sp>
      <p:sp>
        <p:nvSpPr>
          <p:cNvPr id="50" name="TextBox 49"/>
          <p:cNvSpPr txBox="1"/>
          <p:nvPr/>
        </p:nvSpPr>
        <p:spPr>
          <a:xfrm>
            <a:off x="9829799" y="1892807"/>
            <a:ext cx="1993391" cy="219456"/>
          </a:xfrm>
          <a:prstGeom prst="rect">
            <a:avLst/>
          </a:prstGeom>
          <a:noFill/>
        </p:spPr>
        <p:txBody>
          <a:bodyPr wrap="square" lIns="0" rIns="0" tIns="0" bIns="0" anchor="t">
            <a:noAutofit/>
          </a:bodyPr>
          <a:lstStyle/>
          <a:p>
            <a:pPr algn="l">
              <a:lnSpc>
                <a:spcPct val="122000"/>
              </a:lnSpc>
            </a:pPr>
            <a:r>
              <a:rPr sz="1220" b="1" i="0" spc="40">
                <a:solidFill>
                  <a:srgbClr val="F4F8FC"/>
                </a:solidFill>
                <a:latin typeface="Segoe UI"/>
              </a:rPr>
              <a:t>READ</a:t>
            </a:r>
          </a:p>
        </p:txBody>
      </p:sp>
      <p:sp>
        <p:nvSpPr>
          <p:cNvPr id="51" name="TextBox 50"/>
          <p:cNvSpPr txBox="1"/>
          <p:nvPr/>
        </p:nvSpPr>
        <p:spPr>
          <a:xfrm>
            <a:off x="9418319" y="2148840"/>
            <a:ext cx="2414016" cy="146304"/>
          </a:xfrm>
          <a:prstGeom prst="rect">
            <a:avLst/>
          </a:prstGeom>
          <a:noFill/>
        </p:spPr>
        <p:txBody>
          <a:bodyPr wrap="square" lIns="0" rIns="0" tIns="0" bIns="0" anchor="t">
            <a:noAutofit/>
          </a:bodyPr>
          <a:lstStyle/>
          <a:p>
            <a:pPr algn="l">
              <a:lnSpc>
                <a:spcPct val="122000"/>
              </a:lnSpc>
            </a:pPr>
            <a:r>
              <a:rPr sz="660" b="0" i="0" spc="70">
                <a:solidFill>
                  <a:srgbClr val="64748B"/>
                </a:solidFill>
                <a:latin typeface="Consolas"/>
              </a:rPr>
              <a:t>the estate back</a:t>
            </a:r>
          </a:p>
        </p:txBody>
      </p:sp>
      <p:sp>
        <p:nvSpPr>
          <p:cNvPr id="52" name="Rounded Rectangle 51"/>
          <p:cNvSpPr/>
          <p:nvPr/>
        </p:nvSpPr>
        <p:spPr>
          <a:xfrm>
            <a:off x="9418319" y="2386584"/>
            <a:ext cx="2414016" cy="237744"/>
          </a:xfrm>
          <a:prstGeom prst="roundRect">
            <a:avLst>
              <a:gd name="adj" fmla="val 50000"/>
            </a:avLst>
          </a:prstGeom>
          <a:solidFill>
            <a:srgbClr val="080D16"/>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3" name="TextBox 52"/>
          <p:cNvSpPr txBox="1"/>
          <p:nvPr/>
        </p:nvSpPr>
        <p:spPr>
          <a:xfrm>
            <a:off x="9473184" y="2457069"/>
            <a:ext cx="2304288" cy="91439"/>
          </a:xfrm>
          <a:prstGeom prst="rect">
            <a:avLst/>
          </a:prstGeom>
          <a:noFill/>
        </p:spPr>
        <p:txBody>
          <a:bodyPr wrap="square" lIns="0" rIns="0" tIns="0" bIns="0" anchor="t">
            <a:noAutofit/>
          </a:bodyPr>
          <a:lstStyle/>
          <a:p>
            <a:pPr algn="ctr">
              <a:lnSpc>
                <a:spcPct val="100000"/>
              </a:lnSpc>
            </a:pPr>
            <a:r>
              <a:rPr sz="600" b="0" i="0">
                <a:solidFill>
                  <a:srgbClr val="A78BFA"/>
                </a:solidFill>
                <a:latin typeface="Consolas"/>
              </a:rPr>
              <a:t>GET /api/topology · /api/stream</a:t>
            </a:r>
          </a:p>
        </p:txBody>
      </p:sp>
      <p:cxnSp>
        <p:nvCxnSpPr>
          <p:cNvPr id="54" name="Connector 53"/>
          <p:cNvCxnSpPr/>
          <p:nvPr/>
        </p:nvCxnSpPr>
        <p:spPr>
          <a:xfrm>
            <a:off x="9418319" y="2715768"/>
            <a:ext cx="2414017"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418319" y="2825496"/>
            <a:ext cx="2432304" cy="175387"/>
          </a:xfrm>
          <a:prstGeom prst="rect">
            <a:avLst/>
          </a:prstGeom>
          <a:noFill/>
        </p:spPr>
        <p:txBody>
          <a:bodyPr wrap="square" lIns="0" rIns="0" tIns="0" bIns="0" anchor="t">
            <a:noAutofit/>
          </a:bodyPr>
          <a:lstStyle/>
          <a:p>
            <a:pPr algn="l" marL="146304" indent="-146304">
              <a:lnSpc>
                <a:spcPct val="130000"/>
              </a:lnSpc>
              <a:buClr>
                <a:srgbClr val="A78BFA"/>
              </a:buClr>
              <a:buFont typeface="Arial"/>
              <a:buChar char="•"/>
            </a:pPr>
            <a:r>
              <a:rPr sz="730" b="0" i="0">
                <a:solidFill>
                  <a:srgbClr val="9DB0C6"/>
                </a:solidFill>
                <a:latin typeface="Segoe UI"/>
              </a:rPr>
              <a:t>Snapshot once at boot, or poll every 30–60 s.</a:t>
            </a:r>
          </a:p>
        </p:txBody>
      </p:sp>
      <p:sp>
        <p:nvSpPr>
          <p:cNvPr id="56" name="TextBox 55"/>
          <p:cNvSpPr txBox="1"/>
          <p:nvPr/>
        </p:nvSpPr>
        <p:spPr>
          <a:xfrm>
            <a:off x="9418319" y="3037458"/>
            <a:ext cx="2432304" cy="175387"/>
          </a:xfrm>
          <a:prstGeom prst="rect">
            <a:avLst/>
          </a:prstGeom>
          <a:noFill/>
        </p:spPr>
        <p:txBody>
          <a:bodyPr wrap="square" lIns="0" rIns="0" tIns="0" bIns="0" anchor="t">
            <a:noAutofit/>
          </a:bodyPr>
          <a:lstStyle/>
          <a:p>
            <a:pPr algn="l" marL="146304" indent="-146304">
              <a:lnSpc>
                <a:spcPct val="130000"/>
              </a:lnSpc>
              <a:buClr>
                <a:srgbClr val="A78BFA"/>
              </a:buClr>
              <a:buFont typeface="Arial"/>
              <a:buChar char="•"/>
            </a:pPr>
            <a:r>
              <a:rPr sz="730" b="0" i="0">
                <a:solidFill>
                  <a:srgbClr val="9DB0C6"/>
                </a:solidFill>
                <a:latin typeface="Segoe UI"/>
              </a:rPr>
              <a:t>SSE for live metrics, events and CLI lines.</a:t>
            </a:r>
          </a:p>
        </p:txBody>
      </p:sp>
      <p:sp>
        <p:nvSpPr>
          <p:cNvPr id="57" name="TextBox 56"/>
          <p:cNvSpPr txBox="1"/>
          <p:nvPr/>
        </p:nvSpPr>
        <p:spPr>
          <a:xfrm>
            <a:off x="9418319" y="3249421"/>
            <a:ext cx="2432304" cy="295910"/>
          </a:xfrm>
          <a:prstGeom prst="rect">
            <a:avLst/>
          </a:prstGeom>
          <a:noFill/>
        </p:spPr>
        <p:txBody>
          <a:bodyPr wrap="square" lIns="0" rIns="0" tIns="0" bIns="0" anchor="t">
            <a:noAutofit/>
          </a:bodyPr>
          <a:lstStyle/>
          <a:p>
            <a:pPr algn="l" marL="146304" indent="-146304">
              <a:lnSpc>
                <a:spcPct val="130000"/>
              </a:lnSpc>
              <a:buClr>
                <a:srgbClr val="A78BFA"/>
              </a:buClr>
              <a:buFont typeface="Arial"/>
              <a:buChar char="•"/>
            </a:pPr>
            <a:r>
              <a:rPr sz="730" b="0" i="0">
                <a:solidFill>
                  <a:srgbClr val="9DB0C6"/>
                </a:solidFill>
                <a:latin typeface="Segoe UI"/>
              </a:rPr>
              <a:t>GET /api/ingest/metrics?nodeId=… for a smoke test.</a:t>
            </a:r>
          </a:p>
        </p:txBody>
      </p:sp>
      <p:sp>
        <p:nvSpPr>
          <p:cNvPr id="58" name="Rounded Rectangle 57"/>
          <p:cNvSpPr/>
          <p:nvPr/>
        </p:nvSpPr>
        <p:spPr>
          <a:xfrm>
            <a:off x="566928" y="4700016"/>
            <a:ext cx="7187184" cy="1444752"/>
          </a:xfrm>
          <a:prstGeom prst="roundRect">
            <a:avLst>
              <a:gd name="adj" fmla="val 5696"/>
            </a:avLst>
          </a:prstGeom>
          <a:solidFill>
            <a:srgbClr val="0A1520"/>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9" name="TextBox 58"/>
          <p:cNvSpPr txBox="1"/>
          <p:nvPr/>
        </p:nvSpPr>
        <p:spPr>
          <a:xfrm>
            <a:off x="749808" y="4809744"/>
            <a:ext cx="3657600" cy="164592"/>
          </a:xfrm>
          <a:prstGeom prst="rect">
            <a:avLst/>
          </a:prstGeom>
          <a:noFill/>
        </p:spPr>
        <p:txBody>
          <a:bodyPr wrap="square" lIns="0" rIns="0" tIns="0" bIns="0" anchor="t">
            <a:noAutofit/>
          </a:bodyPr>
          <a:lstStyle/>
          <a:p>
            <a:pPr algn="l">
              <a:lnSpc>
                <a:spcPct val="122000"/>
              </a:lnSpc>
            </a:pPr>
            <a:r>
              <a:rPr sz="680" b="0" i="0" spc="120">
                <a:solidFill>
                  <a:srgbClr val="34D399"/>
                </a:solidFill>
                <a:latin typeface="Consolas"/>
              </a:rPr>
              <a:t>RELIABILITY CONTRACT</a:t>
            </a:r>
          </a:p>
        </p:txBody>
      </p:sp>
      <p:sp>
        <p:nvSpPr>
          <p:cNvPr id="60" name="TextBox 59"/>
          <p:cNvSpPr txBox="1"/>
          <p:nvPr/>
        </p:nvSpPr>
        <p:spPr>
          <a:xfrm>
            <a:off x="768096" y="5047488"/>
            <a:ext cx="6766560" cy="219456"/>
          </a:xfrm>
          <a:prstGeom prst="rect">
            <a:avLst/>
          </a:prstGeom>
          <a:noFill/>
        </p:spPr>
        <p:txBody>
          <a:bodyPr wrap="square" lIns="0" rIns="0" tIns="0" bIns="0" anchor="t">
            <a:noAutofit/>
          </a:bodyPr>
          <a:lstStyle/>
          <a:p>
            <a:pPr algn="l" marL="146304" indent="-146304">
              <a:lnSpc>
                <a:spcPct val="120000"/>
              </a:lnSpc>
              <a:buClr>
                <a:srgbClr val="34D399"/>
              </a:buClr>
              <a:buFont typeface="Arial"/>
              <a:buChar char="•"/>
            </a:pPr>
            <a:r>
              <a:rPr sz="840" b="0" i="0">
                <a:solidFill>
                  <a:srgbClr val="E2E8F0"/>
                </a:solidFill>
                <a:latin typeface="Segoe UI"/>
              </a:rPr>
              <a:t>4-second timeout · fire and forget · warn on failure</a:t>
            </a:r>
          </a:p>
        </p:txBody>
      </p:sp>
      <p:sp>
        <p:nvSpPr>
          <p:cNvPr id="61" name="TextBox 60"/>
          <p:cNvSpPr txBox="1"/>
          <p:nvPr/>
        </p:nvSpPr>
        <p:spPr>
          <a:xfrm>
            <a:off x="768096" y="5358383"/>
            <a:ext cx="6766560" cy="219456"/>
          </a:xfrm>
          <a:prstGeom prst="rect">
            <a:avLst/>
          </a:prstGeom>
          <a:noFill/>
        </p:spPr>
        <p:txBody>
          <a:bodyPr wrap="square" lIns="0" rIns="0" tIns="0" bIns="0" anchor="t">
            <a:noAutofit/>
          </a:bodyPr>
          <a:lstStyle/>
          <a:p>
            <a:pPr algn="l" marL="146304" indent="-146304">
              <a:lnSpc>
                <a:spcPct val="120000"/>
              </a:lnSpc>
              <a:buClr>
                <a:srgbClr val="34D399"/>
              </a:buClr>
              <a:buFont typeface="Arial"/>
              <a:buChar char="•"/>
            </a:pPr>
            <a:r>
              <a:rPr sz="840" b="0" i="0">
                <a:solidFill>
                  <a:srgbClr val="E2E8F0"/>
                </a:solidFill>
                <a:latin typeface="Segoe UI"/>
              </a:rPr>
              <a:t>heartbeat on a 15–60 s ticker, never per request</a:t>
            </a:r>
          </a:p>
        </p:txBody>
      </p:sp>
      <p:sp>
        <p:nvSpPr>
          <p:cNvPr id="62" name="TextBox 61"/>
          <p:cNvSpPr txBox="1"/>
          <p:nvPr/>
        </p:nvSpPr>
        <p:spPr>
          <a:xfrm>
            <a:off x="768096" y="5669279"/>
            <a:ext cx="6766560" cy="219456"/>
          </a:xfrm>
          <a:prstGeom prst="rect">
            <a:avLst/>
          </a:prstGeom>
          <a:noFill/>
        </p:spPr>
        <p:txBody>
          <a:bodyPr wrap="square" lIns="0" rIns="0" tIns="0" bIns="0" anchor="t">
            <a:noAutofit/>
          </a:bodyPr>
          <a:lstStyle/>
          <a:p>
            <a:pPr algn="l" marL="146304" indent="-146304">
              <a:lnSpc>
                <a:spcPct val="120000"/>
              </a:lnSpc>
              <a:buClr>
                <a:srgbClr val="34D399"/>
              </a:buClr>
              <a:buFont typeface="Arial"/>
              <a:buChar char="•"/>
            </a:pPr>
            <a:r>
              <a:rPr sz="840" b="0" i="0">
                <a:solidFill>
                  <a:srgbClr val="E2E8F0"/>
                </a:solidFill>
                <a:latin typeface="Segoe UI"/>
              </a:rPr>
              <a:t>register topology once at boot, not on every tick</a:t>
            </a:r>
          </a:p>
        </p:txBody>
      </p:sp>
      <p:sp>
        <p:nvSpPr>
          <p:cNvPr id="63" name="Rounded Rectangle 62"/>
          <p:cNvSpPr/>
          <p:nvPr/>
        </p:nvSpPr>
        <p:spPr>
          <a:xfrm>
            <a:off x="7882127" y="4700016"/>
            <a:ext cx="3739896" cy="1444752"/>
          </a:xfrm>
          <a:prstGeom prst="roundRect">
            <a:avLst>
              <a:gd name="adj" fmla="val 5696"/>
            </a:avLst>
          </a:prstGeom>
          <a:solidFill>
            <a:srgbClr val="140B12"/>
          </a:solidFill>
          <a:ln w="9525">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4" name="TextBox 63"/>
          <p:cNvSpPr txBox="1"/>
          <p:nvPr/>
        </p:nvSpPr>
        <p:spPr>
          <a:xfrm>
            <a:off x="8046719" y="4809744"/>
            <a:ext cx="3383280" cy="164592"/>
          </a:xfrm>
          <a:prstGeom prst="rect">
            <a:avLst/>
          </a:prstGeom>
          <a:noFill/>
        </p:spPr>
        <p:txBody>
          <a:bodyPr wrap="square" lIns="0" rIns="0" tIns="0" bIns="0" anchor="t">
            <a:noAutofit/>
          </a:bodyPr>
          <a:lstStyle/>
          <a:p>
            <a:pPr algn="l">
              <a:lnSpc>
                <a:spcPct val="122000"/>
              </a:lnSpc>
            </a:pPr>
            <a:r>
              <a:rPr sz="680" b="0" i="0" spc="120">
                <a:solidFill>
                  <a:srgbClr val="FB7185"/>
                </a:solidFill>
                <a:latin typeface="Consolas"/>
              </a:rPr>
              <a:t>DO NOT</a:t>
            </a:r>
          </a:p>
        </p:txBody>
      </p:sp>
      <p:sp>
        <p:nvSpPr>
          <p:cNvPr id="65" name="TextBox 64"/>
          <p:cNvSpPr txBox="1"/>
          <p:nvPr/>
        </p:nvSpPr>
        <p:spPr>
          <a:xfrm>
            <a:off x="8046719" y="5047488"/>
            <a:ext cx="3429000" cy="329184"/>
          </a:xfrm>
          <a:prstGeom prst="rect">
            <a:avLst/>
          </a:prstGeom>
          <a:noFill/>
        </p:spPr>
        <p:txBody>
          <a:bodyPr wrap="square" lIns="0" rIns="0" tIns="0" bIns="0" anchor="t">
            <a:noAutofit/>
          </a:bodyPr>
          <a:lstStyle/>
          <a:p>
            <a:pPr algn="l" marL="146304" indent="-146304">
              <a:lnSpc>
                <a:spcPct val="122000"/>
              </a:lnSpc>
              <a:buClr>
                <a:srgbClr val="FB7185"/>
              </a:buClr>
              <a:buFont typeface="Arial"/>
              <a:buChar char="•"/>
            </a:pPr>
            <a:r>
              <a:rPr sz="740" b="0" i="0">
                <a:solidFill>
                  <a:srgbClr val="9DB0C6"/>
                </a:solidFill>
                <a:latin typeface="Segoe UI"/>
              </a:rPr>
              <a:t>write to Postgres directly — the engine will not see it</a:t>
            </a:r>
          </a:p>
        </p:txBody>
      </p:sp>
      <p:sp>
        <p:nvSpPr>
          <p:cNvPr id="66" name="TextBox 65"/>
          <p:cNvSpPr txBox="1"/>
          <p:nvPr/>
        </p:nvSpPr>
        <p:spPr>
          <a:xfrm>
            <a:off x="8046719" y="5394959"/>
            <a:ext cx="3429000" cy="329184"/>
          </a:xfrm>
          <a:prstGeom prst="rect">
            <a:avLst/>
          </a:prstGeom>
          <a:noFill/>
        </p:spPr>
        <p:txBody>
          <a:bodyPr wrap="square" lIns="0" rIns="0" tIns="0" bIns="0" anchor="t">
            <a:noAutofit/>
          </a:bodyPr>
          <a:lstStyle/>
          <a:p>
            <a:pPr algn="l" marL="146304" indent="-146304">
              <a:lnSpc>
                <a:spcPct val="122000"/>
              </a:lnSpc>
              <a:buClr>
                <a:srgbClr val="FB7185"/>
              </a:buClr>
              <a:buFont typeface="Arial"/>
              <a:buChar char="•"/>
            </a:pPr>
            <a:r>
              <a:rPr sz="740" b="0" i="0">
                <a:solidFill>
                  <a:srgbClr val="9DB0C6"/>
                </a:solidFill>
                <a:latin typeface="Segoe UI"/>
              </a:rPr>
              <a:t>push on every request — you will multiply your own traffic</a:t>
            </a:r>
          </a:p>
        </p:txBody>
      </p:sp>
      <p:sp>
        <p:nvSpPr>
          <p:cNvPr id="67" name="TextBox 66"/>
          <p:cNvSpPr txBox="1"/>
          <p:nvPr/>
        </p:nvSpPr>
        <p:spPr>
          <a:xfrm>
            <a:off x="8046719" y="5742431"/>
            <a:ext cx="3429000" cy="329184"/>
          </a:xfrm>
          <a:prstGeom prst="rect">
            <a:avLst/>
          </a:prstGeom>
          <a:noFill/>
        </p:spPr>
        <p:txBody>
          <a:bodyPr wrap="square" lIns="0" rIns="0" tIns="0" bIns="0" anchor="t">
            <a:noAutofit/>
          </a:bodyPr>
          <a:lstStyle/>
          <a:p>
            <a:pPr algn="l" marL="146304" indent="-146304">
              <a:lnSpc>
                <a:spcPct val="122000"/>
              </a:lnSpc>
              <a:buClr>
                <a:srgbClr val="FB7185"/>
              </a:buClr>
              <a:buFont typeface="Arial"/>
              <a:buChar char="•"/>
            </a:pPr>
            <a:r>
              <a:rPr sz="740" b="0" i="0">
                <a:solidFill>
                  <a:srgbClr val="9DB0C6"/>
                </a:solidFill>
                <a:latin typeface="Segoe UI"/>
              </a:rPr>
              <a:t>block a request waiting for telemetry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3.1 · CHOOSING A MODE</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Push, pull or watch — pick by what you control</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The three modes differ only in who runs the loop. The target is always the same ingest gateway, so the canvas cannot tell them apart.</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INTEGRATION</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19 / 27</a:t>
            </a:r>
          </a:p>
        </p:txBody>
      </p:sp>
      <p:sp>
        <p:nvSpPr>
          <p:cNvPr id="11" name="Rounded Rectangle 10"/>
          <p:cNvSpPr/>
          <p:nvPr/>
        </p:nvSpPr>
        <p:spPr>
          <a:xfrm>
            <a:off x="566928" y="1783080"/>
            <a:ext cx="1700784" cy="475488"/>
          </a:xfrm>
          <a:prstGeom prst="roundRect">
            <a:avLst>
              <a:gd name="adj" fmla="val 11538"/>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694944" y="1874519"/>
            <a:ext cx="1463040" cy="137160"/>
          </a:xfrm>
          <a:prstGeom prst="rect">
            <a:avLst/>
          </a:prstGeom>
          <a:noFill/>
        </p:spPr>
        <p:txBody>
          <a:bodyPr wrap="square" lIns="0" rIns="0" tIns="0" bIns="0" anchor="t">
            <a:noAutofit/>
          </a:bodyPr>
          <a:lstStyle/>
          <a:p>
            <a:pPr algn="l">
              <a:lnSpc>
                <a:spcPct val="122000"/>
              </a:lnSpc>
            </a:pPr>
            <a:r>
              <a:rPr sz="620" b="0" i="0" spc="120">
                <a:solidFill>
                  <a:srgbClr val="7DD3FC"/>
                </a:solidFill>
                <a:latin typeface="Consolas"/>
              </a:rPr>
              <a:t>START HERE</a:t>
            </a:r>
          </a:p>
        </p:txBody>
      </p:sp>
      <p:sp>
        <p:nvSpPr>
          <p:cNvPr id="13" name="TextBox 12"/>
          <p:cNvSpPr txBox="1"/>
          <p:nvPr/>
        </p:nvSpPr>
        <p:spPr>
          <a:xfrm>
            <a:off x="694944" y="2020824"/>
            <a:ext cx="1463040" cy="164592"/>
          </a:xfrm>
          <a:prstGeom prst="rect">
            <a:avLst/>
          </a:prstGeom>
          <a:noFill/>
        </p:spPr>
        <p:txBody>
          <a:bodyPr wrap="square" lIns="0" rIns="0" tIns="0" bIns="0" anchor="t">
            <a:noAutofit/>
          </a:bodyPr>
          <a:lstStyle/>
          <a:p>
            <a:pPr algn="l">
              <a:lnSpc>
                <a:spcPct val="122000"/>
              </a:lnSpc>
            </a:pPr>
            <a:r>
              <a:rPr sz="760" b="1" i="0">
                <a:solidFill>
                  <a:srgbClr val="F4F8FC"/>
                </a:solidFill>
                <a:latin typeface="Segoe UI"/>
              </a:rPr>
              <a:t>Do you own the source?</a:t>
            </a:r>
          </a:p>
        </p:txBody>
      </p:sp>
      <p:sp>
        <p:nvSpPr>
          <p:cNvPr id="14" name="Rounded Rectangle 13"/>
          <p:cNvSpPr/>
          <p:nvPr/>
        </p:nvSpPr>
        <p:spPr>
          <a:xfrm>
            <a:off x="566928" y="2459736"/>
            <a:ext cx="3575304" cy="1975104"/>
          </a:xfrm>
          <a:prstGeom prst="roundRect">
            <a:avLst>
              <a:gd name="adj" fmla="val 416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Rectangle 14"/>
          <p:cNvSpPr/>
          <p:nvPr/>
        </p:nvSpPr>
        <p:spPr>
          <a:xfrm>
            <a:off x="566928" y="2459736"/>
            <a:ext cx="3575304" cy="41148"/>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749808" y="2624328"/>
            <a:ext cx="1371600" cy="237744"/>
          </a:xfrm>
          <a:prstGeom prst="rect">
            <a:avLst/>
          </a:prstGeom>
          <a:noFill/>
        </p:spPr>
        <p:txBody>
          <a:bodyPr wrap="square" lIns="0" rIns="0" tIns="0" bIns="0" anchor="t">
            <a:noAutofit/>
          </a:bodyPr>
          <a:lstStyle/>
          <a:p>
            <a:pPr algn="l">
              <a:lnSpc>
                <a:spcPct val="122000"/>
              </a:lnSpc>
            </a:pPr>
            <a:r>
              <a:rPr sz="1500" b="1" i="0" spc="70">
                <a:solidFill>
                  <a:srgbClr val="F4F8FC"/>
                </a:solidFill>
                <a:latin typeface="Segoe UI"/>
              </a:rPr>
              <a:t>PUSH</a:t>
            </a:r>
          </a:p>
        </p:txBody>
      </p:sp>
      <p:sp>
        <p:nvSpPr>
          <p:cNvPr id="17" name="TextBox 16"/>
          <p:cNvSpPr txBox="1"/>
          <p:nvPr/>
        </p:nvSpPr>
        <p:spPr>
          <a:xfrm>
            <a:off x="749808" y="2898648"/>
            <a:ext cx="3209544" cy="164592"/>
          </a:xfrm>
          <a:prstGeom prst="rect">
            <a:avLst/>
          </a:prstGeom>
          <a:noFill/>
        </p:spPr>
        <p:txBody>
          <a:bodyPr wrap="square" lIns="0" rIns="0" tIns="0" bIns="0" anchor="t">
            <a:noAutofit/>
          </a:bodyPr>
          <a:lstStyle/>
          <a:p>
            <a:pPr algn="l">
              <a:lnSpc>
                <a:spcPct val="122000"/>
              </a:lnSpc>
            </a:pPr>
            <a:r>
              <a:rPr sz="700" b="0" i="0" spc="60">
                <a:solidFill>
                  <a:srgbClr val="7DD3FC"/>
                </a:solidFill>
                <a:latin typeface="Consolas"/>
              </a:rPr>
              <a:t>embed an agent</a:t>
            </a:r>
          </a:p>
        </p:txBody>
      </p:sp>
      <p:sp>
        <p:nvSpPr>
          <p:cNvPr id="18" name="Rounded Rectangle 17"/>
          <p:cNvSpPr/>
          <p:nvPr/>
        </p:nvSpPr>
        <p:spPr>
          <a:xfrm>
            <a:off x="749808" y="3154680"/>
            <a:ext cx="3209544" cy="310896"/>
          </a:xfrm>
          <a:prstGeom prst="roundRect">
            <a:avLst>
              <a:gd name="adj" fmla="val 11764"/>
            </a:avLst>
          </a:prstGeom>
          <a:solidFill>
            <a:srgbClr val="080D16"/>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841247" y="3227832"/>
            <a:ext cx="3026664" cy="164592"/>
          </a:xfrm>
          <a:prstGeom prst="rect">
            <a:avLst/>
          </a:prstGeom>
          <a:noFill/>
        </p:spPr>
        <p:txBody>
          <a:bodyPr wrap="square" lIns="0" rIns="0" tIns="0" bIns="0" anchor="t">
            <a:noAutofit/>
          </a:bodyPr>
          <a:lstStyle/>
          <a:p>
            <a:pPr algn="l">
              <a:lnSpc>
                <a:spcPct val="122000"/>
              </a:lnSpc>
            </a:pPr>
            <a:r>
              <a:rPr sz="690" b="0" i="0">
                <a:solidFill>
                  <a:srgbClr val="9DB0C6"/>
                </a:solidFill>
                <a:latin typeface="Consolas"/>
              </a:rPr>
              <a:t>when · You own the code.</a:t>
            </a:r>
          </a:p>
        </p:txBody>
      </p:sp>
      <p:sp>
        <p:nvSpPr>
          <p:cNvPr id="20" name="TextBox 19"/>
          <p:cNvSpPr txBox="1"/>
          <p:nvPr/>
        </p:nvSpPr>
        <p:spPr>
          <a:xfrm>
            <a:off x="749808" y="3593591"/>
            <a:ext cx="3209544" cy="274320"/>
          </a:xfrm>
          <a:prstGeom prst="rect">
            <a:avLst/>
          </a:prstGeom>
          <a:noFill/>
        </p:spPr>
        <p:txBody>
          <a:bodyPr wrap="square" lIns="0" rIns="0" tIns="0" bIns="0" anchor="t">
            <a:noAutofit/>
          </a:bodyPr>
          <a:lstStyle/>
          <a:p>
            <a:pPr algn="l" marL="146304" indent="-146304">
              <a:lnSpc>
                <a:spcPct val="128000"/>
              </a:lnSpc>
              <a:buClr>
                <a:srgbClr val="7DD3FC"/>
              </a:buClr>
              <a:buFont typeface="Arial"/>
              <a:buChar char="•"/>
            </a:pPr>
            <a:r>
              <a:rPr sz="720" b="0" i="0">
                <a:solidFill>
                  <a:srgbClr val="9DB0C6"/>
                </a:solidFill>
                <a:latin typeface="Segoe UI"/>
              </a:rPr>
              <a:t>Register at boot, heartbeat on a ticker, raise events from the exception handler.</a:t>
            </a:r>
          </a:p>
        </p:txBody>
      </p:sp>
      <p:sp>
        <p:nvSpPr>
          <p:cNvPr id="21" name="TextBox 20"/>
          <p:cNvSpPr txBox="1"/>
          <p:nvPr/>
        </p:nvSpPr>
        <p:spPr>
          <a:xfrm>
            <a:off x="749808" y="3913631"/>
            <a:ext cx="3209544" cy="155448"/>
          </a:xfrm>
          <a:prstGeom prst="rect">
            <a:avLst/>
          </a:prstGeom>
          <a:noFill/>
        </p:spPr>
        <p:txBody>
          <a:bodyPr wrap="square" lIns="0" rIns="0" tIns="0" bIns="0" anchor="t">
            <a:noAutofit/>
          </a:bodyPr>
          <a:lstStyle/>
          <a:p>
            <a:pPr algn="l" marL="146304" indent="-146304">
              <a:lnSpc>
                <a:spcPct val="128000"/>
              </a:lnSpc>
              <a:buClr>
                <a:srgbClr val="7DD3FC"/>
              </a:buClr>
              <a:buFont typeface="Arial"/>
              <a:buChar char="•"/>
            </a:pPr>
            <a:r>
              <a:rPr sz="720" b="0" i="0">
                <a:solidFill>
                  <a:srgbClr val="9DB0C6"/>
                </a:solidFill>
                <a:latin typeface="Segoe UI"/>
              </a:rPr>
              <a:t>Best for Laravel, Spring, Node, Go, Rust and Python services.</a:t>
            </a:r>
          </a:p>
        </p:txBody>
      </p:sp>
      <p:sp>
        <p:nvSpPr>
          <p:cNvPr id="22" name="TextBox 21"/>
          <p:cNvSpPr txBox="1"/>
          <p:nvPr/>
        </p:nvSpPr>
        <p:spPr>
          <a:xfrm>
            <a:off x="749808" y="4114799"/>
            <a:ext cx="3209544" cy="155448"/>
          </a:xfrm>
          <a:prstGeom prst="rect">
            <a:avLst/>
          </a:prstGeom>
          <a:noFill/>
        </p:spPr>
        <p:txBody>
          <a:bodyPr wrap="square" lIns="0" rIns="0" tIns="0" bIns="0" anchor="t">
            <a:noAutofit/>
          </a:bodyPr>
          <a:lstStyle/>
          <a:p>
            <a:pPr algn="l" marL="146304" indent="-146304">
              <a:lnSpc>
                <a:spcPct val="128000"/>
              </a:lnSpc>
              <a:buClr>
                <a:srgbClr val="7DD3FC"/>
              </a:buClr>
              <a:buFont typeface="Arial"/>
              <a:buChar char="•"/>
            </a:pPr>
            <a:r>
              <a:rPr sz="720" b="0" i="0">
                <a:solidFill>
                  <a:srgbClr val="9DB0C6"/>
                </a:solidFill>
                <a:latin typeface="Segoe UI"/>
              </a:rPr>
              <a:t>Fastest path to fresh numbers on the canvas.</a:t>
            </a:r>
          </a:p>
        </p:txBody>
      </p:sp>
      <p:sp>
        <p:nvSpPr>
          <p:cNvPr id="23" name="Rounded Rectangle 22"/>
          <p:cNvSpPr/>
          <p:nvPr/>
        </p:nvSpPr>
        <p:spPr>
          <a:xfrm>
            <a:off x="4306824" y="2459736"/>
            <a:ext cx="3575304" cy="1975104"/>
          </a:xfrm>
          <a:prstGeom prst="roundRect">
            <a:avLst>
              <a:gd name="adj" fmla="val 416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Rectangle 23"/>
          <p:cNvSpPr/>
          <p:nvPr/>
        </p:nvSpPr>
        <p:spPr>
          <a:xfrm>
            <a:off x="4306824" y="2459736"/>
            <a:ext cx="3575304" cy="4114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4489704" y="2624328"/>
            <a:ext cx="1371600" cy="237744"/>
          </a:xfrm>
          <a:prstGeom prst="rect">
            <a:avLst/>
          </a:prstGeom>
          <a:noFill/>
        </p:spPr>
        <p:txBody>
          <a:bodyPr wrap="square" lIns="0" rIns="0" tIns="0" bIns="0" anchor="t">
            <a:noAutofit/>
          </a:bodyPr>
          <a:lstStyle/>
          <a:p>
            <a:pPr algn="l">
              <a:lnSpc>
                <a:spcPct val="122000"/>
              </a:lnSpc>
            </a:pPr>
            <a:r>
              <a:rPr sz="1500" b="1" i="0" spc="70">
                <a:solidFill>
                  <a:srgbClr val="F4F8FC"/>
                </a:solidFill>
                <a:latin typeface="Segoe UI"/>
              </a:rPr>
              <a:t>PULL</a:t>
            </a:r>
          </a:p>
        </p:txBody>
      </p:sp>
      <p:sp>
        <p:nvSpPr>
          <p:cNvPr id="26" name="TextBox 25"/>
          <p:cNvSpPr txBox="1"/>
          <p:nvPr/>
        </p:nvSpPr>
        <p:spPr>
          <a:xfrm>
            <a:off x="4489704" y="2898648"/>
            <a:ext cx="3209544" cy="164592"/>
          </a:xfrm>
          <a:prstGeom prst="rect">
            <a:avLst/>
          </a:prstGeom>
          <a:noFill/>
        </p:spPr>
        <p:txBody>
          <a:bodyPr wrap="square" lIns="0" rIns="0" tIns="0" bIns="0" anchor="t">
            <a:noAutofit/>
          </a:bodyPr>
          <a:lstStyle/>
          <a:p>
            <a:pPr algn="l">
              <a:lnSpc>
                <a:spcPct val="122000"/>
              </a:lnSpc>
            </a:pPr>
            <a:r>
              <a:rPr sz="700" b="0" i="0" spc="60">
                <a:solidFill>
                  <a:srgbClr val="34D399"/>
                </a:solidFill>
                <a:latin typeface="Consolas"/>
              </a:rPr>
              <a:t>a collector polls</a:t>
            </a:r>
          </a:p>
        </p:txBody>
      </p:sp>
      <p:sp>
        <p:nvSpPr>
          <p:cNvPr id="27" name="Rounded Rectangle 26"/>
          <p:cNvSpPr/>
          <p:nvPr/>
        </p:nvSpPr>
        <p:spPr>
          <a:xfrm>
            <a:off x="4489704" y="3154680"/>
            <a:ext cx="3209544" cy="310896"/>
          </a:xfrm>
          <a:prstGeom prst="roundRect">
            <a:avLst>
              <a:gd name="adj" fmla="val 11764"/>
            </a:avLst>
          </a:prstGeom>
          <a:solidFill>
            <a:srgbClr val="080D16"/>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4581144" y="3227832"/>
            <a:ext cx="3026664" cy="164592"/>
          </a:xfrm>
          <a:prstGeom prst="rect">
            <a:avLst/>
          </a:prstGeom>
          <a:noFill/>
        </p:spPr>
        <p:txBody>
          <a:bodyPr wrap="square" lIns="0" rIns="0" tIns="0" bIns="0" anchor="t">
            <a:noAutofit/>
          </a:bodyPr>
          <a:lstStyle/>
          <a:p>
            <a:pPr algn="l">
              <a:lnSpc>
                <a:spcPct val="122000"/>
              </a:lnSpc>
            </a:pPr>
            <a:r>
              <a:rPr sz="690" b="0" i="0">
                <a:solidFill>
                  <a:srgbClr val="9DB0C6"/>
                </a:solidFill>
                <a:latin typeface="Consolas"/>
              </a:rPr>
              <a:t>when · You only have infra access.</a:t>
            </a:r>
          </a:p>
        </p:txBody>
      </p:sp>
      <p:sp>
        <p:nvSpPr>
          <p:cNvPr id="29" name="TextBox 28"/>
          <p:cNvSpPr txBox="1"/>
          <p:nvPr/>
        </p:nvSpPr>
        <p:spPr>
          <a:xfrm>
            <a:off x="4489704" y="3593591"/>
            <a:ext cx="3209544" cy="155448"/>
          </a:xfrm>
          <a:prstGeom prst="rect">
            <a:avLst/>
          </a:prstGeom>
          <a:noFill/>
        </p:spPr>
        <p:txBody>
          <a:bodyPr wrap="square" lIns="0" rIns="0" tIns="0" bIns="0" anchor="t">
            <a:noAutofit/>
          </a:bodyPr>
          <a:lstStyle/>
          <a:p>
            <a:pPr algn="l" marL="146304" indent="-146304">
              <a:lnSpc>
                <a:spcPct val="128000"/>
              </a:lnSpc>
              <a:buClr>
                <a:srgbClr val="34D399"/>
              </a:buClr>
              <a:buFont typeface="Arial"/>
              <a:buChar char="•"/>
            </a:pPr>
            <a:r>
              <a:rPr sz="720" b="0" i="0">
                <a:solidFill>
                  <a:srgbClr val="9DB0C6"/>
                </a:solidFill>
                <a:latin typeface="Segoe UI"/>
              </a:rPr>
              <a:t>One sidecar per estate polls Prometheus, Docker or the K8s API.</a:t>
            </a:r>
          </a:p>
        </p:txBody>
      </p:sp>
      <p:sp>
        <p:nvSpPr>
          <p:cNvPr id="30" name="TextBox 29"/>
          <p:cNvSpPr txBox="1"/>
          <p:nvPr/>
        </p:nvSpPr>
        <p:spPr>
          <a:xfrm>
            <a:off x="4489704" y="3794759"/>
            <a:ext cx="3209544" cy="155448"/>
          </a:xfrm>
          <a:prstGeom prst="rect">
            <a:avLst/>
          </a:prstGeom>
          <a:noFill/>
        </p:spPr>
        <p:txBody>
          <a:bodyPr wrap="square" lIns="0" rIns="0" tIns="0" bIns="0" anchor="t">
            <a:noAutofit/>
          </a:bodyPr>
          <a:lstStyle/>
          <a:p>
            <a:pPr algn="l" marL="146304" indent="-146304">
              <a:lnSpc>
                <a:spcPct val="128000"/>
              </a:lnSpc>
              <a:buClr>
                <a:srgbClr val="34D399"/>
              </a:buClr>
              <a:buFont typeface="Arial"/>
              <a:buChar char="•"/>
            </a:pPr>
            <a:r>
              <a:rPr sz="720" b="0" i="0">
                <a:solidFill>
                  <a:srgbClr val="9DB0C6"/>
                </a:solidFill>
                <a:latin typeface="Segoe UI"/>
              </a:rPr>
              <a:t>Maps scraped series to node ids and pushes snapshots.</a:t>
            </a:r>
          </a:p>
        </p:txBody>
      </p:sp>
      <p:sp>
        <p:nvSpPr>
          <p:cNvPr id="31" name="TextBox 30"/>
          <p:cNvSpPr txBox="1"/>
          <p:nvPr/>
        </p:nvSpPr>
        <p:spPr>
          <a:xfrm>
            <a:off x="4489704" y="3995927"/>
            <a:ext cx="3209544" cy="155448"/>
          </a:xfrm>
          <a:prstGeom prst="rect">
            <a:avLst/>
          </a:prstGeom>
          <a:noFill/>
        </p:spPr>
        <p:txBody>
          <a:bodyPr wrap="square" lIns="0" rIns="0" tIns="0" bIns="0" anchor="t">
            <a:noAutofit/>
          </a:bodyPr>
          <a:lstStyle/>
          <a:p>
            <a:pPr algn="l" marL="146304" indent="-146304">
              <a:lnSpc>
                <a:spcPct val="128000"/>
              </a:lnSpc>
              <a:buClr>
                <a:srgbClr val="34D399"/>
              </a:buClr>
              <a:buFont typeface="Arial"/>
              <a:buChar char="•"/>
            </a:pPr>
            <a:r>
              <a:rPr sz="720" b="0" i="0">
                <a:solidFill>
                  <a:srgbClr val="9DB0C6"/>
                </a:solidFill>
                <a:latin typeface="Segoe UI"/>
              </a:rPr>
              <a:t>Use when you cannot change the application.</a:t>
            </a:r>
          </a:p>
        </p:txBody>
      </p:sp>
      <p:sp>
        <p:nvSpPr>
          <p:cNvPr id="32" name="Rounded Rectangle 31"/>
          <p:cNvSpPr/>
          <p:nvPr/>
        </p:nvSpPr>
        <p:spPr>
          <a:xfrm>
            <a:off x="8046719" y="2459736"/>
            <a:ext cx="3575304" cy="1975104"/>
          </a:xfrm>
          <a:prstGeom prst="roundRect">
            <a:avLst>
              <a:gd name="adj" fmla="val 416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Rectangle 32"/>
          <p:cNvSpPr/>
          <p:nvPr/>
        </p:nvSpPr>
        <p:spPr>
          <a:xfrm>
            <a:off x="8046719" y="2459736"/>
            <a:ext cx="3575304" cy="4114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8229599" y="2624328"/>
            <a:ext cx="1371600" cy="237744"/>
          </a:xfrm>
          <a:prstGeom prst="rect">
            <a:avLst/>
          </a:prstGeom>
          <a:noFill/>
        </p:spPr>
        <p:txBody>
          <a:bodyPr wrap="square" lIns="0" rIns="0" tIns="0" bIns="0" anchor="t">
            <a:noAutofit/>
          </a:bodyPr>
          <a:lstStyle/>
          <a:p>
            <a:pPr algn="l">
              <a:lnSpc>
                <a:spcPct val="122000"/>
              </a:lnSpc>
            </a:pPr>
            <a:r>
              <a:rPr sz="1500" b="1" i="0" spc="70">
                <a:solidFill>
                  <a:srgbClr val="F4F8FC"/>
                </a:solidFill>
                <a:latin typeface="Segoe UI"/>
              </a:rPr>
              <a:t>WATCH</a:t>
            </a:r>
          </a:p>
        </p:txBody>
      </p:sp>
      <p:sp>
        <p:nvSpPr>
          <p:cNvPr id="35" name="TextBox 34"/>
          <p:cNvSpPr txBox="1"/>
          <p:nvPr/>
        </p:nvSpPr>
        <p:spPr>
          <a:xfrm>
            <a:off x="8229599" y="2898648"/>
            <a:ext cx="3209544" cy="164592"/>
          </a:xfrm>
          <a:prstGeom prst="rect">
            <a:avLst/>
          </a:prstGeom>
          <a:noFill/>
        </p:spPr>
        <p:txBody>
          <a:bodyPr wrap="square" lIns="0" rIns="0" tIns="0" bIns="0" anchor="t">
            <a:noAutofit/>
          </a:bodyPr>
          <a:lstStyle/>
          <a:p>
            <a:pPr algn="l">
              <a:lnSpc>
                <a:spcPct val="122000"/>
              </a:lnSpc>
            </a:pPr>
            <a:r>
              <a:rPr sz="700" b="0" i="0" spc="60">
                <a:solidFill>
                  <a:srgbClr val="FBBF24"/>
                </a:solidFill>
                <a:latin typeface="Consolas"/>
              </a:rPr>
              <a:t>react to what exists</a:t>
            </a:r>
          </a:p>
        </p:txBody>
      </p:sp>
      <p:sp>
        <p:nvSpPr>
          <p:cNvPr id="36" name="Rounded Rectangle 35"/>
          <p:cNvSpPr/>
          <p:nvPr/>
        </p:nvSpPr>
        <p:spPr>
          <a:xfrm>
            <a:off x="8229599" y="3154680"/>
            <a:ext cx="3209544" cy="310896"/>
          </a:xfrm>
          <a:prstGeom prst="roundRect">
            <a:avLst>
              <a:gd name="adj" fmla="val 11764"/>
            </a:avLst>
          </a:prstGeom>
          <a:solidFill>
            <a:srgbClr val="080D16"/>
          </a:solidFill>
          <a:ln w="9525">
            <a:solidFill>
              <a:srgbClr val="16212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TextBox 36"/>
          <p:cNvSpPr txBox="1"/>
          <p:nvPr/>
        </p:nvSpPr>
        <p:spPr>
          <a:xfrm>
            <a:off x="8321040" y="3227832"/>
            <a:ext cx="3026664" cy="164592"/>
          </a:xfrm>
          <a:prstGeom prst="rect">
            <a:avLst/>
          </a:prstGeom>
          <a:noFill/>
        </p:spPr>
        <p:txBody>
          <a:bodyPr wrap="square" lIns="0" rIns="0" tIns="0" bIns="0" anchor="t">
            <a:noAutofit/>
          </a:bodyPr>
          <a:lstStyle/>
          <a:p>
            <a:pPr algn="l">
              <a:lnSpc>
                <a:spcPct val="122000"/>
              </a:lnSpc>
            </a:pPr>
            <a:r>
              <a:rPr sz="690" b="0" i="0">
                <a:solidFill>
                  <a:srgbClr val="9DB0C6"/>
                </a:solidFill>
                <a:latin typeface="Consolas"/>
              </a:rPr>
              <a:t>when · You only have logs, files or SQL.</a:t>
            </a:r>
          </a:p>
        </p:txBody>
      </p:sp>
      <p:sp>
        <p:nvSpPr>
          <p:cNvPr id="38" name="TextBox 37"/>
          <p:cNvSpPr txBox="1"/>
          <p:nvPr/>
        </p:nvSpPr>
        <p:spPr>
          <a:xfrm>
            <a:off x="8229599" y="3593591"/>
            <a:ext cx="3209544" cy="155448"/>
          </a:xfrm>
          <a:prstGeom prst="rect">
            <a:avLst/>
          </a:prstGeom>
          <a:noFill/>
        </p:spPr>
        <p:txBody>
          <a:bodyPr wrap="square" lIns="0" rIns="0" tIns="0" bIns="0" anchor="t">
            <a:noAutofit/>
          </a:bodyPr>
          <a:lstStyle/>
          <a:p>
            <a:pPr algn="l" marL="146304" indent="-146304">
              <a:lnSpc>
                <a:spcPct val="128000"/>
              </a:lnSpc>
              <a:buClr>
                <a:srgbClr val="FBBF24"/>
              </a:buClr>
              <a:buFont typeface="Arial"/>
              <a:buChar char="•"/>
            </a:pPr>
            <a:r>
              <a:rPr sz="720" b="0" i="0">
                <a:solidFill>
                  <a:srgbClr val="9DB0C6"/>
                </a:solidFill>
                <a:latin typeface="Segoe UI"/>
              </a:rPr>
              <a:t>A database trigger or a bucket-notification bridge raises events.</a:t>
            </a:r>
          </a:p>
        </p:txBody>
      </p:sp>
      <p:sp>
        <p:nvSpPr>
          <p:cNvPr id="39" name="TextBox 38"/>
          <p:cNvSpPr txBox="1"/>
          <p:nvPr/>
        </p:nvSpPr>
        <p:spPr>
          <a:xfrm>
            <a:off x="8229599" y="3794759"/>
            <a:ext cx="3209544" cy="155448"/>
          </a:xfrm>
          <a:prstGeom prst="rect">
            <a:avLst/>
          </a:prstGeom>
          <a:noFill/>
        </p:spPr>
        <p:txBody>
          <a:bodyPr wrap="square" lIns="0" rIns="0" tIns="0" bIns="0" anchor="t">
            <a:noAutofit/>
          </a:bodyPr>
          <a:lstStyle/>
          <a:p>
            <a:pPr algn="l" marL="146304" indent="-146304">
              <a:lnSpc>
                <a:spcPct val="128000"/>
              </a:lnSpc>
              <a:buClr>
                <a:srgbClr val="FBBF24"/>
              </a:buClr>
              <a:buFont typeface="Arial"/>
              <a:buChar char="•"/>
            </a:pPr>
            <a:r>
              <a:rPr sz="720" b="0" i="0">
                <a:solidFill>
                  <a:srgbClr val="9DB0C6"/>
                </a:solidFill>
                <a:latin typeface="Segoe UI"/>
              </a:rPr>
              <a:t>Object counts and storage gauges map to metrics.</a:t>
            </a:r>
          </a:p>
        </p:txBody>
      </p:sp>
      <p:sp>
        <p:nvSpPr>
          <p:cNvPr id="40" name="TextBox 39"/>
          <p:cNvSpPr txBox="1"/>
          <p:nvPr/>
        </p:nvSpPr>
        <p:spPr>
          <a:xfrm>
            <a:off x="8229599" y="3995927"/>
            <a:ext cx="3209544" cy="155448"/>
          </a:xfrm>
          <a:prstGeom prst="rect">
            <a:avLst/>
          </a:prstGeom>
          <a:noFill/>
        </p:spPr>
        <p:txBody>
          <a:bodyPr wrap="square" lIns="0" rIns="0" tIns="0" bIns="0" anchor="t">
            <a:noAutofit/>
          </a:bodyPr>
          <a:lstStyle/>
          <a:p>
            <a:pPr algn="l" marL="146304" indent="-146304">
              <a:lnSpc>
                <a:spcPct val="128000"/>
              </a:lnSpc>
              <a:buClr>
                <a:srgbClr val="FBBF24"/>
              </a:buClr>
              <a:buFont typeface="Arial"/>
              <a:buChar char="•"/>
            </a:pPr>
            <a:r>
              <a:rPr sz="720" b="0" i="0">
                <a:solidFill>
                  <a:srgbClr val="9DB0C6"/>
                </a:solidFill>
                <a:latin typeface="Segoe UI"/>
              </a:rPr>
              <a:t>Use for Postgres, MinIO or legacy jobs.</a:t>
            </a:r>
          </a:p>
        </p:txBody>
      </p:sp>
      <p:sp>
        <p:nvSpPr>
          <p:cNvPr id="41" name="Rounded Rectangle 40"/>
          <p:cNvSpPr/>
          <p:nvPr/>
        </p:nvSpPr>
        <p:spPr>
          <a:xfrm>
            <a:off x="566928" y="4626864"/>
            <a:ext cx="11055096" cy="384048"/>
          </a:xfrm>
          <a:prstGeom prst="roundRect">
            <a:avLst>
              <a:gd name="adj" fmla="val 11904"/>
            </a:avLst>
          </a:prstGeom>
          <a:solidFill>
            <a:srgbClr val="080D16"/>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TextBox 41"/>
          <p:cNvSpPr txBox="1"/>
          <p:nvPr/>
        </p:nvSpPr>
        <p:spPr>
          <a:xfrm>
            <a:off x="713232" y="4736592"/>
            <a:ext cx="1828800" cy="164592"/>
          </a:xfrm>
          <a:prstGeom prst="rect">
            <a:avLst/>
          </a:prstGeom>
          <a:noFill/>
        </p:spPr>
        <p:txBody>
          <a:bodyPr wrap="square" lIns="0" rIns="0" tIns="0" bIns="0" anchor="t">
            <a:noAutofit/>
          </a:bodyPr>
          <a:lstStyle/>
          <a:p>
            <a:pPr algn="l">
              <a:lnSpc>
                <a:spcPct val="122000"/>
              </a:lnSpc>
            </a:pPr>
            <a:r>
              <a:rPr sz="620" b="0" i="0" spc="110">
                <a:solidFill>
                  <a:srgbClr val="64748B"/>
                </a:solidFill>
                <a:latin typeface="Consolas"/>
              </a:rPr>
              <a:t>ALL THREE CONVERGE</a:t>
            </a:r>
          </a:p>
        </p:txBody>
      </p:sp>
      <p:sp>
        <p:nvSpPr>
          <p:cNvPr id="43" name="Rounded Rectangle 42"/>
          <p:cNvSpPr/>
          <p:nvPr/>
        </p:nvSpPr>
        <p:spPr>
          <a:xfrm>
            <a:off x="2450592" y="4709159"/>
            <a:ext cx="1700784" cy="219456"/>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4" name="TextBox 43"/>
          <p:cNvSpPr txBox="1"/>
          <p:nvPr/>
        </p:nvSpPr>
        <p:spPr>
          <a:xfrm>
            <a:off x="2505456" y="4770501"/>
            <a:ext cx="1591056" cy="91439"/>
          </a:xfrm>
          <a:prstGeom prst="rect">
            <a:avLst/>
          </a:prstGeom>
          <a:noFill/>
        </p:spPr>
        <p:txBody>
          <a:bodyPr wrap="square" lIns="0" rIns="0" tIns="0" bIns="0" anchor="t">
            <a:noAutofit/>
          </a:bodyPr>
          <a:lstStyle/>
          <a:p>
            <a:pPr algn="ctr">
              <a:lnSpc>
                <a:spcPct val="100000"/>
              </a:lnSpc>
            </a:pPr>
            <a:r>
              <a:rPr sz="600" b="0" i="0">
                <a:solidFill>
                  <a:srgbClr val="7DD3FC"/>
                </a:solidFill>
                <a:latin typeface="Consolas"/>
              </a:rPr>
              <a:t>1 · register topology</a:t>
            </a:r>
          </a:p>
        </p:txBody>
      </p:sp>
      <p:cxnSp>
        <p:nvCxnSpPr>
          <p:cNvPr id="45" name="Connector 44"/>
          <p:cNvCxnSpPr/>
          <p:nvPr/>
        </p:nvCxnSpPr>
        <p:spPr>
          <a:xfrm>
            <a:off x="4178808" y="4818888"/>
            <a:ext cx="100584"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4306824" y="4709159"/>
            <a:ext cx="1700784" cy="219456"/>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7" name="TextBox 46"/>
          <p:cNvSpPr txBox="1"/>
          <p:nvPr/>
        </p:nvSpPr>
        <p:spPr>
          <a:xfrm>
            <a:off x="4361688" y="4770501"/>
            <a:ext cx="1591056" cy="91439"/>
          </a:xfrm>
          <a:prstGeom prst="rect">
            <a:avLst/>
          </a:prstGeom>
          <a:noFill/>
        </p:spPr>
        <p:txBody>
          <a:bodyPr wrap="square" lIns="0" rIns="0" tIns="0" bIns="0" anchor="t">
            <a:noAutofit/>
          </a:bodyPr>
          <a:lstStyle/>
          <a:p>
            <a:pPr algn="ctr">
              <a:lnSpc>
                <a:spcPct val="100000"/>
              </a:lnSpc>
            </a:pPr>
            <a:r>
              <a:rPr sz="600" b="0" i="0">
                <a:solidFill>
                  <a:srgbClr val="34D399"/>
                </a:solidFill>
                <a:latin typeface="Consolas"/>
              </a:rPr>
              <a:t>2 · push metrics</a:t>
            </a:r>
          </a:p>
        </p:txBody>
      </p:sp>
      <p:cxnSp>
        <p:nvCxnSpPr>
          <p:cNvPr id="48" name="Connector 47"/>
          <p:cNvCxnSpPr/>
          <p:nvPr/>
        </p:nvCxnSpPr>
        <p:spPr>
          <a:xfrm>
            <a:off x="6035040" y="4818888"/>
            <a:ext cx="100584"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6163056" y="4709159"/>
            <a:ext cx="1700784" cy="219456"/>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0" name="TextBox 49"/>
          <p:cNvSpPr txBox="1"/>
          <p:nvPr/>
        </p:nvSpPr>
        <p:spPr>
          <a:xfrm>
            <a:off x="6217920" y="4770501"/>
            <a:ext cx="1591056" cy="91439"/>
          </a:xfrm>
          <a:prstGeom prst="rect">
            <a:avLst/>
          </a:prstGeom>
          <a:noFill/>
        </p:spPr>
        <p:txBody>
          <a:bodyPr wrap="square" lIns="0" rIns="0" tIns="0" bIns="0" anchor="t">
            <a:noAutofit/>
          </a:bodyPr>
          <a:lstStyle/>
          <a:p>
            <a:pPr algn="ctr">
              <a:lnSpc>
                <a:spcPct val="100000"/>
              </a:lnSpc>
            </a:pPr>
            <a:r>
              <a:rPr sz="600" b="0" i="0">
                <a:solidFill>
                  <a:srgbClr val="FBBF24"/>
                </a:solidFill>
                <a:latin typeface="Consolas"/>
              </a:rPr>
              <a:t>3 · raise events</a:t>
            </a:r>
          </a:p>
        </p:txBody>
      </p:sp>
      <p:cxnSp>
        <p:nvCxnSpPr>
          <p:cNvPr id="51" name="Connector 50"/>
          <p:cNvCxnSpPr/>
          <p:nvPr/>
        </p:nvCxnSpPr>
        <p:spPr>
          <a:xfrm>
            <a:off x="7891272" y="4818888"/>
            <a:ext cx="100584" cy="0"/>
          </a:xfrm>
          <a:prstGeom prst="line">
            <a:avLst/>
          </a:prstGeom>
          <a:ln w="12700">
            <a:solidFill>
              <a:srgbClr val="9DB0C6"/>
            </a:solidFill>
            <a:tailEnd type="triangle" w="sm" len="sm"/>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8019288" y="4709159"/>
            <a:ext cx="1700784" cy="219456"/>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3" name="TextBox 52"/>
          <p:cNvSpPr txBox="1"/>
          <p:nvPr/>
        </p:nvSpPr>
        <p:spPr>
          <a:xfrm>
            <a:off x="8074152" y="4770501"/>
            <a:ext cx="1591056" cy="91439"/>
          </a:xfrm>
          <a:prstGeom prst="rect">
            <a:avLst/>
          </a:prstGeom>
          <a:noFill/>
        </p:spPr>
        <p:txBody>
          <a:bodyPr wrap="square" lIns="0" rIns="0" tIns="0" bIns="0" anchor="t">
            <a:noAutofit/>
          </a:bodyPr>
          <a:lstStyle/>
          <a:p>
            <a:pPr algn="ctr">
              <a:lnSpc>
                <a:spcPct val="100000"/>
              </a:lnSpc>
            </a:pPr>
            <a:r>
              <a:rPr sz="600" b="0" i="0">
                <a:solidFill>
                  <a:srgbClr val="A78BFA"/>
                </a:solidFill>
                <a:latin typeface="Consolas"/>
              </a:rPr>
              <a:t>4 · read back</a:t>
            </a:r>
          </a:p>
        </p:txBody>
      </p:sp>
      <p:sp>
        <p:nvSpPr>
          <p:cNvPr id="54" name="Rounded Rectangle 53"/>
          <p:cNvSpPr/>
          <p:nvPr/>
        </p:nvSpPr>
        <p:spPr>
          <a:xfrm>
            <a:off x="566928" y="5193792"/>
            <a:ext cx="7187184" cy="950976"/>
          </a:xfrm>
          <a:prstGeom prst="roundRect">
            <a:avLst>
              <a:gd name="adj" fmla="val 673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5" name="TextBox 54"/>
          <p:cNvSpPr txBox="1"/>
          <p:nvPr/>
        </p:nvSpPr>
        <p:spPr>
          <a:xfrm>
            <a:off x="731520" y="5303520"/>
            <a:ext cx="3657600" cy="146304"/>
          </a:xfrm>
          <a:prstGeom prst="rect">
            <a:avLst/>
          </a:prstGeom>
          <a:noFill/>
        </p:spPr>
        <p:txBody>
          <a:bodyPr wrap="square" lIns="0" rIns="0" tIns="0" bIns="0" anchor="t">
            <a:noAutofit/>
          </a:bodyPr>
          <a:lstStyle/>
          <a:p>
            <a:pPr algn="l">
              <a:lnSpc>
                <a:spcPct val="122000"/>
              </a:lnSpc>
            </a:pPr>
            <a:r>
              <a:rPr sz="620" b="0" i="0" spc="110">
                <a:solidFill>
                  <a:srgbClr val="7DD3FC"/>
                </a:solidFill>
                <a:latin typeface="Consolas"/>
              </a:rPr>
              <a:t>THREE QUESTIONS THAT DECIDE IT</a:t>
            </a:r>
          </a:p>
        </p:txBody>
      </p:sp>
      <p:sp>
        <p:nvSpPr>
          <p:cNvPr id="56" name="TextBox 55"/>
          <p:cNvSpPr txBox="1"/>
          <p:nvPr/>
        </p:nvSpPr>
        <p:spPr>
          <a:xfrm>
            <a:off x="731520" y="5486400"/>
            <a:ext cx="6949440" cy="566928"/>
          </a:xfrm>
          <a:prstGeom prst="rect">
            <a:avLst/>
          </a:prstGeom>
          <a:noFill/>
        </p:spPr>
        <p:txBody>
          <a:bodyPr wrap="square" lIns="0" rIns="0" tIns="0" bIns="0" anchor="t">
            <a:noAutofit/>
          </a:bodyPr>
          <a:lstStyle/>
          <a:p>
            <a:pPr algn="l">
              <a:lnSpc>
                <a:spcPct val="125000"/>
              </a:lnSpc>
            </a:pPr>
            <a:r>
              <a:rPr sz="740" b="0" i="0">
                <a:solidFill>
                  <a:srgbClr val="9DB0C6"/>
                </a:solidFill>
                <a:latin typeface="Segoe UI"/>
              </a:rPr>
              <a:t>1 · Can you deploy code into the process?  2 · Does the system expose metrics you can scrape?  3 · Is there an event stream you already trust?</a:t>
            </a:r>
          </a:p>
        </p:txBody>
      </p:sp>
      <p:sp>
        <p:nvSpPr>
          <p:cNvPr id="57" name="Rounded Rectangle 56"/>
          <p:cNvSpPr/>
          <p:nvPr/>
        </p:nvSpPr>
        <p:spPr>
          <a:xfrm>
            <a:off x="7882127" y="5193792"/>
            <a:ext cx="3739896" cy="950976"/>
          </a:xfrm>
          <a:prstGeom prst="roundRect">
            <a:avLst>
              <a:gd name="adj" fmla="val 6730"/>
            </a:avLst>
          </a:prstGeom>
          <a:solidFill>
            <a:srgbClr val="0A1520"/>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8" name="TextBox 57"/>
          <p:cNvSpPr txBox="1"/>
          <p:nvPr/>
        </p:nvSpPr>
        <p:spPr>
          <a:xfrm>
            <a:off x="8046720" y="5303520"/>
            <a:ext cx="3291840" cy="146304"/>
          </a:xfrm>
          <a:prstGeom prst="rect">
            <a:avLst/>
          </a:prstGeom>
          <a:noFill/>
        </p:spPr>
        <p:txBody>
          <a:bodyPr wrap="square" lIns="0" rIns="0" tIns="0" bIns="0" anchor="t">
            <a:noAutofit/>
          </a:bodyPr>
          <a:lstStyle/>
          <a:p>
            <a:pPr algn="l">
              <a:lnSpc>
                <a:spcPct val="122000"/>
              </a:lnSpc>
            </a:pPr>
            <a:r>
              <a:rPr sz="620" b="0" i="0" spc="110">
                <a:solidFill>
                  <a:srgbClr val="34D399"/>
                </a:solidFill>
                <a:latin typeface="Consolas"/>
              </a:rPr>
              <a:t>YOU ARE DONE WHEN…</a:t>
            </a:r>
          </a:p>
        </p:txBody>
      </p:sp>
      <p:sp>
        <p:nvSpPr>
          <p:cNvPr id="59" name="TextBox 58"/>
          <p:cNvSpPr txBox="1"/>
          <p:nvPr/>
        </p:nvSpPr>
        <p:spPr>
          <a:xfrm>
            <a:off x="8046720" y="5486400"/>
            <a:ext cx="3401568" cy="566928"/>
          </a:xfrm>
          <a:prstGeom prst="rect">
            <a:avLst/>
          </a:prstGeom>
          <a:noFill/>
        </p:spPr>
        <p:txBody>
          <a:bodyPr wrap="square" lIns="0" rIns="0" tIns="0" bIns="0" anchor="t">
            <a:noAutofit/>
          </a:bodyPr>
          <a:lstStyle/>
          <a:p>
            <a:pPr algn="l">
              <a:lnSpc>
                <a:spcPct val="125000"/>
              </a:lnSpc>
            </a:pPr>
            <a:r>
              <a:rPr sz="760" b="0" i="0">
                <a:solidFill>
                  <a:srgbClr val="9DB0C6"/>
                </a:solidFill>
                <a:latin typeface="Segoe UI"/>
              </a:rPr>
              <a:t>A deploy appears in the dock and forces the node amber within two ticks.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3.2 · API CONTRACTS</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What goes in, what comes back</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Three payloads and four read endpoints. Everything is JSON over HTTP; the only unusual rule is that parents must be registered before children.</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INTEGRATION</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20 / 27</a:t>
            </a:r>
          </a:p>
        </p:txBody>
      </p:sp>
      <p:sp>
        <p:nvSpPr>
          <p:cNvPr id="11" name="Rounded Rectangle 10"/>
          <p:cNvSpPr/>
          <p:nvPr/>
        </p:nvSpPr>
        <p:spPr>
          <a:xfrm>
            <a:off x="566928" y="1783080"/>
            <a:ext cx="3621024" cy="3054096"/>
          </a:xfrm>
          <a:prstGeom prst="roundRect">
            <a:avLst>
              <a:gd name="adj" fmla="val 2395"/>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566928" y="1783080"/>
            <a:ext cx="3621024" cy="32004"/>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13232" y="1901952"/>
            <a:ext cx="3291840" cy="164592"/>
          </a:xfrm>
          <a:prstGeom prst="rect">
            <a:avLst/>
          </a:prstGeom>
          <a:noFill/>
        </p:spPr>
        <p:txBody>
          <a:bodyPr wrap="square" lIns="0" rIns="0" tIns="0" bIns="0" anchor="t">
            <a:noAutofit/>
          </a:bodyPr>
          <a:lstStyle/>
          <a:p>
            <a:pPr algn="l">
              <a:lnSpc>
                <a:spcPct val="122000"/>
              </a:lnSpc>
            </a:pPr>
            <a:r>
              <a:rPr sz="900" b="1" i="0">
                <a:solidFill>
                  <a:srgbClr val="F4F8FC"/>
                </a:solidFill>
                <a:latin typeface="Consolas"/>
              </a:rPr>
              <a:t>POST /api/ingest/nodes</a:t>
            </a:r>
          </a:p>
        </p:txBody>
      </p:sp>
      <p:sp>
        <p:nvSpPr>
          <p:cNvPr id="14" name="TextBox 13"/>
          <p:cNvSpPr txBox="1"/>
          <p:nvPr/>
        </p:nvSpPr>
        <p:spPr>
          <a:xfrm>
            <a:off x="713232" y="2093976"/>
            <a:ext cx="3291840" cy="146304"/>
          </a:xfrm>
          <a:prstGeom prst="rect">
            <a:avLst/>
          </a:prstGeom>
          <a:noFill/>
        </p:spPr>
        <p:txBody>
          <a:bodyPr wrap="square" lIns="0" rIns="0" tIns="0" bIns="0" anchor="t">
            <a:noAutofit/>
          </a:bodyPr>
          <a:lstStyle/>
          <a:p>
            <a:pPr algn="l">
              <a:lnSpc>
                <a:spcPct val="122000"/>
              </a:lnSpc>
            </a:pPr>
            <a:r>
              <a:rPr sz="640" b="0" i="0">
                <a:solidFill>
                  <a:srgbClr val="7DD3FC"/>
                </a:solidFill>
                <a:latin typeface="Consolas"/>
              </a:rPr>
              <a:t>register the shape · idempotent upsert</a:t>
            </a:r>
          </a:p>
        </p:txBody>
      </p:sp>
      <p:sp>
        <p:nvSpPr>
          <p:cNvPr id="15" name="TextBox 14"/>
          <p:cNvSpPr txBox="1"/>
          <p:nvPr/>
        </p:nvSpPr>
        <p:spPr>
          <a:xfrm>
            <a:off x="713232" y="2313432"/>
            <a:ext cx="859536" cy="146304"/>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id</a:t>
            </a:r>
          </a:p>
        </p:txBody>
      </p:sp>
      <p:sp>
        <p:nvSpPr>
          <p:cNvPr id="16" name="TextBox 15"/>
          <p:cNvSpPr txBox="1"/>
          <p:nvPr/>
        </p:nvSpPr>
        <p:spPr>
          <a:xfrm>
            <a:off x="1627631" y="2313432"/>
            <a:ext cx="566928" cy="146304"/>
          </a:xfrm>
          <a:prstGeom prst="rect">
            <a:avLst/>
          </a:prstGeom>
          <a:noFill/>
        </p:spPr>
        <p:txBody>
          <a:bodyPr wrap="square" lIns="0" rIns="0" tIns="0" bIns="0" anchor="t">
            <a:noAutofit/>
          </a:bodyPr>
          <a:lstStyle/>
          <a:p>
            <a:pPr algn="l">
              <a:lnSpc>
                <a:spcPct val="122000"/>
              </a:lnSpc>
            </a:pPr>
            <a:r>
              <a:rPr sz="600" b="0" i="0">
                <a:solidFill>
                  <a:srgbClr val="FB7185"/>
                </a:solidFill>
                <a:latin typeface="Consolas"/>
              </a:rPr>
              <a:t>yes</a:t>
            </a:r>
          </a:p>
        </p:txBody>
      </p:sp>
      <p:sp>
        <p:nvSpPr>
          <p:cNvPr id="17" name="TextBox 16"/>
          <p:cNvSpPr txBox="1"/>
          <p:nvPr/>
        </p:nvSpPr>
        <p:spPr>
          <a:xfrm>
            <a:off x="2231136" y="2313432"/>
            <a:ext cx="1828800" cy="1463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stable, globally unique</a:t>
            </a:r>
          </a:p>
        </p:txBody>
      </p:sp>
      <p:sp>
        <p:nvSpPr>
          <p:cNvPr id="18" name="TextBox 17"/>
          <p:cNvSpPr txBox="1"/>
          <p:nvPr/>
        </p:nvSpPr>
        <p:spPr>
          <a:xfrm>
            <a:off x="713232" y="2537460"/>
            <a:ext cx="859536" cy="146304"/>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parentId</a:t>
            </a:r>
          </a:p>
        </p:txBody>
      </p:sp>
      <p:sp>
        <p:nvSpPr>
          <p:cNvPr id="19" name="TextBox 18"/>
          <p:cNvSpPr txBox="1"/>
          <p:nvPr/>
        </p:nvSpPr>
        <p:spPr>
          <a:xfrm>
            <a:off x="1627631" y="2537460"/>
            <a:ext cx="566928" cy="146304"/>
          </a:xfrm>
          <a:prstGeom prst="rect">
            <a:avLst/>
          </a:prstGeom>
          <a:noFill/>
        </p:spPr>
        <p:txBody>
          <a:bodyPr wrap="square" lIns="0" rIns="0" tIns="0" bIns="0" anchor="t">
            <a:noAutofit/>
          </a:bodyPr>
          <a:lstStyle/>
          <a:p>
            <a:pPr algn="l">
              <a:lnSpc>
                <a:spcPct val="122000"/>
              </a:lnSpc>
            </a:pPr>
            <a:r>
              <a:rPr sz="600" b="0" i="0">
                <a:solidFill>
                  <a:srgbClr val="FB7185"/>
                </a:solidFill>
                <a:latin typeface="Consolas"/>
              </a:rPr>
              <a:t>children</a:t>
            </a:r>
          </a:p>
        </p:txBody>
      </p:sp>
      <p:sp>
        <p:nvSpPr>
          <p:cNvPr id="20" name="TextBox 19"/>
          <p:cNvSpPr txBox="1"/>
          <p:nvPr/>
        </p:nvSpPr>
        <p:spPr>
          <a:xfrm>
            <a:off x="2231136" y="2537460"/>
            <a:ext cx="1828800" cy="1463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must already exist</a:t>
            </a:r>
          </a:p>
        </p:txBody>
      </p:sp>
      <p:sp>
        <p:nvSpPr>
          <p:cNvPr id="21" name="TextBox 20"/>
          <p:cNvSpPr txBox="1"/>
          <p:nvPr/>
        </p:nvSpPr>
        <p:spPr>
          <a:xfrm>
            <a:off x="713232" y="2761488"/>
            <a:ext cx="859536" cy="146304"/>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name</a:t>
            </a:r>
          </a:p>
        </p:txBody>
      </p:sp>
      <p:sp>
        <p:nvSpPr>
          <p:cNvPr id="22" name="TextBox 21"/>
          <p:cNvSpPr txBox="1"/>
          <p:nvPr/>
        </p:nvSpPr>
        <p:spPr>
          <a:xfrm>
            <a:off x="1627631" y="2761488"/>
            <a:ext cx="566928" cy="146304"/>
          </a:xfrm>
          <a:prstGeom prst="rect">
            <a:avLst/>
          </a:prstGeom>
          <a:noFill/>
        </p:spPr>
        <p:txBody>
          <a:bodyPr wrap="square" lIns="0" rIns="0" tIns="0" bIns="0" anchor="t">
            <a:noAutofit/>
          </a:bodyPr>
          <a:lstStyle/>
          <a:p>
            <a:pPr algn="l">
              <a:lnSpc>
                <a:spcPct val="122000"/>
              </a:lnSpc>
            </a:pPr>
            <a:r>
              <a:rPr sz="600" b="0" i="0">
                <a:solidFill>
                  <a:srgbClr val="FB7185"/>
                </a:solidFill>
                <a:latin typeface="Consolas"/>
              </a:rPr>
              <a:t>yes</a:t>
            </a:r>
          </a:p>
        </p:txBody>
      </p:sp>
      <p:sp>
        <p:nvSpPr>
          <p:cNvPr id="23" name="TextBox 22"/>
          <p:cNvSpPr txBox="1"/>
          <p:nvPr/>
        </p:nvSpPr>
        <p:spPr>
          <a:xfrm>
            <a:off x="2231136" y="2761488"/>
            <a:ext cx="1828800" cy="1463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label on the card</a:t>
            </a:r>
          </a:p>
        </p:txBody>
      </p:sp>
      <p:sp>
        <p:nvSpPr>
          <p:cNvPr id="24" name="TextBox 23"/>
          <p:cNvSpPr txBox="1"/>
          <p:nvPr/>
        </p:nvSpPr>
        <p:spPr>
          <a:xfrm>
            <a:off x="713232" y="2985516"/>
            <a:ext cx="859536" cy="146304"/>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type</a:t>
            </a:r>
          </a:p>
        </p:txBody>
      </p:sp>
      <p:sp>
        <p:nvSpPr>
          <p:cNvPr id="25" name="TextBox 24"/>
          <p:cNvSpPr txBox="1"/>
          <p:nvPr/>
        </p:nvSpPr>
        <p:spPr>
          <a:xfrm>
            <a:off x="1627631" y="2985516"/>
            <a:ext cx="566928" cy="146304"/>
          </a:xfrm>
          <a:prstGeom prst="rect">
            <a:avLst/>
          </a:prstGeom>
          <a:noFill/>
        </p:spPr>
        <p:txBody>
          <a:bodyPr wrap="square" lIns="0" rIns="0" tIns="0" bIns="0" anchor="t">
            <a:noAutofit/>
          </a:bodyPr>
          <a:lstStyle/>
          <a:p>
            <a:pPr algn="l">
              <a:lnSpc>
                <a:spcPct val="122000"/>
              </a:lnSpc>
            </a:pPr>
            <a:r>
              <a:rPr sz="600" b="0" i="0">
                <a:solidFill>
                  <a:srgbClr val="FB7185"/>
                </a:solidFill>
                <a:latin typeface="Consolas"/>
              </a:rPr>
              <a:t>yes</a:t>
            </a:r>
          </a:p>
        </p:txBody>
      </p:sp>
      <p:sp>
        <p:nvSpPr>
          <p:cNvPr id="26" name="TextBox 25"/>
          <p:cNvSpPr txBox="1"/>
          <p:nvPr/>
        </p:nvSpPr>
        <p:spPr>
          <a:xfrm>
            <a:off x="2231136" y="2985516"/>
            <a:ext cx="1828800" cy="1463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one of 14 values</a:t>
            </a:r>
          </a:p>
        </p:txBody>
      </p:sp>
      <p:sp>
        <p:nvSpPr>
          <p:cNvPr id="27" name="TextBox 26"/>
          <p:cNvSpPr txBox="1"/>
          <p:nvPr/>
        </p:nvSpPr>
        <p:spPr>
          <a:xfrm>
            <a:off x="713232" y="3209544"/>
            <a:ext cx="859536" cy="146304"/>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kind</a:t>
            </a:r>
          </a:p>
        </p:txBody>
      </p:sp>
      <p:sp>
        <p:nvSpPr>
          <p:cNvPr id="28" name="TextBox 27"/>
          <p:cNvSpPr txBox="1"/>
          <p:nvPr/>
        </p:nvSpPr>
        <p:spPr>
          <a:xfrm>
            <a:off x="1627631" y="3209544"/>
            <a:ext cx="566928" cy="146304"/>
          </a:xfrm>
          <a:prstGeom prst="rect">
            <a:avLst/>
          </a:prstGeom>
          <a:noFill/>
        </p:spPr>
        <p:txBody>
          <a:bodyPr wrap="square" lIns="0" rIns="0" tIns="0" bIns="0" anchor="t">
            <a:noAutofit/>
          </a:bodyPr>
          <a:lstStyle/>
          <a:p>
            <a:pPr algn="l">
              <a:lnSpc>
                <a:spcPct val="122000"/>
              </a:lnSpc>
            </a:pPr>
            <a:r>
              <a:rPr sz="600" b="0" i="0">
                <a:solidFill>
                  <a:srgbClr val="64748B"/>
                </a:solidFill>
                <a:latin typeface="Consolas"/>
              </a:rPr>
              <a:t>no</a:t>
            </a:r>
          </a:p>
        </p:txBody>
      </p:sp>
      <p:sp>
        <p:nvSpPr>
          <p:cNvPr id="29" name="TextBox 28"/>
          <p:cNvSpPr txBox="1"/>
          <p:nvPr/>
        </p:nvSpPr>
        <p:spPr>
          <a:xfrm>
            <a:off x="2231136" y="3209544"/>
            <a:ext cx="1828800" cy="1463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runtime / hypervisor chip</a:t>
            </a:r>
          </a:p>
        </p:txBody>
      </p:sp>
      <p:sp>
        <p:nvSpPr>
          <p:cNvPr id="30" name="TextBox 29"/>
          <p:cNvSpPr txBox="1"/>
          <p:nvPr/>
        </p:nvSpPr>
        <p:spPr>
          <a:xfrm>
            <a:off x="713232" y="3433572"/>
            <a:ext cx="859536" cy="146304"/>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status</a:t>
            </a:r>
          </a:p>
        </p:txBody>
      </p:sp>
      <p:sp>
        <p:nvSpPr>
          <p:cNvPr id="31" name="TextBox 30"/>
          <p:cNvSpPr txBox="1"/>
          <p:nvPr/>
        </p:nvSpPr>
        <p:spPr>
          <a:xfrm>
            <a:off x="1627631" y="3433572"/>
            <a:ext cx="566928" cy="146304"/>
          </a:xfrm>
          <a:prstGeom prst="rect">
            <a:avLst/>
          </a:prstGeom>
          <a:noFill/>
        </p:spPr>
        <p:txBody>
          <a:bodyPr wrap="square" lIns="0" rIns="0" tIns="0" bIns="0" anchor="t">
            <a:noAutofit/>
          </a:bodyPr>
          <a:lstStyle/>
          <a:p>
            <a:pPr algn="l">
              <a:lnSpc>
                <a:spcPct val="122000"/>
              </a:lnSpc>
            </a:pPr>
            <a:r>
              <a:rPr sz="600" b="0" i="0">
                <a:solidFill>
                  <a:srgbClr val="64748B"/>
                </a:solidFill>
                <a:latin typeface="Consolas"/>
              </a:rPr>
              <a:t>no</a:t>
            </a:r>
          </a:p>
        </p:txBody>
      </p:sp>
      <p:sp>
        <p:nvSpPr>
          <p:cNvPr id="32" name="TextBox 31"/>
          <p:cNvSpPr txBox="1"/>
          <p:nvPr/>
        </p:nvSpPr>
        <p:spPr>
          <a:xfrm>
            <a:off x="2231136" y="3433572"/>
            <a:ext cx="1828800" cy="1463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defaults healthy</a:t>
            </a:r>
          </a:p>
        </p:txBody>
      </p:sp>
      <p:sp>
        <p:nvSpPr>
          <p:cNvPr id="33" name="TextBox 32"/>
          <p:cNvSpPr txBox="1"/>
          <p:nvPr/>
        </p:nvSpPr>
        <p:spPr>
          <a:xfrm>
            <a:off x="713232" y="3657600"/>
            <a:ext cx="859536" cy="146304"/>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meta</a:t>
            </a:r>
          </a:p>
        </p:txBody>
      </p:sp>
      <p:sp>
        <p:nvSpPr>
          <p:cNvPr id="34" name="TextBox 33"/>
          <p:cNvSpPr txBox="1"/>
          <p:nvPr/>
        </p:nvSpPr>
        <p:spPr>
          <a:xfrm>
            <a:off x="1627631" y="3657600"/>
            <a:ext cx="566928" cy="146304"/>
          </a:xfrm>
          <a:prstGeom prst="rect">
            <a:avLst/>
          </a:prstGeom>
          <a:noFill/>
        </p:spPr>
        <p:txBody>
          <a:bodyPr wrap="square" lIns="0" rIns="0" tIns="0" bIns="0" anchor="t">
            <a:noAutofit/>
          </a:bodyPr>
          <a:lstStyle/>
          <a:p>
            <a:pPr algn="l">
              <a:lnSpc>
                <a:spcPct val="122000"/>
              </a:lnSpc>
            </a:pPr>
            <a:r>
              <a:rPr sz="600" b="0" i="0">
                <a:solidFill>
                  <a:srgbClr val="64748B"/>
                </a:solidFill>
                <a:latin typeface="Consolas"/>
              </a:rPr>
              <a:t>no</a:t>
            </a:r>
          </a:p>
        </p:txBody>
      </p:sp>
      <p:sp>
        <p:nvSpPr>
          <p:cNvPr id="35" name="TextBox 34"/>
          <p:cNvSpPr txBox="1"/>
          <p:nvPr/>
        </p:nvSpPr>
        <p:spPr>
          <a:xfrm>
            <a:off x="2231136" y="3657600"/>
            <a:ext cx="1828800" cy="1463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protocol, version, slaMs, auth</a:t>
            </a:r>
          </a:p>
        </p:txBody>
      </p:sp>
      <p:sp>
        <p:nvSpPr>
          <p:cNvPr id="36" name="TextBox 35"/>
          <p:cNvSpPr txBox="1"/>
          <p:nvPr/>
        </p:nvSpPr>
        <p:spPr>
          <a:xfrm>
            <a:off x="713232" y="3995928"/>
            <a:ext cx="3328416" cy="731520"/>
          </a:xfrm>
          <a:prstGeom prst="rect">
            <a:avLst/>
          </a:prstGeom>
          <a:noFill/>
        </p:spPr>
        <p:txBody>
          <a:bodyPr wrap="square" lIns="0" rIns="0" tIns="0" bIns="0" anchor="t">
            <a:noAutofit/>
          </a:bodyPr>
          <a:lstStyle/>
          <a:p>
            <a:pPr algn="l">
              <a:lnSpc>
                <a:spcPct val="135000"/>
              </a:lnSpc>
            </a:pPr>
            <a:r>
              <a:rPr sz="630" b="0" i="0">
                <a:solidFill>
                  <a:srgbClr val="64748B"/>
                </a:solidFill>
                <a:latin typeface="Consolas"/>
              </a:rPr>
              <a:t>Convention: parent::child::leaf.
org-acme::svc-billing · 400 on unknown parent · 200 on upsert</a:t>
            </a:r>
          </a:p>
        </p:txBody>
      </p:sp>
      <p:cxnSp>
        <p:nvCxnSpPr>
          <p:cNvPr id="37" name="Connector 36"/>
          <p:cNvCxnSpPr/>
          <p:nvPr/>
        </p:nvCxnSpPr>
        <p:spPr>
          <a:xfrm>
            <a:off x="713232" y="3922776"/>
            <a:ext cx="3328416"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4279392" y="1783080"/>
            <a:ext cx="3621024" cy="3054096"/>
          </a:xfrm>
          <a:prstGeom prst="roundRect">
            <a:avLst>
              <a:gd name="adj" fmla="val 2395"/>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Rectangle 38"/>
          <p:cNvSpPr/>
          <p:nvPr/>
        </p:nvSpPr>
        <p:spPr>
          <a:xfrm>
            <a:off x="4279392" y="1783080"/>
            <a:ext cx="3621024" cy="3200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TextBox 39"/>
          <p:cNvSpPr txBox="1"/>
          <p:nvPr/>
        </p:nvSpPr>
        <p:spPr>
          <a:xfrm>
            <a:off x="4425696" y="1901952"/>
            <a:ext cx="3291840" cy="164592"/>
          </a:xfrm>
          <a:prstGeom prst="rect">
            <a:avLst/>
          </a:prstGeom>
          <a:noFill/>
        </p:spPr>
        <p:txBody>
          <a:bodyPr wrap="square" lIns="0" rIns="0" tIns="0" bIns="0" anchor="t">
            <a:noAutofit/>
          </a:bodyPr>
          <a:lstStyle/>
          <a:p>
            <a:pPr algn="l">
              <a:lnSpc>
                <a:spcPct val="122000"/>
              </a:lnSpc>
            </a:pPr>
            <a:r>
              <a:rPr sz="900" b="1" i="0">
                <a:solidFill>
                  <a:srgbClr val="F4F8FC"/>
                </a:solidFill>
                <a:latin typeface="Consolas"/>
              </a:rPr>
              <a:t>POST /api/ingest/metrics</a:t>
            </a:r>
          </a:p>
        </p:txBody>
      </p:sp>
      <p:sp>
        <p:nvSpPr>
          <p:cNvPr id="41" name="TextBox 40"/>
          <p:cNvSpPr txBox="1"/>
          <p:nvPr/>
        </p:nvSpPr>
        <p:spPr>
          <a:xfrm>
            <a:off x="4425696" y="2093976"/>
            <a:ext cx="3291840" cy="146304"/>
          </a:xfrm>
          <a:prstGeom prst="rect">
            <a:avLst/>
          </a:prstGeom>
          <a:noFill/>
        </p:spPr>
        <p:txBody>
          <a:bodyPr wrap="square" lIns="0" rIns="0" tIns="0" bIns="0" anchor="t">
            <a:noAutofit/>
          </a:bodyPr>
          <a:lstStyle/>
          <a:p>
            <a:pPr algn="l">
              <a:lnSpc>
                <a:spcPct val="122000"/>
              </a:lnSpc>
            </a:pPr>
            <a:r>
              <a:rPr sz="640" b="0" i="0">
                <a:solidFill>
                  <a:srgbClr val="34D399"/>
                </a:solidFill>
                <a:latin typeface="Consolas"/>
              </a:rPr>
              <a:t>push the signals · one snapshot</a:t>
            </a:r>
          </a:p>
        </p:txBody>
      </p:sp>
      <p:sp>
        <p:nvSpPr>
          <p:cNvPr id="42" name="TextBox 41"/>
          <p:cNvSpPr txBox="1"/>
          <p:nvPr/>
        </p:nvSpPr>
        <p:spPr>
          <a:xfrm>
            <a:off x="4425696" y="2313432"/>
            <a:ext cx="1481328" cy="146304"/>
          </a:xfrm>
          <a:prstGeom prst="rect">
            <a:avLst/>
          </a:prstGeom>
          <a:noFill/>
        </p:spPr>
        <p:txBody>
          <a:bodyPr wrap="square" lIns="0" rIns="0" tIns="0" bIns="0" anchor="t">
            <a:noAutofit/>
          </a:bodyPr>
          <a:lstStyle/>
          <a:p>
            <a:pPr algn="l">
              <a:lnSpc>
                <a:spcPct val="122000"/>
              </a:lnSpc>
            </a:pPr>
            <a:r>
              <a:rPr sz="650" b="0" i="0">
                <a:solidFill>
                  <a:srgbClr val="E2E8F0"/>
                </a:solidFill>
                <a:latin typeface="Consolas"/>
              </a:rPr>
              <a:t>nodeId</a:t>
            </a:r>
          </a:p>
        </p:txBody>
      </p:sp>
      <p:sp>
        <p:nvSpPr>
          <p:cNvPr id="43" name="TextBox 42"/>
          <p:cNvSpPr txBox="1"/>
          <p:nvPr/>
        </p:nvSpPr>
        <p:spPr>
          <a:xfrm>
            <a:off x="5961888" y="2313432"/>
            <a:ext cx="1828800" cy="146304"/>
          </a:xfrm>
          <a:prstGeom prst="rect">
            <a:avLst/>
          </a:prstGeom>
          <a:noFill/>
        </p:spPr>
        <p:txBody>
          <a:bodyPr wrap="square" lIns="0" rIns="0" tIns="0" bIns="0" anchor="t">
            <a:noAutofit/>
          </a:bodyPr>
          <a:lstStyle/>
          <a:p>
            <a:pPr algn="l">
              <a:lnSpc>
                <a:spcPct val="122000"/>
              </a:lnSpc>
            </a:pPr>
            <a:r>
              <a:rPr sz="620" b="0" i="0">
                <a:solidFill>
                  <a:srgbClr val="9DB0C6"/>
                </a:solidFill>
                <a:latin typeface="Segoe UI"/>
              </a:rPr>
              <a:t>must be registered</a:t>
            </a:r>
          </a:p>
        </p:txBody>
      </p:sp>
      <p:sp>
        <p:nvSpPr>
          <p:cNvPr id="44" name="TextBox 43"/>
          <p:cNvSpPr txBox="1"/>
          <p:nvPr/>
        </p:nvSpPr>
        <p:spPr>
          <a:xfrm>
            <a:off x="4425696" y="2583179"/>
            <a:ext cx="1481328" cy="146304"/>
          </a:xfrm>
          <a:prstGeom prst="rect">
            <a:avLst/>
          </a:prstGeom>
          <a:noFill/>
        </p:spPr>
        <p:txBody>
          <a:bodyPr wrap="square" lIns="0" rIns="0" tIns="0" bIns="0" anchor="t">
            <a:noAutofit/>
          </a:bodyPr>
          <a:lstStyle/>
          <a:p>
            <a:pPr algn="l">
              <a:lnSpc>
                <a:spcPct val="122000"/>
              </a:lnSpc>
            </a:pPr>
            <a:r>
              <a:rPr sz="650" b="0" i="0">
                <a:solidFill>
                  <a:srgbClr val="E2E8F0"/>
                </a:solidFill>
                <a:latin typeface="Consolas"/>
              </a:rPr>
              <a:t>cpu / memory / disk</a:t>
            </a:r>
          </a:p>
        </p:txBody>
      </p:sp>
      <p:sp>
        <p:nvSpPr>
          <p:cNvPr id="45" name="TextBox 44"/>
          <p:cNvSpPr txBox="1"/>
          <p:nvPr/>
        </p:nvSpPr>
        <p:spPr>
          <a:xfrm>
            <a:off x="5961888" y="2583179"/>
            <a:ext cx="1828800" cy="146304"/>
          </a:xfrm>
          <a:prstGeom prst="rect">
            <a:avLst/>
          </a:prstGeom>
          <a:noFill/>
        </p:spPr>
        <p:txBody>
          <a:bodyPr wrap="square" lIns="0" rIns="0" tIns="0" bIns="0" anchor="t">
            <a:noAutofit/>
          </a:bodyPr>
          <a:lstStyle/>
          <a:p>
            <a:pPr algn="l">
              <a:lnSpc>
                <a:spcPct val="122000"/>
              </a:lnSpc>
            </a:pPr>
            <a:r>
              <a:rPr sz="620" b="0" i="0">
                <a:solidFill>
                  <a:srgbClr val="9DB0C6"/>
                </a:solidFill>
                <a:latin typeface="Segoe UI"/>
              </a:rPr>
              <a:t>% 0–100, clamped</a:t>
            </a:r>
          </a:p>
        </p:txBody>
      </p:sp>
      <p:sp>
        <p:nvSpPr>
          <p:cNvPr id="46" name="TextBox 45"/>
          <p:cNvSpPr txBox="1"/>
          <p:nvPr/>
        </p:nvSpPr>
        <p:spPr>
          <a:xfrm>
            <a:off x="4425696" y="2852927"/>
            <a:ext cx="1481328" cy="146304"/>
          </a:xfrm>
          <a:prstGeom prst="rect">
            <a:avLst/>
          </a:prstGeom>
          <a:noFill/>
        </p:spPr>
        <p:txBody>
          <a:bodyPr wrap="square" lIns="0" rIns="0" tIns="0" bIns="0" anchor="t">
            <a:noAutofit/>
          </a:bodyPr>
          <a:lstStyle/>
          <a:p>
            <a:pPr algn="l">
              <a:lnSpc>
                <a:spcPct val="122000"/>
              </a:lnSpc>
            </a:pPr>
            <a:r>
              <a:rPr sz="650" b="0" i="0">
                <a:solidFill>
                  <a:srgbClr val="E2E8F0"/>
                </a:solidFill>
                <a:latin typeface="Consolas"/>
              </a:rPr>
              <a:t>networkIn / Out</a:t>
            </a:r>
          </a:p>
        </p:txBody>
      </p:sp>
      <p:sp>
        <p:nvSpPr>
          <p:cNvPr id="47" name="TextBox 46"/>
          <p:cNvSpPr txBox="1"/>
          <p:nvPr/>
        </p:nvSpPr>
        <p:spPr>
          <a:xfrm>
            <a:off x="5961888" y="2852927"/>
            <a:ext cx="1828800" cy="146304"/>
          </a:xfrm>
          <a:prstGeom prst="rect">
            <a:avLst/>
          </a:prstGeom>
          <a:noFill/>
        </p:spPr>
        <p:txBody>
          <a:bodyPr wrap="square" lIns="0" rIns="0" tIns="0" bIns="0" anchor="t">
            <a:noAutofit/>
          </a:bodyPr>
          <a:lstStyle/>
          <a:p>
            <a:pPr algn="l">
              <a:lnSpc>
                <a:spcPct val="122000"/>
              </a:lnSpc>
            </a:pPr>
            <a:r>
              <a:rPr sz="620" b="0" i="0">
                <a:solidFill>
                  <a:srgbClr val="9DB0C6"/>
                </a:solidFill>
                <a:latin typeface="Segoe UI"/>
              </a:rPr>
              <a:t>MB/s, capped</a:t>
            </a:r>
          </a:p>
        </p:txBody>
      </p:sp>
      <p:sp>
        <p:nvSpPr>
          <p:cNvPr id="48" name="TextBox 47"/>
          <p:cNvSpPr txBox="1"/>
          <p:nvPr/>
        </p:nvSpPr>
        <p:spPr>
          <a:xfrm>
            <a:off x="4425696" y="3122675"/>
            <a:ext cx="1481328" cy="146304"/>
          </a:xfrm>
          <a:prstGeom prst="rect">
            <a:avLst/>
          </a:prstGeom>
          <a:noFill/>
        </p:spPr>
        <p:txBody>
          <a:bodyPr wrap="square" lIns="0" rIns="0" tIns="0" bIns="0" anchor="t">
            <a:noAutofit/>
          </a:bodyPr>
          <a:lstStyle/>
          <a:p>
            <a:pPr algn="l">
              <a:lnSpc>
                <a:spcPct val="122000"/>
              </a:lnSpc>
            </a:pPr>
            <a:r>
              <a:rPr sz="650" b="0" i="0">
                <a:solidFill>
                  <a:srgbClr val="E2E8F0"/>
                </a:solidFill>
                <a:latin typeface="Consolas"/>
              </a:rPr>
              <a:t>requestsPerSec</a:t>
            </a:r>
          </a:p>
        </p:txBody>
      </p:sp>
      <p:sp>
        <p:nvSpPr>
          <p:cNvPr id="49" name="TextBox 48"/>
          <p:cNvSpPr txBox="1"/>
          <p:nvPr/>
        </p:nvSpPr>
        <p:spPr>
          <a:xfrm>
            <a:off x="5961888" y="3122675"/>
            <a:ext cx="1828800" cy="146304"/>
          </a:xfrm>
          <a:prstGeom prst="rect">
            <a:avLst/>
          </a:prstGeom>
          <a:noFill/>
        </p:spPr>
        <p:txBody>
          <a:bodyPr wrap="square" lIns="0" rIns="0" tIns="0" bIns="0" anchor="t">
            <a:noAutofit/>
          </a:bodyPr>
          <a:lstStyle/>
          <a:p>
            <a:pPr algn="l">
              <a:lnSpc>
                <a:spcPct val="122000"/>
              </a:lnSpc>
            </a:pPr>
            <a:r>
              <a:rPr sz="620" b="0" i="0">
                <a:solidFill>
                  <a:srgbClr val="9DB0C6"/>
                </a:solidFill>
                <a:latin typeface="Segoe UI"/>
              </a:rPr>
              <a:t>per interval, not lifetime</a:t>
            </a:r>
          </a:p>
        </p:txBody>
      </p:sp>
      <p:sp>
        <p:nvSpPr>
          <p:cNvPr id="50" name="TextBox 49"/>
          <p:cNvSpPr txBox="1"/>
          <p:nvPr/>
        </p:nvSpPr>
        <p:spPr>
          <a:xfrm>
            <a:off x="4425696" y="3392423"/>
            <a:ext cx="1481328" cy="146304"/>
          </a:xfrm>
          <a:prstGeom prst="rect">
            <a:avLst/>
          </a:prstGeom>
          <a:noFill/>
        </p:spPr>
        <p:txBody>
          <a:bodyPr wrap="square" lIns="0" rIns="0" tIns="0" bIns="0" anchor="t">
            <a:noAutofit/>
          </a:bodyPr>
          <a:lstStyle/>
          <a:p>
            <a:pPr algn="l">
              <a:lnSpc>
                <a:spcPct val="122000"/>
              </a:lnSpc>
            </a:pPr>
            <a:r>
              <a:rPr sz="650" b="0" i="0">
                <a:solidFill>
                  <a:srgbClr val="E2E8F0"/>
                </a:solidFill>
                <a:latin typeface="Consolas"/>
              </a:rPr>
              <a:t>errorRate</a:t>
            </a:r>
          </a:p>
        </p:txBody>
      </p:sp>
      <p:sp>
        <p:nvSpPr>
          <p:cNvPr id="51" name="TextBox 50"/>
          <p:cNvSpPr txBox="1"/>
          <p:nvPr/>
        </p:nvSpPr>
        <p:spPr>
          <a:xfrm>
            <a:off x="5961888" y="3392423"/>
            <a:ext cx="1828800" cy="146304"/>
          </a:xfrm>
          <a:prstGeom prst="rect">
            <a:avLst/>
          </a:prstGeom>
          <a:noFill/>
        </p:spPr>
        <p:txBody>
          <a:bodyPr wrap="square" lIns="0" rIns="0" tIns="0" bIns="0" anchor="t">
            <a:noAutofit/>
          </a:bodyPr>
          <a:lstStyle/>
          <a:p>
            <a:pPr algn="l">
              <a:lnSpc>
                <a:spcPct val="122000"/>
              </a:lnSpc>
            </a:pPr>
            <a:r>
              <a:rPr sz="620" b="0" i="0">
                <a:solidFill>
                  <a:srgbClr val="9DB0C6"/>
                </a:solidFill>
                <a:latin typeface="Segoe UI"/>
              </a:rPr>
              <a:t>&gt; 5 critical · &gt; 1.4 degraded</a:t>
            </a:r>
          </a:p>
        </p:txBody>
      </p:sp>
      <p:sp>
        <p:nvSpPr>
          <p:cNvPr id="52" name="TextBox 51"/>
          <p:cNvSpPr txBox="1"/>
          <p:nvPr/>
        </p:nvSpPr>
        <p:spPr>
          <a:xfrm>
            <a:off x="4425696" y="3662172"/>
            <a:ext cx="1481328" cy="146304"/>
          </a:xfrm>
          <a:prstGeom prst="rect">
            <a:avLst/>
          </a:prstGeom>
          <a:noFill/>
        </p:spPr>
        <p:txBody>
          <a:bodyPr wrap="square" lIns="0" rIns="0" tIns="0" bIns="0" anchor="t">
            <a:noAutofit/>
          </a:bodyPr>
          <a:lstStyle/>
          <a:p>
            <a:pPr algn="l">
              <a:lnSpc>
                <a:spcPct val="122000"/>
              </a:lnSpc>
            </a:pPr>
            <a:r>
              <a:rPr sz="650" b="0" i="0">
                <a:solidFill>
                  <a:srgbClr val="E2E8F0"/>
                </a:solidFill>
                <a:latin typeface="Consolas"/>
              </a:rPr>
              <a:t>latencyMs</a:t>
            </a:r>
          </a:p>
        </p:txBody>
      </p:sp>
      <p:sp>
        <p:nvSpPr>
          <p:cNvPr id="53" name="TextBox 52"/>
          <p:cNvSpPr txBox="1"/>
          <p:nvPr/>
        </p:nvSpPr>
        <p:spPr>
          <a:xfrm>
            <a:off x="5961888" y="3662172"/>
            <a:ext cx="1828800" cy="146304"/>
          </a:xfrm>
          <a:prstGeom prst="rect">
            <a:avLst/>
          </a:prstGeom>
          <a:noFill/>
        </p:spPr>
        <p:txBody>
          <a:bodyPr wrap="square" lIns="0" rIns="0" tIns="0" bIns="0" anchor="t">
            <a:noAutofit/>
          </a:bodyPr>
          <a:lstStyle/>
          <a:p>
            <a:pPr algn="l">
              <a:lnSpc>
                <a:spcPct val="122000"/>
              </a:lnSpc>
            </a:pPr>
            <a:r>
              <a:rPr sz="620" b="0" i="0">
                <a:solidFill>
                  <a:srgbClr val="9DB0C6"/>
                </a:solidFill>
                <a:latin typeface="Segoe UI"/>
              </a:rPr>
              <a:t>p99, compared to slaMs</a:t>
            </a:r>
          </a:p>
        </p:txBody>
      </p:sp>
      <p:sp>
        <p:nvSpPr>
          <p:cNvPr id="54" name="TextBox 53"/>
          <p:cNvSpPr txBox="1"/>
          <p:nvPr/>
        </p:nvSpPr>
        <p:spPr>
          <a:xfrm>
            <a:off x="4425696" y="3931920"/>
            <a:ext cx="1481328" cy="146304"/>
          </a:xfrm>
          <a:prstGeom prst="rect">
            <a:avLst/>
          </a:prstGeom>
          <a:noFill/>
        </p:spPr>
        <p:txBody>
          <a:bodyPr wrap="square" lIns="0" rIns="0" tIns="0" bIns="0" anchor="t">
            <a:noAutofit/>
          </a:bodyPr>
          <a:lstStyle/>
          <a:p>
            <a:pPr algn="l">
              <a:lnSpc>
                <a:spcPct val="122000"/>
              </a:lnSpc>
            </a:pPr>
            <a:r>
              <a:rPr sz="650" b="0" i="0">
                <a:solidFill>
                  <a:srgbClr val="E2E8F0"/>
                </a:solidFill>
                <a:latin typeface="Consolas"/>
              </a:rPr>
              <a:t>uptimePct</a:t>
            </a:r>
          </a:p>
        </p:txBody>
      </p:sp>
      <p:sp>
        <p:nvSpPr>
          <p:cNvPr id="55" name="TextBox 54"/>
          <p:cNvSpPr txBox="1"/>
          <p:nvPr/>
        </p:nvSpPr>
        <p:spPr>
          <a:xfrm>
            <a:off x="5961888" y="3931920"/>
            <a:ext cx="1828800" cy="146304"/>
          </a:xfrm>
          <a:prstGeom prst="rect">
            <a:avLst/>
          </a:prstGeom>
          <a:noFill/>
        </p:spPr>
        <p:txBody>
          <a:bodyPr wrap="square" lIns="0" rIns="0" tIns="0" bIns="0" anchor="t">
            <a:noAutofit/>
          </a:bodyPr>
          <a:lstStyle/>
          <a:p>
            <a:pPr algn="l">
              <a:lnSpc>
                <a:spcPct val="122000"/>
              </a:lnSpc>
            </a:pPr>
            <a:r>
              <a:rPr sz="620" b="0" i="0">
                <a:solidFill>
                  <a:srgbClr val="9DB0C6"/>
                </a:solidFill>
                <a:latin typeface="Segoe UI"/>
              </a:rPr>
              <a:t>rolls up as minimum</a:t>
            </a:r>
          </a:p>
        </p:txBody>
      </p:sp>
      <p:sp>
        <p:nvSpPr>
          <p:cNvPr id="56" name="TextBox 55"/>
          <p:cNvSpPr txBox="1"/>
          <p:nvPr/>
        </p:nvSpPr>
        <p:spPr>
          <a:xfrm>
            <a:off x="4425696" y="4201668"/>
            <a:ext cx="1481328" cy="146304"/>
          </a:xfrm>
          <a:prstGeom prst="rect">
            <a:avLst/>
          </a:prstGeom>
          <a:noFill/>
        </p:spPr>
        <p:txBody>
          <a:bodyPr wrap="square" lIns="0" rIns="0" tIns="0" bIns="0" anchor="t">
            <a:noAutofit/>
          </a:bodyPr>
          <a:lstStyle/>
          <a:p>
            <a:pPr algn="l">
              <a:lnSpc>
                <a:spcPct val="122000"/>
              </a:lnSpc>
            </a:pPr>
            <a:r>
              <a:rPr sz="650" b="0" i="0">
                <a:solidFill>
                  <a:srgbClr val="E2E8F0"/>
                </a:solidFill>
                <a:latin typeface="Consolas"/>
              </a:rPr>
              <a:t>replicasReady / Desired</a:t>
            </a:r>
          </a:p>
        </p:txBody>
      </p:sp>
      <p:sp>
        <p:nvSpPr>
          <p:cNvPr id="57" name="TextBox 56"/>
          <p:cNvSpPr txBox="1"/>
          <p:nvPr/>
        </p:nvSpPr>
        <p:spPr>
          <a:xfrm>
            <a:off x="5961888" y="4201668"/>
            <a:ext cx="1828800" cy="146304"/>
          </a:xfrm>
          <a:prstGeom prst="rect">
            <a:avLst/>
          </a:prstGeom>
          <a:noFill/>
        </p:spPr>
        <p:txBody>
          <a:bodyPr wrap="square" lIns="0" rIns="0" tIns="0" bIns="0" anchor="t">
            <a:noAutofit/>
          </a:bodyPr>
          <a:lstStyle/>
          <a:p>
            <a:pPr algn="l">
              <a:lnSpc>
                <a:spcPct val="122000"/>
              </a:lnSpc>
            </a:pPr>
            <a:r>
              <a:rPr sz="620" b="0" i="0">
                <a:solidFill>
                  <a:srgbClr val="9DB0C6"/>
                </a:solidFill>
                <a:latin typeface="Segoe UI"/>
              </a:rPr>
              <a:t>services and pods</a:t>
            </a:r>
          </a:p>
        </p:txBody>
      </p:sp>
      <p:sp>
        <p:nvSpPr>
          <p:cNvPr id="58" name="TextBox 57"/>
          <p:cNvSpPr txBox="1"/>
          <p:nvPr/>
        </p:nvSpPr>
        <p:spPr>
          <a:xfrm>
            <a:off x="4425696" y="4471416"/>
            <a:ext cx="1481328" cy="146304"/>
          </a:xfrm>
          <a:prstGeom prst="rect">
            <a:avLst/>
          </a:prstGeom>
          <a:noFill/>
        </p:spPr>
        <p:txBody>
          <a:bodyPr wrap="square" lIns="0" rIns="0" tIns="0" bIns="0" anchor="t">
            <a:noAutofit/>
          </a:bodyPr>
          <a:lstStyle/>
          <a:p>
            <a:pPr algn="l">
              <a:lnSpc>
                <a:spcPct val="122000"/>
              </a:lnSpc>
            </a:pPr>
            <a:r>
              <a:rPr sz="650" b="0" i="0">
                <a:solidFill>
                  <a:srgbClr val="E2E8F0"/>
                </a:solidFill>
                <a:latin typeface="Consolas"/>
              </a:rPr>
              <a:t>source</a:t>
            </a:r>
          </a:p>
        </p:txBody>
      </p:sp>
      <p:sp>
        <p:nvSpPr>
          <p:cNvPr id="59" name="TextBox 58"/>
          <p:cNvSpPr txBox="1"/>
          <p:nvPr/>
        </p:nvSpPr>
        <p:spPr>
          <a:xfrm>
            <a:off x="5961888" y="4471416"/>
            <a:ext cx="1828800" cy="146304"/>
          </a:xfrm>
          <a:prstGeom prst="rect">
            <a:avLst/>
          </a:prstGeom>
          <a:noFill/>
        </p:spPr>
        <p:txBody>
          <a:bodyPr wrap="square" lIns="0" rIns="0" tIns="0" bIns="0" anchor="t">
            <a:noAutofit/>
          </a:bodyPr>
          <a:lstStyle/>
          <a:p>
            <a:pPr algn="l">
              <a:lnSpc>
                <a:spcPct val="122000"/>
              </a:lnSpc>
            </a:pPr>
            <a:r>
              <a:rPr sz="620" b="0" i="0">
                <a:solidFill>
                  <a:srgbClr val="9DB0C6"/>
                </a:solidFill>
                <a:latin typeface="Segoe UI"/>
              </a:rPr>
              <a:t>prometheus|docker|k8s|agent</a:t>
            </a:r>
          </a:p>
        </p:txBody>
      </p:sp>
      <p:sp>
        <p:nvSpPr>
          <p:cNvPr id="60" name="TextBox 59"/>
          <p:cNvSpPr txBox="1"/>
          <p:nvPr/>
        </p:nvSpPr>
        <p:spPr>
          <a:xfrm>
            <a:off x="4425696" y="4599432"/>
            <a:ext cx="3328416" cy="182880"/>
          </a:xfrm>
          <a:prstGeom prst="rect">
            <a:avLst/>
          </a:prstGeom>
          <a:noFill/>
        </p:spPr>
        <p:txBody>
          <a:bodyPr wrap="square" lIns="0" rIns="0" tIns="0" bIns="0" anchor="t">
            <a:noAutofit/>
          </a:bodyPr>
          <a:lstStyle/>
          <a:p>
            <a:pPr algn="l">
              <a:lnSpc>
                <a:spcPct val="122000"/>
              </a:lnSpc>
            </a:pPr>
            <a:r>
              <a:rPr sz="620" b="0" i="0">
                <a:solidFill>
                  <a:srgbClr val="64748B"/>
                </a:solidFill>
                <a:latin typeface="Consolas"/>
              </a:rPr>
              <a:t>unknown nodeId → 404 with a pointer to /nodes</a:t>
            </a:r>
          </a:p>
        </p:txBody>
      </p:sp>
      <p:sp>
        <p:nvSpPr>
          <p:cNvPr id="61" name="Rounded Rectangle 60"/>
          <p:cNvSpPr/>
          <p:nvPr/>
        </p:nvSpPr>
        <p:spPr>
          <a:xfrm>
            <a:off x="7991855" y="1783080"/>
            <a:ext cx="3630168" cy="3054096"/>
          </a:xfrm>
          <a:prstGeom prst="roundRect">
            <a:avLst>
              <a:gd name="adj" fmla="val 2395"/>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2" name="Rectangle 61"/>
          <p:cNvSpPr/>
          <p:nvPr/>
        </p:nvSpPr>
        <p:spPr>
          <a:xfrm>
            <a:off x="7991855" y="1783080"/>
            <a:ext cx="3630168" cy="3200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3" name="TextBox 62"/>
          <p:cNvSpPr txBox="1"/>
          <p:nvPr/>
        </p:nvSpPr>
        <p:spPr>
          <a:xfrm>
            <a:off x="8138159" y="1901952"/>
            <a:ext cx="3355848" cy="164592"/>
          </a:xfrm>
          <a:prstGeom prst="rect">
            <a:avLst/>
          </a:prstGeom>
          <a:noFill/>
        </p:spPr>
        <p:txBody>
          <a:bodyPr wrap="square" lIns="0" rIns="0" tIns="0" bIns="0" anchor="t">
            <a:noAutofit/>
          </a:bodyPr>
          <a:lstStyle/>
          <a:p>
            <a:pPr algn="l">
              <a:lnSpc>
                <a:spcPct val="122000"/>
              </a:lnSpc>
            </a:pPr>
            <a:r>
              <a:rPr sz="900" b="1" i="0">
                <a:solidFill>
                  <a:srgbClr val="F4F8FC"/>
                </a:solidFill>
                <a:latin typeface="Consolas"/>
              </a:rPr>
              <a:t>POST /api/ingest/events</a:t>
            </a:r>
          </a:p>
        </p:txBody>
      </p:sp>
      <p:sp>
        <p:nvSpPr>
          <p:cNvPr id="64" name="TextBox 63"/>
          <p:cNvSpPr txBox="1"/>
          <p:nvPr/>
        </p:nvSpPr>
        <p:spPr>
          <a:xfrm>
            <a:off x="8138159" y="2093976"/>
            <a:ext cx="3355848" cy="146304"/>
          </a:xfrm>
          <a:prstGeom prst="rect">
            <a:avLst/>
          </a:prstGeom>
          <a:noFill/>
        </p:spPr>
        <p:txBody>
          <a:bodyPr wrap="square" lIns="0" rIns="0" tIns="0" bIns="0" anchor="t">
            <a:noAutofit/>
          </a:bodyPr>
          <a:lstStyle/>
          <a:p>
            <a:pPr algn="l">
              <a:lnSpc>
                <a:spcPct val="122000"/>
              </a:lnSpc>
            </a:pPr>
            <a:r>
              <a:rPr sz="640" b="0" i="0">
                <a:solidFill>
                  <a:srgbClr val="FBBF24"/>
                </a:solidFill>
                <a:latin typeface="Consolas"/>
              </a:rPr>
              <a:t>raise what matters · alert + audit</a:t>
            </a:r>
          </a:p>
        </p:txBody>
      </p:sp>
      <p:sp>
        <p:nvSpPr>
          <p:cNvPr id="65" name="TextBox 64"/>
          <p:cNvSpPr txBox="1"/>
          <p:nvPr/>
        </p:nvSpPr>
        <p:spPr>
          <a:xfrm>
            <a:off x="8138159" y="2313432"/>
            <a:ext cx="658368" cy="146304"/>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title</a:t>
            </a:r>
          </a:p>
        </p:txBody>
      </p:sp>
      <p:sp>
        <p:nvSpPr>
          <p:cNvPr id="66" name="TextBox 65"/>
          <p:cNvSpPr txBox="1"/>
          <p:nvPr/>
        </p:nvSpPr>
        <p:spPr>
          <a:xfrm>
            <a:off x="8851391" y="2313432"/>
            <a:ext cx="1298448" cy="146304"/>
          </a:xfrm>
          <a:prstGeom prst="rect">
            <a:avLst/>
          </a:prstGeom>
          <a:noFill/>
        </p:spPr>
        <p:txBody>
          <a:bodyPr wrap="square" lIns="0" rIns="0" tIns="0" bIns="0" anchor="t">
            <a:noAutofit/>
          </a:bodyPr>
          <a:lstStyle/>
          <a:p>
            <a:pPr algn="l">
              <a:lnSpc>
                <a:spcPct val="122000"/>
              </a:lnSpc>
            </a:pPr>
            <a:r>
              <a:rPr sz="610" b="0" i="0">
                <a:solidFill>
                  <a:srgbClr val="9DB0C6"/>
                </a:solidFill>
                <a:latin typeface="Segoe UI"/>
              </a:rPr>
              <a:t>required, ≤ 240 chars</a:t>
            </a:r>
          </a:p>
        </p:txBody>
      </p:sp>
      <p:sp>
        <p:nvSpPr>
          <p:cNvPr id="67" name="TextBox 66"/>
          <p:cNvSpPr txBox="1"/>
          <p:nvPr/>
        </p:nvSpPr>
        <p:spPr>
          <a:xfrm>
            <a:off x="8851391" y="2446020"/>
            <a:ext cx="2011680" cy="137160"/>
          </a:xfrm>
          <a:prstGeom prst="rect">
            <a:avLst/>
          </a:prstGeom>
          <a:noFill/>
        </p:spPr>
        <p:txBody>
          <a:bodyPr wrap="square" lIns="0" rIns="0" tIns="0" bIns="0" anchor="t">
            <a:noAutofit/>
          </a:bodyPr>
          <a:lstStyle/>
          <a:p>
            <a:pPr algn="l">
              <a:lnSpc>
                <a:spcPct val="122000"/>
              </a:lnSpc>
            </a:pPr>
            <a:r>
              <a:rPr sz="560" b="0" i="0">
                <a:solidFill>
                  <a:srgbClr val="64748B"/>
                </a:solidFill>
                <a:latin typeface="Segoe UI"/>
              </a:rPr>
              <a:t>write it like a headline</a:t>
            </a:r>
          </a:p>
        </p:txBody>
      </p:sp>
      <p:sp>
        <p:nvSpPr>
          <p:cNvPr id="68" name="TextBox 67"/>
          <p:cNvSpPr txBox="1"/>
          <p:nvPr/>
        </p:nvSpPr>
        <p:spPr>
          <a:xfrm>
            <a:off x="8138159" y="2642615"/>
            <a:ext cx="658368" cy="146304"/>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severity</a:t>
            </a:r>
          </a:p>
        </p:txBody>
      </p:sp>
      <p:sp>
        <p:nvSpPr>
          <p:cNvPr id="69" name="TextBox 68"/>
          <p:cNvSpPr txBox="1"/>
          <p:nvPr/>
        </p:nvSpPr>
        <p:spPr>
          <a:xfrm>
            <a:off x="8851391" y="2642615"/>
            <a:ext cx="1298448" cy="146304"/>
          </a:xfrm>
          <a:prstGeom prst="rect">
            <a:avLst/>
          </a:prstGeom>
          <a:noFill/>
        </p:spPr>
        <p:txBody>
          <a:bodyPr wrap="square" lIns="0" rIns="0" tIns="0" bIns="0" anchor="t">
            <a:noAutofit/>
          </a:bodyPr>
          <a:lstStyle/>
          <a:p>
            <a:pPr algn="l">
              <a:lnSpc>
                <a:spcPct val="122000"/>
              </a:lnSpc>
            </a:pPr>
            <a:r>
              <a:rPr sz="610" b="0" i="0">
                <a:solidFill>
                  <a:srgbClr val="9DB0C6"/>
                </a:solidFill>
                <a:latin typeface="Segoe UI"/>
              </a:rPr>
              <a:t>info | warning | critical</a:t>
            </a:r>
          </a:p>
        </p:txBody>
      </p:sp>
      <p:sp>
        <p:nvSpPr>
          <p:cNvPr id="70" name="TextBox 69"/>
          <p:cNvSpPr txBox="1"/>
          <p:nvPr/>
        </p:nvSpPr>
        <p:spPr>
          <a:xfrm>
            <a:off x="8851391" y="2775203"/>
            <a:ext cx="2011680" cy="137160"/>
          </a:xfrm>
          <a:prstGeom prst="rect">
            <a:avLst/>
          </a:prstGeom>
          <a:noFill/>
        </p:spPr>
        <p:txBody>
          <a:bodyPr wrap="square" lIns="0" rIns="0" tIns="0" bIns="0" anchor="t">
            <a:noAutofit/>
          </a:bodyPr>
          <a:lstStyle/>
          <a:p>
            <a:pPr algn="l">
              <a:lnSpc>
                <a:spcPct val="122000"/>
              </a:lnSpc>
            </a:pPr>
            <a:r>
              <a:rPr sz="560" b="0" i="0">
                <a:solidFill>
                  <a:srgbClr val="64748B"/>
                </a:solidFill>
                <a:latin typeface="Segoe UI"/>
              </a:rPr>
              <a:t>critical escalates the node</a:t>
            </a:r>
          </a:p>
        </p:txBody>
      </p:sp>
      <p:sp>
        <p:nvSpPr>
          <p:cNvPr id="71" name="TextBox 70"/>
          <p:cNvSpPr txBox="1"/>
          <p:nvPr/>
        </p:nvSpPr>
        <p:spPr>
          <a:xfrm>
            <a:off x="8138159" y="2971799"/>
            <a:ext cx="658368" cy="146304"/>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source</a:t>
            </a:r>
          </a:p>
        </p:txBody>
      </p:sp>
      <p:sp>
        <p:nvSpPr>
          <p:cNvPr id="72" name="TextBox 71"/>
          <p:cNvSpPr txBox="1"/>
          <p:nvPr/>
        </p:nvSpPr>
        <p:spPr>
          <a:xfrm>
            <a:off x="8851391" y="2971799"/>
            <a:ext cx="1298448" cy="146304"/>
          </a:xfrm>
          <a:prstGeom prst="rect">
            <a:avLst/>
          </a:prstGeom>
          <a:noFill/>
        </p:spPr>
        <p:txBody>
          <a:bodyPr wrap="square" lIns="0" rIns="0" tIns="0" bIns="0" anchor="t">
            <a:noAutofit/>
          </a:bodyPr>
          <a:lstStyle/>
          <a:p>
            <a:pPr algn="l">
              <a:lnSpc>
                <a:spcPct val="122000"/>
              </a:lnSpc>
            </a:pPr>
            <a:r>
              <a:rPr sz="610" b="0" i="0">
                <a:solidFill>
                  <a:srgbClr val="9DB0C6"/>
                </a:solidFill>
                <a:latin typeface="Segoe UI"/>
              </a:rPr>
              <a:t>free label</a:t>
            </a:r>
          </a:p>
        </p:txBody>
      </p:sp>
      <p:sp>
        <p:nvSpPr>
          <p:cNvPr id="73" name="TextBox 72"/>
          <p:cNvSpPr txBox="1"/>
          <p:nvPr/>
        </p:nvSpPr>
        <p:spPr>
          <a:xfrm>
            <a:off x="8851391" y="3104387"/>
            <a:ext cx="2011680" cy="137160"/>
          </a:xfrm>
          <a:prstGeom prst="rect">
            <a:avLst/>
          </a:prstGeom>
          <a:noFill/>
        </p:spPr>
        <p:txBody>
          <a:bodyPr wrap="square" lIns="0" rIns="0" tIns="0" bIns="0" anchor="t">
            <a:noAutofit/>
          </a:bodyPr>
          <a:lstStyle/>
          <a:p>
            <a:pPr algn="l">
              <a:lnSpc>
                <a:spcPct val="122000"/>
              </a:lnSpc>
            </a:pPr>
            <a:r>
              <a:rPr sz="560" b="0" i="0">
                <a:solidFill>
                  <a:srgbClr val="64748B"/>
                </a:solidFill>
                <a:latin typeface="Segoe UI"/>
              </a:rPr>
              <a:t>laravel, minio, deploy-pipeline</a:t>
            </a:r>
          </a:p>
        </p:txBody>
      </p:sp>
      <p:sp>
        <p:nvSpPr>
          <p:cNvPr id="74" name="TextBox 73"/>
          <p:cNvSpPr txBox="1"/>
          <p:nvPr/>
        </p:nvSpPr>
        <p:spPr>
          <a:xfrm>
            <a:off x="8138159" y="3300983"/>
            <a:ext cx="658368" cy="146304"/>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nodeId</a:t>
            </a:r>
          </a:p>
        </p:txBody>
      </p:sp>
      <p:sp>
        <p:nvSpPr>
          <p:cNvPr id="75" name="TextBox 74"/>
          <p:cNvSpPr txBox="1"/>
          <p:nvPr/>
        </p:nvSpPr>
        <p:spPr>
          <a:xfrm>
            <a:off x="8851391" y="3300983"/>
            <a:ext cx="1298448" cy="146304"/>
          </a:xfrm>
          <a:prstGeom prst="rect">
            <a:avLst/>
          </a:prstGeom>
          <a:noFill/>
        </p:spPr>
        <p:txBody>
          <a:bodyPr wrap="square" lIns="0" rIns="0" tIns="0" bIns="0" anchor="t">
            <a:noAutofit/>
          </a:bodyPr>
          <a:lstStyle/>
          <a:p>
            <a:pPr algn="l">
              <a:lnSpc>
                <a:spcPct val="122000"/>
              </a:lnSpc>
            </a:pPr>
            <a:r>
              <a:rPr sz="610" b="0" i="0">
                <a:solidFill>
                  <a:srgbClr val="9DB0C6"/>
                </a:solidFill>
                <a:latin typeface="Segoe UI"/>
              </a:rPr>
              <a:t>optional, recommended</a:t>
            </a:r>
          </a:p>
        </p:txBody>
      </p:sp>
      <p:sp>
        <p:nvSpPr>
          <p:cNvPr id="76" name="TextBox 75"/>
          <p:cNvSpPr txBox="1"/>
          <p:nvPr/>
        </p:nvSpPr>
        <p:spPr>
          <a:xfrm>
            <a:off x="8851391" y="3433571"/>
            <a:ext cx="2011680" cy="137160"/>
          </a:xfrm>
          <a:prstGeom prst="rect">
            <a:avLst/>
          </a:prstGeom>
          <a:noFill/>
        </p:spPr>
        <p:txBody>
          <a:bodyPr wrap="square" lIns="0" rIns="0" tIns="0" bIns="0" anchor="t">
            <a:noAutofit/>
          </a:bodyPr>
          <a:lstStyle/>
          <a:p>
            <a:pPr algn="l">
              <a:lnSpc>
                <a:spcPct val="122000"/>
              </a:lnSpc>
            </a:pPr>
            <a:r>
              <a:rPr sz="560" b="0" i="0">
                <a:solidFill>
                  <a:srgbClr val="64748B"/>
                </a:solidFill>
                <a:latin typeface="Segoe UI"/>
              </a:rPr>
              <a:t>makes the dock row clickable</a:t>
            </a:r>
          </a:p>
        </p:txBody>
      </p:sp>
      <p:sp>
        <p:nvSpPr>
          <p:cNvPr id="77" name="TextBox 76"/>
          <p:cNvSpPr txBox="1"/>
          <p:nvPr/>
        </p:nvSpPr>
        <p:spPr>
          <a:xfrm>
            <a:off x="8138159" y="3630167"/>
            <a:ext cx="658368" cy="146304"/>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detail</a:t>
            </a:r>
          </a:p>
        </p:txBody>
      </p:sp>
      <p:sp>
        <p:nvSpPr>
          <p:cNvPr id="78" name="TextBox 77"/>
          <p:cNvSpPr txBox="1"/>
          <p:nvPr/>
        </p:nvSpPr>
        <p:spPr>
          <a:xfrm>
            <a:off x="8851391" y="3630167"/>
            <a:ext cx="1298448" cy="146304"/>
          </a:xfrm>
          <a:prstGeom prst="rect">
            <a:avLst/>
          </a:prstGeom>
          <a:noFill/>
        </p:spPr>
        <p:txBody>
          <a:bodyPr wrap="square" lIns="0" rIns="0" tIns="0" bIns="0" anchor="t">
            <a:noAutofit/>
          </a:bodyPr>
          <a:lstStyle/>
          <a:p>
            <a:pPr algn="l">
              <a:lnSpc>
                <a:spcPct val="122000"/>
              </a:lnSpc>
            </a:pPr>
            <a:r>
              <a:rPr sz="610" b="0" i="0">
                <a:solidFill>
                  <a:srgbClr val="9DB0C6"/>
                </a:solidFill>
                <a:latin typeface="Segoe UI"/>
              </a:rPr>
              <a:t>optional, ≤ 2000 chars</a:t>
            </a:r>
          </a:p>
        </p:txBody>
      </p:sp>
      <p:sp>
        <p:nvSpPr>
          <p:cNvPr id="79" name="TextBox 78"/>
          <p:cNvSpPr txBox="1"/>
          <p:nvPr/>
        </p:nvSpPr>
        <p:spPr>
          <a:xfrm>
            <a:off x="8851391" y="3762755"/>
            <a:ext cx="2011680" cy="137160"/>
          </a:xfrm>
          <a:prstGeom prst="rect">
            <a:avLst/>
          </a:prstGeom>
          <a:noFill/>
        </p:spPr>
        <p:txBody>
          <a:bodyPr wrap="square" lIns="0" rIns="0" tIns="0" bIns="0" anchor="t">
            <a:noAutofit/>
          </a:bodyPr>
          <a:lstStyle/>
          <a:p>
            <a:pPr algn="l">
              <a:lnSpc>
                <a:spcPct val="122000"/>
              </a:lnSpc>
            </a:pPr>
            <a:r>
              <a:rPr sz="560" b="0" i="0">
                <a:solidFill>
                  <a:srgbClr val="64748B"/>
                </a:solidFill>
                <a:latin typeface="Segoe UI"/>
              </a:rPr>
              <a:t>ship SHA, SQL, bucket key</a:t>
            </a:r>
          </a:p>
        </p:txBody>
      </p:sp>
      <p:cxnSp>
        <p:nvCxnSpPr>
          <p:cNvPr id="80" name="Connector 79"/>
          <p:cNvCxnSpPr/>
          <p:nvPr/>
        </p:nvCxnSpPr>
        <p:spPr>
          <a:xfrm>
            <a:off x="8138159" y="4032504"/>
            <a:ext cx="3337561"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8138159" y="4123944"/>
            <a:ext cx="3355848" cy="566928"/>
          </a:xfrm>
          <a:prstGeom prst="rect">
            <a:avLst/>
          </a:prstGeom>
          <a:noFill/>
        </p:spPr>
        <p:txBody>
          <a:bodyPr wrap="square" lIns="0" rIns="0" tIns="0" bIns="0" anchor="t">
            <a:noAutofit/>
          </a:bodyPr>
          <a:lstStyle/>
          <a:p>
            <a:pPr algn="l">
              <a:lnSpc>
                <a:spcPct val="135000"/>
              </a:lnSpc>
            </a:pPr>
            <a:r>
              <a:rPr sz="640" b="0" i="0">
                <a:solidFill>
                  <a:srgbClr val="64748B"/>
                </a:solidFill>
                <a:latin typeface="Consolas"/>
              </a:rPr>
              <a:t>Deployed billing-api v2.4.0
is a good title. “Error” is not.</a:t>
            </a:r>
          </a:p>
        </p:txBody>
      </p:sp>
      <p:sp>
        <p:nvSpPr>
          <p:cNvPr id="82" name="Rounded Rectangle 81"/>
          <p:cNvSpPr/>
          <p:nvPr/>
        </p:nvSpPr>
        <p:spPr>
          <a:xfrm>
            <a:off x="566928" y="5065776"/>
            <a:ext cx="11055096" cy="1170432"/>
          </a:xfrm>
          <a:prstGeom prst="roundRect">
            <a:avLst>
              <a:gd name="adj" fmla="val 625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3" name="TextBox 82"/>
          <p:cNvSpPr txBox="1"/>
          <p:nvPr/>
        </p:nvSpPr>
        <p:spPr>
          <a:xfrm>
            <a:off x="749808" y="5175504"/>
            <a:ext cx="2743200" cy="146304"/>
          </a:xfrm>
          <a:prstGeom prst="rect">
            <a:avLst/>
          </a:prstGeom>
          <a:noFill/>
        </p:spPr>
        <p:txBody>
          <a:bodyPr wrap="square" lIns="0" rIns="0" tIns="0" bIns="0" anchor="t">
            <a:noAutofit/>
          </a:bodyPr>
          <a:lstStyle/>
          <a:p>
            <a:pPr algn="l">
              <a:lnSpc>
                <a:spcPct val="122000"/>
              </a:lnSpc>
            </a:pPr>
            <a:r>
              <a:rPr sz="640" b="0" i="0" spc="120">
                <a:solidFill>
                  <a:srgbClr val="A78BFA"/>
                </a:solidFill>
                <a:latin typeface="Consolas"/>
              </a:rPr>
              <a:t>READING BACK</a:t>
            </a:r>
          </a:p>
        </p:txBody>
      </p:sp>
      <p:sp>
        <p:nvSpPr>
          <p:cNvPr id="84" name="TextBox 83"/>
          <p:cNvSpPr txBox="1"/>
          <p:nvPr/>
        </p:nvSpPr>
        <p:spPr>
          <a:xfrm>
            <a:off x="749808" y="5413248"/>
            <a:ext cx="2615184" cy="146304"/>
          </a:xfrm>
          <a:prstGeom prst="rect">
            <a:avLst/>
          </a:prstGeom>
          <a:noFill/>
        </p:spPr>
        <p:txBody>
          <a:bodyPr wrap="square" lIns="0" rIns="0" tIns="0" bIns="0" anchor="t">
            <a:noAutofit/>
          </a:bodyPr>
          <a:lstStyle/>
          <a:p>
            <a:pPr algn="l">
              <a:lnSpc>
                <a:spcPct val="122000"/>
              </a:lnSpc>
            </a:pPr>
            <a:r>
              <a:rPr sz="670" b="0" i="0">
                <a:solidFill>
                  <a:srgbClr val="A78BFA"/>
                </a:solidFill>
                <a:latin typeface="Consolas"/>
              </a:rPr>
              <a:t>GET /api/topology</a:t>
            </a:r>
          </a:p>
        </p:txBody>
      </p:sp>
      <p:sp>
        <p:nvSpPr>
          <p:cNvPr id="85" name="TextBox 84"/>
          <p:cNvSpPr txBox="1"/>
          <p:nvPr/>
        </p:nvSpPr>
        <p:spPr>
          <a:xfrm>
            <a:off x="749808" y="5568696"/>
            <a:ext cx="5358384" cy="1463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full snapshot · parents first · 24-point series · 60 events · 25 runs</a:t>
            </a:r>
          </a:p>
        </p:txBody>
      </p:sp>
      <p:sp>
        <p:nvSpPr>
          <p:cNvPr id="86" name="TextBox 85"/>
          <p:cNvSpPr txBox="1"/>
          <p:nvPr/>
        </p:nvSpPr>
        <p:spPr>
          <a:xfrm>
            <a:off x="6327648" y="5413248"/>
            <a:ext cx="2615184" cy="146304"/>
          </a:xfrm>
          <a:prstGeom prst="rect">
            <a:avLst/>
          </a:prstGeom>
          <a:noFill/>
        </p:spPr>
        <p:txBody>
          <a:bodyPr wrap="square" lIns="0" rIns="0" tIns="0" bIns="0" anchor="t">
            <a:noAutofit/>
          </a:bodyPr>
          <a:lstStyle/>
          <a:p>
            <a:pPr algn="l">
              <a:lnSpc>
                <a:spcPct val="122000"/>
              </a:lnSpc>
            </a:pPr>
            <a:r>
              <a:rPr sz="670" b="0" i="0">
                <a:solidFill>
                  <a:srgbClr val="7DD3FC"/>
                </a:solidFill>
                <a:latin typeface="Consolas"/>
              </a:rPr>
              <a:t>GET /api/stream</a:t>
            </a:r>
          </a:p>
        </p:txBody>
      </p:sp>
      <p:sp>
        <p:nvSpPr>
          <p:cNvPr id="87" name="TextBox 86"/>
          <p:cNvSpPr txBox="1"/>
          <p:nvPr/>
        </p:nvSpPr>
        <p:spPr>
          <a:xfrm>
            <a:off x="6327648" y="5568696"/>
            <a:ext cx="5358384" cy="1463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SSE: hello → metrics every 2 s → event → cli · reconnect with backoff</a:t>
            </a:r>
          </a:p>
        </p:txBody>
      </p:sp>
      <p:sp>
        <p:nvSpPr>
          <p:cNvPr id="88" name="TextBox 87"/>
          <p:cNvSpPr txBox="1"/>
          <p:nvPr/>
        </p:nvSpPr>
        <p:spPr>
          <a:xfrm>
            <a:off x="749808" y="5779008"/>
            <a:ext cx="2615184" cy="146304"/>
          </a:xfrm>
          <a:prstGeom prst="rect">
            <a:avLst/>
          </a:prstGeom>
          <a:noFill/>
        </p:spPr>
        <p:txBody>
          <a:bodyPr wrap="square" lIns="0" rIns="0" tIns="0" bIns="0" anchor="t">
            <a:noAutofit/>
          </a:bodyPr>
          <a:lstStyle/>
          <a:p>
            <a:pPr algn="l">
              <a:lnSpc>
                <a:spcPct val="122000"/>
              </a:lnSpc>
            </a:pPr>
            <a:r>
              <a:rPr sz="670" b="0" i="0">
                <a:solidFill>
                  <a:srgbClr val="34D399"/>
                </a:solidFill>
                <a:latin typeface="Consolas"/>
              </a:rPr>
              <a:t>GET /api/ingest/metrics?nodeId=</a:t>
            </a:r>
          </a:p>
        </p:txBody>
      </p:sp>
      <p:sp>
        <p:nvSpPr>
          <p:cNvPr id="89" name="TextBox 88"/>
          <p:cNvSpPr txBox="1"/>
          <p:nvPr/>
        </p:nvSpPr>
        <p:spPr>
          <a:xfrm>
            <a:off x="749808" y="5934456"/>
            <a:ext cx="5358384" cy="1463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latest snapshot for one node — the smoke test</a:t>
            </a:r>
          </a:p>
        </p:txBody>
      </p:sp>
      <p:sp>
        <p:nvSpPr>
          <p:cNvPr id="90" name="TextBox 89"/>
          <p:cNvSpPr txBox="1"/>
          <p:nvPr/>
        </p:nvSpPr>
        <p:spPr>
          <a:xfrm>
            <a:off x="6327648" y="5779008"/>
            <a:ext cx="2615184" cy="146304"/>
          </a:xfrm>
          <a:prstGeom prst="rect">
            <a:avLst/>
          </a:prstGeom>
          <a:noFill/>
        </p:spPr>
        <p:txBody>
          <a:bodyPr wrap="square" lIns="0" rIns="0" tIns="0" bIns="0" anchor="t">
            <a:noAutofit/>
          </a:bodyPr>
          <a:lstStyle/>
          <a:p>
            <a:pPr algn="l">
              <a:lnSpc>
                <a:spcPct val="122000"/>
              </a:lnSpc>
            </a:pPr>
            <a:r>
              <a:rPr sz="670" b="0" i="0">
                <a:solidFill>
                  <a:srgbClr val="FBBF24"/>
                </a:solidFill>
                <a:latin typeface="Consolas"/>
              </a:rPr>
              <a:t>PATCH /api/nodes/[id]</a:t>
            </a:r>
          </a:p>
        </p:txBody>
      </p:sp>
      <p:sp>
        <p:nvSpPr>
          <p:cNvPr id="91" name="TextBox 90"/>
          <p:cNvSpPr txBox="1"/>
          <p:nvPr/>
        </p:nvSpPr>
        <p:spPr>
          <a:xfrm>
            <a:off x="6327648" y="5934456"/>
            <a:ext cx="5358384" cy="1463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x, y, collapsed, status — operators own the view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3.3 · PUSH SEQUENCE</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Register once, heartbeat forever, alert on change</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The end-to-end sequence of a well-behaved agent: one registration block at boot, a steady heartbeat, and events raised only when something happened.</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INTEGRATION</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21 / 27</a:t>
            </a:r>
          </a:p>
        </p:txBody>
      </p:sp>
      <p:sp>
        <p:nvSpPr>
          <p:cNvPr id="11" name="Rounded Rectangle 10"/>
          <p:cNvSpPr/>
          <p:nvPr/>
        </p:nvSpPr>
        <p:spPr>
          <a:xfrm>
            <a:off x="658368" y="1783080"/>
            <a:ext cx="1627632" cy="493776"/>
          </a:xfrm>
          <a:prstGeom prst="roundRect">
            <a:avLst>
              <a:gd name="adj" fmla="val 11111"/>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749808" y="1856231"/>
            <a:ext cx="1463040" cy="155448"/>
          </a:xfrm>
          <a:prstGeom prst="rect">
            <a:avLst/>
          </a:prstGeom>
          <a:noFill/>
        </p:spPr>
        <p:txBody>
          <a:bodyPr wrap="square" lIns="0" rIns="0" tIns="0" bIns="0" anchor="t">
            <a:noAutofit/>
          </a:bodyPr>
          <a:lstStyle/>
          <a:p>
            <a:pPr algn="l">
              <a:lnSpc>
                <a:spcPct val="122000"/>
              </a:lnSpc>
            </a:pPr>
            <a:r>
              <a:rPr sz="680" b="1" i="0">
                <a:solidFill>
                  <a:srgbClr val="E2E8F0"/>
                </a:solidFill>
                <a:latin typeface="Consolas"/>
              </a:rPr>
              <a:t>YOUR SERVICE</a:t>
            </a:r>
          </a:p>
        </p:txBody>
      </p:sp>
      <p:sp>
        <p:nvSpPr>
          <p:cNvPr id="13" name="TextBox 12"/>
          <p:cNvSpPr txBox="1"/>
          <p:nvPr/>
        </p:nvSpPr>
        <p:spPr>
          <a:xfrm>
            <a:off x="749808" y="2029967"/>
            <a:ext cx="1463040" cy="146304"/>
          </a:xfrm>
          <a:prstGeom prst="rect">
            <a:avLst/>
          </a:prstGeom>
          <a:noFill/>
        </p:spPr>
        <p:txBody>
          <a:bodyPr wrap="square" lIns="0" rIns="0" tIns="0" bIns="0" anchor="t">
            <a:noAutofit/>
          </a:bodyPr>
          <a:lstStyle/>
          <a:p>
            <a:pPr algn="l">
              <a:lnSpc>
                <a:spcPct val="122000"/>
              </a:lnSpc>
            </a:pPr>
            <a:r>
              <a:rPr sz="520" b="0" i="0">
                <a:solidFill>
                  <a:srgbClr val="64748B"/>
                </a:solidFill>
                <a:latin typeface="Consolas"/>
              </a:rPr>
              <a:t>the agent you embed</a:t>
            </a:r>
          </a:p>
        </p:txBody>
      </p:sp>
      <p:cxnSp>
        <p:nvCxnSpPr>
          <p:cNvPr id="14" name="Connector 13"/>
          <p:cNvCxnSpPr/>
          <p:nvPr/>
        </p:nvCxnSpPr>
        <p:spPr>
          <a:xfrm>
            <a:off x="1472184" y="2295144"/>
            <a:ext cx="0" cy="3465576"/>
          </a:xfrm>
          <a:prstGeom prst="line">
            <a:avLst/>
          </a:prstGeom>
          <a:ln w="8890">
            <a:solidFill>
              <a:srgbClr val="1E2C3E">
                <a:alpha val="50000"/>
              </a:srgbClr>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569463" y="1783080"/>
            <a:ext cx="1627632" cy="493776"/>
          </a:xfrm>
          <a:prstGeom prst="roundRect">
            <a:avLst>
              <a:gd name="adj" fmla="val 11111"/>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2660903" y="1856231"/>
            <a:ext cx="1463040" cy="155448"/>
          </a:xfrm>
          <a:prstGeom prst="rect">
            <a:avLst/>
          </a:prstGeom>
          <a:noFill/>
        </p:spPr>
        <p:txBody>
          <a:bodyPr wrap="square" lIns="0" rIns="0" tIns="0" bIns="0" anchor="t">
            <a:noAutofit/>
          </a:bodyPr>
          <a:lstStyle/>
          <a:p>
            <a:pPr algn="l">
              <a:lnSpc>
                <a:spcPct val="122000"/>
              </a:lnSpc>
            </a:pPr>
            <a:r>
              <a:rPr sz="680" b="1" i="0">
                <a:solidFill>
                  <a:srgbClr val="7DD3FC"/>
                </a:solidFill>
                <a:latin typeface="Consolas"/>
              </a:rPr>
              <a:t>REGISTER</a:t>
            </a:r>
          </a:p>
        </p:txBody>
      </p:sp>
      <p:sp>
        <p:nvSpPr>
          <p:cNvPr id="17" name="TextBox 16"/>
          <p:cNvSpPr txBox="1"/>
          <p:nvPr/>
        </p:nvSpPr>
        <p:spPr>
          <a:xfrm>
            <a:off x="2660903" y="2029967"/>
            <a:ext cx="1463040" cy="146304"/>
          </a:xfrm>
          <a:prstGeom prst="rect">
            <a:avLst/>
          </a:prstGeom>
          <a:noFill/>
        </p:spPr>
        <p:txBody>
          <a:bodyPr wrap="square" lIns="0" rIns="0" tIns="0" bIns="0" anchor="t">
            <a:noAutofit/>
          </a:bodyPr>
          <a:lstStyle/>
          <a:p>
            <a:pPr algn="l">
              <a:lnSpc>
                <a:spcPct val="122000"/>
              </a:lnSpc>
            </a:pPr>
            <a:r>
              <a:rPr sz="520" b="0" i="0">
                <a:solidFill>
                  <a:srgbClr val="64748B"/>
                </a:solidFill>
                <a:latin typeface="Consolas"/>
              </a:rPr>
              <a:t>POST /ingest/nodes</a:t>
            </a:r>
          </a:p>
        </p:txBody>
      </p:sp>
      <p:cxnSp>
        <p:nvCxnSpPr>
          <p:cNvPr id="18" name="Connector 17"/>
          <p:cNvCxnSpPr/>
          <p:nvPr/>
        </p:nvCxnSpPr>
        <p:spPr>
          <a:xfrm>
            <a:off x="3383279" y="2295144"/>
            <a:ext cx="0" cy="3465576"/>
          </a:xfrm>
          <a:prstGeom prst="line">
            <a:avLst/>
          </a:prstGeom>
          <a:ln w="8890">
            <a:solidFill>
              <a:srgbClr val="1E2C3E">
                <a:alpha val="50000"/>
              </a:srgbClr>
            </a:solidFill>
            <a:prstDash val="dash"/>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480559" y="1783080"/>
            <a:ext cx="1627632" cy="493776"/>
          </a:xfrm>
          <a:prstGeom prst="roundRect">
            <a:avLst>
              <a:gd name="adj" fmla="val 11111"/>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4571999" y="1856231"/>
            <a:ext cx="1463040" cy="155448"/>
          </a:xfrm>
          <a:prstGeom prst="rect">
            <a:avLst/>
          </a:prstGeom>
          <a:noFill/>
        </p:spPr>
        <p:txBody>
          <a:bodyPr wrap="square" lIns="0" rIns="0" tIns="0" bIns="0" anchor="t">
            <a:noAutofit/>
          </a:bodyPr>
          <a:lstStyle/>
          <a:p>
            <a:pPr algn="l">
              <a:lnSpc>
                <a:spcPct val="122000"/>
              </a:lnSpc>
            </a:pPr>
            <a:r>
              <a:rPr sz="680" b="1" i="0">
                <a:solidFill>
                  <a:srgbClr val="34D399"/>
                </a:solidFill>
                <a:latin typeface="Consolas"/>
              </a:rPr>
              <a:t>METRICS</a:t>
            </a:r>
          </a:p>
        </p:txBody>
      </p:sp>
      <p:sp>
        <p:nvSpPr>
          <p:cNvPr id="21" name="TextBox 20"/>
          <p:cNvSpPr txBox="1"/>
          <p:nvPr/>
        </p:nvSpPr>
        <p:spPr>
          <a:xfrm>
            <a:off x="4571999" y="2029967"/>
            <a:ext cx="1463040" cy="146304"/>
          </a:xfrm>
          <a:prstGeom prst="rect">
            <a:avLst/>
          </a:prstGeom>
          <a:noFill/>
        </p:spPr>
        <p:txBody>
          <a:bodyPr wrap="square" lIns="0" rIns="0" tIns="0" bIns="0" anchor="t">
            <a:noAutofit/>
          </a:bodyPr>
          <a:lstStyle/>
          <a:p>
            <a:pPr algn="l">
              <a:lnSpc>
                <a:spcPct val="122000"/>
              </a:lnSpc>
            </a:pPr>
            <a:r>
              <a:rPr sz="520" b="0" i="0">
                <a:solidFill>
                  <a:srgbClr val="64748B"/>
                </a:solidFill>
                <a:latin typeface="Consolas"/>
              </a:rPr>
              <a:t>POST /ingest/metrics</a:t>
            </a:r>
          </a:p>
        </p:txBody>
      </p:sp>
      <p:cxnSp>
        <p:nvCxnSpPr>
          <p:cNvPr id="22" name="Connector 21"/>
          <p:cNvCxnSpPr/>
          <p:nvPr/>
        </p:nvCxnSpPr>
        <p:spPr>
          <a:xfrm>
            <a:off x="5294375" y="2295144"/>
            <a:ext cx="0" cy="3465576"/>
          </a:xfrm>
          <a:prstGeom prst="line">
            <a:avLst/>
          </a:prstGeom>
          <a:ln w="8890">
            <a:solidFill>
              <a:srgbClr val="1E2C3E">
                <a:alpha val="50000"/>
              </a:srgbClr>
            </a:solidFill>
            <a:prstDash val="dash"/>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391655" y="1783080"/>
            <a:ext cx="1627632" cy="493776"/>
          </a:xfrm>
          <a:prstGeom prst="roundRect">
            <a:avLst>
              <a:gd name="adj" fmla="val 11111"/>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6483095" y="1856231"/>
            <a:ext cx="1463040" cy="155448"/>
          </a:xfrm>
          <a:prstGeom prst="rect">
            <a:avLst/>
          </a:prstGeom>
          <a:noFill/>
        </p:spPr>
        <p:txBody>
          <a:bodyPr wrap="square" lIns="0" rIns="0" tIns="0" bIns="0" anchor="t">
            <a:noAutofit/>
          </a:bodyPr>
          <a:lstStyle/>
          <a:p>
            <a:pPr algn="l">
              <a:lnSpc>
                <a:spcPct val="122000"/>
              </a:lnSpc>
            </a:pPr>
            <a:r>
              <a:rPr sz="680" b="1" i="0">
                <a:solidFill>
                  <a:srgbClr val="FBBF24"/>
                </a:solidFill>
                <a:latin typeface="Consolas"/>
              </a:rPr>
              <a:t>EVENTS</a:t>
            </a:r>
          </a:p>
        </p:txBody>
      </p:sp>
      <p:sp>
        <p:nvSpPr>
          <p:cNvPr id="25" name="TextBox 24"/>
          <p:cNvSpPr txBox="1"/>
          <p:nvPr/>
        </p:nvSpPr>
        <p:spPr>
          <a:xfrm>
            <a:off x="6483095" y="2029967"/>
            <a:ext cx="1463040" cy="146304"/>
          </a:xfrm>
          <a:prstGeom prst="rect">
            <a:avLst/>
          </a:prstGeom>
          <a:noFill/>
        </p:spPr>
        <p:txBody>
          <a:bodyPr wrap="square" lIns="0" rIns="0" tIns="0" bIns="0" anchor="t">
            <a:noAutofit/>
          </a:bodyPr>
          <a:lstStyle/>
          <a:p>
            <a:pPr algn="l">
              <a:lnSpc>
                <a:spcPct val="122000"/>
              </a:lnSpc>
            </a:pPr>
            <a:r>
              <a:rPr sz="520" b="0" i="0">
                <a:solidFill>
                  <a:srgbClr val="64748B"/>
                </a:solidFill>
                <a:latin typeface="Consolas"/>
              </a:rPr>
              <a:t>POST /ingest/events</a:t>
            </a:r>
          </a:p>
        </p:txBody>
      </p:sp>
      <p:cxnSp>
        <p:nvCxnSpPr>
          <p:cNvPr id="26" name="Connector 25"/>
          <p:cNvCxnSpPr/>
          <p:nvPr/>
        </p:nvCxnSpPr>
        <p:spPr>
          <a:xfrm>
            <a:off x="7205471" y="2295144"/>
            <a:ext cx="0" cy="3465576"/>
          </a:xfrm>
          <a:prstGeom prst="line">
            <a:avLst/>
          </a:prstGeom>
          <a:ln w="8890">
            <a:solidFill>
              <a:srgbClr val="1E2C3E">
                <a:alpha val="50000"/>
              </a:srgbClr>
            </a:solidFill>
            <a:prstDash val="dash"/>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302752" y="1783080"/>
            <a:ext cx="1627632" cy="493776"/>
          </a:xfrm>
          <a:prstGeom prst="roundRect">
            <a:avLst>
              <a:gd name="adj" fmla="val 11111"/>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8394192" y="1856231"/>
            <a:ext cx="1463040" cy="155448"/>
          </a:xfrm>
          <a:prstGeom prst="rect">
            <a:avLst/>
          </a:prstGeom>
          <a:noFill/>
        </p:spPr>
        <p:txBody>
          <a:bodyPr wrap="square" lIns="0" rIns="0" tIns="0" bIns="0" anchor="t">
            <a:noAutofit/>
          </a:bodyPr>
          <a:lstStyle/>
          <a:p>
            <a:pPr algn="l">
              <a:lnSpc>
                <a:spcPct val="122000"/>
              </a:lnSpc>
            </a:pPr>
            <a:r>
              <a:rPr sz="680" b="1" i="0">
                <a:solidFill>
                  <a:srgbClr val="A78BFA"/>
                </a:solidFill>
                <a:latin typeface="Consolas"/>
              </a:rPr>
              <a:t>HELIOS OPS</a:t>
            </a:r>
          </a:p>
        </p:txBody>
      </p:sp>
      <p:sp>
        <p:nvSpPr>
          <p:cNvPr id="29" name="TextBox 28"/>
          <p:cNvSpPr txBox="1"/>
          <p:nvPr/>
        </p:nvSpPr>
        <p:spPr>
          <a:xfrm>
            <a:off x="8394192" y="2029967"/>
            <a:ext cx="1463040" cy="146304"/>
          </a:xfrm>
          <a:prstGeom prst="rect">
            <a:avLst/>
          </a:prstGeom>
          <a:noFill/>
        </p:spPr>
        <p:txBody>
          <a:bodyPr wrap="square" lIns="0" rIns="0" tIns="0" bIns="0" anchor="t">
            <a:noAutofit/>
          </a:bodyPr>
          <a:lstStyle/>
          <a:p>
            <a:pPr algn="l">
              <a:lnSpc>
                <a:spcPct val="122000"/>
              </a:lnSpc>
            </a:pPr>
            <a:r>
              <a:rPr sz="520" b="0" i="0">
                <a:solidFill>
                  <a:srgbClr val="64748B"/>
                </a:solidFill>
                <a:latin typeface="Consolas"/>
              </a:rPr>
              <a:t>engine + SSE</a:t>
            </a:r>
          </a:p>
        </p:txBody>
      </p:sp>
      <p:cxnSp>
        <p:nvCxnSpPr>
          <p:cNvPr id="30" name="Connector 29"/>
          <p:cNvCxnSpPr/>
          <p:nvPr/>
        </p:nvCxnSpPr>
        <p:spPr>
          <a:xfrm>
            <a:off x="9116568" y="2295144"/>
            <a:ext cx="0" cy="3465576"/>
          </a:xfrm>
          <a:prstGeom prst="line">
            <a:avLst/>
          </a:prstGeom>
          <a:ln w="8890">
            <a:solidFill>
              <a:srgbClr val="1E2C3E">
                <a:alpha val="50000"/>
              </a:srgbClr>
            </a:solidFill>
            <a:prstDash val="dash"/>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213848" y="1783080"/>
            <a:ext cx="1627632" cy="493776"/>
          </a:xfrm>
          <a:prstGeom prst="roundRect">
            <a:avLst>
              <a:gd name="adj" fmla="val 11111"/>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10305288" y="1856231"/>
            <a:ext cx="1463040" cy="155448"/>
          </a:xfrm>
          <a:prstGeom prst="rect">
            <a:avLst/>
          </a:prstGeom>
          <a:noFill/>
        </p:spPr>
        <p:txBody>
          <a:bodyPr wrap="square" lIns="0" rIns="0" tIns="0" bIns="0" anchor="t">
            <a:noAutofit/>
          </a:bodyPr>
          <a:lstStyle/>
          <a:p>
            <a:pPr algn="l">
              <a:lnSpc>
                <a:spcPct val="122000"/>
              </a:lnSpc>
            </a:pPr>
            <a:r>
              <a:rPr sz="680" b="1" i="0">
                <a:solidFill>
                  <a:srgbClr val="7DD3FC"/>
                </a:solidFill>
                <a:latin typeface="Consolas"/>
              </a:rPr>
              <a:t>CANVAS</a:t>
            </a:r>
          </a:p>
        </p:txBody>
      </p:sp>
      <p:sp>
        <p:nvSpPr>
          <p:cNvPr id="33" name="TextBox 32"/>
          <p:cNvSpPr txBox="1"/>
          <p:nvPr/>
        </p:nvSpPr>
        <p:spPr>
          <a:xfrm>
            <a:off x="10305288" y="2029967"/>
            <a:ext cx="1463040" cy="146304"/>
          </a:xfrm>
          <a:prstGeom prst="rect">
            <a:avLst/>
          </a:prstGeom>
          <a:noFill/>
        </p:spPr>
        <p:txBody>
          <a:bodyPr wrap="square" lIns="0" rIns="0" tIns="0" bIns="0" anchor="t">
            <a:noAutofit/>
          </a:bodyPr>
          <a:lstStyle/>
          <a:p>
            <a:pPr algn="l">
              <a:lnSpc>
                <a:spcPct val="122000"/>
              </a:lnSpc>
            </a:pPr>
            <a:r>
              <a:rPr sz="520" b="0" i="0">
                <a:solidFill>
                  <a:srgbClr val="64748B"/>
                </a:solidFill>
                <a:latin typeface="Consolas"/>
              </a:rPr>
              <a:t>operator</a:t>
            </a:r>
          </a:p>
        </p:txBody>
      </p:sp>
      <p:cxnSp>
        <p:nvCxnSpPr>
          <p:cNvPr id="34" name="Connector 33"/>
          <p:cNvCxnSpPr/>
          <p:nvPr/>
        </p:nvCxnSpPr>
        <p:spPr>
          <a:xfrm>
            <a:off x="11027664" y="2295144"/>
            <a:ext cx="0" cy="3465576"/>
          </a:xfrm>
          <a:prstGeom prst="line">
            <a:avLst/>
          </a:prstGeom>
          <a:ln w="8890">
            <a:solidFill>
              <a:srgbClr val="1E2C3E">
                <a:alpha val="50000"/>
              </a:srgbClr>
            </a:solidFill>
            <a:prstDash val="dash"/>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21792" y="2523744"/>
            <a:ext cx="11256264" cy="932688"/>
          </a:xfrm>
          <a:prstGeom prst="roundRect">
            <a:avLst>
              <a:gd name="adj" fmla="val 4901"/>
            </a:avLst>
          </a:prstGeom>
          <a:solidFill>
            <a:srgbClr val="0A1520">
              <a:alpha val="60000"/>
            </a:srgbClr>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731519" y="2578608"/>
            <a:ext cx="2743200" cy="137160"/>
          </a:xfrm>
          <a:prstGeom prst="rect">
            <a:avLst/>
          </a:prstGeom>
          <a:noFill/>
        </p:spPr>
        <p:txBody>
          <a:bodyPr wrap="square" lIns="0" rIns="0" tIns="0" bIns="0" anchor="t">
            <a:noAutofit/>
          </a:bodyPr>
          <a:lstStyle/>
          <a:p>
            <a:pPr algn="l">
              <a:lnSpc>
                <a:spcPct val="122000"/>
              </a:lnSpc>
            </a:pPr>
            <a:r>
              <a:rPr sz="590" b="0" i="0" spc="110">
                <a:solidFill>
                  <a:srgbClr val="7DD3FC"/>
                </a:solidFill>
                <a:latin typeface="Consolas"/>
              </a:rPr>
              <a:t>BOOT · ONCE PER PROCESS</a:t>
            </a:r>
          </a:p>
        </p:txBody>
      </p:sp>
      <p:cxnSp>
        <p:nvCxnSpPr>
          <p:cNvPr id="37" name="Connector 36"/>
          <p:cNvCxnSpPr/>
          <p:nvPr/>
        </p:nvCxnSpPr>
        <p:spPr>
          <a:xfrm>
            <a:off x="1472184" y="2852928"/>
            <a:ext cx="1911095" cy="0"/>
          </a:xfrm>
          <a:prstGeom prst="line">
            <a:avLst/>
          </a:prstGeom>
          <a:ln w="12700">
            <a:solidFill>
              <a:srgbClr val="7DD3FC">
                <a:alpha val="90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1517904" y="2688336"/>
            <a:ext cx="128016" cy="128016"/>
          </a:xfrm>
          <a:prstGeom prst="ellipse">
            <a:avLst/>
          </a:prstGeom>
          <a:solidFill>
            <a:srgbClr val="7DD3FC">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17904" y="2693822"/>
            <a:ext cx="128016" cy="100584"/>
          </a:xfrm>
          <a:prstGeom prst="rect">
            <a:avLst/>
          </a:prstGeom>
          <a:noFill/>
        </p:spPr>
        <p:txBody>
          <a:bodyPr wrap="square" lIns="0" rIns="0" tIns="0" bIns="0" anchor="t">
            <a:noAutofit/>
          </a:bodyPr>
          <a:lstStyle/>
          <a:p>
            <a:pPr algn="ctr">
              <a:lnSpc>
                <a:spcPct val="122000"/>
              </a:lnSpc>
            </a:pPr>
            <a:r>
              <a:rPr sz="500" b="1" i="0">
                <a:solidFill>
                  <a:srgbClr val="05070D"/>
                </a:solidFill>
                <a:latin typeface="Consolas"/>
              </a:rPr>
              <a:t>1</a:t>
            </a:r>
          </a:p>
        </p:txBody>
      </p:sp>
      <p:sp>
        <p:nvSpPr>
          <p:cNvPr id="40" name="TextBox 39"/>
          <p:cNvSpPr txBox="1"/>
          <p:nvPr/>
        </p:nvSpPr>
        <p:spPr>
          <a:xfrm>
            <a:off x="1499616" y="2665476"/>
            <a:ext cx="1856231" cy="164592"/>
          </a:xfrm>
          <a:prstGeom prst="rect">
            <a:avLst/>
          </a:prstGeom>
          <a:noFill/>
        </p:spPr>
        <p:txBody>
          <a:bodyPr wrap="square" lIns="0" rIns="0" tIns="0" bIns="0" anchor="t">
            <a:noAutofit/>
          </a:bodyPr>
          <a:lstStyle/>
          <a:p>
            <a:pPr algn="ctr">
              <a:lnSpc>
                <a:spcPct val="100000"/>
              </a:lnSpc>
            </a:pPr>
            <a:r>
              <a:rPr sz="600" b="0" i="0">
                <a:solidFill>
                  <a:srgbClr val="7DD3FC"/>
                </a:solidFill>
                <a:latin typeface="Consolas"/>
              </a:rPr>
              <a:t>register parents first</a:t>
            </a:r>
          </a:p>
        </p:txBody>
      </p:sp>
      <p:cxnSp>
        <p:nvCxnSpPr>
          <p:cNvPr id="41" name="Connector 40"/>
          <p:cNvCxnSpPr/>
          <p:nvPr/>
        </p:nvCxnSpPr>
        <p:spPr>
          <a:xfrm>
            <a:off x="3383279" y="2852928"/>
            <a:ext cx="5733289" cy="0"/>
          </a:xfrm>
          <a:prstGeom prst="line">
            <a:avLst/>
          </a:prstGeom>
          <a:ln w="12700">
            <a:solidFill>
              <a:srgbClr val="9DB0C6">
                <a:alpha val="90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410711" y="2665476"/>
            <a:ext cx="5678424" cy="164592"/>
          </a:xfrm>
          <a:prstGeom prst="rect">
            <a:avLst/>
          </a:prstGeom>
          <a:noFill/>
        </p:spPr>
        <p:txBody>
          <a:bodyPr wrap="square" lIns="0" rIns="0" tIns="0" bIns="0" anchor="t">
            <a:noAutofit/>
          </a:bodyPr>
          <a:lstStyle/>
          <a:p>
            <a:pPr algn="ctr">
              <a:lnSpc>
                <a:spcPct val="100000"/>
              </a:lnSpc>
            </a:pPr>
            <a:r>
              <a:rPr sz="600" b="0" i="0">
                <a:solidFill>
                  <a:srgbClr val="9DB0C6"/>
                </a:solidFill>
                <a:latin typeface="Consolas"/>
              </a:rPr>
              <a:t>200 · upsert + engine sync</a:t>
            </a:r>
          </a:p>
        </p:txBody>
      </p:sp>
      <p:cxnSp>
        <p:nvCxnSpPr>
          <p:cNvPr id="43" name="Connector 42"/>
          <p:cNvCxnSpPr/>
          <p:nvPr/>
        </p:nvCxnSpPr>
        <p:spPr>
          <a:xfrm>
            <a:off x="1472184" y="3200400"/>
            <a:ext cx="1911095" cy="0"/>
          </a:xfrm>
          <a:prstGeom prst="line">
            <a:avLst/>
          </a:prstGeom>
          <a:ln w="12700">
            <a:solidFill>
              <a:srgbClr val="7DD3FC">
                <a:alpha val="90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1517904" y="3035808"/>
            <a:ext cx="128016" cy="128016"/>
          </a:xfrm>
          <a:prstGeom prst="ellipse">
            <a:avLst/>
          </a:prstGeom>
          <a:solidFill>
            <a:srgbClr val="7DD3FC">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517904" y="3041294"/>
            <a:ext cx="128016" cy="100584"/>
          </a:xfrm>
          <a:prstGeom prst="rect">
            <a:avLst/>
          </a:prstGeom>
          <a:noFill/>
        </p:spPr>
        <p:txBody>
          <a:bodyPr wrap="square" lIns="0" rIns="0" tIns="0" bIns="0" anchor="t">
            <a:noAutofit/>
          </a:bodyPr>
          <a:lstStyle/>
          <a:p>
            <a:pPr algn="ctr">
              <a:lnSpc>
                <a:spcPct val="122000"/>
              </a:lnSpc>
            </a:pPr>
            <a:r>
              <a:rPr sz="500" b="1" i="0">
                <a:solidFill>
                  <a:srgbClr val="05070D"/>
                </a:solidFill>
                <a:latin typeface="Consolas"/>
              </a:rPr>
              <a:t>2</a:t>
            </a:r>
          </a:p>
        </p:txBody>
      </p:sp>
      <p:sp>
        <p:nvSpPr>
          <p:cNvPr id="46" name="TextBox 45"/>
          <p:cNvSpPr txBox="1"/>
          <p:nvPr/>
        </p:nvSpPr>
        <p:spPr>
          <a:xfrm>
            <a:off x="1499616" y="3012948"/>
            <a:ext cx="1856231" cy="164592"/>
          </a:xfrm>
          <a:prstGeom prst="rect">
            <a:avLst/>
          </a:prstGeom>
          <a:noFill/>
        </p:spPr>
        <p:txBody>
          <a:bodyPr wrap="square" lIns="0" rIns="0" tIns="0" bIns="0" anchor="t">
            <a:noAutofit/>
          </a:bodyPr>
          <a:lstStyle/>
          <a:p>
            <a:pPr algn="ctr">
              <a:lnSpc>
                <a:spcPct val="100000"/>
              </a:lnSpc>
            </a:pPr>
            <a:r>
              <a:rPr sz="600" b="0" i="0">
                <a:solidFill>
                  <a:srgbClr val="7DD3FC"/>
                </a:solidFill>
                <a:latin typeface="Consolas"/>
              </a:rPr>
              <a:t>register service + endpoints</a:t>
            </a:r>
          </a:p>
        </p:txBody>
      </p:sp>
      <p:cxnSp>
        <p:nvCxnSpPr>
          <p:cNvPr id="47" name="Connector 46"/>
          <p:cNvCxnSpPr/>
          <p:nvPr/>
        </p:nvCxnSpPr>
        <p:spPr>
          <a:xfrm>
            <a:off x="3383279" y="3200400"/>
            <a:ext cx="5733289" cy="0"/>
          </a:xfrm>
          <a:prstGeom prst="line">
            <a:avLst/>
          </a:prstGeom>
          <a:ln w="12700">
            <a:solidFill>
              <a:srgbClr val="9DB0C6">
                <a:alpha val="90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410711" y="3012948"/>
            <a:ext cx="5678424" cy="164592"/>
          </a:xfrm>
          <a:prstGeom prst="rect">
            <a:avLst/>
          </a:prstGeom>
          <a:noFill/>
        </p:spPr>
        <p:txBody>
          <a:bodyPr wrap="square" lIns="0" rIns="0" tIns="0" bIns="0" anchor="t">
            <a:noAutofit/>
          </a:bodyPr>
          <a:lstStyle/>
          <a:p>
            <a:pPr algn="ctr">
              <a:lnSpc>
                <a:spcPct val="100000"/>
              </a:lnSpc>
            </a:pPr>
            <a:r>
              <a:rPr sz="600" b="0" i="0">
                <a:solidFill>
                  <a:srgbClr val="9DB0C6"/>
                </a:solidFill>
                <a:latin typeface="Consolas"/>
              </a:rPr>
              <a:t>200 · visible under its parent</a:t>
            </a:r>
          </a:p>
        </p:txBody>
      </p:sp>
      <p:sp>
        <p:nvSpPr>
          <p:cNvPr id="49" name="Rounded Rectangle 48"/>
          <p:cNvSpPr/>
          <p:nvPr/>
        </p:nvSpPr>
        <p:spPr>
          <a:xfrm>
            <a:off x="621792" y="3675887"/>
            <a:ext cx="11256264" cy="1024128"/>
          </a:xfrm>
          <a:prstGeom prst="roundRect">
            <a:avLst>
              <a:gd name="adj" fmla="val 4464"/>
            </a:avLst>
          </a:prstGeom>
          <a:solidFill>
            <a:srgbClr val="08140F">
              <a:alpha val="60000"/>
            </a:srgbClr>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0" name="TextBox 49"/>
          <p:cNvSpPr txBox="1"/>
          <p:nvPr/>
        </p:nvSpPr>
        <p:spPr>
          <a:xfrm>
            <a:off x="731519" y="3730752"/>
            <a:ext cx="3657600" cy="137160"/>
          </a:xfrm>
          <a:prstGeom prst="rect">
            <a:avLst/>
          </a:prstGeom>
          <a:noFill/>
        </p:spPr>
        <p:txBody>
          <a:bodyPr wrap="square" lIns="0" rIns="0" tIns="0" bIns="0" anchor="t">
            <a:noAutofit/>
          </a:bodyPr>
          <a:lstStyle/>
          <a:p>
            <a:pPr algn="l">
              <a:lnSpc>
                <a:spcPct val="122000"/>
              </a:lnSpc>
            </a:pPr>
            <a:r>
              <a:rPr sz="590" b="0" i="0" spc="110">
                <a:solidFill>
                  <a:srgbClr val="34D399"/>
                </a:solidFill>
                <a:latin typeface="Consolas"/>
              </a:rPr>
              <a:t>LOOP · EVERY 15–60 SECONDS</a:t>
            </a:r>
          </a:p>
        </p:txBody>
      </p:sp>
      <p:cxnSp>
        <p:nvCxnSpPr>
          <p:cNvPr id="51" name="Connector 50"/>
          <p:cNvCxnSpPr/>
          <p:nvPr/>
        </p:nvCxnSpPr>
        <p:spPr>
          <a:xfrm>
            <a:off x="1472184" y="4005072"/>
            <a:ext cx="3822191" cy="0"/>
          </a:xfrm>
          <a:prstGeom prst="line">
            <a:avLst/>
          </a:prstGeom>
          <a:ln w="12700">
            <a:solidFill>
              <a:srgbClr val="34D399">
                <a:alpha val="90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1517904" y="3840480"/>
            <a:ext cx="128016" cy="128016"/>
          </a:xfrm>
          <a:prstGeom prst="ellipse">
            <a:avLst/>
          </a:prstGeom>
          <a:solidFill>
            <a:srgbClr val="34D399">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17904" y="3845966"/>
            <a:ext cx="128016" cy="100584"/>
          </a:xfrm>
          <a:prstGeom prst="rect">
            <a:avLst/>
          </a:prstGeom>
          <a:noFill/>
        </p:spPr>
        <p:txBody>
          <a:bodyPr wrap="square" lIns="0" rIns="0" tIns="0" bIns="0" anchor="t">
            <a:noAutofit/>
          </a:bodyPr>
          <a:lstStyle/>
          <a:p>
            <a:pPr algn="ctr">
              <a:lnSpc>
                <a:spcPct val="122000"/>
              </a:lnSpc>
            </a:pPr>
            <a:r>
              <a:rPr sz="500" b="1" i="0">
                <a:solidFill>
                  <a:srgbClr val="05070D"/>
                </a:solidFill>
                <a:latin typeface="Consolas"/>
              </a:rPr>
              <a:t>3</a:t>
            </a:r>
          </a:p>
        </p:txBody>
      </p:sp>
      <p:sp>
        <p:nvSpPr>
          <p:cNvPr id="54" name="TextBox 53"/>
          <p:cNvSpPr txBox="1"/>
          <p:nvPr/>
        </p:nvSpPr>
        <p:spPr>
          <a:xfrm>
            <a:off x="1499615" y="3817620"/>
            <a:ext cx="3767328" cy="164592"/>
          </a:xfrm>
          <a:prstGeom prst="rect">
            <a:avLst/>
          </a:prstGeom>
          <a:noFill/>
        </p:spPr>
        <p:txBody>
          <a:bodyPr wrap="square" lIns="0" rIns="0" tIns="0" bIns="0" anchor="t">
            <a:noAutofit/>
          </a:bodyPr>
          <a:lstStyle/>
          <a:p>
            <a:pPr algn="ctr">
              <a:lnSpc>
                <a:spcPct val="100000"/>
              </a:lnSpc>
            </a:pPr>
            <a:r>
              <a:rPr sz="600" b="0" i="0">
                <a:solidFill>
                  <a:srgbClr val="34D399"/>
                </a:solidFill>
                <a:latin typeface="Consolas"/>
              </a:rPr>
              <a:t>snapshot · cpu mem disk rps err lat</a:t>
            </a:r>
          </a:p>
        </p:txBody>
      </p:sp>
      <p:cxnSp>
        <p:nvCxnSpPr>
          <p:cNvPr id="55" name="Connector 54"/>
          <p:cNvCxnSpPr/>
          <p:nvPr/>
        </p:nvCxnSpPr>
        <p:spPr>
          <a:xfrm>
            <a:off x="5294375" y="4005072"/>
            <a:ext cx="3822193" cy="0"/>
          </a:xfrm>
          <a:prstGeom prst="line">
            <a:avLst/>
          </a:prstGeom>
          <a:ln w="12700">
            <a:solidFill>
              <a:srgbClr val="9DB0C6">
                <a:alpha val="90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321807" y="3817620"/>
            <a:ext cx="3767328" cy="164592"/>
          </a:xfrm>
          <a:prstGeom prst="rect">
            <a:avLst/>
          </a:prstGeom>
          <a:noFill/>
        </p:spPr>
        <p:txBody>
          <a:bodyPr wrap="square" lIns="0" rIns="0" tIns="0" bIns="0" anchor="t">
            <a:noAutofit/>
          </a:bodyPr>
          <a:lstStyle/>
          <a:p>
            <a:pPr algn="ctr">
              <a:lnSpc>
                <a:spcPct val="100000"/>
              </a:lnSpc>
            </a:pPr>
            <a:r>
              <a:rPr sz="600" b="0" i="0">
                <a:solidFill>
                  <a:srgbClr val="9DB0C6"/>
                </a:solidFill>
                <a:latin typeface="Consolas"/>
              </a:rPr>
              <a:t>upsert + broadcast</a:t>
            </a:r>
          </a:p>
        </p:txBody>
      </p:sp>
      <p:cxnSp>
        <p:nvCxnSpPr>
          <p:cNvPr id="57" name="Connector 56"/>
          <p:cNvCxnSpPr/>
          <p:nvPr/>
        </p:nvCxnSpPr>
        <p:spPr>
          <a:xfrm>
            <a:off x="9116568" y="4389120"/>
            <a:ext cx="1911096" cy="0"/>
          </a:xfrm>
          <a:prstGeom prst="line">
            <a:avLst/>
          </a:prstGeom>
          <a:ln w="12700">
            <a:solidFill>
              <a:srgbClr val="A78BFA">
                <a:alpha val="90000"/>
              </a:srgbClr>
            </a:solidFill>
            <a:headEnd type="triangle" w="sm" len="sm"/>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10844784" y="4224528"/>
            <a:ext cx="128016" cy="128016"/>
          </a:xfrm>
          <a:prstGeom prst="ellipse">
            <a:avLst/>
          </a:prstGeom>
          <a:solidFill>
            <a:srgbClr val="A78BFA">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844784" y="4230014"/>
            <a:ext cx="128016" cy="100584"/>
          </a:xfrm>
          <a:prstGeom prst="rect">
            <a:avLst/>
          </a:prstGeom>
          <a:noFill/>
        </p:spPr>
        <p:txBody>
          <a:bodyPr wrap="square" lIns="0" rIns="0" tIns="0" bIns="0" anchor="t">
            <a:noAutofit/>
          </a:bodyPr>
          <a:lstStyle/>
          <a:p>
            <a:pPr algn="ctr">
              <a:lnSpc>
                <a:spcPct val="122000"/>
              </a:lnSpc>
            </a:pPr>
            <a:r>
              <a:rPr sz="500" b="1" i="0">
                <a:solidFill>
                  <a:srgbClr val="05070D"/>
                </a:solidFill>
                <a:latin typeface="Consolas"/>
              </a:rPr>
              <a:t>4</a:t>
            </a:r>
          </a:p>
        </p:txBody>
      </p:sp>
      <p:sp>
        <p:nvSpPr>
          <p:cNvPr id="60" name="TextBox 59"/>
          <p:cNvSpPr txBox="1"/>
          <p:nvPr/>
        </p:nvSpPr>
        <p:spPr>
          <a:xfrm>
            <a:off x="9144000" y="4201668"/>
            <a:ext cx="1856231" cy="164592"/>
          </a:xfrm>
          <a:prstGeom prst="rect">
            <a:avLst/>
          </a:prstGeom>
          <a:noFill/>
        </p:spPr>
        <p:txBody>
          <a:bodyPr wrap="square" lIns="0" rIns="0" tIns="0" bIns="0" anchor="t">
            <a:noAutofit/>
          </a:bodyPr>
          <a:lstStyle/>
          <a:p>
            <a:pPr algn="ctr">
              <a:lnSpc>
                <a:spcPct val="100000"/>
              </a:lnSpc>
            </a:pPr>
            <a:r>
              <a:rPr sz="600" b="0" i="0">
                <a:solidFill>
                  <a:srgbClr val="A78BFA"/>
                </a:solidFill>
                <a:latin typeface="Consolas"/>
              </a:rPr>
              <a:t>SSE metrics · status</a:t>
            </a:r>
          </a:p>
        </p:txBody>
      </p:sp>
      <p:cxnSp>
        <p:nvCxnSpPr>
          <p:cNvPr id="61" name="Connector 60"/>
          <p:cNvCxnSpPr/>
          <p:nvPr/>
        </p:nvCxnSpPr>
        <p:spPr>
          <a:xfrm>
            <a:off x="1472184" y="5047488"/>
            <a:ext cx="5733287" cy="0"/>
          </a:xfrm>
          <a:prstGeom prst="line">
            <a:avLst/>
          </a:prstGeom>
          <a:ln w="12700">
            <a:solidFill>
              <a:srgbClr val="FBBF24">
                <a:alpha val="90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1517904" y="4882896"/>
            <a:ext cx="128016" cy="128016"/>
          </a:xfrm>
          <a:prstGeom prst="ellipse">
            <a:avLst/>
          </a:prstGeom>
          <a:solidFill>
            <a:srgbClr val="FBBF24">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517904" y="4888382"/>
            <a:ext cx="128016" cy="100584"/>
          </a:xfrm>
          <a:prstGeom prst="rect">
            <a:avLst/>
          </a:prstGeom>
          <a:noFill/>
        </p:spPr>
        <p:txBody>
          <a:bodyPr wrap="square" lIns="0" rIns="0" tIns="0" bIns="0" anchor="t">
            <a:noAutofit/>
          </a:bodyPr>
          <a:lstStyle/>
          <a:p>
            <a:pPr algn="ctr">
              <a:lnSpc>
                <a:spcPct val="122000"/>
              </a:lnSpc>
            </a:pPr>
            <a:r>
              <a:rPr sz="500" b="1" i="0">
                <a:solidFill>
                  <a:srgbClr val="05070D"/>
                </a:solidFill>
                <a:latin typeface="Consolas"/>
              </a:rPr>
              <a:t>5</a:t>
            </a:r>
          </a:p>
        </p:txBody>
      </p:sp>
      <p:sp>
        <p:nvSpPr>
          <p:cNvPr id="64" name="TextBox 63"/>
          <p:cNvSpPr txBox="1"/>
          <p:nvPr/>
        </p:nvSpPr>
        <p:spPr>
          <a:xfrm>
            <a:off x="1499615" y="4860036"/>
            <a:ext cx="5678424" cy="164592"/>
          </a:xfrm>
          <a:prstGeom prst="rect">
            <a:avLst/>
          </a:prstGeom>
          <a:noFill/>
        </p:spPr>
        <p:txBody>
          <a:bodyPr wrap="square" lIns="0" rIns="0" tIns="0" bIns="0" anchor="t">
            <a:noAutofit/>
          </a:bodyPr>
          <a:lstStyle/>
          <a:p>
            <a:pPr algn="ctr">
              <a:lnSpc>
                <a:spcPct val="100000"/>
              </a:lnSpc>
            </a:pPr>
            <a:r>
              <a:rPr sz="600" b="0" i="0">
                <a:solidFill>
                  <a:srgbClr val="FBBF24"/>
                </a:solidFill>
                <a:latin typeface="Consolas"/>
              </a:rPr>
              <a:t>deploy · exception · slow query</a:t>
            </a:r>
          </a:p>
        </p:txBody>
      </p:sp>
      <p:cxnSp>
        <p:nvCxnSpPr>
          <p:cNvPr id="65" name="Connector 64"/>
          <p:cNvCxnSpPr/>
          <p:nvPr/>
        </p:nvCxnSpPr>
        <p:spPr>
          <a:xfrm>
            <a:off x="7205471" y="5047488"/>
            <a:ext cx="1911097" cy="0"/>
          </a:xfrm>
          <a:prstGeom prst="line">
            <a:avLst/>
          </a:prstGeom>
          <a:ln w="12700">
            <a:solidFill>
              <a:srgbClr val="9DB0C6">
                <a:alpha val="90000"/>
              </a:srgbClr>
            </a:solidFill>
            <a:tailEnd type="triangle" w="sm" len="sm"/>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7232904" y="4860036"/>
            <a:ext cx="1856232" cy="164592"/>
          </a:xfrm>
          <a:prstGeom prst="rect">
            <a:avLst/>
          </a:prstGeom>
          <a:noFill/>
        </p:spPr>
        <p:txBody>
          <a:bodyPr wrap="square" lIns="0" rIns="0" tIns="0" bIns="0" anchor="t">
            <a:noAutofit/>
          </a:bodyPr>
          <a:lstStyle/>
          <a:p>
            <a:pPr algn="ctr">
              <a:lnSpc>
                <a:spcPct val="100000"/>
              </a:lnSpc>
            </a:pPr>
            <a:r>
              <a:rPr sz="600" b="0" i="0">
                <a:solidFill>
                  <a:srgbClr val="9DB0C6"/>
                </a:solidFill>
                <a:latin typeface="Consolas"/>
              </a:rPr>
              <a:t>insert + broadcast</a:t>
            </a:r>
          </a:p>
        </p:txBody>
      </p:sp>
      <p:cxnSp>
        <p:nvCxnSpPr>
          <p:cNvPr id="67" name="Connector 66"/>
          <p:cNvCxnSpPr/>
          <p:nvPr/>
        </p:nvCxnSpPr>
        <p:spPr>
          <a:xfrm>
            <a:off x="9116568" y="5431536"/>
            <a:ext cx="1911096" cy="0"/>
          </a:xfrm>
          <a:prstGeom prst="line">
            <a:avLst/>
          </a:prstGeom>
          <a:ln w="12700">
            <a:solidFill>
              <a:srgbClr val="A78BFA">
                <a:alpha val="90000"/>
              </a:srgbClr>
            </a:solidFill>
            <a:headEnd type="triangle" w="sm" len="sm"/>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10844784" y="5266944"/>
            <a:ext cx="128016" cy="128016"/>
          </a:xfrm>
          <a:prstGeom prst="ellipse">
            <a:avLst/>
          </a:prstGeom>
          <a:solidFill>
            <a:srgbClr val="A78BFA">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844784" y="5272430"/>
            <a:ext cx="128016" cy="100584"/>
          </a:xfrm>
          <a:prstGeom prst="rect">
            <a:avLst/>
          </a:prstGeom>
          <a:noFill/>
        </p:spPr>
        <p:txBody>
          <a:bodyPr wrap="square" lIns="0" rIns="0" tIns="0" bIns="0" anchor="t">
            <a:noAutofit/>
          </a:bodyPr>
          <a:lstStyle/>
          <a:p>
            <a:pPr algn="ctr">
              <a:lnSpc>
                <a:spcPct val="122000"/>
              </a:lnSpc>
            </a:pPr>
            <a:r>
              <a:rPr sz="500" b="1" i="0">
                <a:solidFill>
                  <a:srgbClr val="05070D"/>
                </a:solidFill>
                <a:latin typeface="Consolas"/>
              </a:rPr>
              <a:t>6</a:t>
            </a:r>
          </a:p>
        </p:txBody>
      </p:sp>
      <p:sp>
        <p:nvSpPr>
          <p:cNvPr id="70" name="TextBox 69"/>
          <p:cNvSpPr txBox="1"/>
          <p:nvPr/>
        </p:nvSpPr>
        <p:spPr>
          <a:xfrm>
            <a:off x="9144000" y="5244084"/>
            <a:ext cx="1856231" cy="164592"/>
          </a:xfrm>
          <a:prstGeom prst="rect">
            <a:avLst/>
          </a:prstGeom>
          <a:noFill/>
        </p:spPr>
        <p:txBody>
          <a:bodyPr wrap="square" lIns="0" rIns="0" tIns="0" bIns="0" anchor="t">
            <a:noAutofit/>
          </a:bodyPr>
          <a:lstStyle/>
          <a:p>
            <a:pPr algn="ctr">
              <a:lnSpc>
                <a:spcPct val="100000"/>
              </a:lnSpc>
            </a:pPr>
            <a:r>
              <a:rPr sz="600" b="0" i="0">
                <a:solidFill>
                  <a:srgbClr val="A78BFA"/>
                </a:solidFill>
                <a:latin typeface="Consolas"/>
              </a:rPr>
              <a:t>SSE event · node escalates</a:t>
            </a:r>
          </a:p>
        </p:txBody>
      </p:sp>
      <p:cxnSp>
        <p:nvCxnSpPr>
          <p:cNvPr id="71" name="Connector 70"/>
          <p:cNvCxnSpPr/>
          <p:nvPr/>
        </p:nvCxnSpPr>
        <p:spPr>
          <a:xfrm>
            <a:off x="566928" y="5815584"/>
            <a:ext cx="11055096"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66928" y="5888736"/>
            <a:ext cx="11055096" cy="164592"/>
          </a:xfrm>
          <a:prstGeom prst="rect">
            <a:avLst/>
          </a:prstGeom>
          <a:noFill/>
        </p:spPr>
        <p:txBody>
          <a:bodyPr wrap="square" lIns="0" rIns="0" tIns="0" bIns="0" anchor="t">
            <a:noAutofit/>
          </a:bodyPr>
          <a:lstStyle/>
          <a:p>
            <a:pPr algn="l">
              <a:lnSpc>
                <a:spcPct val="122000"/>
              </a:lnSpc>
            </a:pPr>
            <a:r>
              <a:rPr sz="640" b="0" i="0" spc="70">
                <a:solidFill>
                  <a:srgbClr val="64748B"/>
                </a:solidFill>
                <a:latin typeface="Consolas"/>
              </a:rPr>
              <a:t>THE AGENT NEVER BLOCKS:   4-SECOND TIMEOUT   ·   FIRE AND FORGET   ·   WARN ON FAILURE   ·   REGISTER ONCE AT BOOT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3.4 · MAPPING &amp; STATUS RULES</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Translate your world into the tree</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Every system has a shape. The job of integration is to land that shape on the fourteen node types without inventing new ones — and to keep the rollup honest.</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INTEGRATION</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22 / 27</a:t>
            </a:r>
          </a:p>
        </p:txBody>
      </p:sp>
      <p:sp>
        <p:nvSpPr>
          <p:cNvPr id="11" name="Rounded Rectangle 10"/>
          <p:cNvSpPr/>
          <p:nvPr/>
        </p:nvSpPr>
        <p:spPr>
          <a:xfrm>
            <a:off x="566928" y="1783080"/>
            <a:ext cx="6967728" cy="333756"/>
          </a:xfrm>
          <a:prstGeom prst="roundRect">
            <a:avLst>
              <a:gd name="adj" fmla="val 6849"/>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676656" y="1874519"/>
            <a:ext cx="1920240" cy="155448"/>
          </a:xfrm>
          <a:prstGeom prst="rect">
            <a:avLst/>
          </a:prstGeom>
          <a:noFill/>
        </p:spPr>
        <p:txBody>
          <a:bodyPr wrap="square" lIns="0" rIns="0" tIns="0" bIns="0" anchor="t">
            <a:noAutofit/>
          </a:bodyPr>
          <a:lstStyle/>
          <a:p>
            <a:pPr algn="l">
              <a:lnSpc>
                <a:spcPct val="122000"/>
              </a:lnSpc>
            </a:pPr>
            <a:r>
              <a:rPr sz="740" b="0" i="0">
                <a:solidFill>
                  <a:srgbClr val="E2E8F0"/>
                </a:solidFill>
                <a:latin typeface="Segoe UI"/>
              </a:rPr>
              <a:t>company / tenant</a:t>
            </a:r>
          </a:p>
        </p:txBody>
      </p:sp>
      <p:sp>
        <p:nvSpPr>
          <p:cNvPr id="13" name="TextBox 12"/>
          <p:cNvSpPr txBox="1"/>
          <p:nvPr/>
        </p:nvSpPr>
        <p:spPr>
          <a:xfrm>
            <a:off x="2670048" y="1874519"/>
            <a:ext cx="2212848" cy="155448"/>
          </a:xfrm>
          <a:prstGeom prst="rect">
            <a:avLst/>
          </a:prstGeom>
          <a:noFill/>
        </p:spPr>
        <p:txBody>
          <a:bodyPr wrap="square" lIns="0" rIns="0" tIns="0" bIns="0" anchor="t">
            <a:noAutofit/>
          </a:bodyPr>
          <a:lstStyle/>
          <a:p>
            <a:pPr algn="l">
              <a:lnSpc>
                <a:spcPct val="122000"/>
              </a:lnSpc>
            </a:pPr>
            <a:r>
              <a:rPr sz="740" b="0" i="0">
                <a:solidFill>
                  <a:srgbClr val="7DD3FC"/>
                </a:solidFill>
                <a:latin typeface="Consolas"/>
              </a:rPr>
              <a:t>organization</a:t>
            </a:r>
          </a:p>
        </p:txBody>
      </p:sp>
      <p:sp>
        <p:nvSpPr>
          <p:cNvPr id="14" name="TextBox 13"/>
          <p:cNvSpPr txBox="1"/>
          <p:nvPr/>
        </p:nvSpPr>
        <p:spPr>
          <a:xfrm>
            <a:off x="4992624" y="1874519"/>
            <a:ext cx="2432304" cy="155448"/>
          </a:xfrm>
          <a:prstGeom prst="rect">
            <a:avLst/>
          </a:prstGeom>
          <a:noFill/>
        </p:spPr>
        <p:txBody>
          <a:bodyPr wrap="square" lIns="0" rIns="0" tIns="0" bIns="0" anchor="t">
            <a:noAutofit/>
          </a:bodyPr>
          <a:lstStyle/>
          <a:p>
            <a:pPr algn="l">
              <a:lnSpc>
                <a:spcPct val="122000"/>
              </a:lnSpc>
            </a:pPr>
            <a:r>
              <a:rPr sz="680" b="0" i="0">
                <a:solidFill>
                  <a:srgbClr val="9DB0C6"/>
                </a:solidFill>
                <a:latin typeface="Segoe UI"/>
              </a:rPr>
              <a:t>the root of the canvas</a:t>
            </a:r>
          </a:p>
        </p:txBody>
      </p:sp>
      <p:sp>
        <p:nvSpPr>
          <p:cNvPr id="15" name="TextBox 14"/>
          <p:cNvSpPr txBox="1"/>
          <p:nvPr/>
        </p:nvSpPr>
        <p:spPr>
          <a:xfrm>
            <a:off x="676656" y="2208276"/>
            <a:ext cx="1920240" cy="155448"/>
          </a:xfrm>
          <a:prstGeom prst="rect">
            <a:avLst/>
          </a:prstGeom>
          <a:noFill/>
        </p:spPr>
        <p:txBody>
          <a:bodyPr wrap="square" lIns="0" rIns="0" tIns="0" bIns="0" anchor="t">
            <a:noAutofit/>
          </a:bodyPr>
          <a:lstStyle/>
          <a:p>
            <a:pPr algn="l">
              <a:lnSpc>
                <a:spcPct val="122000"/>
              </a:lnSpc>
            </a:pPr>
            <a:r>
              <a:rPr sz="740" b="0" i="0">
                <a:solidFill>
                  <a:srgbClr val="E2E8F0"/>
                </a:solidFill>
                <a:latin typeface="Segoe UI"/>
              </a:rPr>
              <a:t>business unit / division</a:t>
            </a:r>
          </a:p>
        </p:txBody>
      </p:sp>
      <p:sp>
        <p:nvSpPr>
          <p:cNvPr id="16" name="TextBox 15"/>
          <p:cNvSpPr txBox="1"/>
          <p:nvPr/>
        </p:nvSpPr>
        <p:spPr>
          <a:xfrm>
            <a:off x="2670048" y="2208276"/>
            <a:ext cx="2212848" cy="155448"/>
          </a:xfrm>
          <a:prstGeom prst="rect">
            <a:avLst/>
          </a:prstGeom>
          <a:noFill/>
        </p:spPr>
        <p:txBody>
          <a:bodyPr wrap="square" lIns="0" rIns="0" tIns="0" bIns="0" anchor="t">
            <a:noAutofit/>
          </a:bodyPr>
          <a:lstStyle/>
          <a:p>
            <a:pPr algn="l">
              <a:lnSpc>
                <a:spcPct val="122000"/>
              </a:lnSpc>
            </a:pPr>
            <a:r>
              <a:rPr sz="740" b="0" i="0">
                <a:solidFill>
                  <a:srgbClr val="7DD3FC"/>
                </a:solidFill>
                <a:latin typeface="Consolas"/>
              </a:rPr>
              <a:t>sub_org</a:t>
            </a:r>
          </a:p>
        </p:txBody>
      </p:sp>
      <p:sp>
        <p:nvSpPr>
          <p:cNvPr id="17" name="TextBox 16"/>
          <p:cNvSpPr txBox="1"/>
          <p:nvPr/>
        </p:nvSpPr>
        <p:spPr>
          <a:xfrm>
            <a:off x="4992624" y="2208276"/>
            <a:ext cx="2432304" cy="155448"/>
          </a:xfrm>
          <a:prstGeom prst="rect">
            <a:avLst/>
          </a:prstGeom>
          <a:noFill/>
        </p:spPr>
        <p:txBody>
          <a:bodyPr wrap="square" lIns="0" rIns="0" tIns="0" bIns="0" anchor="t">
            <a:noAutofit/>
          </a:bodyPr>
          <a:lstStyle/>
          <a:p>
            <a:pPr algn="l">
              <a:lnSpc>
                <a:spcPct val="122000"/>
              </a:lnSpc>
            </a:pPr>
            <a:r>
              <a:rPr sz="680" b="0" i="0">
                <a:solidFill>
                  <a:srgbClr val="9DB0C6"/>
                </a:solidFill>
                <a:latin typeface="Segoe UI"/>
              </a:rPr>
              <a:t>budget and owner</a:t>
            </a:r>
          </a:p>
        </p:txBody>
      </p:sp>
      <p:sp>
        <p:nvSpPr>
          <p:cNvPr id="18" name="Rounded Rectangle 17"/>
          <p:cNvSpPr/>
          <p:nvPr/>
        </p:nvSpPr>
        <p:spPr>
          <a:xfrm>
            <a:off x="566928" y="2450591"/>
            <a:ext cx="6967728" cy="333756"/>
          </a:xfrm>
          <a:prstGeom prst="roundRect">
            <a:avLst>
              <a:gd name="adj" fmla="val 6849"/>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676656" y="2542032"/>
            <a:ext cx="1920240" cy="155448"/>
          </a:xfrm>
          <a:prstGeom prst="rect">
            <a:avLst/>
          </a:prstGeom>
          <a:noFill/>
        </p:spPr>
        <p:txBody>
          <a:bodyPr wrap="square" lIns="0" rIns="0" tIns="0" bIns="0" anchor="t">
            <a:noAutofit/>
          </a:bodyPr>
          <a:lstStyle/>
          <a:p>
            <a:pPr algn="l">
              <a:lnSpc>
                <a:spcPct val="122000"/>
              </a:lnSpc>
            </a:pPr>
            <a:r>
              <a:rPr sz="740" b="0" i="0">
                <a:solidFill>
                  <a:srgbClr val="E2E8F0"/>
                </a:solidFill>
                <a:latin typeface="Segoe UI"/>
              </a:rPr>
              <a:t>programme / portfolio</a:t>
            </a:r>
          </a:p>
        </p:txBody>
      </p:sp>
      <p:sp>
        <p:nvSpPr>
          <p:cNvPr id="20" name="TextBox 19"/>
          <p:cNvSpPr txBox="1"/>
          <p:nvPr/>
        </p:nvSpPr>
        <p:spPr>
          <a:xfrm>
            <a:off x="2670048" y="2542032"/>
            <a:ext cx="2212848" cy="155448"/>
          </a:xfrm>
          <a:prstGeom prst="rect">
            <a:avLst/>
          </a:prstGeom>
          <a:noFill/>
        </p:spPr>
        <p:txBody>
          <a:bodyPr wrap="square" lIns="0" rIns="0" tIns="0" bIns="0" anchor="t">
            <a:noAutofit/>
          </a:bodyPr>
          <a:lstStyle/>
          <a:p>
            <a:pPr algn="l">
              <a:lnSpc>
                <a:spcPct val="122000"/>
              </a:lnSpc>
            </a:pPr>
            <a:r>
              <a:rPr sz="740" b="0" i="0">
                <a:solidFill>
                  <a:srgbClr val="7DD3FC"/>
                </a:solidFill>
                <a:latin typeface="Consolas"/>
              </a:rPr>
              <a:t>project → sub_project</a:t>
            </a:r>
          </a:p>
        </p:txBody>
      </p:sp>
      <p:sp>
        <p:nvSpPr>
          <p:cNvPr id="21" name="TextBox 20"/>
          <p:cNvSpPr txBox="1"/>
          <p:nvPr/>
        </p:nvSpPr>
        <p:spPr>
          <a:xfrm>
            <a:off x="4992624" y="2542032"/>
            <a:ext cx="2432304" cy="155448"/>
          </a:xfrm>
          <a:prstGeom prst="rect">
            <a:avLst/>
          </a:prstGeom>
          <a:noFill/>
        </p:spPr>
        <p:txBody>
          <a:bodyPr wrap="square" lIns="0" rIns="0" tIns="0" bIns="0" anchor="t">
            <a:noAutofit/>
          </a:bodyPr>
          <a:lstStyle/>
          <a:p>
            <a:pPr algn="l">
              <a:lnSpc>
                <a:spcPct val="122000"/>
              </a:lnSpc>
            </a:pPr>
            <a:r>
              <a:rPr sz="680" b="0" i="0">
                <a:solidFill>
                  <a:srgbClr val="9DB0C6"/>
                </a:solidFill>
                <a:latin typeface="Segoe UI"/>
              </a:rPr>
              <a:t>the org tree, down to its leaf</a:t>
            </a:r>
          </a:p>
        </p:txBody>
      </p:sp>
      <p:sp>
        <p:nvSpPr>
          <p:cNvPr id="22" name="TextBox 21"/>
          <p:cNvSpPr txBox="1"/>
          <p:nvPr/>
        </p:nvSpPr>
        <p:spPr>
          <a:xfrm>
            <a:off x="676656" y="2875788"/>
            <a:ext cx="1920240" cy="155448"/>
          </a:xfrm>
          <a:prstGeom prst="rect">
            <a:avLst/>
          </a:prstGeom>
          <a:noFill/>
        </p:spPr>
        <p:txBody>
          <a:bodyPr wrap="square" lIns="0" rIns="0" tIns="0" bIns="0" anchor="t">
            <a:noAutofit/>
          </a:bodyPr>
          <a:lstStyle/>
          <a:p>
            <a:pPr algn="l">
              <a:lnSpc>
                <a:spcPct val="122000"/>
              </a:lnSpc>
            </a:pPr>
            <a:r>
              <a:rPr sz="740" b="0" i="0">
                <a:solidFill>
                  <a:srgbClr val="E2E8F0"/>
                </a:solidFill>
                <a:latin typeface="Segoe UI"/>
              </a:rPr>
              <a:t>region / AZ / facility</a:t>
            </a:r>
          </a:p>
        </p:txBody>
      </p:sp>
      <p:sp>
        <p:nvSpPr>
          <p:cNvPr id="23" name="TextBox 22"/>
          <p:cNvSpPr txBox="1"/>
          <p:nvPr/>
        </p:nvSpPr>
        <p:spPr>
          <a:xfrm>
            <a:off x="2670048" y="2875788"/>
            <a:ext cx="2212848" cy="155448"/>
          </a:xfrm>
          <a:prstGeom prst="rect">
            <a:avLst/>
          </a:prstGeom>
          <a:noFill/>
        </p:spPr>
        <p:txBody>
          <a:bodyPr wrap="square" lIns="0" rIns="0" tIns="0" bIns="0" anchor="t">
            <a:noAutofit/>
          </a:bodyPr>
          <a:lstStyle/>
          <a:p>
            <a:pPr algn="l">
              <a:lnSpc>
                <a:spcPct val="122000"/>
              </a:lnSpc>
            </a:pPr>
            <a:r>
              <a:rPr sz="740" b="0" i="0">
                <a:solidFill>
                  <a:srgbClr val="7DD3FC"/>
                </a:solidFill>
                <a:latin typeface="Consolas"/>
              </a:rPr>
              <a:t>datacenter</a:t>
            </a:r>
          </a:p>
        </p:txBody>
      </p:sp>
      <p:sp>
        <p:nvSpPr>
          <p:cNvPr id="24" name="TextBox 23"/>
          <p:cNvSpPr txBox="1"/>
          <p:nvPr/>
        </p:nvSpPr>
        <p:spPr>
          <a:xfrm>
            <a:off x="4992624" y="2875788"/>
            <a:ext cx="2432304" cy="155448"/>
          </a:xfrm>
          <a:prstGeom prst="rect">
            <a:avLst/>
          </a:prstGeom>
          <a:noFill/>
        </p:spPr>
        <p:txBody>
          <a:bodyPr wrap="square" lIns="0" rIns="0" tIns="0" bIns="0" anchor="t">
            <a:noAutofit/>
          </a:bodyPr>
          <a:lstStyle/>
          <a:p>
            <a:pPr algn="l">
              <a:lnSpc>
                <a:spcPct val="122000"/>
              </a:lnSpc>
            </a:pPr>
            <a:r>
              <a:rPr sz="680" b="0" i="0">
                <a:solidFill>
                  <a:srgbClr val="9DB0C6"/>
                </a:solidFill>
                <a:latin typeface="Segoe UI"/>
              </a:rPr>
              <a:t>PUE, feeds, capacity</a:t>
            </a:r>
          </a:p>
        </p:txBody>
      </p:sp>
      <p:sp>
        <p:nvSpPr>
          <p:cNvPr id="25" name="Rounded Rectangle 24"/>
          <p:cNvSpPr/>
          <p:nvPr/>
        </p:nvSpPr>
        <p:spPr>
          <a:xfrm>
            <a:off x="566928" y="3118104"/>
            <a:ext cx="6967728" cy="333756"/>
          </a:xfrm>
          <a:prstGeom prst="roundRect">
            <a:avLst>
              <a:gd name="adj" fmla="val 6849"/>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676656" y="3209544"/>
            <a:ext cx="1920240" cy="155448"/>
          </a:xfrm>
          <a:prstGeom prst="rect">
            <a:avLst/>
          </a:prstGeom>
          <a:noFill/>
        </p:spPr>
        <p:txBody>
          <a:bodyPr wrap="square" lIns="0" rIns="0" tIns="0" bIns="0" anchor="t">
            <a:noAutofit/>
          </a:bodyPr>
          <a:lstStyle/>
          <a:p>
            <a:pPr algn="l">
              <a:lnSpc>
                <a:spcPct val="122000"/>
              </a:lnSpc>
            </a:pPr>
            <a:r>
              <a:rPr sz="740" b="0" i="0">
                <a:solidFill>
                  <a:srgbClr val="E2E8F0"/>
                </a:solidFill>
                <a:latin typeface="Segoe UI"/>
              </a:rPr>
              <a:t>VM / bare-metal / EC2 host</a:t>
            </a:r>
          </a:p>
        </p:txBody>
      </p:sp>
      <p:sp>
        <p:nvSpPr>
          <p:cNvPr id="27" name="TextBox 26"/>
          <p:cNvSpPr txBox="1"/>
          <p:nvPr/>
        </p:nvSpPr>
        <p:spPr>
          <a:xfrm>
            <a:off x="2670048" y="3209544"/>
            <a:ext cx="2212848" cy="155448"/>
          </a:xfrm>
          <a:prstGeom prst="rect">
            <a:avLst/>
          </a:prstGeom>
          <a:noFill/>
        </p:spPr>
        <p:txBody>
          <a:bodyPr wrap="square" lIns="0" rIns="0" tIns="0" bIns="0" anchor="t">
            <a:noAutofit/>
          </a:bodyPr>
          <a:lstStyle/>
          <a:p>
            <a:pPr algn="l">
              <a:lnSpc>
                <a:spcPct val="122000"/>
              </a:lnSpc>
            </a:pPr>
            <a:r>
              <a:rPr sz="740" b="0" i="0">
                <a:solidFill>
                  <a:srgbClr val="7DD3FC"/>
                </a:solidFill>
                <a:latin typeface="Consolas"/>
              </a:rPr>
              <a:t>server (+3 gauges)</a:t>
            </a:r>
          </a:p>
        </p:txBody>
      </p:sp>
      <p:sp>
        <p:nvSpPr>
          <p:cNvPr id="28" name="TextBox 27"/>
          <p:cNvSpPr txBox="1"/>
          <p:nvPr/>
        </p:nvSpPr>
        <p:spPr>
          <a:xfrm>
            <a:off x="4992624" y="3209544"/>
            <a:ext cx="2432304" cy="155448"/>
          </a:xfrm>
          <a:prstGeom prst="rect">
            <a:avLst/>
          </a:prstGeom>
          <a:noFill/>
        </p:spPr>
        <p:txBody>
          <a:bodyPr wrap="square" lIns="0" rIns="0" tIns="0" bIns="0" anchor="t">
            <a:noAutofit/>
          </a:bodyPr>
          <a:lstStyle/>
          <a:p>
            <a:pPr algn="l">
              <a:lnSpc>
                <a:spcPct val="122000"/>
              </a:lnSpc>
            </a:pPr>
            <a:r>
              <a:rPr sz="680" b="0" i="0">
                <a:solidFill>
                  <a:srgbClr val="9DB0C6"/>
                </a:solidFill>
                <a:latin typeface="Segoe UI"/>
              </a:rPr>
              <a:t>OS, cores, RAM, IP, rack</a:t>
            </a:r>
          </a:p>
        </p:txBody>
      </p:sp>
      <p:sp>
        <p:nvSpPr>
          <p:cNvPr id="29" name="TextBox 28"/>
          <p:cNvSpPr txBox="1"/>
          <p:nvPr/>
        </p:nvSpPr>
        <p:spPr>
          <a:xfrm>
            <a:off x="676656" y="3543300"/>
            <a:ext cx="1920240" cy="155448"/>
          </a:xfrm>
          <a:prstGeom prst="rect">
            <a:avLst/>
          </a:prstGeom>
          <a:noFill/>
        </p:spPr>
        <p:txBody>
          <a:bodyPr wrap="square" lIns="0" rIns="0" tIns="0" bIns="0" anchor="t">
            <a:noAutofit/>
          </a:bodyPr>
          <a:lstStyle/>
          <a:p>
            <a:pPr algn="l">
              <a:lnSpc>
                <a:spcPct val="122000"/>
              </a:lnSpc>
            </a:pPr>
            <a:r>
              <a:rPr sz="740" b="0" i="0">
                <a:solidFill>
                  <a:srgbClr val="E2E8F0"/>
                </a:solidFill>
                <a:latin typeface="Segoe UI"/>
              </a:rPr>
              <a:t>docker host workload</a:t>
            </a:r>
          </a:p>
        </p:txBody>
      </p:sp>
      <p:sp>
        <p:nvSpPr>
          <p:cNvPr id="30" name="TextBox 29"/>
          <p:cNvSpPr txBox="1"/>
          <p:nvPr/>
        </p:nvSpPr>
        <p:spPr>
          <a:xfrm>
            <a:off x="2670048" y="3543300"/>
            <a:ext cx="2212848" cy="155448"/>
          </a:xfrm>
          <a:prstGeom prst="rect">
            <a:avLst/>
          </a:prstGeom>
          <a:noFill/>
        </p:spPr>
        <p:txBody>
          <a:bodyPr wrap="square" lIns="0" rIns="0" tIns="0" bIns="0" anchor="t">
            <a:noAutofit/>
          </a:bodyPr>
          <a:lstStyle/>
          <a:p>
            <a:pPr algn="l">
              <a:lnSpc>
                <a:spcPct val="122000"/>
              </a:lnSpc>
            </a:pPr>
            <a:r>
              <a:rPr sz="740" b="0" i="0">
                <a:solidFill>
                  <a:srgbClr val="7DD3FC"/>
                </a:solidFill>
                <a:latin typeface="Consolas"/>
              </a:rPr>
              <a:t>container (+3 gauges)</a:t>
            </a:r>
          </a:p>
        </p:txBody>
      </p:sp>
      <p:sp>
        <p:nvSpPr>
          <p:cNvPr id="31" name="TextBox 30"/>
          <p:cNvSpPr txBox="1"/>
          <p:nvPr/>
        </p:nvSpPr>
        <p:spPr>
          <a:xfrm>
            <a:off x="4992624" y="3543300"/>
            <a:ext cx="2432304" cy="155448"/>
          </a:xfrm>
          <a:prstGeom prst="rect">
            <a:avLst/>
          </a:prstGeom>
          <a:noFill/>
        </p:spPr>
        <p:txBody>
          <a:bodyPr wrap="square" lIns="0" rIns="0" tIns="0" bIns="0" anchor="t">
            <a:noAutofit/>
          </a:bodyPr>
          <a:lstStyle/>
          <a:p>
            <a:pPr algn="l">
              <a:lnSpc>
                <a:spcPct val="122000"/>
              </a:lnSpc>
            </a:pPr>
            <a:r>
              <a:rPr sz="680" b="0" i="0">
                <a:solidFill>
                  <a:srgbClr val="9DB0C6"/>
                </a:solidFill>
                <a:latin typeface="Segoe UI"/>
              </a:rPr>
              <a:t>image, engine, restarts</a:t>
            </a:r>
          </a:p>
        </p:txBody>
      </p:sp>
      <p:sp>
        <p:nvSpPr>
          <p:cNvPr id="32" name="Rounded Rectangle 31"/>
          <p:cNvSpPr/>
          <p:nvPr/>
        </p:nvSpPr>
        <p:spPr>
          <a:xfrm>
            <a:off x="566928" y="3785616"/>
            <a:ext cx="6967728" cy="333756"/>
          </a:xfrm>
          <a:prstGeom prst="roundRect">
            <a:avLst>
              <a:gd name="adj" fmla="val 6849"/>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676656" y="3877056"/>
            <a:ext cx="1920240" cy="155448"/>
          </a:xfrm>
          <a:prstGeom prst="rect">
            <a:avLst/>
          </a:prstGeom>
          <a:noFill/>
        </p:spPr>
        <p:txBody>
          <a:bodyPr wrap="square" lIns="0" rIns="0" tIns="0" bIns="0" anchor="t">
            <a:noAutofit/>
          </a:bodyPr>
          <a:lstStyle/>
          <a:p>
            <a:pPr algn="l">
              <a:lnSpc>
                <a:spcPct val="122000"/>
              </a:lnSpc>
            </a:pPr>
            <a:r>
              <a:rPr sz="740" b="0" i="0">
                <a:solidFill>
                  <a:srgbClr val="E2E8F0"/>
                </a:solidFill>
                <a:latin typeface="Segoe UI"/>
              </a:rPr>
              <a:t>k8s workload</a:t>
            </a:r>
          </a:p>
        </p:txBody>
      </p:sp>
      <p:sp>
        <p:nvSpPr>
          <p:cNvPr id="34" name="TextBox 33"/>
          <p:cNvSpPr txBox="1"/>
          <p:nvPr/>
        </p:nvSpPr>
        <p:spPr>
          <a:xfrm>
            <a:off x="2670048" y="3877056"/>
            <a:ext cx="2212848" cy="155448"/>
          </a:xfrm>
          <a:prstGeom prst="rect">
            <a:avLst/>
          </a:prstGeom>
          <a:noFill/>
        </p:spPr>
        <p:txBody>
          <a:bodyPr wrap="square" lIns="0" rIns="0" tIns="0" bIns="0" anchor="t">
            <a:noAutofit/>
          </a:bodyPr>
          <a:lstStyle/>
          <a:p>
            <a:pPr algn="l">
              <a:lnSpc>
                <a:spcPct val="122000"/>
              </a:lnSpc>
            </a:pPr>
            <a:r>
              <a:rPr sz="740" b="0" i="0">
                <a:solidFill>
                  <a:srgbClr val="7DD3FC"/>
                </a:solidFill>
                <a:latin typeface="Consolas"/>
              </a:rPr>
              <a:t>namespace → pod (+3 gauges)</a:t>
            </a:r>
          </a:p>
        </p:txBody>
      </p:sp>
      <p:sp>
        <p:nvSpPr>
          <p:cNvPr id="35" name="TextBox 34"/>
          <p:cNvSpPr txBox="1"/>
          <p:nvPr/>
        </p:nvSpPr>
        <p:spPr>
          <a:xfrm>
            <a:off x="4992624" y="3877056"/>
            <a:ext cx="2432304" cy="155448"/>
          </a:xfrm>
          <a:prstGeom prst="rect">
            <a:avLst/>
          </a:prstGeom>
          <a:noFill/>
        </p:spPr>
        <p:txBody>
          <a:bodyPr wrap="square" lIns="0" rIns="0" tIns="0" bIns="0" anchor="t">
            <a:noAutofit/>
          </a:bodyPr>
          <a:lstStyle/>
          <a:p>
            <a:pPr algn="l">
              <a:lnSpc>
                <a:spcPct val="122000"/>
              </a:lnSpc>
            </a:pPr>
            <a:r>
              <a:rPr sz="680" b="0" i="0">
                <a:solidFill>
                  <a:srgbClr val="9DB0C6"/>
                </a:solidFill>
                <a:latin typeface="Segoe UI"/>
              </a:rPr>
              <a:t>cluster, phase, restarts</a:t>
            </a:r>
          </a:p>
        </p:txBody>
      </p:sp>
      <p:sp>
        <p:nvSpPr>
          <p:cNvPr id="36" name="TextBox 35"/>
          <p:cNvSpPr txBox="1"/>
          <p:nvPr/>
        </p:nvSpPr>
        <p:spPr>
          <a:xfrm>
            <a:off x="676656" y="4210812"/>
            <a:ext cx="1920240" cy="155448"/>
          </a:xfrm>
          <a:prstGeom prst="rect">
            <a:avLst/>
          </a:prstGeom>
          <a:noFill/>
        </p:spPr>
        <p:txBody>
          <a:bodyPr wrap="square" lIns="0" rIns="0" tIns="0" bIns="0" anchor="t">
            <a:noAutofit/>
          </a:bodyPr>
          <a:lstStyle/>
          <a:p>
            <a:pPr algn="l">
              <a:lnSpc>
                <a:spcPct val="122000"/>
              </a:lnSpc>
            </a:pPr>
            <a:r>
              <a:rPr sz="740" b="0" i="0">
                <a:solidFill>
                  <a:srgbClr val="E2E8F0"/>
                </a:solidFill>
                <a:latin typeface="Segoe UI"/>
              </a:rPr>
              <a:t>bounded context</a:t>
            </a:r>
          </a:p>
        </p:txBody>
      </p:sp>
      <p:sp>
        <p:nvSpPr>
          <p:cNvPr id="37" name="TextBox 36"/>
          <p:cNvSpPr txBox="1"/>
          <p:nvPr/>
        </p:nvSpPr>
        <p:spPr>
          <a:xfrm>
            <a:off x="2670048" y="4210812"/>
            <a:ext cx="2212848" cy="155448"/>
          </a:xfrm>
          <a:prstGeom prst="rect">
            <a:avLst/>
          </a:prstGeom>
          <a:noFill/>
        </p:spPr>
        <p:txBody>
          <a:bodyPr wrap="square" lIns="0" rIns="0" tIns="0" bIns="0" anchor="t">
            <a:noAutofit/>
          </a:bodyPr>
          <a:lstStyle/>
          <a:p>
            <a:pPr algn="l">
              <a:lnSpc>
                <a:spcPct val="122000"/>
              </a:lnSpc>
            </a:pPr>
            <a:r>
              <a:rPr sz="740" b="0" i="0">
                <a:solidFill>
                  <a:srgbClr val="7DD3FC"/>
                </a:solidFill>
                <a:latin typeface="Consolas"/>
              </a:rPr>
              <a:t>service_group → service_sub_group</a:t>
            </a:r>
          </a:p>
        </p:txBody>
      </p:sp>
      <p:sp>
        <p:nvSpPr>
          <p:cNvPr id="38" name="TextBox 37"/>
          <p:cNvSpPr txBox="1"/>
          <p:nvPr/>
        </p:nvSpPr>
        <p:spPr>
          <a:xfrm>
            <a:off x="4992624" y="4210812"/>
            <a:ext cx="2432304" cy="155448"/>
          </a:xfrm>
          <a:prstGeom prst="rect">
            <a:avLst/>
          </a:prstGeom>
          <a:noFill/>
        </p:spPr>
        <p:txBody>
          <a:bodyPr wrap="square" lIns="0" rIns="0" tIns="0" bIns="0" anchor="t">
            <a:noAutofit/>
          </a:bodyPr>
          <a:lstStyle/>
          <a:p>
            <a:pPr algn="l">
              <a:lnSpc>
                <a:spcPct val="122000"/>
              </a:lnSpc>
            </a:pPr>
            <a:r>
              <a:rPr sz="680" b="0" i="0">
                <a:solidFill>
                  <a:srgbClr val="9DB0C6"/>
                </a:solidFill>
                <a:latin typeface="Segoe UI"/>
              </a:rPr>
              <a:t>the business domain</a:t>
            </a:r>
          </a:p>
        </p:txBody>
      </p:sp>
      <p:sp>
        <p:nvSpPr>
          <p:cNvPr id="39" name="Rounded Rectangle 38"/>
          <p:cNvSpPr/>
          <p:nvPr/>
        </p:nvSpPr>
        <p:spPr>
          <a:xfrm>
            <a:off x="566928" y="4453128"/>
            <a:ext cx="6967728" cy="333756"/>
          </a:xfrm>
          <a:prstGeom prst="roundRect">
            <a:avLst>
              <a:gd name="adj" fmla="val 6849"/>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TextBox 39"/>
          <p:cNvSpPr txBox="1"/>
          <p:nvPr/>
        </p:nvSpPr>
        <p:spPr>
          <a:xfrm>
            <a:off x="676656" y="4544568"/>
            <a:ext cx="1920240" cy="155448"/>
          </a:xfrm>
          <a:prstGeom prst="rect">
            <a:avLst/>
          </a:prstGeom>
          <a:noFill/>
        </p:spPr>
        <p:txBody>
          <a:bodyPr wrap="square" lIns="0" rIns="0" tIns="0" bIns="0" anchor="t">
            <a:noAutofit/>
          </a:bodyPr>
          <a:lstStyle/>
          <a:p>
            <a:pPr algn="l">
              <a:lnSpc>
                <a:spcPct val="122000"/>
              </a:lnSpc>
            </a:pPr>
            <a:r>
              <a:rPr sz="740" b="0" i="0">
                <a:solidFill>
                  <a:srgbClr val="E2E8F0"/>
                </a:solidFill>
                <a:latin typeface="Segoe UI"/>
              </a:rPr>
              <a:t>deployable / API</a:t>
            </a:r>
          </a:p>
        </p:txBody>
      </p:sp>
      <p:sp>
        <p:nvSpPr>
          <p:cNvPr id="41" name="TextBox 40"/>
          <p:cNvSpPr txBox="1"/>
          <p:nvPr/>
        </p:nvSpPr>
        <p:spPr>
          <a:xfrm>
            <a:off x="2670048" y="4544568"/>
            <a:ext cx="2212848" cy="155448"/>
          </a:xfrm>
          <a:prstGeom prst="rect">
            <a:avLst/>
          </a:prstGeom>
          <a:noFill/>
        </p:spPr>
        <p:txBody>
          <a:bodyPr wrap="square" lIns="0" rIns="0" tIns="0" bIns="0" anchor="t">
            <a:noAutofit/>
          </a:bodyPr>
          <a:lstStyle/>
          <a:p>
            <a:pPr algn="l">
              <a:lnSpc>
                <a:spcPct val="122000"/>
              </a:lnSpc>
            </a:pPr>
            <a:r>
              <a:rPr sz="740" b="0" i="0">
                <a:solidFill>
                  <a:srgbClr val="7DD3FC"/>
                </a:solidFill>
                <a:latin typeface="Consolas"/>
              </a:rPr>
              <a:t>service</a:t>
            </a:r>
          </a:p>
        </p:txBody>
      </p:sp>
      <p:sp>
        <p:nvSpPr>
          <p:cNvPr id="42" name="TextBox 41"/>
          <p:cNvSpPr txBox="1"/>
          <p:nvPr/>
        </p:nvSpPr>
        <p:spPr>
          <a:xfrm>
            <a:off x="4992624" y="4544568"/>
            <a:ext cx="2432304" cy="155448"/>
          </a:xfrm>
          <a:prstGeom prst="rect">
            <a:avLst/>
          </a:prstGeom>
          <a:noFill/>
        </p:spPr>
        <p:txBody>
          <a:bodyPr wrap="square" lIns="0" rIns="0" tIns="0" bIns="0" anchor="t">
            <a:noAutofit/>
          </a:bodyPr>
          <a:lstStyle/>
          <a:p>
            <a:pPr algn="l">
              <a:lnSpc>
                <a:spcPct val="122000"/>
              </a:lnSpc>
            </a:pPr>
            <a:r>
              <a:rPr sz="680" b="0" i="0">
                <a:solidFill>
                  <a:srgbClr val="9DB0C6"/>
                </a:solidFill>
                <a:latin typeface="Segoe UI"/>
              </a:rPr>
              <a:t>protocol, version, RPS, p99, error %</a:t>
            </a:r>
          </a:p>
        </p:txBody>
      </p:sp>
      <p:sp>
        <p:nvSpPr>
          <p:cNvPr id="43" name="TextBox 42"/>
          <p:cNvSpPr txBox="1"/>
          <p:nvPr/>
        </p:nvSpPr>
        <p:spPr>
          <a:xfrm>
            <a:off x="676656" y="4878324"/>
            <a:ext cx="1920240" cy="155448"/>
          </a:xfrm>
          <a:prstGeom prst="rect">
            <a:avLst/>
          </a:prstGeom>
          <a:noFill/>
        </p:spPr>
        <p:txBody>
          <a:bodyPr wrap="square" lIns="0" rIns="0" tIns="0" bIns="0" anchor="t">
            <a:noAutofit/>
          </a:bodyPr>
          <a:lstStyle/>
          <a:p>
            <a:pPr algn="l">
              <a:lnSpc>
                <a:spcPct val="122000"/>
              </a:lnSpc>
            </a:pPr>
            <a:r>
              <a:rPr sz="740" b="0" i="0">
                <a:solidFill>
                  <a:srgbClr val="E2E8F0"/>
                </a:solidFill>
                <a:latin typeface="Segoe UI"/>
              </a:rPr>
              <a:t>route / RPC / topic</a:t>
            </a:r>
          </a:p>
        </p:txBody>
      </p:sp>
      <p:sp>
        <p:nvSpPr>
          <p:cNvPr id="44" name="TextBox 43"/>
          <p:cNvSpPr txBox="1"/>
          <p:nvPr/>
        </p:nvSpPr>
        <p:spPr>
          <a:xfrm>
            <a:off x="2670048" y="4878324"/>
            <a:ext cx="2212848" cy="155448"/>
          </a:xfrm>
          <a:prstGeom prst="rect">
            <a:avLst/>
          </a:prstGeom>
          <a:noFill/>
        </p:spPr>
        <p:txBody>
          <a:bodyPr wrap="square" lIns="0" rIns="0" tIns="0" bIns="0" anchor="t">
            <a:noAutofit/>
          </a:bodyPr>
          <a:lstStyle/>
          <a:p>
            <a:pPr algn="l">
              <a:lnSpc>
                <a:spcPct val="122000"/>
              </a:lnSpc>
            </a:pPr>
            <a:r>
              <a:rPr sz="740" b="0" i="0">
                <a:solidFill>
                  <a:srgbClr val="7DD3FC"/>
                </a:solidFill>
                <a:latin typeface="Consolas"/>
              </a:rPr>
              <a:t>endpoint</a:t>
            </a:r>
          </a:p>
        </p:txBody>
      </p:sp>
      <p:sp>
        <p:nvSpPr>
          <p:cNvPr id="45" name="TextBox 44"/>
          <p:cNvSpPr txBox="1"/>
          <p:nvPr/>
        </p:nvSpPr>
        <p:spPr>
          <a:xfrm>
            <a:off x="4992624" y="4878324"/>
            <a:ext cx="2432304" cy="155448"/>
          </a:xfrm>
          <a:prstGeom prst="rect">
            <a:avLst/>
          </a:prstGeom>
          <a:noFill/>
        </p:spPr>
        <p:txBody>
          <a:bodyPr wrap="square" lIns="0" rIns="0" tIns="0" bIns="0" anchor="t">
            <a:noAutofit/>
          </a:bodyPr>
          <a:lstStyle/>
          <a:p>
            <a:pPr algn="l">
              <a:lnSpc>
                <a:spcPct val="122000"/>
              </a:lnSpc>
            </a:pPr>
            <a:r>
              <a:rPr sz="680" b="0" i="0">
                <a:solidFill>
                  <a:srgbClr val="9DB0C6"/>
                </a:solidFill>
                <a:latin typeface="Segoe UI"/>
              </a:rPr>
              <a:t>method, path, SLA, auth</a:t>
            </a:r>
          </a:p>
        </p:txBody>
      </p:sp>
      <p:sp>
        <p:nvSpPr>
          <p:cNvPr id="46" name="Rounded Rectangle 45"/>
          <p:cNvSpPr/>
          <p:nvPr/>
        </p:nvSpPr>
        <p:spPr>
          <a:xfrm>
            <a:off x="566928" y="5120640"/>
            <a:ext cx="6967728" cy="333756"/>
          </a:xfrm>
          <a:prstGeom prst="roundRect">
            <a:avLst>
              <a:gd name="adj" fmla="val 6849"/>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7" name="TextBox 46"/>
          <p:cNvSpPr txBox="1"/>
          <p:nvPr/>
        </p:nvSpPr>
        <p:spPr>
          <a:xfrm>
            <a:off x="676656" y="5212080"/>
            <a:ext cx="1920240" cy="155448"/>
          </a:xfrm>
          <a:prstGeom prst="rect">
            <a:avLst/>
          </a:prstGeom>
          <a:noFill/>
        </p:spPr>
        <p:txBody>
          <a:bodyPr wrap="square" lIns="0" rIns="0" tIns="0" bIns="0" anchor="t">
            <a:noAutofit/>
          </a:bodyPr>
          <a:lstStyle/>
          <a:p>
            <a:pPr algn="l">
              <a:lnSpc>
                <a:spcPct val="122000"/>
              </a:lnSpc>
            </a:pPr>
            <a:r>
              <a:rPr sz="740" b="0" i="0">
                <a:solidFill>
                  <a:srgbClr val="E2E8F0"/>
                </a:solidFill>
                <a:latin typeface="Segoe UI"/>
              </a:rPr>
              <a:t>cpu / mem / disk probe</a:t>
            </a:r>
          </a:p>
        </p:txBody>
      </p:sp>
      <p:sp>
        <p:nvSpPr>
          <p:cNvPr id="48" name="TextBox 47"/>
          <p:cNvSpPr txBox="1"/>
          <p:nvPr/>
        </p:nvSpPr>
        <p:spPr>
          <a:xfrm>
            <a:off x="2670048" y="5212080"/>
            <a:ext cx="2212848" cy="155448"/>
          </a:xfrm>
          <a:prstGeom prst="rect">
            <a:avLst/>
          </a:prstGeom>
          <a:noFill/>
        </p:spPr>
        <p:txBody>
          <a:bodyPr wrap="square" lIns="0" rIns="0" tIns="0" bIns="0" anchor="t">
            <a:noAutofit/>
          </a:bodyPr>
          <a:lstStyle/>
          <a:p>
            <a:pPr algn="l">
              <a:lnSpc>
                <a:spcPct val="122000"/>
              </a:lnSpc>
            </a:pPr>
            <a:r>
              <a:rPr sz="740" b="0" i="0">
                <a:solidFill>
                  <a:srgbClr val="7DD3FC"/>
                </a:solidFill>
                <a:latin typeface="Consolas"/>
              </a:rPr>
              <a:t>resource gauge</a:t>
            </a:r>
          </a:p>
        </p:txBody>
      </p:sp>
      <p:sp>
        <p:nvSpPr>
          <p:cNvPr id="49" name="TextBox 48"/>
          <p:cNvSpPr txBox="1"/>
          <p:nvPr/>
        </p:nvSpPr>
        <p:spPr>
          <a:xfrm>
            <a:off x="4992624" y="5212080"/>
            <a:ext cx="2432304" cy="155448"/>
          </a:xfrm>
          <a:prstGeom prst="rect">
            <a:avLst/>
          </a:prstGeom>
          <a:noFill/>
        </p:spPr>
        <p:txBody>
          <a:bodyPr wrap="square" lIns="0" rIns="0" tIns="0" bIns="0" anchor="t">
            <a:noAutofit/>
          </a:bodyPr>
          <a:lstStyle/>
          <a:p>
            <a:pPr algn="l">
              <a:lnSpc>
                <a:spcPct val="122000"/>
              </a:lnSpc>
            </a:pPr>
            <a:r>
              <a:rPr sz="680" b="0" i="0">
                <a:solidFill>
                  <a:srgbClr val="9DB0C6"/>
                </a:solidFill>
                <a:latin typeface="Segoe UI"/>
              </a:rPr>
              <a:t>usually auto-created, toggleable</a:t>
            </a:r>
          </a:p>
        </p:txBody>
      </p:sp>
      <p:sp>
        <p:nvSpPr>
          <p:cNvPr id="50" name="TextBox 49"/>
          <p:cNvSpPr txBox="1"/>
          <p:nvPr/>
        </p:nvSpPr>
        <p:spPr>
          <a:xfrm>
            <a:off x="7626096" y="1746504"/>
            <a:ext cx="3931920" cy="164592"/>
          </a:xfrm>
          <a:prstGeom prst="rect">
            <a:avLst/>
          </a:prstGeom>
          <a:noFill/>
        </p:spPr>
        <p:txBody>
          <a:bodyPr wrap="square" lIns="0" rIns="0" tIns="0" bIns="0" anchor="t">
            <a:noAutofit/>
          </a:bodyPr>
          <a:lstStyle/>
          <a:p>
            <a:pPr algn="l">
              <a:lnSpc>
                <a:spcPct val="122000"/>
              </a:lnSpc>
            </a:pPr>
            <a:r>
              <a:rPr sz="640" b="0" i="0" spc="120">
                <a:solidFill>
                  <a:srgbClr val="FBBF24"/>
                </a:solidFill>
                <a:latin typeface="Consolas"/>
              </a:rPr>
              <a:t>STATUS THRESHOLDS</a:t>
            </a:r>
          </a:p>
        </p:txBody>
      </p:sp>
      <p:sp>
        <p:nvSpPr>
          <p:cNvPr id="51" name="Rounded Rectangle 50"/>
          <p:cNvSpPr/>
          <p:nvPr/>
        </p:nvSpPr>
        <p:spPr>
          <a:xfrm>
            <a:off x="7626096" y="1984248"/>
            <a:ext cx="3995928" cy="1773936"/>
          </a:xfrm>
          <a:prstGeom prst="roundRect">
            <a:avLst>
              <a:gd name="adj" fmla="val 360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52" name="Connector 51"/>
          <p:cNvCxnSpPr/>
          <p:nvPr/>
        </p:nvCxnSpPr>
        <p:spPr>
          <a:xfrm>
            <a:off x="7735823" y="2258568"/>
            <a:ext cx="3776473" cy="0"/>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754112" y="2075688"/>
            <a:ext cx="1225296" cy="137160"/>
          </a:xfrm>
          <a:prstGeom prst="rect">
            <a:avLst/>
          </a:prstGeom>
          <a:noFill/>
        </p:spPr>
        <p:txBody>
          <a:bodyPr wrap="square" lIns="0" rIns="0" tIns="0" bIns="0" anchor="t">
            <a:noAutofit/>
          </a:bodyPr>
          <a:lstStyle/>
          <a:p>
            <a:pPr algn="l">
              <a:lnSpc>
                <a:spcPct val="122000"/>
              </a:lnSpc>
            </a:pPr>
            <a:r>
              <a:rPr sz="580" b="0" i="0" spc="60">
                <a:solidFill>
                  <a:srgbClr val="64748B"/>
                </a:solidFill>
                <a:latin typeface="Consolas"/>
              </a:rPr>
              <a:t>SIGNAL</a:t>
            </a:r>
          </a:p>
        </p:txBody>
      </p:sp>
      <p:sp>
        <p:nvSpPr>
          <p:cNvPr id="54" name="TextBox 53"/>
          <p:cNvSpPr txBox="1"/>
          <p:nvPr/>
        </p:nvSpPr>
        <p:spPr>
          <a:xfrm>
            <a:off x="9052560" y="2075688"/>
            <a:ext cx="1225296" cy="137160"/>
          </a:xfrm>
          <a:prstGeom prst="rect">
            <a:avLst/>
          </a:prstGeom>
          <a:noFill/>
        </p:spPr>
        <p:txBody>
          <a:bodyPr wrap="square" lIns="0" rIns="0" tIns="0" bIns="0" anchor="t">
            <a:noAutofit/>
          </a:bodyPr>
          <a:lstStyle/>
          <a:p>
            <a:pPr algn="l">
              <a:lnSpc>
                <a:spcPct val="122000"/>
              </a:lnSpc>
            </a:pPr>
            <a:r>
              <a:rPr sz="580" b="0" i="0" spc="60">
                <a:solidFill>
                  <a:srgbClr val="64748B"/>
                </a:solidFill>
                <a:latin typeface="Consolas"/>
              </a:rPr>
              <a:t>DEGRADED</a:t>
            </a:r>
          </a:p>
        </p:txBody>
      </p:sp>
      <p:sp>
        <p:nvSpPr>
          <p:cNvPr id="55" name="TextBox 54"/>
          <p:cNvSpPr txBox="1"/>
          <p:nvPr/>
        </p:nvSpPr>
        <p:spPr>
          <a:xfrm>
            <a:off x="10351008" y="2075688"/>
            <a:ext cx="1225296" cy="137160"/>
          </a:xfrm>
          <a:prstGeom prst="rect">
            <a:avLst/>
          </a:prstGeom>
          <a:noFill/>
        </p:spPr>
        <p:txBody>
          <a:bodyPr wrap="square" lIns="0" rIns="0" tIns="0" bIns="0" anchor="t">
            <a:noAutofit/>
          </a:bodyPr>
          <a:lstStyle/>
          <a:p>
            <a:pPr algn="l">
              <a:lnSpc>
                <a:spcPct val="122000"/>
              </a:lnSpc>
            </a:pPr>
            <a:r>
              <a:rPr sz="580" b="0" i="0" spc="60">
                <a:solidFill>
                  <a:srgbClr val="64748B"/>
                </a:solidFill>
                <a:latin typeface="Consolas"/>
              </a:rPr>
              <a:t>CRITICAL</a:t>
            </a:r>
          </a:p>
        </p:txBody>
      </p:sp>
      <p:sp>
        <p:nvSpPr>
          <p:cNvPr id="56" name="TextBox 55"/>
          <p:cNvSpPr txBox="1"/>
          <p:nvPr/>
        </p:nvSpPr>
        <p:spPr>
          <a:xfrm>
            <a:off x="7754112" y="2350008"/>
            <a:ext cx="1097280" cy="137160"/>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cpu %</a:t>
            </a:r>
          </a:p>
        </p:txBody>
      </p:sp>
      <p:sp>
        <p:nvSpPr>
          <p:cNvPr id="57" name="TextBox 56"/>
          <p:cNvSpPr txBox="1"/>
          <p:nvPr/>
        </p:nvSpPr>
        <p:spPr>
          <a:xfrm>
            <a:off x="9015984" y="2350008"/>
            <a:ext cx="1060704" cy="137160"/>
          </a:xfrm>
          <a:prstGeom prst="rect">
            <a:avLst/>
          </a:prstGeom>
          <a:noFill/>
        </p:spPr>
        <p:txBody>
          <a:bodyPr wrap="square" lIns="0" rIns="0" tIns="0" bIns="0" anchor="t">
            <a:noAutofit/>
          </a:bodyPr>
          <a:lstStyle/>
          <a:p>
            <a:pPr algn="l">
              <a:lnSpc>
                <a:spcPct val="122000"/>
              </a:lnSpc>
            </a:pPr>
            <a:r>
              <a:rPr sz="640" b="0" i="0">
                <a:solidFill>
                  <a:srgbClr val="FBBF24"/>
                </a:solidFill>
                <a:latin typeface="Consolas"/>
              </a:rPr>
              <a:t>79–92</a:t>
            </a:r>
          </a:p>
        </p:txBody>
      </p:sp>
      <p:sp>
        <p:nvSpPr>
          <p:cNvPr id="58" name="TextBox 57"/>
          <p:cNvSpPr txBox="1"/>
          <p:nvPr/>
        </p:nvSpPr>
        <p:spPr>
          <a:xfrm>
            <a:off x="10259567" y="2350008"/>
            <a:ext cx="1188720" cy="137160"/>
          </a:xfrm>
          <a:prstGeom prst="rect">
            <a:avLst/>
          </a:prstGeom>
          <a:noFill/>
        </p:spPr>
        <p:txBody>
          <a:bodyPr wrap="square" lIns="0" rIns="0" tIns="0" bIns="0" anchor="t">
            <a:noAutofit/>
          </a:bodyPr>
          <a:lstStyle/>
          <a:p>
            <a:pPr algn="l">
              <a:lnSpc>
                <a:spcPct val="122000"/>
              </a:lnSpc>
            </a:pPr>
            <a:r>
              <a:rPr sz="640" b="0" i="0">
                <a:solidFill>
                  <a:srgbClr val="FB7185"/>
                </a:solidFill>
                <a:latin typeface="Consolas"/>
              </a:rPr>
              <a:t>&gt; 92</a:t>
            </a:r>
          </a:p>
        </p:txBody>
      </p:sp>
      <p:sp>
        <p:nvSpPr>
          <p:cNvPr id="59" name="TextBox 58"/>
          <p:cNvSpPr txBox="1"/>
          <p:nvPr/>
        </p:nvSpPr>
        <p:spPr>
          <a:xfrm>
            <a:off x="7754112" y="2610612"/>
            <a:ext cx="1097280" cy="137160"/>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error %</a:t>
            </a:r>
          </a:p>
        </p:txBody>
      </p:sp>
      <p:sp>
        <p:nvSpPr>
          <p:cNvPr id="60" name="TextBox 59"/>
          <p:cNvSpPr txBox="1"/>
          <p:nvPr/>
        </p:nvSpPr>
        <p:spPr>
          <a:xfrm>
            <a:off x="9015984" y="2610612"/>
            <a:ext cx="1060704" cy="137160"/>
          </a:xfrm>
          <a:prstGeom prst="rect">
            <a:avLst/>
          </a:prstGeom>
          <a:noFill/>
        </p:spPr>
        <p:txBody>
          <a:bodyPr wrap="square" lIns="0" rIns="0" tIns="0" bIns="0" anchor="t">
            <a:noAutofit/>
          </a:bodyPr>
          <a:lstStyle/>
          <a:p>
            <a:pPr algn="l">
              <a:lnSpc>
                <a:spcPct val="122000"/>
              </a:lnSpc>
            </a:pPr>
            <a:r>
              <a:rPr sz="640" b="0" i="0">
                <a:solidFill>
                  <a:srgbClr val="FBBF24"/>
                </a:solidFill>
                <a:latin typeface="Consolas"/>
              </a:rPr>
              <a:t>1.4–5</a:t>
            </a:r>
          </a:p>
        </p:txBody>
      </p:sp>
      <p:sp>
        <p:nvSpPr>
          <p:cNvPr id="61" name="TextBox 60"/>
          <p:cNvSpPr txBox="1"/>
          <p:nvPr/>
        </p:nvSpPr>
        <p:spPr>
          <a:xfrm>
            <a:off x="10259567" y="2610612"/>
            <a:ext cx="1188720" cy="137160"/>
          </a:xfrm>
          <a:prstGeom prst="rect">
            <a:avLst/>
          </a:prstGeom>
          <a:noFill/>
        </p:spPr>
        <p:txBody>
          <a:bodyPr wrap="square" lIns="0" rIns="0" tIns="0" bIns="0" anchor="t">
            <a:noAutofit/>
          </a:bodyPr>
          <a:lstStyle/>
          <a:p>
            <a:pPr algn="l">
              <a:lnSpc>
                <a:spcPct val="122000"/>
              </a:lnSpc>
            </a:pPr>
            <a:r>
              <a:rPr sz="640" b="0" i="0">
                <a:solidFill>
                  <a:srgbClr val="FB7185"/>
                </a:solidFill>
                <a:latin typeface="Consolas"/>
              </a:rPr>
              <a:t>&gt; 5</a:t>
            </a:r>
          </a:p>
        </p:txBody>
      </p:sp>
      <p:sp>
        <p:nvSpPr>
          <p:cNvPr id="62" name="TextBox 61"/>
          <p:cNvSpPr txBox="1"/>
          <p:nvPr/>
        </p:nvSpPr>
        <p:spPr>
          <a:xfrm>
            <a:off x="7754112" y="2871216"/>
            <a:ext cx="1097280" cy="137160"/>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memory %</a:t>
            </a:r>
          </a:p>
        </p:txBody>
      </p:sp>
      <p:sp>
        <p:nvSpPr>
          <p:cNvPr id="63" name="TextBox 62"/>
          <p:cNvSpPr txBox="1"/>
          <p:nvPr/>
        </p:nvSpPr>
        <p:spPr>
          <a:xfrm>
            <a:off x="9015984" y="2871216"/>
            <a:ext cx="1060704" cy="137160"/>
          </a:xfrm>
          <a:prstGeom prst="rect">
            <a:avLst/>
          </a:prstGeom>
          <a:noFill/>
        </p:spPr>
        <p:txBody>
          <a:bodyPr wrap="square" lIns="0" rIns="0" tIns="0" bIns="0" anchor="t">
            <a:noAutofit/>
          </a:bodyPr>
          <a:lstStyle/>
          <a:p>
            <a:pPr algn="l">
              <a:lnSpc>
                <a:spcPct val="122000"/>
              </a:lnSpc>
            </a:pPr>
            <a:r>
              <a:rPr sz="640" b="0" i="0">
                <a:solidFill>
                  <a:srgbClr val="FBBF24"/>
                </a:solidFill>
                <a:latin typeface="Consolas"/>
              </a:rPr>
              <a:t>&gt; 88</a:t>
            </a:r>
          </a:p>
        </p:txBody>
      </p:sp>
      <p:sp>
        <p:nvSpPr>
          <p:cNvPr id="64" name="TextBox 63"/>
          <p:cNvSpPr txBox="1"/>
          <p:nvPr/>
        </p:nvSpPr>
        <p:spPr>
          <a:xfrm>
            <a:off x="10259567" y="2871216"/>
            <a:ext cx="1188720" cy="137160"/>
          </a:xfrm>
          <a:prstGeom prst="rect">
            <a:avLst/>
          </a:prstGeom>
          <a:noFill/>
        </p:spPr>
        <p:txBody>
          <a:bodyPr wrap="square" lIns="0" rIns="0" tIns="0" bIns="0" anchor="t">
            <a:noAutofit/>
          </a:bodyPr>
          <a:lstStyle/>
          <a:p>
            <a:pPr algn="l">
              <a:lnSpc>
                <a:spcPct val="122000"/>
              </a:lnSpc>
            </a:pPr>
            <a:r>
              <a:rPr sz="640" b="0" i="0">
                <a:solidFill>
                  <a:srgbClr val="FB7185"/>
                </a:solidFill>
                <a:latin typeface="Consolas"/>
              </a:rPr>
              <a:t>—</a:t>
            </a:r>
          </a:p>
        </p:txBody>
      </p:sp>
      <p:sp>
        <p:nvSpPr>
          <p:cNvPr id="65" name="TextBox 64"/>
          <p:cNvSpPr txBox="1"/>
          <p:nvPr/>
        </p:nvSpPr>
        <p:spPr>
          <a:xfrm>
            <a:off x="7754112" y="3131820"/>
            <a:ext cx="1097280" cy="137160"/>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uptime</a:t>
            </a:r>
          </a:p>
        </p:txBody>
      </p:sp>
      <p:sp>
        <p:nvSpPr>
          <p:cNvPr id="66" name="TextBox 65"/>
          <p:cNvSpPr txBox="1"/>
          <p:nvPr/>
        </p:nvSpPr>
        <p:spPr>
          <a:xfrm>
            <a:off x="9015984" y="3131820"/>
            <a:ext cx="1060704" cy="137160"/>
          </a:xfrm>
          <a:prstGeom prst="rect">
            <a:avLst/>
          </a:prstGeom>
          <a:noFill/>
        </p:spPr>
        <p:txBody>
          <a:bodyPr wrap="square" lIns="0" rIns="0" tIns="0" bIns="0" anchor="t">
            <a:noAutofit/>
          </a:bodyPr>
          <a:lstStyle/>
          <a:p>
            <a:pPr algn="l">
              <a:lnSpc>
                <a:spcPct val="122000"/>
              </a:lnSpc>
            </a:pPr>
            <a:r>
              <a:rPr sz="640" b="0" i="0">
                <a:solidFill>
                  <a:srgbClr val="FBBF24"/>
                </a:solidFill>
                <a:latin typeface="Consolas"/>
              </a:rPr>
              <a:t>&lt; 99.9</a:t>
            </a:r>
          </a:p>
        </p:txBody>
      </p:sp>
      <p:sp>
        <p:nvSpPr>
          <p:cNvPr id="67" name="TextBox 66"/>
          <p:cNvSpPr txBox="1"/>
          <p:nvPr/>
        </p:nvSpPr>
        <p:spPr>
          <a:xfrm>
            <a:off x="10259567" y="3131820"/>
            <a:ext cx="1188720" cy="137160"/>
          </a:xfrm>
          <a:prstGeom prst="rect">
            <a:avLst/>
          </a:prstGeom>
          <a:noFill/>
        </p:spPr>
        <p:txBody>
          <a:bodyPr wrap="square" lIns="0" rIns="0" tIns="0" bIns="0" anchor="t">
            <a:noAutofit/>
          </a:bodyPr>
          <a:lstStyle/>
          <a:p>
            <a:pPr algn="l">
              <a:lnSpc>
                <a:spcPct val="122000"/>
              </a:lnSpc>
            </a:pPr>
            <a:r>
              <a:rPr sz="640" b="0" i="0">
                <a:solidFill>
                  <a:srgbClr val="FB7185"/>
                </a:solidFill>
                <a:latin typeface="Consolas"/>
              </a:rPr>
              <a:t>&lt; 98.5</a:t>
            </a:r>
          </a:p>
        </p:txBody>
      </p:sp>
      <p:sp>
        <p:nvSpPr>
          <p:cNvPr id="68" name="TextBox 67"/>
          <p:cNvSpPr txBox="1"/>
          <p:nvPr/>
        </p:nvSpPr>
        <p:spPr>
          <a:xfrm>
            <a:off x="7754112" y="3392424"/>
            <a:ext cx="1097280" cy="137160"/>
          </a:xfrm>
          <a:prstGeom prst="rect">
            <a:avLst/>
          </a:prstGeom>
          <a:noFill/>
        </p:spPr>
        <p:txBody>
          <a:bodyPr wrap="square" lIns="0" rIns="0" tIns="0" bIns="0" anchor="t">
            <a:noAutofit/>
          </a:bodyPr>
          <a:lstStyle/>
          <a:p>
            <a:pPr algn="l">
              <a:lnSpc>
                <a:spcPct val="122000"/>
              </a:lnSpc>
            </a:pPr>
            <a:r>
              <a:rPr sz="660" b="0" i="0">
                <a:solidFill>
                  <a:srgbClr val="E2E8F0"/>
                </a:solidFill>
                <a:latin typeface="Consolas"/>
              </a:rPr>
              <a:t>groups</a:t>
            </a:r>
          </a:p>
        </p:txBody>
      </p:sp>
      <p:sp>
        <p:nvSpPr>
          <p:cNvPr id="69" name="TextBox 68"/>
          <p:cNvSpPr txBox="1"/>
          <p:nvPr/>
        </p:nvSpPr>
        <p:spPr>
          <a:xfrm>
            <a:off x="9015984" y="3392424"/>
            <a:ext cx="1060704" cy="137160"/>
          </a:xfrm>
          <a:prstGeom prst="rect">
            <a:avLst/>
          </a:prstGeom>
          <a:noFill/>
        </p:spPr>
        <p:txBody>
          <a:bodyPr wrap="square" lIns="0" rIns="0" tIns="0" bIns="0" anchor="t">
            <a:noAutofit/>
          </a:bodyPr>
          <a:lstStyle/>
          <a:p>
            <a:pPr algn="l">
              <a:lnSpc>
                <a:spcPct val="122000"/>
              </a:lnSpc>
            </a:pPr>
            <a:r>
              <a:rPr sz="640" b="0" i="0">
                <a:solidFill>
                  <a:srgbClr val="FBBF24"/>
                </a:solidFill>
                <a:latin typeface="Consolas"/>
              </a:rPr>
              <a:t>any child</a:t>
            </a:r>
          </a:p>
        </p:txBody>
      </p:sp>
      <p:sp>
        <p:nvSpPr>
          <p:cNvPr id="70" name="TextBox 69"/>
          <p:cNvSpPr txBox="1"/>
          <p:nvPr/>
        </p:nvSpPr>
        <p:spPr>
          <a:xfrm>
            <a:off x="10259567" y="3392424"/>
            <a:ext cx="1188720" cy="137160"/>
          </a:xfrm>
          <a:prstGeom prst="rect">
            <a:avLst/>
          </a:prstGeom>
          <a:noFill/>
        </p:spPr>
        <p:txBody>
          <a:bodyPr wrap="square" lIns="0" rIns="0" tIns="0" bIns="0" anchor="t">
            <a:noAutofit/>
          </a:bodyPr>
          <a:lstStyle/>
          <a:p>
            <a:pPr algn="l">
              <a:lnSpc>
                <a:spcPct val="122000"/>
              </a:lnSpc>
            </a:pPr>
            <a:r>
              <a:rPr sz="640" b="0" i="0">
                <a:solidFill>
                  <a:srgbClr val="FB7185"/>
                </a:solidFill>
                <a:latin typeface="Consolas"/>
              </a:rPr>
              <a:t>any critical</a:t>
            </a:r>
          </a:p>
        </p:txBody>
      </p:sp>
      <p:sp>
        <p:nvSpPr>
          <p:cNvPr id="71" name="Rounded Rectangle 70"/>
          <p:cNvSpPr/>
          <p:nvPr/>
        </p:nvSpPr>
        <p:spPr>
          <a:xfrm>
            <a:off x="7626096" y="4023360"/>
            <a:ext cx="3995928" cy="1042415"/>
          </a:xfrm>
          <a:prstGeom prst="roundRect">
            <a:avLst>
              <a:gd name="adj" fmla="val 7017"/>
            </a:avLst>
          </a:prstGeom>
          <a:solidFill>
            <a:srgbClr val="0A1520"/>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2" name="TextBox 71"/>
          <p:cNvSpPr txBox="1"/>
          <p:nvPr/>
        </p:nvSpPr>
        <p:spPr>
          <a:xfrm>
            <a:off x="7772400" y="4105656"/>
            <a:ext cx="3566160" cy="146304"/>
          </a:xfrm>
          <a:prstGeom prst="rect">
            <a:avLst/>
          </a:prstGeom>
          <a:noFill/>
        </p:spPr>
        <p:txBody>
          <a:bodyPr wrap="square" lIns="0" rIns="0" tIns="0" bIns="0" anchor="t">
            <a:noAutofit/>
          </a:bodyPr>
          <a:lstStyle/>
          <a:p>
            <a:pPr algn="l">
              <a:lnSpc>
                <a:spcPct val="122000"/>
              </a:lnSpc>
            </a:pPr>
            <a:r>
              <a:rPr sz="620" b="0" i="0" spc="110">
                <a:solidFill>
                  <a:srgbClr val="34D399"/>
                </a:solidFill>
                <a:latin typeface="Consolas"/>
              </a:rPr>
              <a:t>INVARIANT 1 · PARENTS FIRST</a:t>
            </a:r>
          </a:p>
        </p:txBody>
      </p:sp>
      <p:sp>
        <p:nvSpPr>
          <p:cNvPr id="73" name="TextBox 72"/>
          <p:cNvSpPr txBox="1"/>
          <p:nvPr/>
        </p:nvSpPr>
        <p:spPr>
          <a:xfrm>
            <a:off x="7772400" y="4279392"/>
            <a:ext cx="3694176" cy="731520"/>
          </a:xfrm>
          <a:prstGeom prst="rect">
            <a:avLst/>
          </a:prstGeom>
          <a:noFill/>
        </p:spPr>
        <p:txBody>
          <a:bodyPr wrap="square" lIns="0" rIns="0" tIns="0" bIns="0" anchor="t">
            <a:noAutofit/>
          </a:bodyPr>
          <a:lstStyle/>
          <a:p>
            <a:pPr algn="l">
              <a:lnSpc>
                <a:spcPct val="128000"/>
              </a:lnSpc>
            </a:pPr>
            <a:r>
              <a:rPr sz="720" b="0" i="0">
                <a:solidFill>
                  <a:srgbClr val="9DB0C6"/>
                </a:solidFill>
                <a:latin typeface="Segoe UI"/>
              </a:rPr>
              <a:t>In seed files, registration order and every payload. The renderer, the rollup and the navigator all assume it.</a:t>
            </a:r>
          </a:p>
        </p:txBody>
      </p:sp>
      <p:sp>
        <p:nvSpPr>
          <p:cNvPr id="74" name="Rounded Rectangle 73"/>
          <p:cNvSpPr/>
          <p:nvPr/>
        </p:nvSpPr>
        <p:spPr>
          <a:xfrm>
            <a:off x="7626096" y="5193792"/>
            <a:ext cx="3995928" cy="1042415"/>
          </a:xfrm>
          <a:prstGeom prst="roundRect">
            <a:avLst>
              <a:gd name="adj" fmla="val 7017"/>
            </a:avLst>
          </a:prstGeom>
          <a:solidFill>
            <a:srgbClr val="0B1324"/>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5" name="TextBox 74"/>
          <p:cNvSpPr txBox="1"/>
          <p:nvPr/>
        </p:nvSpPr>
        <p:spPr>
          <a:xfrm>
            <a:off x="7772400" y="5276088"/>
            <a:ext cx="3566160" cy="146304"/>
          </a:xfrm>
          <a:prstGeom prst="rect">
            <a:avLst/>
          </a:prstGeom>
          <a:noFill/>
        </p:spPr>
        <p:txBody>
          <a:bodyPr wrap="square" lIns="0" rIns="0" tIns="0" bIns="0" anchor="t">
            <a:noAutofit/>
          </a:bodyPr>
          <a:lstStyle/>
          <a:p>
            <a:pPr algn="l">
              <a:lnSpc>
                <a:spcPct val="122000"/>
              </a:lnSpc>
            </a:pPr>
            <a:r>
              <a:rPr sz="620" b="0" i="0" spc="110">
                <a:solidFill>
                  <a:srgbClr val="FBBF24"/>
                </a:solidFill>
                <a:latin typeface="Consolas"/>
              </a:rPr>
              <a:t>INVARIANT 2 · AVERAGES UP</a:t>
            </a:r>
          </a:p>
        </p:txBody>
      </p:sp>
      <p:sp>
        <p:nvSpPr>
          <p:cNvPr id="76" name="TextBox 75"/>
          <p:cNvSpPr txBox="1"/>
          <p:nvPr/>
        </p:nvSpPr>
        <p:spPr>
          <a:xfrm>
            <a:off x="7772400" y="5449824"/>
            <a:ext cx="3694176" cy="731520"/>
          </a:xfrm>
          <a:prstGeom prst="rect">
            <a:avLst/>
          </a:prstGeom>
          <a:noFill/>
        </p:spPr>
        <p:txBody>
          <a:bodyPr wrap="square" lIns="0" rIns="0" tIns="0" bIns="0" anchor="t">
            <a:noAutofit/>
          </a:bodyPr>
          <a:lstStyle/>
          <a:p>
            <a:pPr algn="l">
              <a:lnSpc>
                <a:spcPct val="128000"/>
              </a:lnSpc>
            </a:pPr>
            <a:r>
              <a:rPr sz="720" b="0" i="0">
                <a:solidFill>
                  <a:srgbClr val="9DB0C6"/>
                </a:solidFill>
                <a:latin typeface="Segoe UI"/>
              </a:rPr>
              <a:t>If you pre-aggregate RPS across replicas, send the per-replica average — the gateway will average again on the way up.</a:t>
            </a:r>
          </a:p>
        </p:txBody>
      </p:sp>
      <p:sp>
        <p:nvSpPr>
          <p:cNvPr id="77" name="Rounded Rectangle 76"/>
          <p:cNvSpPr/>
          <p:nvPr/>
        </p:nvSpPr>
        <p:spPr>
          <a:xfrm>
            <a:off x="566928" y="5504688"/>
            <a:ext cx="6967728" cy="329184"/>
          </a:xfrm>
          <a:prstGeom prst="roundRect">
            <a:avLst>
              <a:gd name="adj" fmla="val 13888"/>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8" name="TextBox 77"/>
          <p:cNvSpPr txBox="1"/>
          <p:nvPr/>
        </p:nvSpPr>
        <p:spPr>
          <a:xfrm>
            <a:off x="713232" y="5568696"/>
            <a:ext cx="6675120" cy="219456"/>
          </a:xfrm>
          <a:prstGeom prst="rect">
            <a:avLst/>
          </a:prstGeom>
          <a:noFill/>
        </p:spPr>
        <p:txBody>
          <a:bodyPr wrap="square" lIns="0" rIns="0" tIns="0" bIns="0" anchor="t">
            <a:noAutofit/>
          </a:bodyPr>
          <a:lstStyle/>
          <a:p>
            <a:pPr algn="l">
              <a:lnSpc>
                <a:spcPct val="120000"/>
              </a:lnSpc>
            </a:pPr>
            <a:r>
              <a:rPr sz="720" b="0" i="0">
                <a:solidFill>
                  <a:srgbClr val="9DB0C6"/>
                </a:solidFill>
                <a:latin typeface="Segoe UI"/>
              </a:rPr>
              <a:t>Every leaf inherits the rollup: a green service under a degraded pod will not save the pod.</a:t>
            </a:r>
          </a:p>
        </p:txBody>
      </p:sp>
      <p:sp>
        <p:nvSpPr>
          <p:cNvPr id="79" name="Rounded Rectangle 78"/>
          <p:cNvSpPr/>
          <p:nvPr/>
        </p:nvSpPr>
        <p:spPr>
          <a:xfrm>
            <a:off x="566928" y="5888736"/>
            <a:ext cx="6967728" cy="329184"/>
          </a:xfrm>
          <a:prstGeom prst="roundRect">
            <a:avLst>
              <a:gd name="adj" fmla="val 13888"/>
            </a:avLst>
          </a:prstGeom>
          <a:solidFill>
            <a:srgbClr val="0A1520"/>
          </a:solidFill>
          <a:ln w="9525">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0" name="TextBox 79"/>
          <p:cNvSpPr txBox="1"/>
          <p:nvPr/>
        </p:nvSpPr>
        <p:spPr>
          <a:xfrm>
            <a:off x="713232" y="5952744"/>
            <a:ext cx="6675120" cy="219456"/>
          </a:xfrm>
          <a:prstGeom prst="rect">
            <a:avLst/>
          </a:prstGeom>
          <a:noFill/>
        </p:spPr>
        <p:txBody>
          <a:bodyPr wrap="square" lIns="0" rIns="0" tIns="0" bIns="0" anchor="t">
            <a:noAutofit/>
          </a:bodyPr>
          <a:lstStyle/>
          <a:p>
            <a:pPr algn="l">
              <a:lnSpc>
                <a:spcPct val="120000"/>
              </a:lnSpc>
            </a:pPr>
            <a:r>
              <a:rPr sz="720" b="0" i="0">
                <a:solidFill>
                  <a:srgbClr val="7DD3FC"/>
                </a:solidFill>
                <a:latin typeface="Segoe UI"/>
              </a:rPr>
              <a:t>Rule: map to the closest existing type. A new type is a schema change, not an integration detail.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4 · SAMPLE INTEGRATIONS</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Eight stacks, one contract</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Each recipe is self-contained: registration, heartbeat and alerting in the framework's own idioms. Replace the host and the ids, then run the same smoke test.</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INTEGRATION</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23 / 27</a:t>
            </a:r>
          </a:p>
        </p:txBody>
      </p:sp>
      <p:sp>
        <p:nvSpPr>
          <p:cNvPr id="11" name="Rounded Rectangle 10"/>
          <p:cNvSpPr/>
          <p:nvPr/>
        </p:nvSpPr>
        <p:spPr>
          <a:xfrm>
            <a:off x="566928" y="1746504"/>
            <a:ext cx="2761488" cy="1170432"/>
          </a:xfrm>
          <a:prstGeom prst="roundRect">
            <a:avLst>
              <a:gd name="adj" fmla="val 546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566928" y="1746504"/>
            <a:ext cx="32004" cy="1170432"/>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13232" y="1837943"/>
            <a:ext cx="2487168" cy="164592"/>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PHP · Laravel</a:t>
            </a:r>
          </a:p>
        </p:txBody>
      </p:sp>
      <p:sp>
        <p:nvSpPr>
          <p:cNvPr id="14" name="TextBox 13"/>
          <p:cNvSpPr txBox="1"/>
          <p:nvPr/>
        </p:nvSpPr>
        <p:spPr>
          <a:xfrm>
            <a:off x="713232" y="2020824"/>
            <a:ext cx="2487168" cy="237744"/>
          </a:xfrm>
          <a:prstGeom prst="rect">
            <a:avLst/>
          </a:prstGeom>
          <a:noFill/>
        </p:spPr>
        <p:txBody>
          <a:bodyPr wrap="square" lIns="0" rIns="0" tIns="0" bIns="0" anchor="t">
            <a:noAutofit/>
          </a:bodyPr>
          <a:lstStyle/>
          <a:p>
            <a:pPr algn="l">
              <a:lnSpc>
                <a:spcPct val="115000"/>
              </a:lnSpc>
            </a:pPr>
            <a:r>
              <a:rPr sz="590" b="0" i="0">
                <a:solidFill>
                  <a:srgbClr val="7DD3FC"/>
                </a:solidFill>
                <a:latin typeface="Consolas"/>
              </a:rPr>
              <a:t>config + reporter service + minutely schedule</a:t>
            </a:r>
          </a:p>
        </p:txBody>
      </p:sp>
      <p:sp>
        <p:nvSpPr>
          <p:cNvPr id="15" name="TextBox 14"/>
          <p:cNvSpPr txBox="1"/>
          <p:nvPr/>
        </p:nvSpPr>
        <p:spPr>
          <a:xfrm>
            <a:off x="713232" y="2276856"/>
            <a:ext cx="2505456" cy="6035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Register in the heartbeat so fresh environments self-register. Map Horizon to RPS, queue workers to a second service node.</a:t>
            </a:r>
          </a:p>
        </p:txBody>
      </p:sp>
      <p:sp>
        <p:nvSpPr>
          <p:cNvPr id="16" name="Rounded Rectangle 15"/>
          <p:cNvSpPr/>
          <p:nvPr/>
        </p:nvSpPr>
        <p:spPr>
          <a:xfrm>
            <a:off x="3465576" y="1746504"/>
            <a:ext cx="2761488" cy="1170432"/>
          </a:xfrm>
          <a:prstGeom prst="roundRect">
            <a:avLst>
              <a:gd name="adj" fmla="val 546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3465576" y="1746504"/>
            <a:ext cx="32004" cy="117043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3611880" y="1837943"/>
            <a:ext cx="2487168" cy="164592"/>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Java · Spring Boot</a:t>
            </a:r>
          </a:p>
        </p:txBody>
      </p:sp>
      <p:sp>
        <p:nvSpPr>
          <p:cNvPr id="19" name="TextBox 18"/>
          <p:cNvSpPr txBox="1"/>
          <p:nvPr/>
        </p:nvSpPr>
        <p:spPr>
          <a:xfrm>
            <a:off x="3611880" y="2020824"/>
            <a:ext cx="2487168" cy="237744"/>
          </a:xfrm>
          <a:prstGeom prst="rect">
            <a:avLst/>
          </a:prstGeom>
          <a:noFill/>
        </p:spPr>
        <p:txBody>
          <a:bodyPr wrap="square" lIns="0" rIns="0" tIns="0" bIns="0" anchor="t">
            <a:noAutofit/>
          </a:bodyPr>
          <a:lstStyle/>
          <a:p>
            <a:pPr algn="l">
              <a:lnSpc>
                <a:spcPct val="115000"/>
              </a:lnSpc>
            </a:pPr>
            <a:r>
              <a:rPr sz="590" b="0" i="0">
                <a:solidFill>
                  <a:srgbClr val="A78BFA"/>
                </a:solidFill>
                <a:latin typeface="Consolas"/>
              </a:rPr>
              <a:t>WebClient + @Scheduled + @ControllerAdvice</a:t>
            </a:r>
          </a:p>
        </p:txBody>
      </p:sp>
      <p:sp>
        <p:nvSpPr>
          <p:cNvPr id="20" name="TextBox 19"/>
          <p:cNvSpPr txBox="1"/>
          <p:nvPr/>
        </p:nvSpPr>
        <p:spPr>
          <a:xfrm>
            <a:off x="3611880" y="2276856"/>
            <a:ext cx="2505456" cy="6035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Non-blocking reporter, Micrometer-backed heartbeat, and exceptions become warning events without touching the request path.</a:t>
            </a:r>
          </a:p>
        </p:txBody>
      </p:sp>
      <p:sp>
        <p:nvSpPr>
          <p:cNvPr id="21" name="Rounded Rectangle 20"/>
          <p:cNvSpPr/>
          <p:nvPr/>
        </p:nvSpPr>
        <p:spPr>
          <a:xfrm>
            <a:off x="6364224" y="1746504"/>
            <a:ext cx="2761488" cy="1170432"/>
          </a:xfrm>
          <a:prstGeom prst="roundRect">
            <a:avLst>
              <a:gd name="adj" fmla="val 546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6364224" y="1746504"/>
            <a:ext cx="32004" cy="117043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6510528" y="1837943"/>
            <a:ext cx="2487168" cy="164592"/>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JavaScript · Node.js</a:t>
            </a:r>
          </a:p>
        </p:txBody>
      </p:sp>
      <p:sp>
        <p:nvSpPr>
          <p:cNvPr id="24" name="TextBox 23"/>
          <p:cNvSpPr txBox="1"/>
          <p:nvPr/>
        </p:nvSpPr>
        <p:spPr>
          <a:xfrm>
            <a:off x="6510528" y="2020824"/>
            <a:ext cx="2487168" cy="237744"/>
          </a:xfrm>
          <a:prstGeom prst="rect">
            <a:avLst/>
          </a:prstGeom>
          <a:noFill/>
        </p:spPr>
        <p:txBody>
          <a:bodyPr wrap="square" lIns="0" rIns="0" tIns="0" bIns="0" anchor="t">
            <a:noAutofit/>
          </a:bodyPr>
          <a:lstStyle/>
          <a:p>
            <a:pPr algn="l">
              <a:lnSpc>
                <a:spcPct val="115000"/>
              </a:lnSpc>
            </a:pPr>
            <a:r>
              <a:rPr sz="590" b="0" i="0">
                <a:solidFill>
                  <a:srgbClr val="34D399"/>
                </a:solidFill>
                <a:latin typeface="Consolas"/>
              </a:rPr>
              <a:t>60-line agent + Express middleware</a:t>
            </a:r>
          </a:p>
        </p:txBody>
      </p:sp>
      <p:sp>
        <p:nvSpPr>
          <p:cNvPr id="25" name="TextBox 24"/>
          <p:cNvSpPr txBox="1"/>
          <p:nvPr/>
        </p:nvSpPr>
        <p:spPr>
          <a:xfrm>
            <a:off x="6510528" y="2276856"/>
            <a:ext cx="2505456" cy="6035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process stats on an interval, latency observed in middleware, 5xx forwarded as events. No dependency beyond fetch.</a:t>
            </a:r>
          </a:p>
        </p:txBody>
      </p:sp>
      <p:sp>
        <p:nvSpPr>
          <p:cNvPr id="26" name="Rounded Rectangle 25"/>
          <p:cNvSpPr/>
          <p:nvPr/>
        </p:nvSpPr>
        <p:spPr>
          <a:xfrm>
            <a:off x="9262872" y="1746504"/>
            <a:ext cx="2761488" cy="1170432"/>
          </a:xfrm>
          <a:prstGeom prst="roundRect">
            <a:avLst>
              <a:gd name="adj" fmla="val 546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Rectangle 26"/>
          <p:cNvSpPr/>
          <p:nvPr/>
        </p:nvSpPr>
        <p:spPr>
          <a:xfrm>
            <a:off x="9262872" y="1746504"/>
            <a:ext cx="32004" cy="1170432"/>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9409176" y="1837943"/>
            <a:ext cx="2487168" cy="164592"/>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Go · Golang</a:t>
            </a:r>
          </a:p>
        </p:txBody>
      </p:sp>
      <p:sp>
        <p:nvSpPr>
          <p:cNvPr id="29" name="TextBox 28"/>
          <p:cNvSpPr txBox="1"/>
          <p:nvPr/>
        </p:nvSpPr>
        <p:spPr>
          <a:xfrm>
            <a:off x="9409176" y="2020824"/>
            <a:ext cx="2487168" cy="237744"/>
          </a:xfrm>
          <a:prstGeom prst="rect">
            <a:avLst/>
          </a:prstGeom>
          <a:noFill/>
        </p:spPr>
        <p:txBody>
          <a:bodyPr wrap="square" lIns="0" rIns="0" tIns="0" bIns="0" anchor="t">
            <a:noAutofit/>
          </a:bodyPr>
          <a:lstStyle/>
          <a:p>
            <a:pPr algn="l">
              <a:lnSpc>
                <a:spcPct val="115000"/>
              </a:lnSpc>
            </a:pPr>
            <a:r>
              <a:rPr sz="590" b="0" i="0">
                <a:solidFill>
                  <a:srgbClr val="7DD3FC"/>
                </a:solidFill>
                <a:latin typeface="Consolas"/>
              </a:rPr>
              <a:t>internal/ops package + ticker + chi middleware</a:t>
            </a:r>
          </a:p>
        </p:txBody>
      </p:sp>
      <p:sp>
        <p:nvSpPr>
          <p:cNvPr id="30" name="TextBox 29"/>
          <p:cNvSpPr txBox="1"/>
          <p:nvPr/>
        </p:nvSpPr>
        <p:spPr>
          <a:xfrm>
            <a:off x="9409176" y="2276856"/>
            <a:ext cx="2505456" cy="6035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Telemetry failures are swallowed by design. One goroutine owns the heartbeat; handlers just call Report().</a:t>
            </a:r>
          </a:p>
        </p:txBody>
      </p:sp>
      <p:sp>
        <p:nvSpPr>
          <p:cNvPr id="31" name="Rounded Rectangle 30"/>
          <p:cNvSpPr/>
          <p:nvPr/>
        </p:nvSpPr>
        <p:spPr>
          <a:xfrm>
            <a:off x="566928" y="3026663"/>
            <a:ext cx="2761488" cy="1170432"/>
          </a:xfrm>
          <a:prstGeom prst="roundRect">
            <a:avLst>
              <a:gd name="adj" fmla="val 546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Rectangle 31"/>
          <p:cNvSpPr/>
          <p:nvPr/>
        </p:nvSpPr>
        <p:spPr>
          <a:xfrm>
            <a:off x="566928" y="3026663"/>
            <a:ext cx="32004" cy="1170432"/>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713232" y="3118103"/>
            <a:ext cx="2487168" cy="164592"/>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Rust · Axum</a:t>
            </a:r>
          </a:p>
        </p:txBody>
      </p:sp>
      <p:sp>
        <p:nvSpPr>
          <p:cNvPr id="34" name="TextBox 33"/>
          <p:cNvSpPr txBox="1"/>
          <p:nvPr/>
        </p:nvSpPr>
        <p:spPr>
          <a:xfrm>
            <a:off x="713232" y="3300983"/>
            <a:ext cx="2487168" cy="237744"/>
          </a:xfrm>
          <a:prstGeom prst="rect">
            <a:avLst/>
          </a:prstGeom>
          <a:noFill/>
        </p:spPr>
        <p:txBody>
          <a:bodyPr wrap="square" lIns="0" rIns="0" tIns="0" bIns="0" anchor="t">
            <a:noAutofit/>
          </a:bodyPr>
          <a:lstStyle/>
          <a:p>
            <a:pPr algn="l">
              <a:lnSpc>
                <a:spcPct val="115000"/>
              </a:lnSpc>
            </a:pPr>
            <a:r>
              <a:rPr sz="590" b="0" i="0">
                <a:solidFill>
                  <a:srgbClr val="FB7185"/>
                </a:solidFill>
                <a:latin typeface="Consolas"/>
              </a:rPr>
              <a:t>reqwest + serde + sysinfo + tokio task</a:t>
            </a:r>
          </a:p>
        </p:txBody>
      </p:sp>
      <p:sp>
        <p:nvSpPr>
          <p:cNvPr id="35" name="TextBox 34"/>
          <p:cNvSpPr txBox="1"/>
          <p:nvPr/>
        </p:nvSpPr>
        <p:spPr>
          <a:xfrm>
            <a:off x="713232" y="3557015"/>
            <a:ext cx="2505456" cy="6035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Typed reporter structs, host stats from sysinfo, a spawned heartbeat task, one-line event calls from handlers.</a:t>
            </a:r>
          </a:p>
        </p:txBody>
      </p:sp>
      <p:sp>
        <p:nvSpPr>
          <p:cNvPr id="36" name="Rounded Rectangle 35"/>
          <p:cNvSpPr/>
          <p:nvPr/>
        </p:nvSpPr>
        <p:spPr>
          <a:xfrm>
            <a:off x="3465576" y="3026663"/>
            <a:ext cx="2761488" cy="1170432"/>
          </a:xfrm>
          <a:prstGeom prst="roundRect">
            <a:avLst>
              <a:gd name="adj" fmla="val 546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Rectangle 36"/>
          <p:cNvSpPr/>
          <p:nvPr/>
        </p:nvSpPr>
        <p:spPr>
          <a:xfrm>
            <a:off x="3465576" y="3026663"/>
            <a:ext cx="32004" cy="117043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TextBox 37"/>
          <p:cNvSpPr txBox="1"/>
          <p:nvPr/>
        </p:nvSpPr>
        <p:spPr>
          <a:xfrm>
            <a:off x="3611880" y="3118103"/>
            <a:ext cx="2487168" cy="164592"/>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Python · FastAPI/Flask</a:t>
            </a:r>
          </a:p>
        </p:txBody>
      </p:sp>
      <p:sp>
        <p:nvSpPr>
          <p:cNvPr id="39" name="TextBox 38"/>
          <p:cNvSpPr txBox="1"/>
          <p:nvPr/>
        </p:nvSpPr>
        <p:spPr>
          <a:xfrm>
            <a:off x="3611880" y="3300983"/>
            <a:ext cx="2487168" cy="237744"/>
          </a:xfrm>
          <a:prstGeom prst="rect">
            <a:avLst/>
          </a:prstGeom>
          <a:noFill/>
        </p:spPr>
        <p:txBody>
          <a:bodyPr wrap="square" lIns="0" rIns="0" tIns="0" bIns="0" anchor="t">
            <a:noAutofit/>
          </a:bodyPr>
          <a:lstStyle/>
          <a:p>
            <a:pPr algn="l">
              <a:lnSpc>
                <a:spcPct val="115000"/>
              </a:lnSpc>
            </a:pPr>
            <a:r>
              <a:rPr sz="590" b="0" i="0">
                <a:solidFill>
                  <a:srgbClr val="FBBF24"/>
                </a:solidFill>
                <a:latin typeface="Consolas"/>
              </a:rPr>
              <a:t>importable module + BaseHTTPMiddleware</a:t>
            </a:r>
          </a:p>
        </p:txBody>
      </p:sp>
      <p:sp>
        <p:nvSpPr>
          <p:cNvPr id="40" name="TextBox 39"/>
          <p:cNvSpPr txBox="1"/>
          <p:nvPr/>
        </p:nvSpPr>
        <p:spPr>
          <a:xfrm>
            <a:off x="3611880" y="3557015"/>
            <a:ext cx="2505456" cy="6035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One module for every Python runtime: registration, snapshot push, events, plus a psutil-based worker loop.</a:t>
            </a:r>
          </a:p>
        </p:txBody>
      </p:sp>
      <p:sp>
        <p:nvSpPr>
          <p:cNvPr id="41" name="Rounded Rectangle 40"/>
          <p:cNvSpPr/>
          <p:nvPr/>
        </p:nvSpPr>
        <p:spPr>
          <a:xfrm>
            <a:off x="6364224" y="3026663"/>
            <a:ext cx="2761488" cy="1170432"/>
          </a:xfrm>
          <a:prstGeom prst="roundRect">
            <a:avLst>
              <a:gd name="adj" fmla="val 546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Rectangle 41"/>
          <p:cNvSpPr/>
          <p:nvPr/>
        </p:nvSpPr>
        <p:spPr>
          <a:xfrm>
            <a:off x="6364224" y="3026663"/>
            <a:ext cx="32004" cy="117043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6510528" y="3118103"/>
            <a:ext cx="2487168" cy="164592"/>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PostgreSQL</a:t>
            </a:r>
          </a:p>
        </p:txBody>
      </p:sp>
      <p:sp>
        <p:nvSpPr>
          <p:cNvPr id="44" name="TextBox 43"/>
          <p:cNvSpPr txBox="1"/>
          <p:nvPr/>
        </p:nvSpPr>
        <p:spPr>
          <a:xfrm>
            <a:off x="6510528" y="3300983"/>
            <a:ext cx="2487168" cy="237744"/>
          </a:xfrm>
          <a:prstGeom prst="rect">
            <a:avLst/>
          </a:prstGeom>
          <a:noFill/>
        </p:spPr>
        <p:txBody>
          <a:bodyPr wrap="square" lIns="0" rIns="0" tIns="0" bIns="0" anchor="t">
            <a:noAutofit/>
          </a:bodyPr>
          <a:lstStyle/>
          <a:p>
            <a:pPr algn="l">
              <a:lnSpc>
                <a:spcPct val="115000"/>
              </a:lnSpc>
            </a:pPr>
            <a:r>
              <a:rPr sz="590" b="0" i="0">
                <a:solidFill>
                  <a:srgbClr val="34D399"/>
                </a:solidFill>
                <a:latin typeface="Consolas"/>
              </a:rPr>
              <a:t>pg_cron + pg_net, or a trigger, or a sidecar</a:t>
            </a:r>
          </a:p>
        </p:txBody>
      </p:sp>
      <p:sp>
        <p:nvSpPr>
          <p:cNvPr id="45" name="TextBox 44"/>
          <p:cNvSpPr txBox="1"/>
          <p:nvPr/>
        </p:nvSpPr>
        <p:spPr>
          <a:xfrm>
            <a:off x="6510528" y="3557015"/>
            <a:ext cx="2505456" cy="6035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No app change. Minutely heartbeat through pg_net, failed inserts become warning events through a trigger.</a:t>
            </a:r>
          </a:p>
        </p:txBody>
      </p:sp>
      <p:sp>
        <p:nvSpPr>
          <p:cNvPr id="46" name="Rounded Rectangle 45"/>
          <p:cNvSpPr/>
          <p:nvPr/>
        </p:nvSpPr>
        <p:spPr>
          <a:xfrm>
            <a:off x="9262872" y="3026663"/>
            <a:ext cx="2761488" cy="1170432"/>
          </a:xfrm>
          <a:prstGeom prst="roundRect">
            <a:avLst>
              <a:gd name="adj" fmla="val 5468"/>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7" name="Rectangle 46"/>
          <p:cNvSpPr/>
          <p:nvPr/>
        </p:nvSpPr>
        <p:spPr>
          <a:xfrm>
            <a:off x="9262872" y="3026663"/>
            <a:ext cx="32004" cy="117043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TextBox 47"/>
          <p:cNvSpPr txBox="1"/>
          <p:nvPr/>
        </p:nvSpPr>
        <p:spPr>
          <a:xfrm>
            <a:off x="9409176" y="3118103"/>
            <a:ext cx="2487168" cy="164592"/>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MinIO</a:t>
            </a:r>
          </a:p>
        </p:txBody>
      </p:sp>
      <p:sp>
        <p:nvSpPr>
          <p:cNvPr id="49" name="TextBox 48"/>
          <p:cNvSpPr txBox="1"/>
          <p:nvPr/>
        </p:nvSpPr>
        <p:spPr>
          <a:xfrm>
            <a:off x="9409176" y="3300983"/>
            <a:ext cx="2487168" cy="237744"/>
          </a:xfrm>
          <a:prstGeom prst="rect">
            <a:avLst/>
          </a:prstGeom>
          <a:noFill/>
        </p:spPr>
        <p:txBody>
          <a:bodyPr wrap="square" lIns="0" rIns="0" tIns="0" bIns="0" anchor="t">
            <a:noAutofit/>
          </a:bodyPr>
          <a:lstStyle/>
          <a:p>
            <a:pPr algn="l">
              <a:lnSpc>
                <a:spcPct val="115000"/>
              </a:lnSpc>
            </a:pPr>
            <a:r>
              <a:rPr sz="590" b="0" i="0">
                <a:solidFill>
                  <a:srgbClr val="A78BFA"/>
                </a:solidFill>
                <a:latin typeface="Consolas"/>
              </a:rPr>
              <a:t>bucket notification → 30-line bridge</a:t>
            </a:r>
          </a:p>
        </p:txBody>
      </p:sp>
      <p:sp>
        <p:nvSpPr>
          <p:cNvPr id="50" name="TextBox 49"/>
          <p:cNvSpPr txBox="1"/>
          <p:nvPr/>
        </p:nvSpPr>
        <p:spPr>
          <a:xfrm>
            <a:off x="9409176" y="3557015"/>
            <a:ext cx="2505456" cy="603504"/>
          </a:xfrm>
          <a:prstGeom prst="rect">
            <a:avLst/>
          </a:prstGeom>
          <a:noFill/>
        </p:spPr>
        <p:txBody>
          <a:bodyPr wrap="square" lIns="0" rIns="0" tIns="0" bIns="0" anchor="t">
            <a:noAutofit/>
          </a:bodyPr>
          <a:lstStyle/>
          <a:p>
            <a:pPr algn="l">
              <a:lnSpc>
                <a:spcPct val="122000"/>
              </a:lnSpc>
            </a:pPr>
            <a:r>
              <a:rPr sz="640" b="0" i="0">
                <a:solidFill>
                  <a:srgbClr val="9DB0C6"/>
                </a:solidFill>
                <a:latin typeface="Segoe UI"/>
              </a:rPr>
              <a:t>MinIO cannot speak the API directly, so a small webhook bridge maps object events and a disk gauge.</a:t>
            </a:r>
          </a:p>
        </p:txBody>
      </p:sp>
      <p:sp>
        <p:nvSpPr>
          <p:cNvPr id="51" name="Rounded Rectangle 50"/>
          <p:cNvSpPr/>
          <p:nvPr/>
        </p:nvSpPr>
        <p:spPr>
          <a:xfrm>
            <a:off x="566928" y="4224528"/>
            <a:ext cx="11055096" cy="768096"/>
          </a:xfrm>
          <a:prstGeom prst="roundRect">
            <a:avLst>
              <a:gd name="adj" fmla="val 8333"/>
            </a:avLst>
          </a:prstGeom>
          <a:solidFill>
            <a:srgbClr val="0F1725"/>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TextBox 51"/>
          <p:cNvSpPr txBox="1"/>
          <p:nvPr/>
        </p:nvSpPr>
        <p:spPr>
          <a:xfrm>
            <a:off x="749808" y="4315968"/>
            <a:ext cx="4937760" cy="146304"/>
          </a:xfrm>
          <a:prstGeom prst="rect">
            <a:avLst/>
          </a:prstGeom>
          <a:noFill/>
        </p:spPr>
        <p:txBody>
          <a:bodyPr wrap="square" lIns="0" rIns="0" tIns="0" bIns="0" anchor="t">
            <a:noAutofit/>
          </a:bodyPr>
          <a:lstStyle/>
          <a:p>
            <a:pPr algn="l">
              <a:lnSpc>
                <a:spcPct val="122000"/>
              </a:lnSpc>
            </a:pPr>
            <a:r>
              <a:rPr sz="630" b="0" i="0" spc="110">
                <a:solidFill>
                  <a:srgbClr val="34D399"/>
                </a:solidFill>
                <a:latin typeface="Consolas"/>
              </a:rPr>
              <a:t>YOU ARE INTEGRATED WHEN ALL FIVE HOLD</a:t>
            </a:r>
          </a:p>
        </p:txBody>
      </p:sp>
      <p:sp>
        <p:nvSpPr>
          <p:cNvPr id="53" name="TextBox 52"/>
          <p:cNvSpPr txBox="1"/>
          <p:nvPr/>
        </p:nvSpPr>
        <p:spPr>
          <a:xfrm>
            <a:off x="768096" y="4517136"/>
            <a:ext cx="182880" cy="146304"/>
          </a:xfrm>
          <a:prstGeom prst="rect">
            <a:avLst/>
          </a:prstGeom>
          <a:noFill/>
        </p:spPr>
        <p:txBody>
          <a:bodyPr wrap="square" lIns="0" rIns="0" tIns="0" bIns="0" anchor="t">
            <a:noAutofit/>
          </a:bodyPr>
          <a:lstStyle/>
          <a:p>
            <a:pPr algn="l">
              <a:lnSpc>
                <a:spcPct val="122000"/>
              </a:lnSpc>
            </a:pPr>
            <a:r>
              <a:rPr sz="660" b="1" i="0">
                <a:solidFill>
                  <a:srgbClr val="34D399"/>
                </a:solidFill>
                <a:latin typeface="Consolas"/>
              </a:rPr>
              <a:t>✓</a:t>
            </a:r>
          </a:p>
        </p:txBody>
      </p:sp>
      <p:sp>
        <p:nvSpPr>
          <p:cNvPr id="54" name="TextBox 53"/>
          <p:cNvSpPr txBox="1"/>
          <p:nvPr/>
        </p:nvSpPr>
        <p:spPr>
          <a:xfrm>
            <a:off x="950976" y="4526280"/>
            <a:ext cx="2834640" cy="164592"/>
          </a:xfrm>
          <a:prstGeom prst="rect">
            <a:avLst/>
          </a:prstGeom>
          <a:noFill/>
        </p:spPr>
        <p:txBody>
          <a:bodyPr wrap="square" lIns="0" rIns="0" tIns="0" bIns="0" anchor="t">
            <a:noAutofit/>
          </a:bodyPr>
          <a:lstStyle/>
          <a:p>
            <a:pPr algn="l">
              <a:lnSpc>
                <a:spcPct val="122000"/>
              </a:lnSpc>
            </a:pPr>
            <a:r>
              <a:rPr sz="720" b="0" i="0">
                <a:solidFill>
                  <a:srgbClr val="E2E8F0"/>
                </a:solidFill>
                <a:latin typeface="Segoe UI"/>
              </a:rPr>
              <a:t>appears under its parent</a:t>
            </a:r>
          </a:p>
        </p:txBody>
      </p:sp>
      <p:sp>
        <p:nvSpPr>
          <p:cNvPr id="55" name="TextBox 54"/>
          <p:cNvSpPr txBox="1"/>
          <p:nvPr/>
        </p:nvSpPr>
        <p:spPr>
          <a:xfrm>
            <a:off x="3877056" y="4517136"/>
            <a:ext cx="182880" cy="146304"/>
          </a:xfrm>
          <a:prstGeom prst="rect">
            <a:avLst/>
          </a:prstGeom>
          <a:noFill/>
        </p:spPr>
        <p:txBody>
          <a:bodyPr wrap="square" lIns="0" rIns="0" tIns="0" bIns="0" anchor="t">
            <a:noAutofit/>
          </a:bodyPr>
          <a:lstStyle/>
          <a:p>
            <a:pPr algn="l">
              <a:lnSpc>
                <a:spcPct val="122000"/>
              </a:lnSpc>
            </a:pPr>
            <a:r>
              <a:rPr sz="660" b="1" i="0">
                <a:solidFill>
                  <a:srgbClr val="34D399"/>
                </a:solidFill>
                <a:latin typeface="Consolas"/>
              </a:rPr>
              <a:t>✓</a:t>
            </a:r>
          </a:p>
        </p:txBody>
      </p:sp>
      <p:sp>
        <p:nvSpPr>
          <p:cNvPr id="56" name="TextBox 55"/>
          <p:cNvSpPr txBox="1"/>
          <p:nvPr/>
        </p:nvSpPr>
        <p:spPr>
          <a:xfrm>
            <a:off x="4059936" y="4526280"/>
            <a:ext cx="2834640" cy="164592"/>
          </a:xfrm>
          <a:prstGeom prst="rect">
            <a:avLst/>
          </a:prstGeom>
          <a:noFill/>
        </p:spPr>
        <p:txBody>
          <a:bodyPr wrap="square" lIns="0" rIns="0" tIns="0" bIns="0" anchor="t">
            <a:noAutofit/>
          </a:bodyPr>
          <a:lstStyle/>
          <a:p>
            <a:pPr algn="l">
              <a:lnSpc>
                <a:spcPct val="122000"/>
              </a:lnSpc>
            </a:pPr>
            <a:r>
              <a:rPr sz="720" b="0" i="0">
                <a:solidFill>
                  <a:srgbClr val="E2E8F0"/>
                </a:solidFill>
                <a:latin typeface="Segoe UI"/>
              </a:rPr>
              <a:t>fresh RPS and p99</a:t>
            </a:r>
          </a:p>
        </p:txBody>
      </p:sp>
      <p:sp>
        <p:nvSpPr>
          <p:cNvPr id="57" name="TextBox 56"/>
          <p:cNvSpPr txBox="1"/>
          <p:nvPr/>
        </p:nvSpPr>
        <p:spPr>
          <a:xfrm>
            <a:off x="6986016" y="4517136"/>
            <a:ext cx="182880" cy="146304"/>
          </a:xfrm>
          <a:prstGeom prst="rect">
            <a:avLst/>
          </a:prstGeom>
          <a:noFill/>
        </p:spPr>
        <p:txBody>
          <a:bodyPr wrap="square" lIns="0" rIns="0" tIns="0" bIns="0" anchor="t">
            <a:noAutofit/>
          </a:bodyPr>
          <a:lstStyle/>
          <a:p>
            <a:pPr algn="l">
              <a:lnSpc>
                <a:spcPct val="122000"/>
              </a:lnSpc>
            </a:pPr>
            <a:r>
              <a:rPr sz="660" b="1" i="0">
                <a:solidFill>
                  <a:srgbClr val="34D399"/>
                </a:solidFill>
                <a:latin typeface="Consolas"/>
              </a:rPr>
              <a:t>✓</a:t>
            </a:r>
          </a:p>
        </p:txBody>
      </p:sp>
      <p:sp>
        <p:nvSpPr>
          <p:cNvPr id="58" name="TextBox 57"/>
          <p:cNvSpPr txBox="1"/>
          <p:nvPr/>
        </p:nvSpPr>
        <p:spPr>
          <a:xfrm>
            <a:off x="7168896" y="4526280"/>
            <a:ext cx="2834640" cy="164592"/>
          </a:xfrm>
          <a:prstGeom prst="rect">
            <a:avLst/>
          </a:prstGeom>
          <a:noFill/>
        </p:spPr>
        <p:txBody>
          <a:bodyPr wrap="square" lIns="0" rIns="0" tIns="0" bIns="0" anchor="t">
            <a:noAutofit/>
          </a:bodyPr>
          <a:lstStyle/>
          <a:p>
            <a:pPr algn="l">
              <a:lnSpc>
                <a:spcPct val="122000"/>
              </a:lnSpc>
            </a:pPr>
            <a:r>
              <a:rPr sz="720" b="0" i="0">
                <a:solidFill>
                  <a:srgbClr val="E2E8F0"/>
                </a:solidFill>
                <a:latin typeface="Segoe UI"/>
              </a:rPr>
              <a:t>endpoint SLA chip green</a:t>
            </a:r>
          </a:p>
        </p:txBody>
      </p:sp>
      <p:sp>
        <p:nvSpPr>
          <p:cNvPr id="59" name="TextBox 58"/>
          <p:cNvSpPr txBox="1"/>
          <p:nvPr/>
        </p:nvSpPr>
        <p:spPr>
          <a:xfrm>
            <a:off x="768096" y="4736592"/>
            <a:ext cx="182880" cy="146304"/>
          </a:xfrm>
          <a:prstGeom prst="rect">
            <a:avLst/>
          </a:prstGeom>
          <a:noFill/>
        </p:spPr>
        <p:txBody>
          <a:bodyPr wrap="square" lIns="0" rIns="0" tIns="0" bIns="0" anchor="t">
            <a:noAutofit/>
          </a:bodyPr>
          <a:lstStyle/>
          <a:p>
            <a:pPr algn="l">
              <a:lnSpc>
                <a:spcPct val="122000"/>
              </a:lnSpc>
            </a:pPr>
            <a:r>
              <a:rPr sz="660" b="1" i="0">
                <a:solidFill>
                  <a:srgbClr val="34D399"/>
                </a:solidFill>
                <a:latin typeface="Consolas"/>
              </a:rPr>
              <a:t>✓</a:t>
            </a:r>
          </a:p>
        </p:txBody>
      </p:sp>
      <p:sp>
        <p:nvSpPr>
          <p:cNvPr id="60" name="TextBox 59"/>
          <p:cNvSpPr txBox="1"/>
          <p:nvPr/>
        </p:nvSpPr>
        <p:spPr>
          <a:xfrm>
            <a:off x="950976" y="4745736"/>
            <a:ext cx="2834640" cy="164592"/>
          </a:xfrm>
          <a:prstGeom prst="rect">
            <a:avLst/>
          </a:prstGeom>
          <a:noFill/>
        </p:spPr>
        <p:txBody>
          <a:bodyPr wrap="square" lIns="0" rIns="0" tIns="0" bIns="0" anchor="t">
            <a:noAutofit/>
          </a:bodyPr>
          <a:lstStyle/>
          <a:p>
            <a:pPr algn="l">
              <a:lnSpc>
                <a:spcPct val="122000"/>
              </a:lnSpc>
            </a:pPr>
            <a:r>
              <a:rPr sz="720" b="0" i="0">
                <a:solidFill>
                  <a:srgbClr val="E2E8F0"/>
                </a:solidFill>
                <a:latin typeface="Segoe UI"/>
              </a:rPr>
              <a:t>a deploy produces a dock row</a:t>
            </a:r>
          </a:p>
        </p:txBody>
      </p:sp>
      <p:sp>
        <p:nvSpPr>
          <p:cNvPr id="61" name="TextBox 60"/>
          <p:cNvSpPr txBox="1"/>
          <p:nvPr/>
        </p:nvSpPr>
        <p:spPr>
          <a:xfrm>
            <a:off x="3877056" y="4736592"/>
            <a:ext cx="182880" cy="146304"/>
          </a:xfrm>
          <a:prstGeom prst="rect">
            <a:avLst/>
          </a:prstGeom>
          <a:noFill/>
        </p:spPr>
        <p:txBody>
          <a:bodyPr wrap="square" lIns="0" rIns="0" tIns="0" bIns="0" anchor="t">
            <a:noAutofit/>
          </a:bodyPr>
          <a:lstStyle/>
          <a:p>
            <a:pPr algn="l">
              <a:lnSpc>
                <a:spcPct val="122000"/>
              </a:lnSpc>
            </a:pPr>
            <a:r>
              <a:rPr sz="660" b="1" i="0">
                <a:solidFill>
                  <a:srgbClr val="34D399"/>
                </a:solidFill>
                <a:latin typeface="Consolas"/>
              </a:rPr>
              <a:t>✓</a:t>
            </a:r>
          </a:p>
        </p:txBody>
      </p:sp>
      <p:sp>
        <p:nvSpPr>
          <p:cNvPr id="62" name="TextBox 61"/>
          <p:cNvSpPr txBox="1"/>
          <p:nvPr/>
        </p:nvSpPr>
        <p:spPr>
          <a:xfrm>
            <a:off x="4059936" y="4745736"/>
            <a:ext cx="2834640" cy="164592"/>
          </a:xfrm>
          <a:prstGeom prst="rect">
            <a:avLst/>
          </a:prstGeom>
          <a:noFill/>
        </p:spPr>
        <p:txBody>
          <a:bodyPr wrap="square" lIns="0" rIns="0" tIns="0" bIns="0" anchor="t">
            <a:noAutofit/>
          </a:bodyPr>
          <a:lstStyle/>
          <a:p>
            <a:pPr algn="l">
              <a:lnSpc>
                <a:spcPct val="122000"/>
              </a:lnSpc>
            </a:pPr>
            <a:r>
              <a:rPr sz="720" b="0" i="0">
                <a:solidFill>
                  <a:srgbClr val="E2E8F0"/>
                </a:solidFill>
                <a:latin typeface="Segoe UI"/>
              </a:rPr>
              <a:t>a forced error goes amber, then rose</a:t>
            </a:r>
          </a:p>
        </p:txBody>
      </p:sp>
      <p:sp>
        <p:nvSpPr>
          <p:cNvPr id="63" name="TextBox 62"/>
          <p:cNvSpPr txBox="1"/>
          <p:nvPr/>
        </p:nvSpPr>
        <p:spPr>
          <a:xfrm>
            <a:off x="10094976" y="4553712"/>
            <a:ext cx="2194560" cy="329184"/>
          </a:xfrm>
          <a:prstGeom prst="rect">
            <a:avLst/>
          </a:prstGeom>
          <a:noFill/>
        </p:spPr>
        <p:txBody>
          <a:bodyPr wrap="square" lIns="0" rIns="0" tIns="0" bIns="0" anchor="t">
            <a:noAutofit/>
          </a:bodyPr>
          <a:lstStyle/>
          <a:p>
            <a:pPr algn="l">
              <a:lnSpc>
                <a:spcPct val="120000"/>
              </a:lnSpc>
            </a:pPr>
            <a:r>
              <a:rPr sz="700" b="0" i="0">
                <a:solidFill>
                  <a:srgbClr val="64748B"/>
                </a:solidFill>
                <a:latin typeface="Consolas"/>
              </a:rPr>
              <a:t>if all five hold,
ship it</a:t>
            </a:r>
          </a:p>
        </p:txBody>
      </p:sp>
      <p:sp>
        <p:nvSpPr>
          <p:cNvPr id="64" name="Rounded Rectangle 63"/>
          <p:cNvSpPr/>
          <p:nvPr/>
        </p:nvSpPr>
        <p:spPr>
          <a:xfrm>
            <a:off x="566928" y="5138928"/>
            <a:ext cx="7187184" cy="731520"/>
          </a:xfrm>
          <a:prstGeom prst="roundRect">
            <a:avLst>
              <a:gd name="adj" fmla="val 7500"/>
            </a:avLst>
          </a:prstGeom>
          <a:solidFill>
            <a:srgbClr val="05090F"/>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5" name="TextBox 64"/>
          <p:cNvSpPr txBox="1"/>
          <p:nvPr/>
        </p:nvSpPr>
        <p:spPr>
          <a:xfrm>
            <a:off x="713232" y="5193792"/>
            <a:ext cx="3657600" cy="137160"/>
          </a:xfrm>
          <a:prstGeom prst="rect">
            <a:avLst/>
          </a:prstGeom>
          <a:noFill/>
        </p:spPr>
        <p:txBody>
          <a:bodyPr wrap="square" lIns="0" rIns="0" tIns="0" bIns="0" anchor="t">
            <a:noAutofit/>
          </a:bodyPr>
          <a:lstStyle/>
          <a:p>
            <a:pPr algn="l">
              <a:lnSpc>
                <a:spcPct val="122000"/>
              </a:lnSpc>
            </a:pPr>
            <a:r>
              <a:rPr sz="590" b="0" i="0" spc="110">
                <a:solidFill>
                  <a:srgbClr val="34D399"/>
                </a:solidFill>
                <a:latin typeface="Consolas"/>
              </a:rPr>
              <a:t>SMOKE TEST · ANY STACK</a:t>
            </a:r>
          </a:p>
        </p:txBody>
      </p:sp>
      <p:sp>
        <p:nvSpPr>
          <p:cNvPr id="66" name="TextBox 65"/>
          <p:cNvSpPr txBox="1"/>
          <p:nvPr/>
        </p:nvSpPr>
        <p:spPr>
          <a:xfrm>
            <a:off x="713232" y="5349240"/>
            <a:ext cx="6894576" cy="475488"/>
          </a:xfrm>
          <a:prstGeom prst="rect">
            <a:avLst/>
          </a:prstGeom>
          <a:noFill/>
        </p:spPr>
        <p:txBody>
          <a:bodyPr wrap="square" lIns="0" rIns="0" tIns="0" bIns="0" anchor="t">
            <a:noAutofit/>
          </a:bodyPr>
          <a:lstStyle/>
          <a:p>
            <a:pPr algn="l">
              <a:lnSpc>
                <a:spcPct val="135000"/>
              </a:lnSpc>
            </a:pPr>
            <a:r>
              <a:rPr sz="620" b="0" i="0">
                <a:solidFill>
                  <a:srgbClr val="7DD3FC"/>
                </a:solidFill>
                <a:latin typeface="Consolas"/>
              </a:rPr>
              <a:t>curl -X POST $HOST/api/ingest/metrics -H 'content-type: application/json'
     -d '{"nodeId":"org-acme::svc-billing","cpu":42,"memory":61,"rps":180}'</a:t>
            </a:r>
          </a:p>
        </p:txBody>
      </p:sp>
      <p:sp>
        <p:nvSpPr>
          <p:cNvPr id="67" name="Rounded Rectangle 66"/>
          <p:cNvSpPr/>
          <p:nvPr/>
        </p:nvSpPr>
        <p:spPr>
          <a:xfrm>
            <a:off x="7882127" y="5138928"/>
            <a:ext cx="3739896" cy="731520"/>
          </a:xfrm>
          <a:prstGeom prst="roundRect">
            <a:avLst>
              <a:gd name="adj" fmla="val 7500"/>
            </a:avLst>
          </a:prstGeom>
          <a:solidFill>
            <a:srgbClr val="0A1520"/>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8" name="TextBox 67"/>
          <p:cNvSpPr txBox="1"/>
          <p:nvPr/>
        </p:nvSpPr>
        <p:spPr>
          <a:xfrm>
            <a:off x="8046720" y="5193792"/>
            <a:ext cx="3291840" cy="137160"/>
          </a:xfrm>
          <a:prstGeom prst="rect">
            <a:avLst/>
          </a:prstGeom>
          <a:noFill/>
        </p:spPr>
        <p:txBody>
          <a:bodyPr wrap="square" lIns="0" rIns="0" tIns="0" bIns="0" anchor="t">
            <a:noAutofit/>
          </a:bodyPr>
          <a:lstStyle/>
          <a:p>
            <a:pPr algn="l">
              <a:lnSpc>
                <a:spcPct val="122000"/>
              </a:lnSpc>
            </a:pPr>
            <a:r>
              <a:rPr sz="590" b="0" i="0" spc="110">
                <a:solidFill>
                  <a:srgbClr val="A78BFA"/>
                </a:solidFill>
                <a:latin typeface="Consolas"/>
              </a:rPr>
              <a:t>THEN CONFIRM</a:t>
            </a:r>
          </a:p>
        </p:txBody>
      </p:sp>
      <p:sp>
        <p:nvSpPr>
          <p:cNvPr id="69" name="TextBox 68"/>
          <p:cNvSpPr txBox="1"/>
          <p:nvPr/>
        </p:nvSpPr>
        <p:spPr>
          <a:xfrm>
            <a:off x="8046720" y="5349240"/>
            <a:ext cx="3419856" cy="475488"/>
          </a:xfrm>
          <a:prstGeom prst="rect">
            <a:avLst/>
          </a:prstGeom>
          <a:noFill/>
        </p:spPr>
        <p:txBody>
          <a:bodyPr wrap="square" lIns="0" rIns="0" tIns="0" bIns="0" anchor="t">
            <a:noAutofit/>
          </a:bodyPr>
          <a:lstStyle/>
          <a:p>
            <a:pPr algn="l">
              <a:lnSpc>
                <a:spcPct val="125000"/>
              </a:lnSpc>
            </a:pPr>
            <a:r>
              <a:rPr sz="700" b="0" i="0">
                <a:solidFill>
                  <a:srgbClr val="9DB0C6"/>
                </a:solidFill>
                <a:latin typeface="Segoe UI"/>
              </a:rPr>
              <a:t>GET /api/ingest/metrics?nodeId=… returns your snapshot, and the node card updates within one tick.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5.1 · ACCEPTANCE</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The five-minute acceptance test</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A control room is only real if it can prove itself. Run these five checks in order — each one exercises a different layer of the architecture.</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WRAP-UP</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24 / 27</a:t>
            </a:r>
          </a:p>
        </p:txBody>
      </p:sp>
      <p:sp>
        <p:nvSpPr>
          <p:cNvPr id="11" name="Rounded Rectangle 10"/>
          <p:cNvSpPr/>
          <p:nvPr/>
        </p:nvSpPr>
        <p:spPr>
          <a:xfrm>
            <a:off x="566928" y="1783080"/>
            <a:ext cx="11055096" cy="731520"/>
          </a:xfrm>
          <a:prstGeom prst="roundRect">
            <a:avLst>
              <a:gd name="adj" fmla="val 875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566928" y="1783080"/>
            <a:ext cx="41148" cy="731520"/>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Oval 12"/>
          <p:cNvSpPr/>
          <p:nvPr/>
        </p:nvSpPr>
        <p:spPr>
          <a:xfrm>
            <a:off x="768096" y="1993392"/>
            <a:ext cx="292608" cy="292608"/>
          </a:xfrm>
          <a:prstGeom prst="ellipse">
            <a:avLst/>
          </a:prstGeom>
          <a:solidFill>
            <a:srgbClr val="0A1520"/>
          </a:solidFill>
          <a:ln w="1143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050084"/>
            <a:ext cx="292608" cy="182880"/>
          </a:xfrm>
          <a:prstGeom prst="rect">
            <a:avLst/>
          </a:prstGeom>
          <a:noFill/>
        </p:spPr>
        <p:txBody>
          <a:bodyPr wrap="square" lIns="0" rIns="0" tIns="0" bIns="0" anchor="t">
            <a:noAutofit/>
          </a:bodyPr>
          <a:lstStyle/>
          <a:p>
            <a:pPr algn="ctr">
              <a:lnSpc>
                <a:spcPct val="122000"/>
              </a:lnSpc>
            </a:pPr>
            <a:r>
              <a:rPr sz="960" b="1" i="0">
                <a:solidFill>
                  <a:srgbClr val="7DD3FC"/>
                </a:solidFill>
                <a:latin typeface="Consolas"/>
              </a:rPr>
              <a:t>1</a:t>
            </a:r>
          </a:p>
        </p:txBody>
      </p:sp>
      <p:sp>
        <p:nvSpPr>
          <p:cNvPr id="15" name="TextBox 14"/>
          <p:cNvSpPr txBox="1"/>
          <p:nvPr/>
        </p:nvSpPr>
        <p:spPr>
          <a:xfrm>
            <a:off x="1207007" y="1892807"/>
            <a:ext cx="1225296" cy="164592"/>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Structure</a:t>
            </a:r>
          </a:p>
        </p:txBody>
      </p:sp>
      <p:sp>
        <p:nvSpPr>
          <p:cNvPr id="16" name="TextBox 15"/>
          <p:cNvSpPr txBox="1"/>
          <p:nvPr/>
        </p:nvSpPr>
        <p:spPr>
          <a:xfrm>
            <a:off x="1207007" y="2066543"/>
            <a:ext cx="1316736" cy="384048"/>
          </a:xfrm>
          <a:prstGeom prst="rect">
            <a:avLst/>
          </a:prstGeom>
          <a:noFill/>
        </p:spPr>
        <p:txBody>
          <a:bodyPr wrap="square" lIns="0" rIns="0" tIns="0" bIns="0" anchor="t">
            <a:noAutofit/>
          </a:bodyPr>
          <a:lstStyle/>
          <a:p>
            <a:pPr algn="l">
              <a:lnSpc>
                <a:spcPct val="118000"/>
              </a:lnSpc>
            </a:pPr>
            <a:r>
              <a:rPr sz="630" b="0" i="0">
                <a:solidFill>
                  <a:srgbClr val="7DD3FC"/>
                </a:solidFill>
                <a:latin typeface="Consolas"/>
              </a:rPr>
              <a:t>org → CPU gauge in one canvas</a:t>
            </a:r>
          </a:p>
        </p:txBody>
      </p:sp>
      <p:sp>
        <p:nvSpPr>
          <p:cNvPr id="17" name="TextBox 16"/>
          <p:cNvSpPr txBox="1"/>
          <p:nvPr/>
        </p:nvSpPr>
        <p:spPr>
          <a:xfrm>
            <a:off x="2670048" y="1911095"/>
            <a:ext cx="4663440" cy="512064"/>
          </a:xfrm>
          <a:prstGeom prst="rect">
            <a:avLst/>
          </a:prstGeom>
          <a:noFill/>
        </p:spPr>
        <p:txBody>
          <a:bodyPr wrap="square" lIns="0" rIns="0" tIns="0" bIns="0" anchor="t">
            <a:noAutofit/>
          </a:bodyPr>
          <a:lstStyle/>
          <a:p>
            <a:pPr algn="l">
              <a:lnSpc>
                <a:spcPct val="124000"/>
              </a:lnSpc>
            </a:pPr>
            <a:r>
              <a:rPr sz="740" b="0" i="0">
                <a:solidFill>
                  <a:srgbClr val="9DB0C6"/>
                </a:solidFill>
                <a:latin typeface="Segoe UI"/>
              </a:rPr>
              <a:t>Press ALL, then INFRA. Every container renders its children; nothing is missing between holding company and resource gauge.</a:t>
            </a:r>
          </a:p>
        </p:txBody>
      </p:sp>
      <p:sp>
        <p:nvSpPr>
          <p:cNvPr id="18" name="TextBox 17"/>
          <p:cNvSpPr txBox="1"/>
          <p:nvPr/>
        </p:nvSpPr>
        <p:spPr>
          <a:xfrm>
            <a:off x="7516367" y="1911095"/>
            <a:ext cx="2743200" cy="512064"/>
          </a:xfrm>
          <a:prstGeom prst="rect">
            <a:avLst/>
          </a:prstGeom>
          <a:noFill/>
        </p:spPr>
        <p:txBody>
          <a:bodyPr wrap="square" lIns="0" rIns="0" tIns="0" bIns="0" anchor="t">
            <a:noAutofit/>
          </a:bodyPr>
          <a:lstStyle/>
          <a:p>
            <a:pPr algn="l">
              <a:lnSpc>
                <a:spcPct val="124000"/>
              </a:lnSpc>
            </a:pPr>
            <a:r>
              <a:rPr sz="700" b="0" i="0">
                <a:solidFill>
                  <a:srgbClr val="64748B"/>
                </a:solidFill>
                <a:latin typeface="Segoe UI"/>
              </a:rPr>
              <a:t>Proves the tree, the sub-flow renderer and the layout pass.</a:t>
            </a:r>
          </a:p>
        </p:txBody>
      </p:sp>
      <p:cxnSp>
        <p:nvCxnSpPr>
          <p:cNvPr id="19" name="Connector 18"/>
          <p:cNvCxnSpPr/>
          <p:nvPr/>
        </p:nvCxnSpPr>
        <p:spPr>
          <a:xfrm>
            <a:off x="7370064" y="1892807"/>
            <a:ext cx="0" cy="512065"/>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66928" y="2592324"/>
            <a:ext cx="11055096" cy="731520"/>
          </a:xfrm>
          <a:prstGeom prst="roundRect">
            <a:avLst>
              <a:gd name="adj" fmla="val 875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Rectangle 20"/>
          <p:cNvSpPr/>
          <p:nvPr/>
        </p:nvSpPr>
        <p:spPr>
          <a:xfrm>
            <a:off x="566928" y="2592324"/>
            <a:ext cx="41148" cy="7315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Oval 21"/>
          <p:cNvSpPr/>
          <p:nvPr/>
        </p:nvSpPr>
        <p:spPr>
          <a:xfrm>
            <a:off x="768096" y="2802636"/>
            <a:ext cx="292608" cy="292608"/>
          </a:xfrm>
          <a:prstGeom prst="ellipse">
            <a:avLst/>
          </a:prstGeom>
          <a:solidFill>
            <a:srgbClr val="0A1520"/>
          </a:solidFill>
          <a:ln w="1143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59328"/>
            <a:ext cx="292608" cy="182880"/>
          </a:xfrm>
          <a:prstGeom prst="rect">
            <a:avLst/>
          </a:prstGeom>
          <a:noFill/>
        </p:spPr>
        <p:txBody>
          <a:bodyPr wrap="square" lIns="0" rIns="0" tIns="0" bIns="0" anchor="t">
            <a:noAutofit/>
          </a:bodyPr>
          <a:lstStyle/>
          <a:p>
            <a:pPr algn="ctr">
              <a:lnSpc>
                <a:spcPct val="122000"/>
              </a:lnSpc>
            </a:pPr>
            <a:r>
              <a:rPr sz="960" b="1" i="0">
                <a:solidFill>
                  <a:srgbClr val="34D399"/>
                </a:solidFill>
                <a:latin typeface="Consolas"/>
              </a:rPr>
              <a:t>2</a:t>
            </a:r>
          </a:p>
        </p:txBody>
      </p:sp>
      <p:sp>
        <p:nvSpPr>
          <p:cNvPr id="24" name="TextBox 23"/>
          <p:cNvSpPr txBox="1"/>
          <p:nvPr/>
        </p:nvSpPr>
        <p:spPr>
          <a:xfrm>
            <a:off x="1207007" y="2702052"/>
            <a:ext cx="1225296" cy="164592"/>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Live truth</a:t>
            </a:r>
          </a:p>
        </p:txBody>
      </p:sp>
      <p:sp>
        <p:nvSpPr>
          <p:cNvPr id="25" name="TextBox 24"/>
          <p:cNvSpPr txBox="1"/>
          <p:nvPr/>
        </p:nvSpPr>
        <p:spPr>
          <a:xfrm>
            <a:off x="1207007" y="2875788"/>
            <a:ext cx="1316736" cy="384048"/>
          </a:xfrm>
          <a:prstGeom prst="rect">
            <a:avLst/>
          </a:prstGeom>
          <a:noFill/>
        </p:spPr>
        <p:txBody>
          <a:bodyPr wrap="square" lIns="0" rIns="0" tIns="0" bIns="0" anchor="t">
            <a:noAutofit/>
          </a:bodyPr>
          <a:lstStyle/>
          <a:p>
            <a:pPr algn="l">
              <a:lnSpc>
                <a:spcPct val="118000"/>
              </a:lnSpc>
            </a:pPr>
            <a:r>
              <a:rPr sz="630" b="0" i="0">
                <a:solidFill>
                  <a:srgbClr val="34D399"/>
                </a:solidFill>
                <a:latin typeface="Consolas"/>
              </a:rPr>
              <a:t>a tick every two seconds</a:t>
            </a:r>
          </a:p>
        </p:txBody>
      </p:sp>
      <p:sp>
        <p:nvSpPr>
          <p:cNvPr id="26" name="TextBox 25"/>
          <p:cNvSpPr txBox="1"/>
          <p:nvPr/>
        </p:nvSpPr>
        <p:spPr>
          <a:xfrm>
            <a:off x="2670048" y="2720340"/>
            <a:ext cx="4663440" cy="512064"/>
          </a:xfrm>
          <a:prstGeom prst="rect">
            <a:avLst/>
          </a:prstGeom>
          <a:noFill/>
        </p:spPr>
        <p:txBody>
          <a:bodyPr wrap="square" lIns="0" rIns="0" tIns="0" bIns="0" anchor="t">
            <a:noAutofit/>
          </a:bodyPr>
          <a:lstStyle/>
          <a:p>
            <a:pPr algn="l">
              <a:lnSpc>
                <a:spcPct val="124000"/>
              </a:lnSpc>
            </a:pPr>
            <a:r>
              <a:rPr sz="740" b="0" i="0">
                <a:solidFill>
                  <a:srgbClr val="9DB0C6"/>
                </a:solidFill>
                <a:latin typeface="Segoe UI"/>
              </a:rPr>
              <a:t>Watch the gauges and the top-bar stats. Values move without the layout shifting under the cursor.</a:t>
            </a:r>
          </a:p>
        </p:txBody>
      </p:sp>
      <p:sp>
        <p:nvSpPr>
          <p:cNvPr id="27" name="TextBox 26"/>
          <p:cNvSpPr txBox="1"/>
          <p:nvPr/>
        </p:nvSpPr>
        <p:spPr>
          <a:xfrm>
            <a:off x="7516367" y="2720340"/>
            <a:ext cx="2743200" cy="512064"/>
          </a:xfrm>
          <a:prstGeom prst="rect">
            <a:avLst/>
          </a:prstGeom>
          <a:noFill/>
        </p:spPr>
        <p:txBody>
          <a:bodyPr wrap="square" lIns="0" rIns="0" tIns="0" bIns="0" anchor="t">
            <a:noAutofit/>
          </a:bodyPr>
          <a:lstStyle/>
          <a:p>
            <a:pPr algn="l">
              <a:lnSpc>
                <a:spcPct val="124000"/>
              </a:lnSpc>
            </a:pPr>
            <a:r>
              <a:rPr sz="700" b="0" i="0">
                <a:solidFill>
                  <a:srgbClr val="64748B"/>
                </a:solidFill>
                <a:latin typeface="Segoe UI"/>
              </a:rPr>
              <a:t>Proves the store slices and the SSE fan-out.</a:t>
            </a:r>
          </a:p>
        </p:txBody>
      </p:sp>
      <p:cxnSp>
        <p:nvCxnSpPr>
          <p:cNvPr id="28" name="Connector 27"/>
          <p:cNvCxnSpPr/>
          <p:nvPr/>
        </p:nvCxnSpPr>
        <p:spPr>
          <a:xfrm>
            <a:off x="7370064" y="2702052"/>
            <a:ext cx="0" cy="512063"/>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66928" y="3401568"/>
            <a:ext cx="11055096" cy="731520"/>
          </a:xfrm>
          <a:prstGeom prst="roundRect">
            <a:avLst>
              <a:gd name="adj" fmla="val 875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Rectangle 29"/>
          <p:cNvSpPr/>
          <p:nvPr/>
        </p:nvSpPr>
        <p:spPr>
          <a:xfrm>
            <a:off x="566928" y="3401568"/>
            <a:ext cx="41148" cy="7315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Oval 30"/>
          <p:cNvSpPr/>
          <p:nvPr/>
        </p:nvSpPr>
        <p:spPr>
          <a:xfrm>
            <a:off x="768096" y="3611879"/>
            <a:ext cx="292608" cy="292608"/>
          </a:xfrm>
          <a:prstGeom prst="ellipse">
            <a:avLst/>
          </a:prstGeom>
          <a:solidFill>
            <a:srgbClr val="0A1520"/>
          </a:solidFill>
          <a:ln w="1143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668572"/>
            <a:ext cx="292608" cy="182880"/>
          </a:xfrm>
          <a:prstGeom prst="rect">
            <a:avLst/>
          </a:prstGeom>
          <a:noFill/>
        </p:spPr>
        <p:txBody>
          <a:bodyPr wrap="square" lIns="0" rIns="0" tIns="0" bIns="0" anchor="t">
            <a:noAutofit/>
          </a:bodyPr>
          <a:lstStyle/>
          <a:p>
            <a:pPr algn="ctr">
              <a:lnSpc>
                <a:spcPct val="122000"/>
              </a:lnSpc>
            </a:pPr>
            <a:r>
              <a:rPr sz="960" b="1" i="0">
                <a:solidFill>
                  <a:srgbClr val="A78BFA"/>
                </a:solidFill>
                <a:latin typeface="Consolas"/>
              </a:rPr>
              <a:t>3</a:t>
            </a:r>
          </a:p>
        </p:txBody>
      </p:sp>
      <p:sp>
        <p:nvSpPr>
          <p:cNvPr id="33" name="TextBox 32"/>
          <p:cNvSpPr txBox="1"/>
          <p:nvPr/>
        </p:nvSpPr>
        <p:spPr>
          <a:xfrm>
            <a:off x="1207007" y="3511296"/>
            <a:ext cx="1225296" cy="164592"/>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Action</a:t>
            </a:r>
          </a:p>
        </p:txBody>
      </p:sp>
      <p:sp>
        <p:nvSpPr>
          <p:cNvPr id="34" name="TextBox 33"/>
          <p:cNvSpPr txBox="1"/>
          <p:nvPr/>
        </p:nvSpPr>
        <p:spPr>
          <a:xfrm>
            <a:off x="1207007" y="3685031"/>
            <a:ext cx="1316736" cy="384048"/>
          </a:xfrm>
          <a:prstGeom prst="rect">
            <a:avLst/>
          </a:prstGeom>
          <a:noFill/>
        </p:spPr>
        <p:txBody>
          <a:bodyPr wrap="square" lIns="0" rIns="0" tIns="0" bIns="0" anchor="t">
            <a:noAutofit/>
          </a:bodyPr>
          <a:lstStyle/>
          <a:p>
            <a:pPr algn="l">
              <a:lnSpc>
                <a:spcPct val="118000"/>
              </a:lnSpc>
            </a:pPr>
            <a:r>
              <a:rPr sz="630" b="0" i="0">
                <a:solidFill>
                  <a:srgbClr val="A78BFA"/>
                </a:solidFill>
                <a:latin typeface="Consolas"/>
              </a:rPr>
              <a:t>a runbook with a receipt</a:t>
            </a:r>
          </a:p>
        </p:txBody>
      </p:sp>
      <p:sp>
        <p:nvSpPr>
          <p:cNvPr id="35" name="TextBox 34"/>
          <p:cNvSpPr txBox="1"/>
          <p:nvPr/>
        </p:nvSpPr>
        <p:spPr>
          <a:xfrm>
            <a:off x="2670048" y="3529584"/>
            <a:ext cx="4663440" cy="512064"/>
          </a:xfrm>
          <a:prstGeom prst="rect">
            <a:avLst/>
          </a:prstGeom>
          <a:noFill/>
        </p:spPr>
        <p:txBody>
          <a:bodyPr wrap="square" lIns="0" rIns="0" tIns="0" bIns="0" anchor="t">
            <a:noAutofit/>
          </a:bodyPr>
          <a:lstStyle/>
          <a:p>
            <a:pPr algn="l">
              <a:lnSpc>
                <a:spcPct val="124000"/>
              </a:lnSpc>
            </a:pPr>
            <a:r>
              <a:rPr sz="740" b="0" i="0">
                <a:solidFill>
                  <a:srgbClr val="9DB0C6"/>
                </a:solidFill>
                <a:latin typeface="Segoe UI"/>
              </a:rPr>
              <a:t>Snapshot a node, then restart it. Output streams into the dock, and a row lands in the CLI executor log with an exit code.</a:t>
            </a:r>
          </a:p>
        </p:txBody>
      </p:sp>
      <p:sp>
        <p:nvSpPr>
          <p:cNvPr id="36" name="TextBox 35"/>
          <p:cNvSpPr txBox="1"/>
          <p:nvPr/>
        </p:nvSpPr>
        <p:spPr>
          <a:xfrm>
            <a:off x="7516367" y="3529584"/>
            <a:ext cx="2743200" cy="512064"/>
          </a:xfrm>
          <a:prstGeom prst="rect">
            <a:avLst/>
          </a:prstGeom>
          <a:noFill/>
        </p:spPr>
        <p:txBody>
          <a:bodyPr wrap="square" lIns="0" rIns="0" tIns="0" bIns="0" anchor="t">
            <a:noAutofit/>
          </a:bodyPr>
          <a:lstStyle/>
          <a:p>
            <a:pPr algn="l">
              <a:lnSpc>
                <a:spcPct val="124000"/>
              </a:lnSpc>
            </a:pPr>
            <a:r>
              <a:rPr sz="700" b="0" i="0">
                <a:solidFill>
                  <a:srgbClr val="64748B"/>
                </a:solidFill>
                <a:latin typeface="Segoe UI"/>
              </a:rPr>
              <a:t>Proves the executor and the audit table.</a:t>
            </a:r>
          </a:p>
        </p:txBody>
      </p:sp>
      <p:cxnSp>
        <p:nvCxnSpPr>
          <p:cNvPr id="37" name="Connector 36"/>
          <p:cNvCxnSpPr/>
          <p:nvPr/>
        </p:nvCxnSpPr>
        <p:spPr>
          <a:xfrm>
            <a:off x="7370064" y="3511296"/>
            <a:ext cx="0" cy="512063"/>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66928" y="4210812"/>
            <a:ext cx="11055096" cy="731520"/>
          </a:xfrm>
          <a:prstGeom prst="roundRect">
            <a:avLst>
              <a:gd name="adj" fmla="val 875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Rectangle 38"/>
          <p:cNvSpPr/>
          <p:nvPr/>
        </p:nvSpPr>
        <p:spPr>
          <a:xfrm>
            <a:off x="566928" y="4210812"/>
            <a:ext cx="41148" cy="73152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Oval 39"/>
          <p:cNvSpPr/>
          <p:nvPr/>
        </p:nvSpPr>
        <p:spPr>
          <a:xfrm>
            <a:off x="768096" y="4421124"/>
            <a:ext cx="292608" cy="292608"/>
          </a:xfrm>
          <a:prstGeom prst="ellipse">
            <a:avLst/>
          </a:prstGeom>
          <a:solidFill>
            <a:srgbClr val="0A1520"/>
          </a:solidFill>
          <a:ln w="1143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8096" y="4477816"/>
            <a:ext cx="292608" cy="182880"/>
          </a:xfrm>
          <a:prstGeom prst="rect">
            <a:avLst/>
          </a:prstGeom>
          <a:noFill/>
        </p:spPr>
        <p:txBody>
          <a:bodyPr wrap="square" lIns="0" rIns="0" tIns="0" bIns="0" anchor="t">
            <a:noAutofit/>
          </a:bodyPr>
          <a:lstStyle/>
          <a:p>
            <a:pPr algn="ctr">
              <a:lnSpc>
                <a:spcPct val="122000"/>
              </a:lnSpc>
            </a:pPr>
            <a:r>
              <a:rPr sz="960" b="1" i="0">
                <a:solidFill>
                  <a:srgbClr val="FBBF24"/>
                </a:solidFill>
                <a:latin typeface="Consolas"/>
              </a:rPr>
              <a:t>4</a:t>
            </a:r>
          </a:p>
        </p:txBody>
      </p:sp>
      <p:sp>
        <p:nvSpPr>
          <p:cNvPr id="42" name="TextBox 41"/>
          <p:cNvSpPr txBox="1"/>
          <p:nvPr/>
        </p:nvSpPr>
        <p:spPr>
          <a:xfrm>
            <a:off x="1207007" y="4320540"/>
            <a:ext cx="1225296" cy="164592"/>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Ack loop</a:t>
            </a:r>
          </a:p>
        </p:txBody>
      </p:sp>
      <p:sp>
        <p:nvSpPr>
          <p:cNvPr id="43" name="TextBox 42"/>
          <p:cNvSpPr txBox="1"/>
          <p:nvPr/>
        </p:nvSpPr>
        <p:spPr>
          <a:xfrm>
            <a:off x="1207007" y="4494275"/>
            <a:ext cx="1316736" cy="384048"/>
          </a:xfrm>
          <a:prstGeom prst="rect">
            <a:avLst/>
          </a:prstGeom>
          <a:noFill/>
        </p:spPr>
        <p:txBody>
          <a:bodyPr wrap="square" lIns="0" rIns="0" tIns="0" bIns="0" anchor="t">
            <a:noAutofit/>
          </a:bodyPr>
          <a:lstStyle/>
          <a:p>
            <a:pPr algn="l">
              <a:lnSpc>
                <a:spcPct val="118000"/>
              </a:lnSpc>
            </a:pPr>
            <a:r>
              <a:rPr sz="630" b="0" i="0">
                <a:solidFill>
                  <a:srgbClr val="FBBF24"/>
                </a:solidFill>
                <a:latin typeface="Consolas"/>
              </a:rPr>
              <a:t>zero unacknowledged</a:t>
            </a:r>
          </a:p>
        </p:txBody>
      </p:sp>
      <p:sp>
        <p:nvSpPr>
          <p:cNvPr id="44" name="TextBox 43"/>
          <p:cNvSpPr txBox="1"/>
          <p:nvPr/>
        </p:nvSpPr>
        <p:spPr>
          <a:xfrm>
            <a:off x="2670048" y="4338827"/>
            <a:ext cx="4663440" cy="512064"/>
          </a:xfrm>
          <a:prstGeom prst="rect">
            <a:avLst/>
          </a:prstGeom>
          <a:noFill/>
        </p:spPr>
        <p:txBody>
          <a:bodyPr wrap="square" lIns="0" rIns="0" tIns="0" bIns="0" anchor="t">
            <a:noAutofit/>
          </a:bodyPr>
          <a:lstStyle/>
          <a:p>
            <a:pPr algn="l">
              <a:lnSpc>
                <a:spcPct val="124000"/>
              </a:lnSpc>
            </a:pPr>
            <a:r>
              <a:rPr sz="740" b="0" i="0">
                <a:solidFill>
                  <a:srgbClr val="9DB0C6"/>
                </a:solidFill>
                <a:latin typeface="Segoe UI"/>
              </a:rPr>
              <a:t>Raise an event from an external call, watch it appear in the dock, then acknowledge it and see the count drop.</a:t>
            </a:r>
          </a:p>
        </p:txBody>
      </p:sp>
      <p:sp>
        <p:nvSpPr>
          <p:cNvPr id="45" name="TextBox 44"/>
          <p:cNvSpPr txBox="1"/>
          <p:nvPr/>
        </p:nvSpPr>
        <p:spPr>
          <a:xfrm>
            <a:off x="7516367" y="4338827"/>
            <a:ext cx="2743200" cy="512064"/>
          </a:xfrm>
          <a:prstGeom prst="rect">
            <a:avLst/>
          </a:prstGeom>
          <a:noFill/>
        </p:spPr>
        <p:txBody>
          <a:bodyPr wrap="square" lIns="0" rIns="0" tIns="0" bIns="0" anchor="t">
            <a:noAutofit/>
          </a:bodyPr>
          <a:lstStyle/>
          <a:p>
            <a:pPr algn="l">
              <a:lnSpc>
                <a:spcPct val="124000"/>
              </a:lnSpc>
            </a:pPr>
            <a:r>
              <a:rPr sz="700" b="0" i="0">
                <a:solidFill>
                  <a:srgbClr val="64748B"/>
                </a:solidFill>
                <a:latin typeface="Segoe UI"/>
              </a:rPr>
              <a:t>Proves ingest, broadcast and the ack path.</a:t>
            </a:r>
          </a:p>
        </p:txBody>
      </p:sp>
      <p:cxnSp>
        <p:nvCxnSpPr>
          <p:cNvPr id="46" name="Connector 45"/>
          <p:cNvCxnSpPr/>
          <p:nvPr/>
        </p:nvCxnSpPr>
        <p:spPr>
          <a:xfrm>
            <a:off x="7370064" y="4320540"/>
            <a:ext cx="0" cy="512063"/>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566928" y="5020055"/>
            <a:ext cx="11055096" cy="731520"/>
          </a:xfrm>
          <a:prstGeom prst="roundRect">
            <a:avLst>
              <a:gd name="adj" fmla="val 875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Rectangle 47"/>
          <p:cNvSpPr/>
          <p:nvPr/>
        </p:nvSpPr>
        <p:spPr>
          <a:xfrm>
            <a:off x="566928" y="5020055"/>
            <a:ext cx="41148" cy="731520"/>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9" name="Oval 48"/>
          <p:cNvSpPr/>
          <p:nvPr/>
        </p:nvSpPr>
        <p:spPr>
          <a:xfrm>
            <a:off x="768096" y="5230368"/>
            <a:ext cx="292608" cy="292608"/>
          </a:xfrm>
          <a:prstGeom prst="ellipse">
            <a:avLst/>
          </a:prstGeom>
          <a:solidFill>
            <a:srgbClr val="0A1520"/>
          </a:solidFill>
          <a:ln w="1143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096" y="5287060"/>
            <a:ext cx="292608" cy="182880"/>
          </a:xfrm>
          <a:prstGeom prst="rect">
            <a:avLst/>
          </a:prstGeom>
          <a:noFill/>
        </p:spPr>
        <p:txBody>
          <a:bodyPr wrap="square" lIns="0" rIns="0" tIns="0" bIns="0" anchor="t">
            <a:noAutofit/>
          </a:bodyPr>
          <a:lstStyle/>
          <a:p>
            <a:pPr algn="ctr">
              <a:lnSpc>
                <a:spcPct val="122000"/>
              </a:lnSpc>
            </a:pPr>
            <a:r>
              <a:rPr sz="960" b="1" i="0">
                <a:solidFill>
                  <a:srgbClr val="FB7185"/>
                </a:solidFill>
                <a:latin typeface="Consolas"/>
              </a:rPr>
              <a:t>5</a:t>
            </a:r>
          </a:p>
        </p:txBody>
      </p:sp>
      <p:sp>
        <p:nvSpPr>
          <p:cNvPr id="51" name="TextBox 50"/>
          <p:cNvSpPr txBox="1"/>
          <p:nvPr/>
        </p:nvSpPr>
        <p:spPr>
          <a:xfrm>
            <a:off x="1207007" y="5129783"/>
            <a:ext cx="1225296" cy="164592"/>
          </a:xfrm>
          <a:prstGeom prst="rect">
            <a:avLst/>
          </a:prstGeom>
          <a:noFill/>
        </p:spPr>
        <p:txBody>
          <a:bodyPr wrap="square" lIns="0" rIns="0" tIns="0" bIns="0" anchor="t">
            <a:noAutofit/>
          </a:bodyPr>
          <a:lstStyle/>
          <a:p>
            <a:pPr algn="l">
              <a:lnSpc>
                <a:spcPct val="122000"/>
              </a:lnSpc>
            </a:pPr>
            <a:r>
              <a:rPr sz="860" b="1" i="0">
                <a:solidFill>
                  <a:srgbClr val="F4F8FC"/>
                </a:solidFill>
                <a:latin typeface="Segoe UI"/>
              </a:rPr>
              <a:t>Integration</a:t>
            </a:r>
          </a:p>
        </p:txBody>
      </p:sp>
      <p:sp>
        <p:nvSpPr>
          <p:cNvPr id="52" name="TextBox 51"/>
          <p:cNvSpPr txBox="1"/>
          <p:nvPr/>
        </p:nvSpPr>
        <p:spPr>
          <a:xfrm>
            <a:off x="1207007" y="5303519"/>
            <a:ext cx="1316736" cy="384048"/>
          </a:xfrm>
          <a:prstGeom prst="rect">
            <a:avLst/>
          </a:prstGeom>
          <a:noFill/>
        </p:spPr>
        <p:txBody>
          <a:bodyPr wrap="square" lIns="0" rIns="0" tIns="0" bIns="0" anchor="t">
            <a:noAutofit/>
          </a:bodyPr>
          <a:lstStyle/>
          <a:p>
            <a:pPr algn="l">
              <a:lnSpc>
                <a:spcPct val="118000"/>
              </a:lnSpc>
            </a:pPr>
            <a:r>
              <a:rPr sz="630" b="0" i="0">
                <a:solidFill>
                  <a:srgbClr val="FB7185"/>
                </a:solidFill>
                <a:latin typeface="Consolas"/>
              </a:rPr>
              <a:t>your stack on the canvas</a:t>
            </a:r>
          </a:p>
        </p:txBody>
      </p:sp>
      <p:sp>
        <p:nvSpPr>
          <p:cNvPr id="53" name="TextBox 52"/>
          <p:cNvSpPr txBox="1"/>
          <p:nvPr/>
        </p:nvSpPr>
        <p:spPr>
          <a:xfrm>
            <a:off x="2670048" y="5148071"/>
            <a:ext cx="4663440" cy="512064"/>
          </a:xfrm>
          <a:prstGeom prst="rect">
            <a:avLst/>
          </a:prstGeom>
          <a:noFill/>
        </p:spPr>
        <p:txBody>
          <a:bodyPr wrap="square" lIns="0" rIns="0" tIns="0" bIns="0" anchor="t">
            <a:noAutofit/>
          </a:bodyPr>
          <a:lstStyle/>
          <a:p>
            <a:pPr algn="l">
              <a:lnSpc>
                <a:spcPct val="124000"/>
              </a:lnSpc>
            </a:pPr>
            <a:r>
              <a:rPr sz="740" b="0" i="0">
                <a:solidFill>
                  <a:srgbClr val="9DB0C6"/>
                </a:solidFill>
                <a:latin typeface="Segoe UI"/>
              </a:rPr>
              <a:t>Register, push one snapshot, raise one deploy. The node appears under its parent with fresh numbers.</a:t>
            </a:r>
          </a:p>
        </p:txBody>
      </p:sp>
      <p:sp>
        <p:nvSpPr>
          <p:cNvPr id="54" name="TextBox 53"/>
          <p:cNvSpPr txBox="1"/>
          <p:nvPr/>
        </p:nvSpPr>
        <p:spPr>
          <a:xfrm>
            <a:off x="7516367" y="5148071"/>
            <a:ext cx="2743200" cy="512064"/>
          </a:xfrm>
          <a:prstGeom prst="rect">
            <a:avLst/>
          </a:prstGeom>
          <a:noFill/>
        </p:spPr>
        <p:txBody>
          <a:bodyPr wrap="square" lIns="0" rIns="0" tIns="0" bIns="0" anchor="t">
            <a:noAutofit/>
          </a:bodyPr>
          <a:lstStyle/>
          <a:p>
            <a:pPr algn="l">
              <a:lnSpc>
                <a:spcPct val="124000"/>
              </a:lnSpc>
            </a:pPr>
            <a:r>
              <a:rPr sz="700" b="0" i="0">
                <a:solidFill>
                  <a:srgbClr val="64748B"/>
                </a:solidFill>
                <a:latin typeface="Segoe UI"/>
              </a:rPr>
              <a:t>Proves the contract end to end.</a:t>
            </a:r>
          </a:p>
        </p:txBody>
      </p:sp>
      <p:cxnSp>
        <p:nvCxnSpPr>
          <p:cNvPr id="55" name="Connector 54"/>
          <p:cNvCxnSpPr/>
          <p:nvPr/>
        </p:nvCxnSpPr>
        <p:spPr>
          <a:xfrm>
            <a:off x="7370064" y="5129783"/>
            <a:ext cx="0" cy="512064"/>
          </a:xfrm>
          <a:prstGeom prst="line">
            <a:avLst/>
          </a:prstGeom>
          <a:ln w="7620">
            <a:solidFill>
              <a:srgbClr val="16212F"/>
            </a:solidFill>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566928" y="5760720"/>
            <a:ext cx="11055096" cy="457200"/>
          </a:xfrm>
          <a:prstGeom prst="roundRect">
            <a:avLst>
              <a:gd name="adj" fmla="val 12000"/>
            </a:avLst>
          </a:prstGeom>
          <a:solidFill>
            <a:srgbClr val="0A1520"/>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7" name="TextBox 56"/>
          <p:cNvSpPr txBox="1"/>
          <p:nvPr/>
        </p:nvSpPr>
        <p:spPr>
          <a:xfrm>
            <a:off x="749808" y="5879592"/>
            <a:ext cx="10881360" cy="219456"/>
          </a:xfrm>
          <a:prstGeom prst="rect">
            <a:avLst/>
          </a:prstGeom>
          <a:noFill/>
        </p:spPr>
        <p:txBody>
          <a:bodyPr wrap="square" lIns="0" rIns="0" tIns="0" bIns="0" anchor="t">
            <a:noAutofit/>
          </a:bodyPr>
          <a:lstStyle/>
          <a:p>
            <a:pPr algn="l">
              <a:lnSpc>
                <a:spcPct val="122000"/>
              </a:lnSpc>
            </a:pPr>
            <a:r>
              <a:rPr sz="760" b="0" i="0" spc="40">
                <a:solidFill>
                  <a:srgbClr val="34D399"/>
                </a:solidFill>
                <a:latin typeface="Consolas"/>
              </a:rPr>
              <a:t>ALL FIVE PASS  →  the control room is trustworthy. Any one fails, and the layer it proves is the layer to fix first.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5.2 · PRODUCTION READINESS</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What it takes to run this for real</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The demo estate is complete; production adds authentication, a real collector fleet and a retention policy. Six workstreams, roughly a quarter.</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WRAP-UP</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25 / 27</a:t>
            </a:r>
          </a:p>
        </p:txBody>
      </p:sp>
      <p:sp>
        <p:nvSpPr>
          <p:cNvPr id="11" name="Rounded Rectangle 10"/>
          <p:cNvSpPr/>
          <p:nvPr/>
        </p:nvSpPr>
        <p:spPr>
          <a:xfrm>
            <a:off x="566928" y="1783080"/>
            <a:ext cx="3575304" cy="1188720"/>
          </a:xfrm>
          <a:prstGeom prst="roundRect">
            <a:avLst>
              <a:gd name="adj" fmla="val 615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566928" y="1783080"/>
            <a:ext cx="3575304" cy="32004"/>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31520" y="1911095"/>
            <a:ext cx="2478024" cy="182880"/>
          </a:xfrm>
          <a:prstGeom prst="rect">
            <a:avLst/>
          </a:prstGeom>
          <a:noFill/>
        </p:spPr>
        <p:txBody>
          <a:bodyPr wrap="square" lIns="0" rIns="0" tIns="0" bIns="0" anchor="t">
            <a:noAutofit/>
          </a:bodyPr>
          <a:lstStyle/>
          <a:p>
            <a:pPr algn="l">
              <a:lnSpc>
                <a:spcPct val="122000"/>
              </a:lnSpc>
            </a:pPr>
            <a:r>
              <a:rPr sz="1040" b="1" i="0">
                <a:solidFill>
                  <a:srgbClr val="F4F8FC"/>
                </a:solidFill>
                <a:latin typeface="Segoe UI"/>
              </a:rPr>
              <a:t>Access</a:t>
            </a:r>
          </a:p>
        </p:txBody>
      </p:sp>
      <p:sp>
        <p:nvSpPr>
          <p:cNvPr id="14" name="Rounded Rectangle 13"/>
          <p:cNvSpPr/>
          <p:nvPr/>
        </p:nvSpPr>
        <p:spPr>
          <a:xfrm>
            <a:off x="3209544" y="1901952"/>
            <a:ext cx="786384" cy="192024"/>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3264408" y="1952498"/>
            <a:ext cx="676656" cy="85344"/>
          </a:xfrm>
          <a:prstGeom prst="rect">
            <a:avLst/>
          </a:prstGeom>
          <a:noFill/>
        </p:spPr>
        <p:txBody>
          <a:bodyPr wrap="square" lIns="0" rIns="0" tIns="0" bIns="0" anchor="t">
            <a:noAutofit/>
          </a:bodyPr>
          <a:lstStyle/>
          <a:p>
            <a:pPr algn="ctr">
              <a:lnSpc>
                <a:spcPct val="100000"/>
              </a:lnSpc>
            </a:pPr>
            <a:r>
              <a:rPr sz="560" b="0" i="0">
                <a:solidFill>
                  <a:srgbClr val="FB7185"/>
                </a:solidFill>
                <a:latin typeface="Consolas"/>
              </a:rPr>
              <a:t>must have</a:t>
            </a:r>
          </a:p>
        </p:txBody>
      </p:sp>
      <p:sp>
        <p:nvSpPr>
          <p:cNvPr id="16" name="TextBox 15"/>
          <p:cNvSpPr txBox="1"/>
          <p:nvPr/>
        </p:nvSpPr>
        <p:spPr>
          <a:xfrm>
            <a:off x="731520" y="2185416"/>
            <a:ext cx="3246120" cy="731520"/>
          </a:xfrm>
          <a:prstGeom prst="rect">
            <a:avLst/>
          </a:prstGeom>
          <a:noFill/>
        </p:spPr>
        <p:txBody>
          <a:bodyPr wrap="square" lIns="0" rIns="0" tIns="0" bIns="0" anchor="t">
            <a:noAutofit/>
          </a:bodyPr>
          <a:lstStyle/>
          <a:p>
            <a:pPr algn="l">
              <a:lnSpc>
                <a:spcPct val="128000"/>
              </a:lnSpc>
            </a:pPr>
            <a:r>
              <a:rPr sz="740" b="0" i="0">
                <a:solidFill>
                  <a:srgbClr val="9DB0C6"/>
                </a:solidFill>
                <a:latin typeface="Segoe UI"/>
              </a:rPr>
              <a:t>SSO in front of the app, role split between viewer, operator and admin. Privileged runbooks require a second approval.</a:t>
            </a:r>
          </a:p>
        </p:txBody>
      </p:sp>
      <p:sp>
        <p:nvSpPr>
          <p:cNvPr id="17" name="Rounded Rectangle 16"/>
          <p:cNvSpPr/>
          <p:nvPr/>
        </p:nvSpPr>
        <p:spPr>
          <a:xfrm>
            <a:off x="4315968" y="1783080"/>
            <a:ext cx="3575304" cy="1188720"/>
          </a:xfrm>
          <a:prstGeom prst="roundRect">
            <a:avLst>
              <a:gd name="adj" fmla="val 615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Rectangle 17"/>
          <p:cNvSpPr/>
          <p:nvPr/>
        </p:nvSpPr>
        <p:spPr>
          <a:xfrm>
            <a:off x="4315968" y="1783080"/>
            <a:ext cx="3575304" cy="32004"/>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4480560" y="1911095"/>
            <a:ext cx="2478024" cy="182880"/>
          </a:xfrm>
          <a:prstGeom prst="rect">
            <a:avLst/>
          </a:prstGeom>
          <a:noFill/>
        </p:spPr>
        <p:txBody>
          <a:bodyPr wrap="square" lIns="0" rIns="0" tIns="0" bIns="0" anchor="t">
            <a:noAutofit/>
          </a:bodyPr>
          <a:lstStyle/>
          <a:p>
            <a:pPr algn="l">
              <a:lnSpc>
                <a:spcPct val="122000"/>
              </a:lnSpc>
            </a:pPr>
            <a:r>
              <a:rPr sz="1040" b="1" i="0">
                <a:solidFill>
                  <a:srgbClr val="F4F8FC"/>
                </a:solidFill>
                <a:latin typeface="Segoe UI"/>
              </a:rPr>
              <a:t>Collectors</a:t>
            </a:r>
          </a:p>
        </p:txBody>
      </p:sp>
      <p:sp>
        <p:nvSpPr>
          <p:cNvPr id="20" name="Rounded Rectangle 19"/>
          <p:cNvSpPr/>
          <p:nvPr/>
        </p:nvSpPr>
        <p:spPr>
          <a:xfrm>
            <a:off x="6958584" y="1901952"/>
            <a:ext cx="786384" cy="192024"/>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7013448" y="1952498"/>
            <a:ext cx="676656" cy="85344"/>
          </a:xfrm>
          <a:prstGeom prst="rect">
            <a:avLst/>
          </a:prstGeom>
          <a:noFill/>
        </p:spPr>
        <p:txBody>
          <a:bodyPr wrap="square" lIns="0" rIns="0" tIns="0" bIns="0" anchor="t">
            <a:noAutofit/>
          </a:bodyPr>
          <a:lstStyle/>
          <a:p>
            <a:pPr algn="ctr">
              <a:lnSpc>
                <a:spcPct val="100000"/>
              </a:lnSpc>
            </a:pPr>
            <a:r>
              <a:rPr sz="560" b="0" i="0">
                <a:solidFill>
                  <a:srgbClr val="7DD3FC"/>
                </a:solidFill>
                <a:latin typeface="Consolas"/>
              </a:rPr>
              <a:t>must have</a:t>
            </a:r>
          </a:p>
        </p:txBody>
      </p:sp>
      <p:sp>
        <p:nvSpPr>
          <p:cNvPr id="22" name="TextBox 21"/>
          <p:cNvSpPr txBox="1"/>
          <p:nvPr/>
        </p:nvSpPr>
        <p:spPr>
          <a:xfrm>
            <a:off x="4480560" y="2185416"/>
            <a:ext cx="3246120" cy="731520"/>
          </a:xfrm>
          <a:prstGeom prst="rect">
            <a:avLst/>
          </a:prstGeom>
          <a:noFill/>
        </p:spPr>
        <p:txBody>
          <a:bodyPr wrap="square" lIns="0" rIns="0" tIns="0" bIns="0" anchor="t">
            <a:noAutofit/>
          </a:bodyPr>
          <a:lstStyle/>
          <a:p>
            <a:pPr algn="l">
              <a:lnSpc>
                <a:spcPct val="128000"/>
              </a:lnSpc>
            </a:pPr>
            <a:r>
              <a:rPr sz="740" b="0" i="0">
                <a:solidFill>
                  <a:srgbClr val="9DB0C6"/>
                </a:solidFill>
                <a:latin typeface="Segoe UI"/>
              </a:rPr>
              <a:t>Replace the simulator with real feeds: Prometheus scrape, Docker events, K8s metrics, one agent per stack.</a:t>
            </a:r>
          </a:p>
        </p:txBody>
      </p:sp>
      <p:sp>
        <p:nvSpPr>
          <p:cNvPr id="23" name="Rounded Rectangle 22"/>
          <p:cNvSpPr/>
          <p:nvPr/>
        </p:nvSpPr>
        <p:spPr>
          <a:xfrm>
            <a:off x="8065008" y="1783080"/>
            <a:ext cx="3575304" cy="1188720"/>
          </a:xfrm>
          <a:prstGeom prst="roundRect">
            <a:avLst>
              <a:gd name="adj" fmla="val 615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Rectangle 23"/>
          <p:cNvSpPr/>
          <p:nvPr/>
        </p:nvSpPr>
        <p:spPr>
          <a:xfrm>
            <a:off x="8065008" y="1783080"/>
            <a:ext cx="3575304" cy="3200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8229600" y="1911095"/>
            <a:ext cx="2478024" cy="182880"/>
          </a:xfrm>
          <a:prstGeom prst="rect">
            <a:avLst/>
          </a:prstGeom>
          <a:noFill/>
        </p:spPr>
        <p:txBody>
          <a:bodyPr wrap="square" lIns="0" rIns="0" tIns="0" bIns="0" anchor="t">
            <a:noAutofit/>
          </a:bodyPr>
          <a:lstStyle/>
          <a:p>
            <a:pPr algn="l">
              <a:lnSpc>
                <a:spcPct val="122000"/>
              </a:lnSpc>
            </a:pPr>
            <a:r>
              <a:rPr sz="1040" b="1" i="0">
                <a:solidFill>
                  <a:srgbClr val="F4F8FC"/>
                </a:solidFill>
                <a:latin typeface="Segoe UI"/>
              </a:rPr>
              <a:t>Retention</a:t>
            </a:r>
          </a:p>
        </p:txBody>
      </p:sp>
      <p:sp>
        <p:nvSpPr>
          <p:cNvPr id="26" name="Rounded Rectangle 25"/>
          <p:cNvSpPr/>
          <p:nvPr/>
        </p:nvSpPr>
        <p:spPr>
          <a:xfrm>
            <a:off x="10707624" y="1901952"/>
            <a:ext cx="786384" cy="192024"/>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10762488" y="1952498"/>
            <a:ext cx="676656" cy="85344"/>
          </a:xfrm>
          <a:prstGeom prst="rect">
            <a:avLst/>
          </a:prstGeom>
          <a:noFill/>
        </p:spPr>
        <p:txBody>
          <a:bodyPr wrap="square" lIns="0" rIns="0" tIns="0" bIns="0" anchor="t">
            <a:noAutofit/>
          </a:bodyPr>
          <a:lstStyle/>
          <a:p>
            <a:pPr algn="ctr">
              <a:lnSpc>
                <a:spcPct val="100000"/>
              </a:lnSpc>
            </a:pPr>
            <a:r>
              <a:rPr sz="560" b="0" i="0">
                <a:solidFill>
                  <a:srgbClr val="34D399"/>
                </a:solidFill>
                <a:latin typeface="Consolas"/>
              </a:rPr>
              <a:t>must have</a:t>
            </a:r>
          </a:p>
        </p:txBody>
      </p:sp>
      <p:sp>
        <p:nvSpPr>
          <p:cNvPr id="28" name="TextBox 27"/>
          <p:cNvSpPr txBox="1"/>
          <p:nvPr/>
        </p:nvSpPr>
        <p:spPr>
          <a:xfrm>
            <a:off x="8229600" y="2185416"/>
            <a:ext cx="3246120" cy="731520"/>
          </a:xfrm>
          <a:prstGeom prst="rect">
            <a:avLst/>
          </a:prstGeom>
          <a:noFill/>
        </p:spPr>
        <p:txBody>
          <a:bodyPr wrap="square" lIns="0" rIns="0" tIns="0" bIns="0" anchor="t">
            <a:noAutofit/>
          </a:bodyPr>
          <a:lstStyle/>
          <a:p>
            <a:pPr algn="l">
              <a:lnSpc>
                <a:spcPct val="128000"/>
              </a:lnSpc>
            </a:pPr>
            <a:r>
              <a:rPr sz="740" b="0" i="0">
                <a:solidFill>
                  <a:srgbClr val="9DB0C6"/>
                </a:solidFill>
                <a:latin typeface="Segoe UI"/>
              </a:rPr>
              <a:t>Move samples to a time-series store, keep the 50-minute window on Postgres, archive events for audit.</a:t>
            </a:r>
          </a:p>
        </p:txBody>
      </p:sp>
      <p:sp>
        <p:nvSpPr>
          <p:cNvPr id="29" name="Rounded Rectangle 28"/>
          <p:cNvSpPr/>
          <p:nvPr/>
        </p:nvSpPr>
        <p:spPr>
          <a:xfrm>
            <a:off x="566928" y="3099815"/>
            <a:ext cx="3575304" cy="1188720"/>
          </a:xfrm>
          <a:prstGeom prst="roundRect">
            <a:avLst>
              <a:gd name="adj" fmla="val 615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Rectangle 29"/>
          <p:cNvSpPr/>
          <p:nvPr/>
        </p:nvSpPr>
        <p:spPr>
          <a:xfrm>
            <a:off x="566928" y="3099815"/>
            <a:ext cx="3575304" cy="3200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731520" y="3227832"/>
            <a:ext cx="2478024" cy="182880"/>
          </a:xfrm>
          <a:prstGeom prst="rect">
            <a:avLst/>
          </a:prstGeom>
          <a:noFill/>
        </p:spPr>
        <p:txBody>
          <a:bodyPr wrap="square" lIns="0" rIns="0" tIns="0" bIns="0" anchor="t">
            <a:noAutofit/>
          </a:bodyPr>
          <a:lstStyle/>
          <a:p>
            <a:pPr algn="l">
              <a:lnSpc>
                <a:spcPct val="122000"/>
              </a:lnSpc>
            </a:pPr>
            <a:r>
              <a:rPr sz="1040" b="1" i="0">
                <a:solidFill>
                  <a:srgbClr val="F4F8FC"/>
                </a:solidFill>
                <a:latin typeface="Segoe UI"/>
              </a:rPr>
              <a:t>Scale</a:t>
            </a:r>
          </a:p>
        </p:txBody>
      </p:sp>
      <p:sp>
        <p:nvSpPr>
          <p:cNvPr id="32" name="Rounded Rectangle 31"/>
          <p:cNvSpPr/>
          <p:nvPr/>
        </p:nvSpPr>
        <p:spPr>
          <a:xfrm>
            <a:off x="3209544" y="3218687"/>
            <a:ext cx="786384" cy="192024"/>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3264408" y="3269234"/>
            <a:ext cx="676656" cy="85344"/>
          </a:xfrm>
          <a:prstGeom prst="rect">
            <a:avLst/>
          </a:prstGeom>
          <a:noFill/>
        </p:spPr>
        <p:txBody>
          <a:bodyPr wrap="square" lIns="0" rIns="0" tIns="0" bIns="0" anchor="t">
            <a:noAutofit/>
          </a:bodyPr>
          <a:lstStyle/>
          <a:p>
            <a:pPr algn="ctr">
              <a:lnSpc>
                <a:spcPct val="100000"/>
              </a:lnSpc>
            </a:pPr>
            <a:r>
              <a:rPr sz="560" b="0" i="0">
                <a:solidFill>
                  <a:srgbClr val="A78BFA"/>
                </a:solidFill>
                <a:latin typeface="Consolas"/>
              </a:rPr>
              <a:t>should have</a:t>
            </a:r>
          </a:p>
        </p:txBody>
      </p:sp>
      <p:sp>
        <p:nvSpPr>
          <p:cNvPr id="34" name="TextBox 33"/>
          <p:cNvSpPr txBox="1"/>
          <p:nvPr/>
        </p:nvSpPr>
        <p:spPr>
          <a:xfrm>
            <a:off x="731520" y="3502151"/>
            <a:ext cx="3246120" cy="731520"/>
          </a:xfrm>
          <a:prstGeom prst="rect">
            <a:avLst/>
          </a:prstGeom>
          <a:noFill/>
        </p:spPr>
        <p:txBody>
          <a:bodyPr wrap="square" lIns="0" rIns="0" tIns="0" bIns="0" anchor="t">
            <a:noAutofit/>
          </a:bodyPr>
          <a:lstStyle/>
          <a:p>
            <a:pPr algn="l">
              <a:lnSpc>
                <a:spcPct val="128000"/>
              </a:lnSpc>
            </a:pPr>
            <a:r>
              <a:rPr sz="740" b="0" i="0">
                <a:solidFill>
                  <a:srgbClr val="9DB0C6"/>
                </a:solidFill>
                <a:latin typeface="Segoe UI"/>
              </a:rPr>
              <a:t>Incremental topology deltas instead of full snapshots past roughly a thousand nodes; pooler in front of Postgres.</a:t>
            </a:r>
          </a:p>
        </p:txBody>
      </p:sp>
      <p:sp>
        <p:nvSpPr>
          <p:cNvPr id="35" name="Rounded Rectangle 34"/>
          <p:cNvSpPr/>
          <p:nvPr/>
        </p:nvSpPr>
        <p:spPr>
          <a:xfrm>
            <a:off x="4315968" y="3099815"/>
            <a:ext cx="3575304" cy="1188720"/>
          </a:xfrm>
          <a:prstGeom prst="roundRect">
            <a:avLst>
              <a:gd name="adj" fmla="val 615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Rectangle 35"/>
          <p:cNvSpPr/>
          <p:nvPr/>
        </p:nvSpPr>
        <p:spPr>
          <a:xfrm>
            <a:off x="4315968" y="3099815"/>
            <a:ext cx="3575304" cy="3200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TextBox 36"/>
          <p:cNvSpPr txBox="1"/>
          <p:nvPr/>
        </p:nvSpPr>
        <p:spPr>
          <a:xfrm>
            <a:off x="4480560" y="3227832"/>
            <a:ext cx="2478024" cy="182880"/>
          </a:xfrm>
          <a:prstGeom prst="rect">
            <a:avLst/>
          </a:prstGeom>
          <a:noFill/>
        </p:spPr>
        <p:txBody>
          <a:bodyPr wrap="square" lIns="0" rIns="0" tIns="0" bIns="0" anchor="t">
            <a:noAutofit/>
          </a:bodyPr>
          <a:lstStyle/>
          <a:p>
            <a:pPr algn="l">
              <a:lnSpc>
                <a:spcPct val="122000"/>
              </a:lnSpc>
            </a:pPr>
            <a:r>
              <a:rPr sz="1040" b="1" i="0">
                <a:solidFill>
                  <a:srgbClr val="F4F8FC"/>
                </a:solidFill>
                <a:latin typeface="Segoe UI"/>
              </a:rPr>
              <a:t>Runbooks</a:t>
            </a:r>
          </a:p>
        </p:txBody>
      </p:sp>
      <p:sp>
        <p:nvSpPr>
          <p:cNvPr id="38" name="Rounded Rectangle 37"/>
          <p:cNvSpPr/>
          <p:nvPr/>
        </p:nvSpPr>
        <p:spPr>
          <a:xfrm>
            <a:off x="6958584" y="3218687"/>
            <a:ext cx="786384" cy="192024"/>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7013448" y="3269234"/>
            <a:ext cx="676656" cy="85344"/>
          </a:xfrm>
          <a:prstGeom prst="rect">
            <a:avLst/>
          </a:prstGeom>
          <a:noFill/>
        </p:spPr>
        <p:txBody>
          <a:bodyPr wrap="square" lIns="0" rIns="0" tIns="0" bIns="0" anchor="t">
            <a:noAutofit/>
          </a:bodyPr>
          <a:lstStyle/>
          <a:p>
            <a:pPr algn="ctr">
              <a:lnSpc>
                <a:spcPct val="100000"/>
              </a:lnSpc>
            </a:pPr>
            <a:r>
              <a:rPr sz="560" b="0" i="0">
                <a:solidFill>
                  <a:srgbClr val="FBBF24"/>
                </a:solidFill>
                <a:latin typeface="Consolas"/>
              </a:rPr>
              <a:t>should have</a:t>
            </a:r>
          </a:p>
        </p:txBody>
      </p:sp>
      <p:sp>
        <p:nvSpPr>
          <p:cNvPr id="40" name="TextBox 39"/>
          <p:cNvSpPr txBox="1"/>
          <p:nvPr/>
        </p:nvSpPr>
        <p:spPr>
          <a:xfrm>
            <a:off x="4480560" y="3502151"/>
            <a:ext cx="3246120" cy="731520"/>
          </a:xfrm>
          <a:prstGeom prst="rect">
            <a:avLst/>
          </a:prstGeom>
          <a:noFill/>
        </p:spPr>
        <p:txBody>
          <a:bodyPr wrap="square" lIns="0" rIns="0" tIns="0" bIns="0" anchor="t">
            <a:noAutofit/>
          </a:bodyPr>
          <a:lstStyle/>
          <a:p>
            <a:pPr algn="l">
              <a:lnSpc>
                <a:spcPct val="128000"/>
              </a:lnSpc>
            </a:pPr>
            <a:r>
              <a:rPr sz="740" b="0" i="0">
                <a:solidFill>
                  <a:srgbClr val="9DB0C6"/>
                </a:solidFill>
                <a:latin typeface="Segoe UI"/>
              </a:rPr>
              <a:t>Wire the six runbooks to real automation; keep fail-closed as the default for anything privileged.</a:t>
            </a:r>
          </a:p>
        </p:txBody>
      </p:sp>
      <p:sp>
        <p:nvSpPr>
          <p:cNvPr id="41" name="Rounded Rectangle 40"/>
          <p:cNvSpPr/>
          <p:nvPr/>
        </p:nvSpPr>
        <p:spPr>
          <a:xfrm>
            <a:off x="8065008" y="3099815"/>
            <a:ext cx="3575304" cy="1188720"/>
          </a:xfrm>
          <a:prstGeom prst="roundRect">
            <a:avLst>
              <a:gd name="adj" fmla="val 615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Rectangle 41"/>
          <p:cNvSpPr/>
          <p:nvPr/>
        </p:nvSpPr>
        <p:spPr>
          <a:xfrm>
            <a:off x="8065008" y="3099815"/>
            <a:ext cx="3575304" cy="32004"/>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8229600" y="3227832"/>
            <a:ext cx="2478024" cy="182880"/>
          </a:xfrm>
          <a:prstGeom prst="rect">
            <a:avLst/>
          </a:prstGeom>
          <a:noFill/>
        </p:spPr>
        <p:txBody>
          <a:bodyPr wrap="square" lIns="0" rIns="0" tIns="0" bIns="0" anchor="t">
            <a:noAutofit/>
          </a:bodyPr>
          <a:lstStyle/>
          <a:p>
            <a:pPr algn="l">
              <a:lnSpc>
                <a:spcPct val="122000"/>
              </a:lnSpc>
            </a:pPr>
            <a:r>
              <a:rPr sz="1040" b="1" i="0">
                <a:solidFill>
                  <a:srgbClr val="F4F8FC"/>
                </a:solidFill>
                <a:latin typeface="Segoe UI"/>
              </a:rPr>
              <a:t>Governance</a:t>
            </a:r>
          </a:p>
        </p:txBody>
      </p:sp>
      <p:sp>
        <p:nvSpPr>
          <p:cNvPr id="44" name="Rounded Rectangle 43"/>
          <p:cNvSpPr/>
          <p:nvPr/>
        </p:nvSpPr>
        <p:spPr>
          <a:xfrm>
            <a:off x="10707624" y="3218687"/>
            <a:ext cx="786384" cy="192024"/>
          </a:xfrm>
          <a:prstGeom prst="roundRect">
            <a:avLst>
              <a:gd name="adj" fmla="val 50000"/>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5" name="TextBox 44"/>
          <p:cNvSpPr txBox="1"/>
          <p:nvPr/>
        </p:nvSpPr>
        <p:spPr>
          <a:xfrm>
            <a:off x="10762488" y="3269234"/>
            <a:ext cx="676656" cy="85344"/>
          </a:xfrm>
          <a:prstGeom prst="rect">
            <a:avLst/>
          </a:prstGeom>
          <a:noFill/>
        </p:spPr>
        <p:txBody>
          <a:bodyPr wrap="square" lIns="0" rIns="0" tIns="0" bIns="0" anchor="t">
            <a:noAutofit/>
          </a:bodyPr>
          <a:lstStyle/>
          <a:p>
            <a:pPr algn="ctr">
              <a:lnSpc>
                <a:spcPct val="100000"/>
              </a:lnSpc>
            </a:pPr>
            <a:r>
              <a:rPr sz="560" b="0" i="0">
                <a:solidFill>
                  <a:srgbClr val="7DD3FC"/>
                </a:solidFill>
                <a:latin typeface="Consolas"/>
              </a:rPr>
              <a:t>nice to have</a:t>
            </a:r>
          </a:p>
        </p:txBody>
      </p:sp>
      <p:sp>
        <p:nvSpPr>
          <p:cNvPr id="46" name="TextBox 45"/>
          <p:cNvSpPr txBox="1"/>
          <p:nvPr/>
        </p:nvSpPr>
        <p:spPr>
          <a:xfrm>
            <a:off x="8229600" y="3502151"/>
            <a:ext cx="3246120" cy="731520"/>
          </a:xfrm>
          <a:prstGeom prst="rect">
            <a:avLst/>
          </a:prstGeom>
          <a:noFill/>
        </p:spPr>
        <p:txBody>
          <a:bodyPr wrap="square" lIns="0" rIns="0" tIns="0" bIns="0" anchor="t">
            <a:noAutofit/>
          </a:bodyPr>
          <a:lstStyle/>
          <a:p>
            <a:pPr algn="l">
              <a:lnSpc>
                <a:spcPct val="128000"/>
              </a:lnSpc>
            </a:pPr>
            <a:r>
              <a:rPr sz="740" b="0" i="0">
                <a:solidFill>
                  <a:srgbClr val="9DB0C6"/>
                </a:solidFill>
                <a:latin typeface="Segoe UI"/>
              </a:rPr>
              <a:t>Ownership metadata in the tree, alert routing by owner, and a monthly review of unrouted nodes.</a:t>
            </a:r>
          </a:p>
        </p:txBody>
      </p:sp>
      <p:sp>
        <p:nvSpPr>
          <p:cNvPr id="47" name="Rounded Rectangle 46"/>
          <p:cNvSpPr/>
          <p:nvPr/>
        </p:nvSpPr>
        <p:spPr>
          <a:xfrm>
            <a:off x="566928" y="4864608"/>
            <a:ext cx="7187184" cy="1298448"/>
          </a:xfrm>
          <a:prstGeom prst="roundRect">
            <a:avLst>
              <a:gd name="adj" fmla="val 5633"/>
            </a:avLst>
          </a:prstGeom>
          <a:solidFill>
            <a:srgbClr val="0A1520"/>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TextBox 47"/>
          <p:cNvSpPr txBox="1"/>
          <p:nvPr/>
        </p:nvSpPr>
        <p:spPr>
          <a:xfrm>
            <a:off x="749808" y="4974336"/>
            <a:ext cx="4572000" cy="164592"/>
          </a:xfrm>
          <a:prstGeom prst="rect">
            <a:avLst/>
          </a:prstGeom>
          <a:noFill/>
        </p:spPr>
        <p:txBody>
          <a:bodyPr wrap="square" lIns="0" rIns="0" tIns="0" bIns="0" anchor="t">
            <a:noAutofit/>
          </a:bodyPr>
          <a:lstStyle/>
          <a:p>
            <a:pPr algn="l">
              <a:lnSpc>
                <a:spcPct val="122000"/>
              </a:lnSpc>
            </a:pPr>
            <a:r>
              <a:rPr sz="660" b="0" i="0" spc="120">
                <a:solidFill>
                  <a:srgbClr val="34D399"/>
                </a:solidFill>
                <a:latin typeface="Consolas"/>
              </a:rPr>
              <a:t>SEQUENCING THAT WORKS</a:t>
            </a:r>
          </a:p>
        </p:txBody>
      </p:sp>
      <p:sp>
        <p:nvSpPr>
          <p:cNvPr id="49" name="Rounded Rectangle 48"/>
          <p:cNvSpPr/>
          <p:nvPr/>
        </p:nvSpPr>
        <p:spPr>
          <a:xfrm>
            <a:off x="749808" y="5230368"/>
            <a:ext cx="1664208" cy="256032"/>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0" name="TextBox 49"/>
          <p:cNvSpPr txBox="1"/>
          <p:nvPr/>
        </p:nvSpPr>
        <p:spPr>
          <a:xfrm>
            <a:off x="804672" y="5309266"/>
            <a:ext cx="1554480" cy="92963"/>
          </a:xfrm>
          <a:prstGeom prst="rect">
            <a:avLst/>
          </a:prstGeom>
          <a:noFill/>
        </p:spPr>
        <p:txBody>
          <a:bodyPr wrap="square" lIns="0" rIns="0" tIns="0" bIns="0" anchor="t">
            <a:noAutofit/>
          </a:bodyPr>
          <a:lstStyle/>
          <a:p>
            <a:pPr algn="ctr">
              <a:lnSpc>
                <a:spcPct val="100000"/>
              </a:lnSpc>
            </a:pPr>
            <a:r>
              <a:rPr sz="610" b="0" i="0">
                <a:solidFill>
                  <a:srgbClr val="9DB0C6"/>
                </a:solidFill>
                <a:latin typeface="Consolas"/>
              </a:rPr>
              <a:t>1 · collectors + retention</a:t>
            </a:r>
          </a:p>
        </p:txBody>
      </p:sp>
      <p:sp>
        <p:nvSpPr>
          <p:cNvPr id="51" name="Rounded Rectangle 50"/>
          <p:cNvSpPr/>
          <p:nvPr/>
        </p:nvSpPr>
        <p:spPr>
          <a:xfrm>
            <a:off x="2505456" y="5230368"/>
            <a:ext cx="1664208" cy="256032"/>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TextBox 51"/>
          <p:cNvSpPr txBox="1"/>
          <p:nvPr/>
        </p:nvSpPr>
        <p:spPr>
          <a:xfrm>
            <a:off x="2560320" y="5309266"/>
            <a:ext cx="1554480" cy="92963"/>
          </a:xfrm>
          <a:prstGeom prst="rect">
            <a:avLst/>
          </a:prstGeom>
          <a:noFill/>
        </p:spPr>
        <p:txBody>
          <a:bodyPr wrap="square" lIns="0" rIns="0" tIns="0" bIns="0" anchor="t">
            <a:noAutofit/>
          </a:bodyPr>
          <a:lstStyle/>
          <a:p>
            <a:pPr algn="ctr">
              <a:lnSpc>
                <a:spcPct val="100000"/>
              </a:lnSpc>
            </a:pPr>
            <a:r>
              <a:rPr sz="610" b="0" i="0">
                <a:solidFill>
                  <a:srgbClr val="9DB0C6"/>
                </a:solidFill>
                <a:latin typeface="Consolas"/>
              </a:rPr>
              <a:t>2 · access + approvals</a:t>
            </a:r>
          </a:p>
        </p:txBody>
      </p:sp>
      <p:sp>
        <p:nvSpPr>
          <p:cNvPr id="53" name="Rounded Rectangle 52"/>
          <p:cNvSpPr/>
          <p:nvPr/>
        </p:nvSpPr>
        <p:spPr>
          <a:xfrm>
            <a:off x="4261104" y="5230368"/>
            <a:ext cx="1664208" cy="256032"/>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4" name="TextBox 53"/>
          <p:cNvSpPr txBox="1"/>
          <p:nvPr/>
        </p:nvSpPr>
        <p:spPr>
          <a:xfrm>
            <a:off x="4315968" y="5309266"/>
            <a:ext cx="1554480" cy="92963"/>
          </a:xfrm>
          <a:prstGeom prst="rect">
            <a:avLst/>
          </a:prstGeom>
          <a:noFill/>
        </p:spPr>
        <p:txBody>
          <a:bodyPr wrap="square" lIns="0" rIns="0" tIns="0" bIns="0" anchor="t">
            <a:noAutofit/>
          </a:bodyPr>
          <a:lstStyle/>
          <a:p>
            <a:pPr algn="ctr">
              <a:lnSpc>
                <a:spcPct val="100000"/>
              </a:lnSpc>
            </a:pPr>
            <a:r>
              <a:rPr sz="610" b="0" i="0">
                <a:solidFill>
                  <a:srgbClr val="9DB0C6"/>
                </a:solidFill>
                <a:latin typeface="Consolas"/>
              </a:rPr>
              <a:t>3 · wire runbooks</a:t>
            </a:r>
          </a:p>
        </p:txBody>
      </p:sp>
      <p:sp>
        <p:nvSpPr>
          <p:cNvPr id="55" name="Rounded Rectangle 54"/>
          <p:cNvSpPr/>
          <p:nvPr/>
        </p:nvSpPr>
        <p:spPr>
          <a:xfrm>
            <a:off x="6016752" y="5230368"/>
            <a:ext cx="1664208" cy="256032"/>
          </a:xfrm>
          <a:prstGeom prst="roundRect">
            <a:avLst>
              <a:gd name="adj" fmla="val 5000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6" name="TextBox 55"/>
          <p:cNvSpPr txBox="1"/>
          <p:nvPr/>
        </p:nvSpPr>
        <p:spPr>
          <a:xfrm>
            <a:off x="6071616" y="5309266"/>
            <a:ext cx="1554480" cy="92963"/>
          </a:xfrm>
          <a:prstGeom prst="rect">
            <a:avLst/>
          </a:prstGeom>
          <a:noFill/>
        </p:spPr>
        <p:txBody>
          <a:bodyPr wrap="square" lIns="0" rIns="0" tIns="0" bIns="0" anchor="t">
            <a:noAutofit/>
          </a:bodyPr>
          <a:lstStyle/>
          <a:p>
            <a:pPr algn="ctr">
              <a:lnSpc>
                <a:spcPct val="100000"/>
              </a:lnSpc>
            </a:pPr>
            <a:r>
              <a:rPr sz="610" b="0" i="0">
                <a:solidFill>
                  <a:srgbClr val="9DB0C6"/>
                </a:solidFill>
                <a:latin typeface="Consolas"/>
              </a:rPr>
              <a:t>4 · ownership governance</a:t>
            </a:r>
          </a:p>
        </p:txBody>
      </p:sp>
      <p:sp>
        <p:nvSpPr>
          <p:cNvPr id="57" name="TextBox 56"/>
          <p:cNvSpPr txBox="1"/>
          <p:nvPr/>
        </p:nvSpPr>
        <p:spPr>
          <a:xfrm>
            <a:off x="749808" y="5614416"/>
            <a:ext cx="6858000" cy="457200"/>
          </a:xfrm>
          <a:prstGeom prst="rect">
            <a:avLst/>
          </a:prstGeom>
          <a:noFill/>
        </p:spPr>
        <p:txBody>
          <a:bodyPr wrap="square" lIns="0" rIns="0" tIns="0" bIns="0" anchor="t">
            <a:noAutofit/>
          </a:bodyPr>
          <a:lstStyle/>
          <a:p>
            <a:pPr algn="l">
              <a:lnSpc>
                <a:spcPct val="125000"/>
              </a:lnSpc>
            </a:pPr>
            <a:r>
              <a:rPr sz="720" b="0" i="0">
                <a:solidFill>
                  <a:srgbClr val="64748B"/>
                </a:solidFill>
                <a:latin typeface="Segoe UI"/>
              </a:rPr>
              <a:t>Collectors first, because a control room without real telemetry is a demo. Governance last, because it needs the tree to already be correct.</a:t>
            </a:r>
          </a:p>
        </p:txBody>
      </p:sp>
      <p:sp>
        <p:nvSpPr>
          <p:cNvPr id="58" name="Rounded Rectangle 57"/>
          <p:cNvSpPr/>
          <p:nvPr/>
        </p:nvSpPr>
        <p:spPr>
          <a:xfrm>
            <a:off x="7882127" y="4864608"/>
            <a:ext cx="3739896" cy="1298448"/>
          </a:xfrm>
          <a:prstGeom prst="roundRect">
            <a:avLst>
              <a:gd name="adj" fmla="val 5633"/>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9" name="TextBox 58"/>
          <p:cNvSpPr txBox="1"/>
          <p:nvPr/>
        </p:nvSpPr>
        <p:spPr>
          <a:xfrm>
            <a:off x="8046720" y="4974336"/>
            <a:ext cx="3291840" cy="164592"/>
          </a:xfrm>
          <a:prstGeom prst="rect">
            <a:avLst/>
          </a:prstGeom>
          <a:noFill/>
        </p:spPr>
        <p:txBody>
          <a:bodyPr wrap="square" lIns="0" rIns="0" tIns="0" bIns="0" anchor="t">
            <a:noAutofit/>
          </a:bodyPr>
          <a:lstStyle/>
          <a:p>
            <a:pPr algn="l">
              <a:lnSpc>
                <a:spcPct val="122000"/>
              </a:lnSpc>
            </a:pPr>
            <a:r>
              <a:rPr sz="660" b="0" i="0" spc="120">
                <a:solidFill>
                  <a:srgbClr val="7DD3FC"/>
                </a:solidFill>
                <a:latin typeface="Consolas"/>
              </a:rPr>
              <a:t>EXIT CRITERIA FOR GO-LIVE</a:t>
            </a:r>
          </a:p>
        </p:txBody>
      </p:sp>
      <p:sp>
        <p:nvSpPr>
          <p:cNvPr id="60" name="TextBox 59"/>
          <p:cNvSpPr txBox="1"/>
          <p:nvPr/>
        </p:nvSpPr>
        <p:spPr>
          <a:xfrm>
            <a:off x="8065008" y="5212080"/>
            <a:ext cx="3364992" cy="148742"/>
          </a:xfrm>
          <a:prstGeom prst="rect">
            <a:avLst/>
          </a:prstGeom>
          <a:noFill/>
        </p:spPr>
        <p:txBody>
          <a:bodyPr wrap="square" lIns="0" rIns="0" tIns="0" bIns="0" anchor="t">
            <a:noAutofit/>
          </a:bodyPr>
          <a:lstStyle/>
          <a:p>
            <a:pPr algn="l" marL="146304" indent="-146304">
              <a:lnSpc>
                <a:spcPct val="128000"/>
              </a:lnSpc>
              <a:buClr>
                <a:srgbClr val="7DD3FC"/>
              </a:buClr>
              <a:buFont typeface="Arial"/>
              <a:buChar char="•"/>
            </a:pPr>
            <a:r>
              <a:rPr sz="690" b="0" i="0">
                <a:solidFill>
                  <a:srgbClr val="9DB0C6"/>
                </a:solidFill>
                <a:latin typeface="Segoe UI"/>
              </a:rPr>
              <a:t>all five acceptance tests pass on production data</a:t>
            </a:r>
          </a:p>
        </p:txBody>
      </p:sp>
      <p:sp>
        <p:nvSpPr>
          <p:cNvPr id="61" name="TextBox 60"/>
          <p:cNvSpPr txBox="1"/>
          <p:nvPr/>
        </p:nvSpPr>
        <p:spPr>
          <a:xfrm>
            <a:off x="8065008" y="5397398"/>
            <a:ext cx="3364992" cy="148742"/>
          </a:xfrm>
          <a:prstGeom prst="rect">
            <a:avLst/>
          </a:prstGeom>
          <a:noFill/>
        </p:spPr>
        <p:txBody>
          <a:bodyPr wrap="square" lIns="0" rIns="0" tIns="0" bIns="0" anchor="t">
            <a:noAutofit/>
          </a:bodyPr>
          <a:lstStyle/>
          <a:p>
            <a:pPr algn="l" marL="146304" indent="-146304">
              <a:lnSpc>
                <a:spcPct val="128000"/>
              </a:lnSpc>
              <a:buClr>
                <a:srgbClr val="7DD3FC"/>
              </a:buClr>
              <a:buFont typeface="Arial"/>
              <a:buChar char="•"/>
            </a:pPr>
            <a:r>
              <a:rPr sz="690" b="0" i="0">
                <a:solidFill>
                  <a:srgbClr val="9DB0C6"/>
                </a:solidFill>
                <a:latin typeface="Segoe UI"/>
              </a:rPr>
              <a:t>two consecutive weeks with a clean shift handover</a:t>
            </a:r>
          </a:p>
        </p:txBody>
      </p:sp>
      <p:sp>
        <p:nvSpPr>
          <p:cNvPr id="62" name="TextBox 61"/>
          <p:cNvSpPr txBox="1"/>
          <p:nvPr/>
        </p:nvSpPr>
        <p:spPr>
          <a:xfrm>
            <a:off x="8065008" y="5582716"/>
            <a:ext cx="3364992" cy="148742"/>
          </a:xfrm>
          <a:prstGeom prst="rect">
            <a:avLst/>
          </a:prstGeom>
          <a:noFill/>
        </p:spPr>
        <p:txBody>
          <a:bodyPr wrap="square" lIns="0" rIns="0" tIns="0" bIns="0" anchor="t">
            <a:noAutofit/>
          </a:bodyPr>
          <a:lstStyle/>
          <a:p>
            <a:pPr algn="l" marL="146304" indent="-146304">
              <a:lnSpc>
                <a:spcPct val="128000"/>
              </a:lnSpc>
              <a:buClr>
                <a:srgbClr val="7DD3FC"/>
              </a:buClr>
              <a:buFont typeface="Arial"/>
              <a:buChar char="•"/>
            </a:pPr>
            <a:r>
              <a:rPr sz="690" b="0" i="0">
                <a:solidFill>
                  <a:srgbClr val="9DB0C6"/>
                </a:solidFill>
                <a:latin typeface="Segoe UI"/>
              </a:rPr>
              <a:t>an on-call engineer can find and act on any node in under a minute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5.3 · TAKEAWAYS</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Five sentences to remember</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If the room forgets everything else, these five lines carry the architecture, the operations and the integration contract.</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WRAP-UP</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26 / 27</a:t>
            </a:r>
          </a:p>
        </p:txBody>
      </p:sp>
      <p:sp>
        <p:nvSpPr>
          <p:cNvPr id="11" name="Rounded Rectangle 10"/>
          <p:cNvSpPr/>
          <p:nvPr/>
        </p:nvSpPr>
        <p:spPr>
          <a:xfrm>
            <a:off x="566928" y="1783080"/>
            <a:ext cx="7278624" cy="694944"/>
          </a:xfrm>
          <a:prstGeom prst="roundRect">
            <a:avLst>
              <a:gd name="adj" fmla="val 921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Oval 11"/>
          <p:cNvSpPr/>
          <p:nvPr/>
        </p:nvSpPr>
        <p:spPr>
          <a:xfrm>
            <a:off x="749808" y="1965960"/>
            <a:ext cx="310896" cy="310896"/>
          </a:xfrm>
          <a:prstGeom prst="ellipse">
            <a:avLst/>
          </a:prstGeom>
          <a:solidFill>
            <a:srgbClr val="0A1520"/>
          </a:solidFill>
          <a:ln w="1016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025395"/>
            <a:ext cx="310896" cy="164592"/>
          </a:xfrm>
          <a:prstGeom prst="rect">
            <a:avLst/>
          </a:prstGeom>
          <a:noFill/>
        </p:spPr>
        <p:txBody>
          <a:bodyPr wrap="square" lIns="0" rIns="0" tIns="0" bIns="0" anchor="t">
            <a:noAutofit/>
          </a:bodyPr>
          <a:lstStyle/>
          <a:p>
            <a:pPr algn="ctr">
              <a:lnSpc>
                <a:spcPct val="122000"/>
              </a:lnSpc>
            </a:pPr>
            <a:r>
              <a:rPr sz="760" b="1" i="0">
                <a:solidFill>
                  <a:srgbClr val="7DD3FC"/>
                </a:solidFill>
                <a:latin typeface="Consolas"/>
              </a:rPr>
              <a:t>01</a:t>
            </a:r>
          </a:p>
        </p:txBody>
      </p:sp>
      <p:sp>
        <p:nvSpPr>
          <p:cNvPr id="14" name="TextBox 13"/>
          <p:cNvSpPr txBox="1"/>
          <p:nvPr/>
        </p:nvSpPr>
        <p:spPr>
          <a:xfrm>
            <a:off x="1225295" y="1865376"/>
            <a:ext cx="2048256" cy="201168"/>
          </a:xfrm>
          <a:prstGeom prst="rect">
            <a:avLst/>
          </a:prstGeom>
          <a:noFill/>
        </p:spPr>
        <p:txBody>
          <a:bodyPr wrap="square" lIns="0" rIns="0" tIns="0" bIns="0" anchor="t">
            <a:noAutofit/>
          </a:bodyPr>
          <a:lstStyle/>
          <a:p>
            <a:pPr algn="l">
              <a:lnSpc>
                <a:spcPct val="122000"/>
              </a:lnSpc>
            </a:pPr>
            <a:r>
              <a:rPr sz="1060" b="1" i="0">
                <a:solidFill>
                  <a:srgbClr val="F4F8FC"/>
                </a:solidFill>
                <a:latin typeface="Segoe UI"/>
              </a:rPr>
              <a:t>One tree</a:t>
            </a:r>
          </a:p>
        </p:txBody>
      </p:sp>
      <p:sp>
        <p:nvSpPr>
          <p:cNvPr id="15" name="TextBox 14"/>
          <p:cNvSpPr txBox="1"/>
          <p:nvPr/>
        </p:nvSpPr>
        <p:spPr>
          <a:xfrm>
            <a:off x="1225295" y="2112264"/>
            <a:ext cx="6455664" cy="310896"/>
          </a:xfrm>
          <a:prstGeom prst="rect">
            <a:avLst/>
          </a:prstGeom>
          <a:noFill/>
        </p:spPr>
        <p:txBody>
          <a:bodyPr wrap="square" lIns="0" rIns="0" tIns="0" bIns="0" anchor="t">
            <a:noAutofit/>
          </a:bodyPr>
          <a:lstStyle/>
          <a:p>
            <a:pPr algn="l">
              <a:lnSpc>
                <a:spcPct val="124000"/>
              </a:lnSpc>
            </a:pPr>
            <a:r>
              <a:rPr sz="760" b="0" i="0">
                <a:solidFill>
                  <a:srgbClr val="9DB0C6"/>
                </a:solidFill>
                <a:latin typeface="Segoe UI"/>
              </a:rPr>
              <a:t>Every object is a node, containers are sub-flows, and parents always come before children.</a:t>
            </a:r>
          </a:p>
        </p:txBody>
      </p:sp>
      <p:sp>
        <p:nvSpPr>
          <p:cNvPr id="16" name="Rounded Rectangle 15"/>
          <p:cNvSpPr/>
          <p:nvPr/>
        </p:nvSpPr>
        <p:spPr>
          <a:xfrm>
            <a:off x="566928" y="2560320"/>
            <a:ext cx="7278624" cy="694944"/>
          </a:xfrm>
          <a:prstGeom prst="roundRect">
            <a:avLst>
              <a:gd name="adj" fmla="val 921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Oval 16"/>
          <p:cNvSpPr/>
          <p:nvPr/>
        </p:nvSpPr>
        <p:spPr>
          <a:xfrm>
            <a:off x="749808" y="2743200"/>
            <a:ext cx="310896" cy="310896"/>
          </a:xfrm>
          <a:prstGeom prst="ellipse">
            <a:avLst/>
          </a:prstGeom>
          <a:solidFill>
            <a:srgbClr val="0A1520"/>
          </a:solidFill>
          <a:ln w="1016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2802636"/>
            <a:ext cx="310896" cy="164592"/>
          </a:xfrm>
          <a:prstGeom prst="rect">
            <a:avLst/>
          </a:prstGeom>
          <a:noFill/>
        </p:spPr>
        <p:txBody>
          <a:bodyPr wrap="square" lIns="0" rIns="0" tIns="0" bIns="0" anchor="t">
            <a:noAutofit/>
          </a:bodyPr>
          <a:lstStyle/>
          <a:p>
            <a:pPr algn="ctr">
              <a:lnSpc>
                <a:spcPct val="122000"/>
              </a:lnSpc>
            </a:pPr>
            <a:r>
              <a:rPr sz="760" b="1" i="0">
                <a:solidFill>
                  <a:srgbClr val="34D399"/>
                </a:solidFill>
                <a:latin typeface="Consolas"/>
              </a:rPr>
              <a:t>02</a:t>
            </a:r>
          </a:p>
        </p:txBody>
      </p:sp>
      <p:sp>
        <p:nvSpPr>
          <p:cNvPr id="19" name="TextBox 18"/>
          <p:cNvSpPr txBox="1"/>
          <p:nvPr/>
        </p:nvSpPr>
        <p:spPr>
          <a:xfrm>
            <a:off x="1225295" y="2642615"/>
            <a:ext cx="2048256" cy="201168"/>
          </a:xfrm>
          <a:prstGeom prst="rect">
            <a:avLst/>
          </a:prstGeom>
          <a:noFill/>
        </p:spPr>
        <p:txBody>
          <a:bodyPr wrap="square" lIns="0" rIns="0" tIns="0" bIns="0" anchor="t">
            <a:noAutofit/>
          </a:bodyPr>
          <a:lstStyle/>
          <a:p>
            <a:pPr algn="l">
              <a:lnSpc>
                <a:spcPct val="122000"/>
              </a:lnSpc>
            </a:pPr>
            <a:r>
              <a:rPr sz="1060" b="1" i="0">
                <a:solidFill>
                  <a:srgbClr val="F4F8FC"/>
                </a:solidFill>
                <a:latin typeface="Segoe UI"/>
              </a:rPr>
              <a:t>One contract</a:t>
            </a:r>
          </a:p>
        </p:txBody>
      </p:sp>
      <p:sp>
        <p:nvSpPr>
          <p:cNvPr id="20" name="TextBox 19"/>
          <p:cNvSpPr txBox="1"/>
          <p:nvPr/>
        </p:nvSpPr>
        <p:spPr>
          <a:xfrm>
            <a:off x="1225295" y="2889503"/>
            <a:ext cx="6455664" cy="310896"/>
          </a:xfrm>
          <a:prstGeom prst="rect">
            <a:avLst/>
          </a:prstGeom>
          <a:noFill/>
        </p:spPr>
        <p:txBody>
          <a:bodyPr wrap="square" lIns="0" rIns="0" tIns="0" bIns="0" anchor="t">
            <a:noAutofit/>
          </a:bodyPr>
          <a:lstStyle/>
          <a:p>
            <a:pPr algn="l">
              <a:lnSpc>
                <a:spcPct val="124000"/>
              </a:lnSpc>
            </a:pPr>
            <a:r>
              <a:rPr sz="760" b="0" i="0">
                <a:solidFill>
                  <a:srgbClr val="9DB0C6"/>
                </a:solidFill>
                <a:latin typeface="Segoe UI"/>
              </a:rPr>
              <a:t>Register, push, raise, read back — the ingest gateway is the only write path.</a:t>
            </a:r>
          </a:p>
        </p:txBody>
      </p:sp>
      <p:sp>
        <p:nvSpPr>
          <p:cNvPr id="21" name="Rounded Rectangle 20"/>
          <p:cNvSpPr/>
          <p:nvPr/>
        </p:nvSpPr>
        <p:spPr>
          <a:xfrm>
            <a:off x="566928" y="3337560"/>
            <a:ext cx="7278624" cy="694944"/>
          </a:xfrm>
          <a:prstGeom prst="roundRect">
            <a:avLst>
              <a:gd name="adj" fmla="val 921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Oval 21"/>
          <p:cNvSpPr/>
          <p:nvPr/>
        </p:nvSpPr>
        <p:spPr>
          <a:xfrm>
            <a:off x="749808" y="3520440"/>
            <a:ext cx="310896" cy="310896"/>
          </a:xfrm>
          <a:prstGeom prst="ellipse">
            <a:avLst/>
          </a:prstGeom>
          <a:solidFill>
            <a:srgbClr val="0A1520"/>
          </a:solidFill>
          <a:ln w="1016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579876"/>
            <a:ext cx="310896" cy="164592"/>
          </a:xfrm>
          <a:prstGeom prst="rect">
            <a:avLst/>
          </a:prstGeom>
          <a:noFill/>
        </p:spPr>
        <p:txBody>
          <a:bodyPr wrap="square" lIns="0" rIns="0" tIns="0" bIns="0" anchor="t">
            <a:noAutofit/>
          </a:bodyPr>
          <a:lstStyle/>
          <a:p>
            <a:pPr algn="ctr">
              <a:lnSpc>
                <a:spcPct val="122000"/>
              </a:lnSpc>
            </a:pPr>
            <a:r>
              <a:rPr sz="760" b="1" i="0">
                <a:solidFill>
                  <a:srgbClr val="A78BFA"/>
                </a:solidFill>
                <a:latin typeface="Consolas"/>
              </a:rPr>
              <a:t>03</a:t>
            </a:r>
          </a:p>
        </p:txBody>
      </p:sp>
      <p:sp>
        <p:nvSpPr>
          <p:cNvPr id="24" name="TextBox 23"/>
          <p:cNvSpPr txBox="1"/>
          <p:nvPr/>
        </p:nvSpPr>
        <p:spPr>
          <a:xfrm>
            <a:off x="1225295" y="3419856"/>
            <a:ext cx="2048256" cy="201168"/>
          </a:xfrm>
          <a:prstGeom prst="rect">
            <a:avLst/>
          </a:prstGeom>
          <a:noFill/>
        </p:spPr>
        <p:txBody>
          <a:bodyPr wrap="square" lIns="0" rIns="0" tIns="0" bIns="0" anchor="t">
            <a:noAutofit/>
          </a:bodyPr>
          <a:lstStyle/>
          <a:p>
            <a:pPr algn="l">
              <a:lnSpc>
                <a:spcPct val="122000"/>
              </a:lnSpc>
            </a:pPr>
            <a:r>
              <a:rPr sz="1060" b="1" i="0">
                <a:solidFill>
                  <a:srgbClr val="F4F8FC"/>
                </a:solidFill>
                <a:latin typeface="Segoe UI"/>
              </a:rPr>
              <a:t>One loop</a:t>
            </a:r>
          </a:p>
        </p:txBody>
      </p:sp>
      <p:sp>
        <p:nvSpPr>
          <p:cNvPr id="25" name="TextBox 24"/>
          <p:cNvSpPr txBox="1"/>
          <p:nvPr/>
        </p:nvSpPr>
        <p:spPr>
          <a:xfrm>
            <a:off x="1225295" y="3666744"/>
            <a:ext cx="6455664" cy="310896"/>
          </a:xfrm>
          <a:prstGeom prst="rect">
            <a:avLst/>
          </a:prstGeom>
          <a:noFill/>
        </p:spPr>
        <p:txBody>
          <a:bodyPr wrap="square" lIns="0" rIns="0" tIns="0" bIns="0" anchor="t">
            <a:noAutofit/>
          </a:bodyPr>
          <a:lstStyle/>
          <a:p>
            <a:pPr algn="l">
              <a:lnSpc>
                <a:spcPct val="124000"/>
              </a:lnSpc>
            </a:pPr>
            <a:r>
              <a:rPr sz="760" b="0" i="0">
                <a:solidFill>
                  <a:srgbClr val="9DB0C6"/>
                </a:solidFill>
                <a:latin typeface="Segoe UI"/>
              </a:rPr>
              <a:t>Live metrics repaint leaves; structure changes relayout. Two paths, never crossed.</a:t>
            </a:r>
          </a:p>
        </p:txBody>
      </p:sp>
      <p:sp>
        <p:nvSpPr>
          <p:cNvPr id="26" name="Rounded Rectangle 25"/>
          <p:cNvSpPr/>
          <p:nvPr/>
        </p:nvSpPr>
        <p:spPr>
          <a:xfrm>
            <a:off x="566928" y="4114800"/>
            <a:ext cx="7278624" cy="694944"/>
          </a:xfrm>
          <a:prstGeom prst="roundRect">
            <a:avLst>
              <a:gd name="adj" fmla="val 921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Oval 26"/>
          <p:cNvSpPr/>
          <p:nvPr/>
        </p:nvSpPr>
        <p:spPr>
          <a:xfrm>
            <a:off x="749808" y="4297680"/>
            <a:ext cx="310896" cy="310896"/>
          </a:xfrm>
          <a:prstGeom prst="ellipse">
            <a:avLst/>
          </a:prstGeom>
          <a:solidFill>
            <a:srgbClr val="0A1520"/>
          </a:solidFill>
          <a:ln w="1016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4357116"/>
            <a:ext cx="310896" cy="164592"/>
          </a:xfrm>
          <a:prstGeom prst="rect">
            <a:avLst/>
          </a:prstGeom>
          <a:noFill/>
        </p:spPr>
        <p:txBody>
          <a:bodyPr wrap="square" lIns="0" rIns="0" tIns="0" bIns="0" anchor="t">
            <a:noAutofit/>
          </a:bodyPr>
          <a:lstStyle/>
          <a:p>
            <a:pPr algn="ctr">
              <a:lnSpc>
                <a:spcPct val="122000"/>
              </a:lnSpc>
            </a:pPr>
            <a:r>
              <a:rPr sz="760" b="1" i="0">
                <a:solidFill>
                  <a:srgbClr val="FBBF24"/>
                </a:solidFill>
                <a:latin typeface="Consolas"/>
              </a:rPr>
              <a:t>04</a:t>
            </a:r>
          </a:p>
        </p:txBody>
      </p:sp>
      <p:sp>
        <p:nvSpPr>
          <p:cNvPr id="29" name="TextBox 28"/>
          <p:cNvSpPr txBox="1"/>
          <p:nvPr/>
        </p:nvSpPr>
        <p:spPr>
          <a:xfrm>
            <a:off x="1225295" y="4197096"/>
            <a:ext cx="2048256" cy="201168"/>
          </a:xfrm>
          <a:prstGeom prst="rect">
            <a:avLst/>
          </a:prstGeom>
          <a:noFill/>
        </p:spPr>
        <p:txBody>
          <a:bodyPr wrap="square" lIns="0" rIns="0" tIns="0" bIns="0" anchor="t">
            <a:noAutofit/>
          </a:bodyPr>
          <a:lstStyle/>
          <a:p>
            <a:pPr algn="l">
              <a:lnSpc>
                <a:spcPct val="122000"/>
              </a:lnSpc>
            </a:pPr>
            <a:r>
              <a:rPr sz="1060" b="1" i="0">
                <a:solidFill>
                  <a:srgbClr val="F4F8FC"/>
                </a:solidFill>
                <a:latin typeface="Segoe UI"/>
              </a:rPr>
              <a:t>One action surface</a:t>
            </a:r>
          </a:p>
        </p:txBody>
      </p:sp>
      <p:sp>
        <p:nvSpPr>
          <p:cNvPr id="30" name="TextBox 29"/>
          <p:cNvSpPr txBox="1"/>
          <p:nvPr/>
        </p:nvSpPr>
        <p:spPr>
          <a:xfrm>
            <a:off x="1225295" y="4443984"/>
            <a:ext cx="6455664" cy="310896"/>
          </a:xfrm>
          <a:prstGeom prst="rect">
            <a:avLst/>
          </a:prstGeom>
          <a:noFill/>
        </p:spPr>
        <p:txBody>
          <a:bodyPr wrap="square" lIns="0" rIns="0" tIns="0" bIns="0" anchor="t">
            <a:noAutofit/>
          </a:bodyPr>
          <a:lstStyle/>
          <a:p>
            <a:pPr algn="l">
              <a:lnSpc>
                <a:spcPct val="124000"/>
              </a:lnSpc>
            </a:pPr>
            <a:r>
              <a:rPr sz="760" b="0" i="0">
                <a:solidFill>
                  <a:srgbClr val="9DB0C6"/>
                </a:solidFill>
                <a:latin typeface="Segoe UI"/>
              </a:rPr>
              <a:t>Six runbooks, three privileged, every run audited and able to fail closed.</a:t>
            </a:r>
          </a:p>
        </p:txBody>
      </p:sp>
      <p:sp>
        <p:nvSpPr>
          <p:cNvPr id="31" name="Rounded Rectangle 30"/>
          <p:cNvSpPr/>
          <p:nvPr/>
        </p:nvSpPr>
        <p:spPr>
          <a:xfrm>
            <a:off x="566928" y="4892040"/>
            <a:ext cx="7278624" cy="694944"/>
          </a:xfrm>
          <a:prstGeom prst="roundRect">
            <a:avLst>
              <a:gd name="adj" fmla="val 9210"/>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Oval 31"/>
          <p:cNvSpPr/>
          <p:nvPr/>
        </p:nvSpPr>
        <p:spPr>
          <a:xfrm>
            <a:off x="749808" y="5074920"/>
            <a:ext cx="310896" cy="310896"/>
          </a:xfrm>
          <a:prstGeom prst="ellipse">
            <a:avLst/>
          </a:prstGeom>
          <a:solidFill>
            <a:srgbClr val="0A1520"/>
          </a:solidFill>
          <a:ln w="1016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8" y="5134355"/>
            <a:ext cx="310896" cy="164592"/>
          </a:xfrm>
          <a:prstGeom prst="rect">
            <a:avLst/>
          </a:prstGeom>
          <a:noFill/>
        </p:spPr>
        <p:txBody>
          <a:bodyPr wrap="square" lIns="0" rIns="0" tIns="0" bIns="0" anchor="t">
            <a:noAutofit/>
          </a:bodyPr>
          <a:lstStyle/>
          <a:p>
            <a:pPr algn="ctr">
              <a:lnSpc>
                <a:spcPct val="122000"/>
              </a:lnSpc>
            </a:pPr>
            <a:r>
              <a:rPr sz="760" b="1" i="0">
                <a:solidFill>
                  <a:srgbClr val="FB7185"/>
                </a:solidFill>
                <a:latin typeface="Consolas"/>
              </a:rPr>
              <a:t>05</a:t>
            </a:r>
          </a:p>
        </p:txBody>
      </p:sp>
      <p:sp>
        <p:nvSpPr>
          <p:cNvPr id="34" name="TextBox 33"/>
          <p:cNvSpPr txBox="1"/>
          <p:nvPr/>
        </p:nvSpPr>
        <p:spPr>
          <a:xfrm>
            <a:off x="1225295" y="4974336"/>
            <a:ext cx="2048256" cy="201168"/>
          </a:xfrm>
          <a:prstGeom prst="rect">
            <a:avLst/>
          </a:prstGeom>
          <a:noFill/>
        </p:spPr>
        <p:txBody>
          <a:bodyPr wrap="square" lIns="0" rIns="0" tIns="0" bIns="0" anchor="t">
            <a:noAutofit/>
          </a:bodyPr>
          <a:lstStyle/>
          <a:p>
            <a:pPr algn="l">
              <a:lnSpc>
                <a:spcPct val="122000"/>
              </a:lnSpc>
            </a:pPr>
            <a:r>
              <a:rPr sz="1060" b="1" i="0">
                <a:solidFill>
                  <a:srgbClr val="F4F8FC"/>
                </a:solidFill>
                <a:latin typeface="Segoe UI"/>
              </a:rPr>
              <a:t>One truth</a:t>
            </a:r>
          </a:p>
        </p:txBody>
      </p:sp>
      <p:sp>
        <p:nvSpPr>
          <p:cNvPr id="35" name="TextBox 34"/>
          <p:cNvSpPr txBox="1"/>
          <p:nvPr/>
        </p:nvSpPr>
        <p:spPr>
          <a:xfrm>
            <a:off x="1225295" y="5221224"/>
            <a:ext cx="6455664" cy="310896"/>
          </a:xfrm>
          <a:prstGeom prst="rect">
            <a:avLst/>
          </a:prstGeom>
          <a:noFill/>
        </p:spPr>
        <p:txBody>
          <a:bodyPr wrap="square" lIns="0" rIns="0" tIns="0" bIns="0" anchor="t">
            <a:noAutofit/>
          </a:bodyPr>
          <a:lstStyle/>
          <a:p>
            <a:pPr algn="l">
              <a:lnSpc>
                <a:spcPct val="124000"/>
              </a:lnSpc>
            </a:pPr>
            <a:r>
              <a:rPr sz="760" b="0" i="0">
                <a:solidFill>
                  <a:srgbClr val="9DB0C6"/>
                </a:solidFill>
                <a:latin typeface="Segoe UI"/>
              </a:rPr>
              <a:t>Averages roll up, sums never do. The number on the parent is the number of its children.</a:t>
            </a:r>
          </a:p>
        </p:txBody>
      </p:sp>
      <p:sp>
        <p:nvSpPr>
          <p:cNvPr id="36" name="Rounded Rectangle 35"/>
          <p:cNvSpPr/>
          <p:nvPr/>
        </p:nvSpPr>
        <p:spPr>
          <a:xfrm>
            <a:off x="7973568" y="1783080"/>
            <a:ext cx="3648456" cy="3054096"/>
          </a:xfrm>
          <a:prstGeom prst="roundRect">
            <a:avLst>
              <a:gd name="adj" fmla="val 2994"/>
            </a:avLst>
          </a:prstGeom>
          <a:solidFill>
            <a:srgbClr val="0B1324"/>
          </a:solidFill>
          <a:ln w="9525">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TextBox 36"/>
          <p:cNvSpPr txBox="1"/>
          <p:nvPr/>
        </p:nvSpPr>
        <p:spPr>
          <a:xfrm>
            <a:off x="8193024" y="1911095"/>
            <a:ext cx="1280160" cy="566928"/>
          </a:xfrm>
          <a:prstGeom prst="rect">
            <a:avLst/>
          </a:prstGeom>
          <a:noFill/>
        </p:spPr>
        <p:txBody>
          <a:bodyPr wrap="square" lIns="0" rIns="0" tIns="0" bIns="0" anchor="t">
            <a:noAutofit/>
          </a:bodyPr>
          <a:lstStyle/>
          <a:p>
            <a:pPr algn="l">
              <a:lnSpc>
                <a:spcPct val="122000"/>
              </a:lnSpc>
            </a:pPr>
            <a:r>
              <a:rPr sz="3400" b="1" i="0">
                <a:solidFill>
                  <a:srgbClr val="7DD3FC"/>
                </a:solidFill>
                <a:latin typeface="Segoe UI"/>
              </a:rPr>
              <a:t>“</a:t>
            </a:r>
          </a:p>
        </p:txBody>
      </p:sp>
      <p:sp>
        <p:nvSpPr>
          <p:cNvPr id="38" name="TextBox 37"/>
          <p:cNvSpPr txBox="1"/>
          <p:nvPr/>
        </p:nvSpPr>
        <p:spPr>
          <a:xfrm>
            <a:off x="8193024" y="2514600"/>
            <a:ext cx="3209544" cy="1572768"/>
          </a:xfrm>
          <a:prstGeom prst="rect">
            <a:avLst/>
          </a:prstGeom>
          <a:noFill/>
        </p:spPr>
        <p:txBody>
          <a:bodyPr wrap="square" lIns="0" rIns="0" tIns="0" bIns="0" anchor="t">
            <a:noAutofit/>
          </a:bodyPr>
          <a:lstStyle/>
          <a:p>
            <a:pPr algn="l">
              <a:lnSpc>
                <a:spcPct val="136000"/>
              </a:lnSpc>
            </a:pPr>
            <a:r>
              <a:rPr sz="1160" b="0" i="0">
                <a:solidFill>
                  <a:srgbClr val="E2E8F0"/>
                </a:solidFill>
                <a:latin typeface="Segoe UI"/>
              </a:rPr>
              <a:t>A control room is not a dashboard you look at. It is a contract the estate keeps with the people who run it.</a:t>
            </a:r>
          </a:p>
        </p:txBody>
      </p:sp>
      <p:cxnSp>
        <p:nvCxnSpPr>
          <p:cNvPr id="39" name="Connector 38"/>
          <p:cNvCxnSpPr/>
          <p:nvPr/>
        </p:nvCxnSpPr>
        <p:spPr>
          <a:xfrm>
            <a:off x="8193024" y="4050791"/>
            <a:ext cx="3209544" cy="0"/>
          </a:xfrm>
          <a:prstGeom prst="line">
            <a:avLst/>
          </a:prstGeom>
          <a:ln w="8890">
            <a:solidFill>
              <a:srgbClr val="1E2C3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193024" y="4160520"/>
            <a:ext cx="3209544" cy="548640"/>
          </a:xfrm>
          <a:prstGeom prst="rect">
            <a:avLst/>
          </a:prstGeom>
          <a:noFill/>
        </p:spPr>
        <p:txBody>
          <a:bodyPr wrap="square" lIns="0" rIns="0" tIns="0" bIns="0" anchor="t">
            <a:noAutofit/>
          </a:bodyPr>
          <a:lstStyle/>
          <a:p>
            <a:pPr algn="l">
              <a:lnSpc>
                <a:spcPct val="130000"/>
              </a:lnSpc>
            </a:pPr>
            <a:r>
              <a:rPr sz="720" b="0" i="0">
                <a:solidFill>
                  <a:srgbClr val="64748B"/>
                </a:solidFill>
                <a:latin typeface="Segoe UI"/>
              </a:rPr>
              <a:t>the design principle behind every slide in this deck</a:t>
            </a:r>
          </a:p>
        </p:txBody>
      </p:sp>
      <p:sp>
        <p:nvSpPr>
          <p:cNvPr id="41" name="Rounded Rectangle 40"/>
          <p:cNvSpPr/>
          <p:nvPr/>
        </p:nvSpPr>
        <p:spPr>
          <a:xfrm>
            <a:off x="7973568" y="4791456"/>
            <a:ext cx="3648456" cy="1389888"/>
          </a:xfrm>
          <a:prstGeom prst="roundRect">
            <a:avLst>
              <a:gd name="adj" fmla="val 5263"/>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TextBox 41"/>
          <p:cNvSpPr txBox="1"/>
          <p:nvPr/>
        </p:nvSpPr>
        <p:spPr>
          <a:xfrm>
            <a:off x="8156448" y="4882896"/>
            <a:ext cx="3291840" cy="146304"/>
          </a:xfrm>
          <a:prstGeom prst="rect">
            <a:avLst/>
          </a:prstGeom>
          <a:noFill/>
        </p:spPr>
        <p:txBody>
          <a:bodyPr wrap="square" lIns="0" rIns="0" tIns="0" bIns="0" anchor="t">
            <a:noAutofit/>
          </a:bodyPr>
          <a:lstStyle/>
          <a:p>
            <a:pPr algn="l">
              <a:lnSpc>
                <a:spcPct val="122000"/>
              </a:lnSpc>
            </a:pPr>
            <a:r>
              <a:rPr sz="620" b="0" i="0" spc="110">
                <a:solidFill>
                  <a:srgbClr val="7DD3FC"/>
                </a:solidFill>
                <a:latin typeface="Consolas"/>
              </a:rPr>
              <a:t>NEXT STEPS AFTER THIS ROOM</a:t>
            </a:r>
          </a:p>
        </p:txBody>
      </p:sp>
      <p:sp>
        <p:nvSpPr>
          <p:cNvPr id="43" name="TextBox 42"/>
          <p:cNvSpPr txBox="1"/>
          <p:nvPr/>
        </p:nvSpPr>
        <p:spPr>
          <a:xfrm>
            <a:off x="8156448" y="5084064"/>
            <a:ext cx="3319272" cy="237744"/>
          </a:xfrm>
          <a:prstGeom prst="rect">
            <a:avLst/>
          </a:prstGeom>
          <a:noFill/>
        </p:spPr>
        <p:txBody>
          <a:bodyPr wrap="square" lIns="0" rIns="0" tIns="0" bIns="0" anchor="t">
            <a:noAutofit/>
          </a:bodyPr>
          <a:lstStyle/>
          <a:p>
            <a:pPr algn="l" marL="146304" indent="-146304">
              <a:lnSpc>
                <a:spcPct val="120000"/>
              </a:lnSpc>
              <a:buClr>
                <a:srgbClr val="7DD3FC"/>
              </a:buClr>
              <a:buFont typeface="Arial"/>
              <a:buChar char="•"/>
            </a:pPr>
            <a:r>
              <a:rPr sz="760" b="0" i="0">
                <a:solidFill>
                  <a:srgbClr val="9DB0C6"/>
                </a:solidFill>
                <a:latin typeface="Segoe UI"/>
              </a:rPr>
              <a:t>book the acceptance test with one stack</a:t>
            </a:r>
          </a:p>
        </p:txBody>
      </p:sp>
      <p:sp>
        <p:nvSpPr>
          <p:cNvPr id="44" name="TextBox 43"/>
          <p:cNvSpPr txBox="1"/>
          <p:nvPr/>
        </p:nvSpPr>
        <p:spPr>
          <a:xfrm>
            <a:off x="8156448" y="5358383"/>
            <a:ext cx="3319272" cy="237744"/>
          </a:xfrm>
          <a:prstGeom prst="rect">
            <a:avLst/>
          </a:prstGeom>
          <a:noFill/>
        </p:spPr>
        <p:txBody>
          <a:bodyPr wrap="square" lIns="0" rIns="0" tIns="0" bIns="0" anchor="t">
            <a:noAutofit/>
          </a:bodyPr>
          <a:lstStyle/>
          <a:p>
            <a:pPr algn="l" marL="146304" indent="-146304">
              <a:lnSpc>
                <a:spcPct val="120000"/>
              </a:lnSpc>
              <a:buClr>
                <a:srgbClr val="7DD3FC"/>
              </a:buClr>
              <a:buFont typeface="Arial"/>
              <a:buChar char="•"/>
            </a:pPr>
            <a:r>
              <a:rPr sz="760" b="0" i="0">
                <a:solidFill>
                  <a:srgbClr val="9DB0C6"/>
                </a:solidFill>
                <a:latin typeface="Segoe UI"/>
              </a:rPr>
              <a:t>pick the first three collectors</a:t>
            </a:r>
          </a:p>
        </p:txBody>
      </p:sp>
      <p:sp>
        <p:nvSpPr>
          <p:cNvPr id="45" name="TextBox 44"/>
          <p:cNvSpPr txBox="1"/>
          <p:nvPr/>
        </p:nvSpPr>
        <p:spPr>
          <a:xfrm>
            <a:off x="8156448" y="5632703"/>
            <a:ext cx="3319272" cy="237744"/>
          </a:xfrm>
          <a:prstGeom prst="rect">
            <a:avLst/>
          </a:prstGeom>
          <a:noFill/>
        </p:spPr>
        <p:txBody>
          <a:bodyPr wrap="square" lIns="0" rIns="0" tIns="0" bIns="0" anchor="t">
            <a:noAutofit/>
          </a:bodyPr>
          <a:lstStyle/>
          <a:p>
            <a:pPr algn="l" marL="146304" indent="-146304">
              <a:lnSpc>
                <a:spcPct val="120000"/>
              </a:lnSpc>
              <a:buClr>
                <a:srgbClr val="7DD3FC"/>
              </a:buClr>
              <a:buFont typeface="Arial"/>
              <a:buChar char="•"/>
            </a:pPr>
            <a:r>
              <a:rPr sz="760" b="0" i="0">
                <a:solidFill>
                  <a:srgbClr val="9DB0C6"/>
                </a:solidFill>
                <a:latin typeface="Segoe UI"/>
              </a:rPr>
              <a:t>agree the on-call owner map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70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566928" y="338328"/>
            <a:ext cx="292608" cy="25603"/>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566928" y="411480"/>
            <a:ext cx="7863840" cy="173736"/>
          </a:xfrm>
          <a:prstGeom prst="rect">
            <a:avLst/>
          </a:prstGeom>
          <a:noFill/>
        </p:spPr>
        <p:txBody>
          <a:bodyPr wrap="square" lIns="0" rIns="0" tIns="0" bIns="0" anchor="t">
            <a:noAutofit/>
          </a:bodyPr>
          <a:lstStyle/>
          <a:p>
            <a:pPr algn="l">
              <a:lnSpc>
                <a:spcPct val="122000"/>
              </a:lnSpc>
            </a:pPr>
            <a:r>
              <a:rPr sz="819" b="0" i="0" spc="170">
                <a:solidFill>
                  <a:srgbClr val="7DD3FC"/>
                </a:solidFill>
                <a:latin typeface="Consolas"/>
              </a:rPr>
              <a:t>APPENDIX</a:t>
            </a:r>
          </a:p>
        </p:txBody>
      </p:sp>
      <p:sp>
        <p:nvSpPr>
          <p:cNvPr id="5" name="TextBox 4"/>
          <p:cNvSpPr txBox="1"/>
          <p:nvPr/>
        </p:nvSpPr>
        <p:spPr>
          <a:xfrm>
            <a:off x="566928" y="585216"/>
            <a:ext cx="11055096" cy="475488"/>
          </a:xfrm>
          <a:prstGeom prst="rect">
            <a:avLst/>
          </a:prstGeom>
          <a:noFill/>
        </p:spPr>
        <p:txBody>
          <a:bodyPr wrap="square" lIns="0" rIns="0" tIns="0" bIns="0" anchor="t">
            <a:noAutofit/>
          </a:bodyPr>
          <a:lstStyle/>
          <a:p>
            <a:pPr algn="l">
              <a:lnSpc>
                <a:spcPct val="100000"/>
              </a:lnSpc>
            </a:pPr>
            <a:r>
              <a:rPr sz="2600" b="1" i="0">
                <a:solidFill>
                  <a:srgbClr val="F4F8FC"/>
                </a:solidFill>
                <a:latin typeface="Segoe UI"/>
              </a:rPr>
              <a:t>Glossary and where to go next</a:t>
            </a:r>
          </a:p>
        </p:txBody>
      </p:sp>
      <p:sp>
        <p:nvSpPr>
          <p:cNvPr id="6" name="TextBox 5"/>
          <p:cNvSpPr txBox="1"/>
          <p:nvPr/>
        </p:nvSpPr>
        <p:spPr>
          <a:xfrm>
            <a:off x="566928" y="1097280"/>
            <a:ext cx="10597896" cy="402336"/>
          </a:xfrm>
          <a:prstGeom prst="rect">
            <a:avLst/>
          </a:prstGeom>
          <a:noFill/>
        </p:spPr>
        <p:txBody>
          <a:bodyPr wrap="square" lIns="0" rIns="0" tIns="0" bIns="0" anchor="t">
            <a:noAutofit/>
          </a:bodyPr>
          <a:lstStyle/>
          <a:p>
            <a:pPr algn="l">
              <a:lnSpc>
                <a:spcPct val="130000"/>
              </a:lnSpc>
            </a:pPr>
            <a:r>
              <a:rPr sz="1160" b="0" i="0">
                <a:solidFill>
                  <a:srgbClr val="9DB0C6"/>
                </a:solidFill>
                <a:latin typeface="Segoe UI"/>
              </a:rPr>
              <a:t>Short definitions for the vocabulary used in this deck, plus the two places to look: the live control room and the operator manual at /guide.</a:t>
            </a:r>
          </a:p>
        </p:txBody>
      </p:sp>
      <p:cxnSp>
        <p:nvCxnSpPr>
          <p:cNvPr id="7" name="Connector 6"/>
          <p:cNvCxnSpPr/>
          <p:nvPr/>
        </p:nvCxnSpPr>
        <p:spPr>
          <a:xfrm>
            <a:off x="566928" y="163677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91656"/>
            <a:ext cx="11055096" cy="0"/>
          </a:xfrm>
          <a:prstGeom prst="line">
            <a:avLst/>
          </a:prstGeom>
          <a:ln w="9525">
            <a:solidFill>
              <a:srgbClr val="1621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73952"/>
            <a:ext cx="7315200" cy="146304"/>
          </a:xfrm>
          <a:prstGeom prst="rect">
            <a:avLst/>
          </a:prstGeom>
          <a:noFill/>
        </p:spPr>
        <p:txBody>
          <a:bodyPr wrap="none" lIns="0" rIns="0" tIns="0" bIns="0" anchor="t">
            <a:noAutofit/>
          </a:bodyPr>
          <a:lstStyle/>
          <a:p>
            <a:pPr algn="l">
              <a:lnSpc>
                <a:spcPct val="100000"/>
              </a:lnSpc>
            </a:pPr>
            <a:r>
              <a:rPr sz="720" b="0" spc="110">
                <a:solidFill>
                  <a:srgbClr val="64748B"/>
                </a:solidFill>
                <a:latin typeface="Consolas"/>
              </a:rPr>
              <a:t>HELIOS·OPS</a:t>
            </a:r>
            <a:r>
              <a:rPr sz="720" b="0" spc="110">
                <a:solidFill>
                  <a:srgbClr val="475569"/>
                </a:solidFill>
                <a:latin typeface="Consolas"/>
              </a:rPr>
              <a:t>   ·   </a:t>
            </a:r>
            <a:r>
              <a:rPr sz="720" b="0" spc="110">
                <a:solidFill>
                  <a:srgbClr val="64748B"/>
                </a:solidFill>
                <a:latin typeface="Consolas"/>
              </a:rPr>
              <a:t>APPENDIX</a:t>
            </a:r>
          </a:p>
        </p:txBody>
      </p:sp>
      <p:sp>
        <p:nvSpPr>
          <p:cNvPr id="10" name="TextBox 9"/>
          <p:cNvSpPr txBox="1"/>
          <p:nvPr/>
        </p:nvSpPr>
        <p:spPr>
          <a:xfrm>
            <a:off x="10799064" y="6464808"/>
            <a:ext cx="822960" cy="164592"/>
          </a:xfrm>
          <a:prstGeom prst="rect">
            <a:avLst/>
          </a:prstGeom>
          <a:noFill/>
        </p:spPr>
        <p:txBody>
          <a:bodyPr wrap="square" lIns="0" rIns="0" tIns="0" bIns="0" anchor="t">
            <a:noAutofit/>
          </a:bodyPr>
          <a:lstStyle/>
          <a:p>
            <a:pPr algn="r">
              <a:lnSpc>
                <a:spcPct val="122000"/>
              </a:lnSpc>
            </a:pPr>
            <a:r>
              <a:rPr sz="740" b="0" i="0">
                <a:solidFill>
                  <a:srgbClr val="64748B"/>
                </a:solidFill>
                <a:latin typeface="Consolas"/>
              </a:rPr>
              <a:t>27 / 27</a:t>
            </a:r>
          </a:p>
        </p:txBody>
      </p:sp>
      <p:sp>
        <p:nvSpPr>
          <p:cNvPr id="11" name="Rounded Rectangle 10"/>
          <p:cNvSpPr/>
          <p:nvPr/>
        </p:nvSpPr>
        <p:spPr>
          <a:xfrm>
            <a:off x="566928" y="1783080"/>
            <a:ext cx="6967728" cy="347472"/>
          </a:xfrm>
          <a:prstGeom prst="roundRect">
            <a:avLst>
              <a:gd name="adj" fmla="val 5263"/>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694944" y="1865376"/>
            <a:ext cx="1298448" cy="155448"/>
          </a:xfrm>
          <a:prstGeom prst="rect">
            <a:avLst/>
          </a:prstGeom>
          <a:noFill/>
        </p:spPr>
        <p:txBody>
          <a:bodyPr wrap="square" lIns="0" rIns="0" tIns="0" bIns="0" anchor="t">
            <a:noAutofit/>
          </a:bodyPr>
          <a:lstStyle/>
          <a:p>
            <a:pPr algn="l">
              <a:lnSpc>
                <a:spcPct val="122000"/>
              </a:lnSpc>
            </a:pPr>
            <a:r>
              <a:rPr sz="720" b="0" i="0">
                <a:solidFill>
                  <a:srgbClr val="7DD3FC"/>
                </a:solidFill>
                <a:latin typeface="Consolas"/>
              </a:rPr>
              <a:t>node</a:t>
            </a:r>
          </a:p>
        </p:txBody>
      </p:sp>
      <p:sp>
        <p:nvSpPr>
          <p:cNvPr id="13" name="TextBox 12"/>
          <p:cNvSpPr txBox="1"/>
          <p:nvPr/>
        </p:nvSpPr>
        <p:spPr>
          <a:xfrm>
            <a:off x="2103120" y="1865376"/>
            <a:ext cx="5321808" cy="164592"/>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one row in ops_nodes; one card on the canvas — org, host, service, endpoint or gauge</a:t>
            </a:r>
          </a:p>
        </p:txBody>
      </p:sp>
      <p:sp>
        <p:nvSpPr>
          <p:cNvPr id="14" name="TextBox 13"/>
          <p:cNvSpPr txBox="1"/>
          <p:nvPr/>
        </p:nvSpPr>
        <p:spPr>
          <a:xfrm>
            <a:off x="694944" y="2212848"/>
            <a:ext cx="1298448" cy="155448"/>
          </a:xfrm>
          <a:prstGeom prst="rect">
            <a:avLst/>
          </a:prstGeom>
          <a:noFill/>
        </p:spPr>
        <p:txBody>
          <a:bodyPr wrap="square" lIns="0" rIns="0" tIns="0" bIns="0" anchor="t">
            <a:noAutofit/>
          </a:bodyPr>
          <a:lstStyle/>
          <a:p>
            <a:pPr algn="l">
              <a:lnSpc>
                <a:spcPct val="122000"/>
              </a:lnSpc>
            </a:pPr>
            <a:r>
              <a:rPr sz="720" b="0" i="0">
                <a:solidFill>
                  <a:srgbClr val="7DD3FC"/>
                </a:solidFill>
                <a:latin typeface="Consolas"/>
              </a:rPr>
              <a:t>sub-flow</a:t>
            </a:r>
          </a:p>
        </p:txBody>
      </p:sp>
      <p:sp>
        <p:nvSpPr>
          <p:cNvPr id="15" name="TextBox 14"/>
          <p:cNvSpPr txBox="1"/>
          <p:nvPr/>
        </p:nvSpPr>
        <p:spPr>
          <a:xfrm>
            <a:off x="2103120" y="2212848"/>
            <a:ext cx="5321808" cy="164592"/>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the child area rendered inside a container card; positions are relative to the parent</a:t>
            </a:r>
          </a:p>
        </p:txBody>
      </p:sp>
      <p:sp>
        <p:nvSpPr>
          <p:cNvPr id="16" name="Rounded Rectangle 15"/>
          <p:cNvSpPr/>
          <p:nvPr/>
        </p:nvSpPr>
        <p:spPr>
          <a:xfrm>
            <a:off x="566928" y="2478024"/>
            <a:ext cx="6967728" cy="347472"/>
          </a:xfrm>
          <a:prstGeom prst="roundRect">
            <a:avLst>
              <a:gd name="adj" fmla="val 5263"/>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694944" y="2560320"/>
            <a:ext cx="1298448" cy="155448"/>
          </a:xfrm>
          <a:prstGeom prst="rect">
            <a:avLst/>
          </a:prstGeom>
          <a:noFill/>
        </p:spPr>
        <p:txBody>
          <a:bodyPr wrap="square" lIns="0" rIns="0" tIns="0" bIns="0" anchor="t">
            <a:noAutofit/>
          </a:bodyPr>
          <a:lstStyle/>
          <a:p>
            <a:pPr algn="l">
              <a:lnSpc>
                <a:spcPct val="122000"/>
              </a:lnSpc>
            </a:pPr>
            <a:r>
              <a:rPr sz="720" b="0" i="0">
                <a:solidFill>
                  <a:srgbClr val="7DD3FC"/>
                </a:solidFill>
                <a:latin typeface="Consolas"/>
              </a:rPr>
              <a:t>extent: parent</a:t>
            </a:r>
          </a:p>
        </p:txBody>
      </p:sp>
      <p:sp>
        <p:nvSpPr>
          <p:cNvPr id="18" name="TextBox 17"/>
          <p:cNvSpPr txBox="1"/>
          <p:nvPr/>
        </p:nvSpPr>
        <p:spPr>
          <a:xfrm>
            <a:off x="2103120" y="2560320"/>
            <a:ext cx="5321808" cy="164592"/>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the drag constraint that keeps a child inside its container's bounds</a:t>
            </a:r>
          </a:p>
        </p:txBody>
      </p:sp>
      <p:sp>
        <p:nvSpPr>
          <p:cNvPr id="19" name="TextBox 18"/>
          <p:cNvSpPr txBox="1"/>
          <p:nvPr/>
        </p:nvSpPr>
        <p:spPr>
          <a:xfrm>
            <a:off x="694944" y="2907791"/>
            <a:ext cx="1298448" cy="155448"/>
          </a:xfrm>
          <a:prstGeom prst="rect">
            <a:avLst/>
          </a:prstGeom>
          <a:noFill/>
        </p:spPr>
        <p:txBody>
          <a:bodyPr wrap="square" lIns="0" rIns="0" tIns="0" bIns="0" anchor="t">
            <a:noAutofit/>
          </a:bodyPr>
          <a:lstStyle/>
          <a:p>
            <a:pPr algn="l">
              <a:lnSpc>
                <a:spcPct val="122000"/>
              </a:lnSpc>
            </a:pPr>
            <a:r>
              <a:rPr sz="720" b="0" i="0">
                <a:solidFill>
                  <a:srgbClr val="7DD3FC"/>
                </a:solidFill>
                <a:latin typeface="Consolas"/>
              </a:rPr>
              <a:t>rollup</a:t>
            </a:r>
          </a:p>
        </p:txBody>
      </p:sp>
      <p:sp>
        <p:nvSpPr>
          <p:cNvPr id="20" name="TextBox 19"/>
          <p:cNvSpPr txBox="1"/>
          <p:nvPr/>
        </p:nvSpPr>
        <p:spPr>
          <a:xfrm>
            <a:off x="2103120" y="2907791"/>
            <a:ext cx="5321808" cy="164592"/>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how a group derives its own numbers from children — averages, plus worst-child status</a:t>
            </a:r>
          </a:p>
        </p:txBody>
      </p:sp>
      <p:sp>
        <p:nvSpPr>
          <p:cNvPr id="21" name="Rounded Rectangle 20"/>
          <p:cNvSpPr/>
          <p:nvPr/>
        </p:nvSpPr>
        <p:spPr>
          <a:xfrm>
            <a:off x="566928" y="3172968"/>
            <a:ext cx="6967728" cy="347472"/>
          </a:xfrm>
          <a:prstGeom prst="roundRect">
            <a:avLst>
              <a:gd name="adj" fmla="val 5263"/>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694944" y="3255263"/>
            <a:ext cx="1298448" cy="155448"/>
          </a:xfrm>
          <a:prstGeom prst="rect">
            <a:avLst/>
          </a:prstGeom>
          <a:noFill/>
        </p:spPr>
        <p:txBody>
          <a:bodyPr wrap="square" lIns="0" rIns="0" tIns="0" bIns="0" anchor="t">
            <a:noAutofit/>
          </a:bodyPr>
          <a:lstStyle/>
          <a:p>
            <a:pPr algn="l">
              <a:lnSpc>
                <a:spcPct val="122000"/>
              </a:lnSpc>
            </a:pPr>
            <a:r>
              <a:rPr sz="720" b="0" i="0">
                <a:solidFill>
                  <a:srgbClr val="7DD3FC"/>
                </a:solidFill>
                <a:latin typeface="Consolas"/>
              </a:rPr>
              <a:t>runbook</a:t>
            </a:r>
          </a:p>
        </p:txBody>
      </p:sp>
      <p:sp>
        <p:nvSpPr>
          <p:cNvPr id="23" name="TextBox 22"/>
          <p:cNvSpPr txBox="1"/>
          <p:nvPr/>
        </p:nvSpPr>
        <p:spPr>
          <a:xfrm>
            <a:off x="2103120" y="3255263"/>
            <a:ext cx="5321808" cy="164592"/>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a templated, audited action (snapshot, logs, scale, restart, drain, failover)</a:t>
            </a:r>
          </a:p>
        </p:txBody>
      </p:sp>
      <p:sp>
        <p:nvSpPr>
          <p:cNvPr id="24" name="TextBox 23"/>
          <p:cNvSpPr txBox="1"/>
          <p:nvPr/>
        </p:nvSpPr>
        <p:spPr>
          <a:xfrm>
            <a:off x="694944" y="3602735"/>
            <a:ext cx="1298448" cy="155448"/>
          </a:xfrm>
          <a:prstGeom prst="rect">
            <a:avLst/>
          </a:prstGeom>
          <a:noFill/>
        </p:spPr>
        <p:txBody>
          <a:bodyPr wrap="square" lIns="0" rIns="0" tIns="0" bIns="0" anchor="t">
            <a:noAutofit/>
          </a:bodyPr>
          <a:lstStyle/>
          <a:p>
            <a:pPr algn="l">
              <a:lnSpc>
                <a:spcPct val="122000"/>
              </a:lnSpc>
            </a:pPr>
            <a:r>
              <a:rPr sz="720" b="0" i="0">
                <a:solidFill>
                  <a:srgbClr val="7DD3FC"/>
                </a:solidFill>
                <a:latin typeface="Consolas"/>
              </a:rPr>
              <a:t>ingest gateway</a:t>
            </a:r>
          </a:p>
        </p:txBody>
      </p:sp>
      <p:sp>
        <p:nvSpPr>
          <p:cNvPr id="25" name="TextBox 24"/>
          <p:cNvSpPr txBox="1"/>
          <p:nvPr/>
        </p:nvSpPr>
        <p:spPr>
          <a:xfrm>
            <a:off x="2103120" y="3602735"/>
            <a:ext cx="5321808" cy="164592"/>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POST /api/ingest/* — the only write path for external systems</a:t>
            </a:r>
          </a:p>
        </p:txBody>
      </p:sp>
      <p:sp>
        <p:nvSpPr>
          <p:cNvPr id="26" name="Rounded Rectangle 25"/>
          <p:cNvSpPr/>
          <p:nvPr/>
        </p:nvSpPr>
        <p:spPr>
          <a:xfrm>
            <a:off x="566928" y="3867911"/>
            <a:ext cx="6967728" cy="347472"/>
          </a:xfrm>
          <a:prstGeom prst="roundRect">
            <a:avLst>
              <a:gd name="adj" fmla="val 5263"/>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694944" y="3950207"/>
            <a:ext cx="1298448" cy="155448"/>
          </a:xfrm>
          <a:prstGeom prst="rect">
            <a:avLst/>
          </a:prstGeom>
          <a:noFill/>
        </p:spPr>
        <p:txBody>
          <a:bodyPr wrap="square" lIns="0" rIns="0" tIns="0" bIns="0" anchor="t">
            <a:noAutofit/>
          </a:bodyPr>
          <a:lstStyle/>
          <a:p>
            <a:pPr algn="l">
              <a:lnSpc>
                <a:spcPct val="122000"/>
              </a:lnSpc>
            </a:pPr>
            <a:r>
              <a:rPr sz="720" b="0" i="0">
                <a:solidFill>
                  <a:srgbClr val="7DD3FC"/>
                </a:solidFill>
                <a:latin typeface="Consolas"/>
              </a:rPr>
              <a:t>SSE</a:t>
            </a:r>
          </a:p>
        </p:txBody>
      </p:sp>
      <p:sp>
        <p:nvSpPr>
          <p:cNvPr id="28" name="TextBox 27"/>
          <p:cNvSpPr txBox="1"/>
          <p:nvPr/>
        </p:nvSpPr>
        <p:spPr>
          <a:xfrm>
            <a:off x="2103120" y="3950207"/>
            <a:ext cx="5321808" cy="164592"/>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server-sent events; the 2-second channel that carries metrics, events and CLI lines</a:t>
            </a:r>
          </a:p>
        </p:txBody>
      </p:sp>
      <p:sp>
        <p:nvSpPr>
          <p:cNvPr id="29" name="TextBox 28"/>
          <p:cNvSpPr txBox="1"/>
          <p:nvPr/>
        </p:nvSpPr>
        <p:spPr>
          <a:xfrm>
            <a:off x="694944" y="4297679"/>
            <a:ext cx="1298448" cy="155448"/>
          </a:xfrm>
          <a:prstGeom prst="rect">
            <a:avLst/>
          </a:prstGeom>
          <a:noFill/>
        </p:spPr>
        <p:txBody>
          <a:bodyPr wrap="square" lIns="0" rIns="0" tIns="0" bIns="0" anchor="t">
            <a:noAutofit/>
          </a:bodyPr>
          <a:lstStyle/>
          <a:p>
            <a:pPr algn="l">
              <a:lnSpc>
                <a:spcPct val="122000"/>
              </a:lnSpc>
            </a:pPr>
            <a:r>
              <a:rPr sz="720" b="0" i="0">
                <a:solidFill>
                  <a:srgbClr val="7DD3FC"/>
                </a:solidFill>
                <a:latin typeface="Consolas"/>
              </a:rPr>
              <a:t>relayout</a:t>
            </a:r>
          </a:p>
        </p:txBody>
      </p:sp>
      <p:sp>
        <p:nvSpPr>
          <p:cNvPr id="30" name="TextBox 29"/>
          <p:cNvSpPr txBox="1"/>
          <p:nvPr/>
        </p:nvSpPr>
        <p:spPr>
          <a:xfrm>
            <a:off x="2103120" y="4297679"/>
            <a:ext cx="5321808" cy="164592"/>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an ELK pass triggered by structure changes, never by a metrics tick</a:t>
            </a:r>
          </a:p>
        </p:txBody>
      </p:sp>
      <p:sp>
        <p:nvSpPr>
          <p:cNvPr id="31" name="Rounded Rectangle 30"/>
          <p:cNvSpPr/>
          <p:nvPr/>
        </p:nvSpPr>
        <p:spPr>
          <a:xfrm>
            <a:off x="566928" y="4562855"/>
            <a:ext cx="6967728" cy="347472"/>
          </a:xfrm>
          <a:prstGeom prst="roundRect">
            <a:avLst>
              <a:gd name="adj" fmla="val 5263"/>
            </a:avLst>
          </a:prstGeom>
          <a:solidFill>
            <a:srgbClr val="080D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694944" y="4645151"/>
            <a:ext cx="1298448" cy="155448"/>
          </a:xfrm>
          <a:prstGeom prst="rect">
            <a:avLst/>
          </a:prstGeom>
          <a:noFill/>
        </p:spPr>
        <p:txBody>
          <a:bodyPr wrap="square" lIns="0" rIns="0" tIns="0" bIns="0" anchor="t">
            <a:noAutofit/>
          </a:bodyPr>
          <a:lstStyle/>
          <a:p>
            <a:pPr algn="l">
              <a:lnSpc>
                <a:spcPct val="122000"/>
              </a:lnSpc>
            </a:pPr>
            <a:r>
              <a:rPr sz="720" b="0" i="0">
                <a:solidFill>
                  <a:srgbClr val="7DD3FC"/>
                </a:solidFill>
                <a:latin typeface="Consolas"/>
              </a:rPr>
              <a:t>snapshot</a:t>
            </a:r>
          </a:p>
        </p:txBody>
      </p:sp>
      <p:sp>
        <p:nvSpPr>
          <p:cNvPr id="33" name="TextBox 32"/>
          <p:cNvSpPr txBox="1"/>
          <p:nvPr/>
        </p:nvSpPr>
        <p:spPr>
          <a:xfrm>
            <a:off x="2103120" y="4645151"/>
            <a:ext cx="5321808" cy="164592"/>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the current metric state for a node; persistence runs every 10 seconds</a:t>
            </a:r>
          </a:p>
        </p:txBody>
      </p:sp>
      <p:sp>
        <p:nvSpPr>
          <p:cNvPr id="34" name="TextBox 33"/>
          <p:cNvSpPr txBox="1"/>
          <p:nvPr/>
        </p:nvSpPr>
        <p:spPr>
          <a:xfrm>
            <a:off x="694944" y="4992623"/>
            <a:ext cx="1298448" cy="155448"/>
          </a:xfrm>
          <a:prstGeom prst="rect">
            <a:avLst/>
          </a:prstGeom>
          <a:noFill/>
        </p:spPr>
        <p:txBody>
          <a:bodyPr wrap="square" lIns="0" rIns="0" tIns="0" bIns="0" anchor="t">
            <a:noAutofit/>
          </a:bodyPr>
          <a:lstStyle/>
          <a:p>
            <a:pPr algn="l">
              <a:lnSpc>
                <a:spcPct val="122000"/>
              </a:lnSpc>
            </a:pPr>
            <a:r>
              <a:rPr sz="720" b="0" i="0">
                <a:solidFill>
                  <a:srgbClr val="7DD3FC"/>
                </a:solidFill>
                <a:latin typeface="Consolas"/>
              </a:rPr>
              <a:t>sample</a:t>
            </a:r>
          </a:p>
        </p:txBody>
      </p:sp>
      <p:sp>
        <p:nvSpPr>
          <p:cNvPr id="35" name="TextBox 34"/>
          <p:cNvSpPr txBox="1"/>
          <p:nvPr/>
        </p:nvSpPr>
        <p:spPr>
          <a:xfrm>
            <a:off x="2103120" y="4992623"/>
            <a:ext cx="5321808" cy="164592"/>
          </a:xfrm>
          <a:prstGeom prst="rect">
            <a:avLst/>
          </a:prstGeom>
          <a:noFill/>
        </p:spPr>
        <p:txBody>
          <a:bodyPr wrap="square" lIns="0" rIns="0" tIns="0" bIns="0" anchor="t">
            <a:noAutofit/>
          </a:bodyPr>
          <a:lstStyle/>
          <a:p>
            <a:pPr algn="l">
              <a:lnSpc>
                <a:spcPct val="122000"/>
              </a:lnSpc>
            </a:pPr>
            <a:r>
              <a:rPr sz="720" b="0" i="0">
                <a:solidFill>
                  <a:srgbClr val="9DB0C6"/>
                </a:solidFill>
                <a:latin typeface="Segoe UI"/>
              </a:rPr>
              <a:t>one historical point for a sparkline; every 30 seconds, pruned after 50 minutes</a:t>
            </a:r>
          </a:p>
        </p:txBody>
      </p:sp>
      <p:sp>
        <p:nvSpPr>
          <p:cNvPr id="36" name="TextBox 35"/>
          <p:cNvSpPr txBox="1"/>
          <p:nvPr/>
        </p:nvSpPr>
        <p:spPr>
          <a:xfrm>
            <a:off x="7626096" y="1746504"/>
            <a:ext cx="3995928" cy="164592"/>
          </a:xfrm>
          <a:prstGeom prst="rect">
            <a:avLst/>
          </a:prstGeom>
          <a:noFill/>
        </p:spPr>
        <p:txBody>
          <a:bodyPr wrap="square" lIns="0" rIns="0" tIns="0" bIns="0" anchor="t">
            <a:noAutofit/>
          </a:bodyPr>
          <a:lstStyle/>
          <a:p>
            <a:pPr algn="l">
              <a:lnSpc>
                <a:spcPct val="122000"/>
              </a:lnSpc>
            </a:pPr>
            <a:r>
              <a:rPr sz="640" b="0" i="0" spc="120">
                <a:solidFill>
                  <a:srgbClr val="7DD3FC"/>
                </a:solidFill>
                <a:latin typeface="Consolas"/>
              </a:rPr>
              <a:t>WHERE TO GO NEXT</a:t>
            </a:r>
          </a:p>
        </p:txBody>
      </p:sp>
      <p:sp>
        <p:nvSpPr>
          <p:cNvPr id="37" name="Rounded Rectangle 36"/>
          <p:cNvSpPr/>
          <p:nvPr/>
        </p:nvSpPr>
        <p:spPr>
          <a:xfrm>
            <a:off x="7626096" y="2020824"/>
            <a:ext cx="3995928" cy="859536"/>
          </a:xfrm>
          <a:prstGeom prst="roundRect">
            <a:avLst>
              <a:gd name="adj" fmla="val 74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Rectangle 37"/>
          <p:cNvSpPr/>
          <p:nvPr/>
        </p:nvSpPr>
        <p:spPr>
          <a:xfrm>
            <a:off x="7626096" y="2020824"/>
            <a:ext cx="32004" cy="859536"/>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7772400" y="2112264"/>
            <a:ext cx="3703320" cy="182880"/>
          </a:xfrm>
          <a:prstGeom prst="rect">
            <a:avLst/>
          </a:prstGeom>
          <a:noFill/>
        </p:spPr>
        <p:txBody>
          <a:bodyPr wrap="square" lIns="0" rIns="0" tIns="0" bIns="0" anchor="t">
            <a:noAutofit/>
          </a:bodyPr>
          <a:lstStyle/>
          <a:p>
            <a:pPr algn="l">
              <a:lnSpc>
                <a:spcPct val="122000"/>
              </a:lnSpc>
            </a:pPr>
            <a:r>
              <a:rPr sz="900" b="1" i="0">
                <a:solidFill>
                  <a:srgbClr val="F4F8FC"/>
                </a:solidFill>
                <a:latin typeface="Segoe UI"/>
              </a:rPr>
              <a:t>the live control room</a:t>
            </a:r>
          </a:p>
        </p:txBody>
      </p:sp>
      <p:sp>
        <p:nvSpPr>
          <p:cNvPr id="40" name="TextBox 39"/>
          <p:cNvSpPr txBox="1"/>
          <p:nvPr/>
        </p:nvSpPr>
        <p:spPr>
          <a:xfrm>
            <a:off x="7772400" y="2313432"/>
            <a:ext cx="1060704" cy="182880"/>
          </a:xfrm>
          <a:prstGeom prst="rect">
            <a:avLst/>
          </a:prstGeom>
          <a:noFill/>
        </p:spPr>
        <p:txBody>
          <a:bodyPr wrap="square" lIns="0" rIns="0" tIns="0" bIns="0" anchor="t">
            <a:noAutofit/>
          </a:bodyPr>
          <a:lstStyle/>
          <a:p>
            <a:pPr algn="l">
              <a:lnSpc>
                <a:spcPct val="122000"/>
              </a:lnSpc>
            </a:pPr>
            <a:r>
              <a:rPr sz="740" b="1" i="0">
                <a:solidFill>
                  <a:srgbClr val="7DD3FC"/>
                </a:solidFill>
                <a:latin typeface="Consolas"/>
              </a:rPr>
              <a:t>/</a:t>
            </a:r>
          </a:p>
        </p:txBody>
      </p:sp>
      <p:sp>
        <p:nvSpPr>
          <p:cNvPr id="41" name="TextBox 40"/>
          <p:cNvSpPr txBox="1"/>
          <p:nvPr/>
        </p:nvSpPr>
        <p:spPr>
          <a:xfrm>
            <a:off x="8851392" y="2331720"/>
            <a:ext cx="2624328" cy="420624"/>
          </a:xfrm>
          <a:prstGeom prst="rect">
            <a:avLst/>
          </a:prstGeom>
          <a:noFill/>
        </p:spPr>
        <p:txBody>
          <a:bodyPr wrap="square" lIns="0" rIns="0" tIns="0" bIns="0" anchor="t">
            <a:noAutofit/>
          </a:bodyPr>
          <a:lstStyle/>
          <a:p>
            <a:pPr algn="l">
              <a:lnSpc>
                <a:spcPct val="122000"/>
              </a:lnSpc>
            </a:pPr>
            <a:r>
              <a:rPr sz="660" b="0" i="0">
                <a:solidFill>
                  <a:srgbClr val="9DB0C6"/>
                </a:solidFill>
                <a:latin typeface="Segoe UI"/>
              </a:rPr>
              <a:t>The running dashboard: canvas, navigator, inspector, dock.</a:t>
            </a:r>
          </a:p>
        </p:txBody>
      </p:sp>
      <p:sp>
        <p:nvSpPr>
          <p:cNvPr id="42" name="Rounded Rectangle 41"/>
          <p:cNvSpPr/>
          <p:nvPr/>
        </p:nvSpPr>
        <p:spPr>
          <a:xfrm>
            <a:off x="7626096" y="2953512"/>
            <a:ext cx="3995928" cy="859536"/>
          </a:xfrm>
          <a:prstGeom prst="roundRect">
            <a:avLst>
              <a:gd name="adj" fmla="val 74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Rectangle 42"/>
          <p:cNvSpPr/>
          <p:nvPr/>
        </p:nvSpPr>
        <p:spPr>
          <a:xfrm>
            <a:off x="7626096" y="2953512"/>
            <a:ext cx="32004" cy="85953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4" name="TextBox 43"/>
          <p:cNvSpPr txBox="1"/>
          <p:nvPr/>
        </p:nvSpPr>
        <p:spPr>
          <a:xfrm>
            <a:off x="7772400" y="3044952"/>
            <a:ext cx="3703320" cy="182880"/>
          </a:xfrm>
          <a:prstGeom prst="rect">
            <a:avLst/>
          </a:prstGeom>
          <a:noFill/>
        </p:spPr>
        <p:txBody>
          <a:bodyPr wrap="square" lIns="0" rIns="0" tIns="0" bIns="0" anchor="t">
            <a:noAutofit/>
          </a:bodyPr>
          <a:lstStyle/>
          <a:p>
            <a:pPr algn="l">
              <a:lnSpc>
                <a:spcPct val="122000"/>
              </a:lnSpc>
            </a:pPr>
            <a:r>
              <a:rPr sz="900" b="1" i="0">
                <a:solidFill>
                  <a:srgbClr val="F4F8FC"/>
                </a:solidFill>
                <a:latin typeface="Segoe UI"/>
              </a:rPr>
              <a:t>the operator + integrator manual</a:t>
            </a:r>
          </a:p>
        </p:txBody>
      </p:sp>
      <p:sp>
        <p:nvSpPr>
          <p:cNvPr id="45" name="TextBox 44"/>
          <p:cNvSpPr txBox="1"/>
          <p:nvPr/>
        </p:nvSpPr>
        <p:spPr>
          <a:xfrm>
            <a:off x="7772400" y="3246120"/>
            <a:ext cx="1060704" cy="182880"/>
          </a:xfrm>
          <a:prstGeom prst="rect">
            <a:avLst/>
          </a:prstGeom>
          <a:noFill/>
        </p:spPr>
        <p:txBody>
          <a:bodyPr wrap="square" lIns="0" rIns="0" tIns="0" bIns="0" anchor="t">
            <a:noAutofit/>
          </a:bodyPr>
          <a:lstStyle/>
          <a:p>
            <a:pPr algn="l">
              <a:lnSpc>
                <a:spcPct val="122000"/>
              </a:lnSpc>
            </a:pPr>
            <a:r>
              <a:rPr sz="740" b="1" i="0">
                <a:solidFill>
                  <a:srgbClr val="34D399"/>
                </a:solidFill>
                <a:latin typeface="Consolas"/>
              </a:rPr>
              <a:t>/guide</a:t>
            </a:r>
          </a:p>
        </p:txBody>
      </p:sp>
      <p:sp>
        <p:nvSpPr>
          <p:cNvPr id="46" name="TextBox 45"/>
          <p:cNvSpPr txBox="1"/>
          <p:nvPr/>
        </p:nvSpPr>
        <p:spPr>
          <a:xfrm>
            <a:off x="8851392" y="3264408"/>
            <a:ext cx="2624328" cy="420624"/>
          </a:xfrm>
          <a:prstGeom prst="rect">
            <a:avLst/>
          </a:prstGeom>
          <a:noFill/>
        </p:spPr>
        <p:txBody>
          <a:bodyPr wrap="square" lIns="0" rIns="0" tIns="0" bIns="0" anchor="t">
            <a:noAutofit/>
          </a:bodyPr>
          <a:lstStyle/>
          <a:p>
            <a:pPr algn="l">
              <a:lnSpc>
                <a:spcPct val="122000"/>
              </a:lnSpc>
            </a:pPr>
            <a:r>
              <a:rPr sz="660" b="0" i="0">
                <a:solidFill>
                  <a:srgbClr val="9DB0C6"/>
                </a:solidFill>
                <a:latin typeface="Segoe UI"/>
              </a:rPr>
              <a:t>Nine Mermaid diagrams with source, runbooks and eight full sample agents.</a:t>
            </a:r>
          </a:p>
        </p:txBody>
      </p:sp>
      <p:sp>
        <p:nvSpPr>
          <p:cNvPr id="47" name="Rounded Rectangle 46"/>
          <p:cNvSpPr/>
          <p:nvPr/>
        </p:nvSpPr>
        <p:spPr>
          <a:xfrm>
            <a:off x="7626096" y="3886200"/>
            <a:ext cx="3995928" cy="859536"/>
          </a:xfrm>
          <a:prstGeom prst="roundRect">
            <a:avLst>
              <a:gd name="adj" fmla="val 7446"/>
            </a:avLst>
          </a:prstGeom>
          <a:solidFill>
            <a:srgbClr val="0A101B"/>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Rectangle 47"/>
          <p:cNvSpPr/>
          <p:nvPr/>
        </p:nvSpPr>
        <p:spPr>
          <a:xfrm>
            <a:off x="7626096" y="3886200"/>
            <a:ext cx="32004" cy="859536"/>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9" name="TextBox 48"/>
          <p:cNvSpPr txBox="1"/>
          <p:nvPr/>
        </p:nvSpPr>
        <p:spPr>
          <a:xfrm>
            <a:off x="7772400" y="3977639"/>
            <a:ext cx="3703320" cy="182880"/>
          </a:xfrm>
          <a:prstGeom prst="rect">
            <a:avLst/>
          </a:prstGeom>
          <a:noFill/>
        </p:spPr>
        <p:txBody>
          <a:bodyPr wrap="square" lIns="0" rIns="0" tIns="0" bIns="0" anchor="t">
            <a:noAutofit/>
          </a:bodyPr>
          <a:lstStyle/>
          <a:p>
            <a:pPr algn="l">
              <a:lnSpc>
                <a:spcPct val="122000"/>
              </a:lnSpc>
            </a:pPr>
            <a:r>
              <a:rPr sz="900" b="1" i="0">
                <a:solidFill>
                  <a:srgbClr val="F4F8FC"/>
                </a:solidFill>
                <a:latin typeface="Segoe UI"/>
              </a:rPr>
              <a:t>architecture reference</a:t>
            </a:r>
          </a:p>
        </p:txBody>
      </p:sp>
      <p:sp>
        <p:nvSpPr>
          <p:cNvPr id="50" name="TextBox 49"/>
          <p:cNvSpPr txBox="1"/>
          <p:nvPr/>
        </p:nvSpPr>
        <p:spPr>
          <a:xfrm>
            <a:off x="7772400" y="4178808"/>
            <a:ext cx="1060704" cy="182880"/>
          </a:xfrm>
          <a:prstGeom prst="rect">
            <a:avLst/>
          </a:prstGeom>
          <a:noFill/>
        </p:spPr>
        <p:txBody>
          <a:bodyPr wrap="square" lIns="0" rIns="0" tIns="0" bIns="0" anchor="t">
            <a:noAutofit/>
          </a:bodyPr>
          <a:lstStyle/>
          <a:p>
            <a:pPr algn="l">
              <a:lnSpc>
                <a:spcPct val="122000"/>
              </a:lnSpc>
            </a:pPr>
            <a:r>
              <a:rPr sz="740" b="1" i="0">
                <a:solidFill>
                  <a:srgbClr val="A78BFA"/>
                </a:solidFill>
                <a:latin typeface="Consolas"/>
              </a:rPr>
              <a:t>/guide#arch</a:t>
            </a:r>
          </a:p>
        </p:txBody>
      </p:sp>
      <p:sp>
        <p:nvSpPr>
          <p:cNvPr id="51" name="TextBox 50"/>
          <p:cNvSpPr txBox="1"/>
          <p:nvPr/>
        </p:nvSpPr>
        <p:spPr>
          <a:xfrm>
            <a:off x="8851392" y="4197096"/>
            <a:ext cx="2624328" cy="420624"/>
          </a:xfrm>
          <a:prstGeom prst="rect">
            <a:avLst/>
          </a:prstGeom>
          <a:noFill/>
        </p:spPr>
        <p:txBody>
          <a:bodyPr wrap="square" lIns="0" rIns="0" tIns="0" bIns="0" anchor="t">
            <a:noAutofit/>
          </a:bodyPr>
          <a:lstStyle/>
          <a:p>
            <a:pPr algn="l">
              <a:lnSpc>
                <a:spcPct val="122000"/>
              </a:lnSpc>
            </a:pPr>
            <a:r>
              <a:rPr sz="660" b="0" i="0">
                <a:solidFill>
                  <a:srgbClr val="9DB0C6"/>
                </a:solidFill>
                <a:latin typeface="Segoe UI"/>
              </a:rPr>
              <a:t>System map, hierarchy, ELK pipeline and the data model.</a:t>
            </a:r>
          </a:p>
        </p:txBody>
      </p:sp>
      <p:sp>
        <p:nvSpPr>
          <p:cNvPr id="52" name="Rounded Rectangle 51"/>
          <p:cNvSpPr/>
          <p:nvPr/>
        </p:nvSpPr>
        <p:spPr>
          <a:xfrm>
            <a:off x="7626096" y="4882896"/>
            <a:ext cx="3995928" cy="1316736"/>
          </a:xfrm>
          <a:prstGeom prst="roundRect">
            <a:avLst>
              <a:gd name="adj" fmla="val 5555"/>
            </a:avLst>
          </a:prstGeom>
          <a:solidFill>
            <a:srgbClr val="0B1324"/>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3" name="TextBox 52"/>
          <p:cNvSpPr txBox="1"/>
          <p:nvPr/>
        </p:nvSpPr>
        <p:spPr>
          <a:xfrm>
            <a:off x="7808975" y="5010912"/>
            <a:ext cx="3630168" cy="274320"/>
          </a:xfrm>
          <a:prstGeom prst="rect">
            <a:avLst/>
          </a:prstGeom>
          <a:noFill/>
        </p:spPr>
        <p:txBody>
          <a:bodyPr wrap="none" lIns="0" rIns="0" tIns="0" bIns="0" anchor="t">
            <a:noAutofit/>
          </a:bodyPr>
          <a:lstStyle/>
          <a:p>
            <a:pPr algn="l">
              <a:lnSpc>
                <a:spcPct val="100000"/>
              </a:lnSpc>
            </a:pPr>
            <a:r>
              <a:rPr sz="1500" b="1">
                <a:solidFill>
                  <a:srgbClr val="F4F8FC"/>
                </a:solidFill>
                <a:latin typeface="Segoe UI"/>
              </a:rPr>
              <a:t>Helios</a:t>
            </a:r>
            <a:r>
              <a:rPr sz="1500" b="1">
                <a:solidFill>
                  <a:srgbClr val="34D399"/>
                </a:solidFill>
                <a:latin typeface="Segoe UI"/>
              </a:rPr>
              <a:t>·</a:t>
            </a:r>
            <a:r>
              <a:rPr sz="1500" b="1">
                <a:solidFill>
                  <a:srgbClr val="F4F8FC"/>
                </a:solidFill>
                <a:latin typeface="Segoe UI"/>
              </a:rPr>
              <a:t>Ops</a:t>
            </a:r>
          </a:p>
        </p:txBody>
      </p:sp>
      <p:sp>
        <p:nvSpPr>
          <p:cNvPr id="54" name="TextBox 53"/>
          <p:cNvSpPr txBox="1"/>
          <p:nvPr/>
        </p:nvSpPr>
        <p:spPr>
          <a:xfrm>
            <a:off x="7808975" y="5285232"/>
            <a:ext cx="3630168" cy="786384"/>
          </a:xfrm>
          <a:prstGeom prst="rect">
            <a:avLst/>
          </a:prstGeom>
          <a:noFill/>
        </p:spPr>
        <p:txBody>
          <a:bodyPr wrap="square" lIns="0" rIns="0" tIns="0" bIns="0" anchor="t">
            <a:noAutofit/>
          </a:bodyPr>
          <a:lstStyle/>
          <a:p>
            <a:pPr algn="l">
              <a:lnSpc>
                <a:spcPct val="128000"/>
              </a:lnSpc>
            </a:pPr>
            <a:r>
              <a:rPr sz="720" b="0" i="0">
                <a:solidFill>
                  <a:srgbClr val="9DB0C6"/>
                </a:solidFill>
                <a:latin typeface="Segoe UI"/>
              </a:rPr>
              <a:t>Questions, demos and integration pairing: platform engineering on the #helios-ops channel. The guide is the source of truth for every claim in this deck.</a:t>
            </a:r>
          </a:p>
        </p:txBody>
      </p:sp>
      <p:sp>
        <p:nvSpPr>
          <p:cNvPr id="55" name="Rounded Rectangle 54"/>
          <p:cNvSpPr/>
          <p:nvPr/>
        </p:nvSpPr>
        <p:spPr>
          <a:xfrm>
            <a:off x="566928" y="5541264"/>
            <a:ext cx="6967728" cy="658368"/>
          </a:xfrm>
          <a:prstGeom prst="roundRect">
            <a:avLst>
              <a:gd name="adj" fmla="val 8333"/>
            </a:avLst>
          </a:prstGeom>
          <a:solidFill>
            <a:srgbClr val="0F1725"/>
          </a:solidFill>
          <a:ln w="9525">
            <a:solidFill>
              <a:srgbClr val="1E2C3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6" name="TextBox 55"/>
          <p:cNvSpPr txBox="1"/>
          <p:nvPr/>
        </p:nvSpPr>
        <p:spPr>
          <a:xfrm>
            <a:off x="713232" y="5614416"/>
            <a:ext cx="6675120" cy="137160"/>
          </a:xfrm>
          <a:prstGeom prst="rect">
            <a:avLst/>
          </a:prstGeom>
          <a:noFill/>
        </p:spPr>
        <p:txBody>
          <a:bodyPr wrap="square" lIns="0" rIns="0" tIns="0" bIns="0" anchor="t">
            <a:noAutofit/>
          </a:bodyPr>
          <a:lstStyle/>
          <a:p>
            <a:pPr algn="l">
              <a:lnSpc>
                <a:spcPct val="122000"/>
              </a:lnSpc>
            </a:pPr>
            <a:r>
              <a:rPr sz="590" b="0" i="0" spc="110">
                <a:solidFill>
                  <a:srgbClr val="64748B"/>
                </a:solidFill>
                <a:latin typeface="Consolas"/>
              </a:rPr>
              <a:t>DECK MAP</a:t>
            </a:r>
          </a:p>
        </p:txBody>
      </p:sp>
      <p:sp>
        <p:nvSpPr>
          <p:cNvPr id="57" name="TextBox 56"/>
          <p:cNvSpPr txBox="1"/>
          <p:nvPr/>
        </p:nvSpPr>
        <p:spPr>
          <a:xfrm>
            <a:off x="713232" y="5779008"/>
            <a:ext cx="6711696" cy="365760"/>
          </a:xfrm>
          <a:prstGeom prst="rect">
            <a:avLst/>
          </a:prstGeom>
          <a:noFill/>
        </p:spPr>
        <p:txBody>
          <a:bodyPr wrap="square" lIns="0" rIns="0" tIns="0" bIns="0" anchor="t">
            <a:noAutofit/>
          </a:bodyPr>
          <a:lstStyle/>
          <a:p>
            <a:pPr algn="l">
              <a:lnSpc>
                <a:spcPct val="122000"/>
              </a:lnSpc>
            </a:pPr>
            <a:r>
              <a:rPr sz="700" b="0" i="0">
                <a:solidFill>
                  <a:srgbClr val="9DB0C6"/>
                </a:solidFill>
                <a:latin typeface="Consolas"/>
              </a:rPr>
              <a:t>01–04 foundations   ·   05–11 architecture   ·   12–17 administration   ·   18–23 integration   ·   24–27 wrap-up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